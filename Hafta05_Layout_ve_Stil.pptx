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90"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riş" id="{09D2C867-A795-B216-648E-A4D5FFAFEDA5}">
          <p14:sldIdLst>
            <p14:sldId id="256"/>
            <p14:sldId id="257"/>
            <p14:sldId id="258"/>
          </p14:sldIdLst>
        </p14:section>
        <p14:section name="Bölüm 1: Stil Temelleri" id="{273F0549-136F-9A41-720D-DA576AED9722}">
          <p14:sldIdLst>
            <p14:sldId id="259"/>
            <p14:sldId id="260"/>
            <p14:sldId id="261"/>
            <p14:sldId id="262"/>
            <p14:sldId id="263"/>
            <p14:sldId id="264"/>
            <p14:sldId id="265"/>
          </p14:sldIdLst>
        </p14:section>
        <p14:section name="Bölüm 2: Flexbox" id="{A7D55189-4F07-2E4C-5C0E-1D1C4870FBD4}">
          <p14:sldIdLst>
            <p14:sldId id="266"/>
            <p14:sldId id="267"/>
            <p14:sldId id="290"/>
            <p14:sldId id="268"/>
            <p14:sldId id="269"/>
            <p14:sldId id="270"/>
            <p14:sldId id="271"/>
            <p14:sldId id="272"/>
            <p14:sldId id="273"/>
            <p14:sldId id="274"/>
            <p14:sldId id="275"/>
            <p14:sldId id="276"/>
            <p14:sldId id="277"/>
          </p14:sldIdLst>
        </p14:section>
        <p14:section name="Bölüm 3: Boyut ve Güvenli Alan" id="{C8DBD43C-2763-3DD8-7E55-679D235F8159}">
          <p14:sldIdLst>
            <p14:sldId id="278"/>
            <p14:sldId id="279"/>
            <p14:sldId id="280"/>
            <p14:sldId id="281"/>
            <p14:sldId id="282"/>
            <p14:sldId id="283"/>
            <p14:sldId id="284"/>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p:restoredTop sz="94610"/>
  </p:normalViewPr>
  <p:slideViewPr>
    <p:cSldViewPr snapToGrid="0" snapToObjects="1">
      <p:cViewPr varScale="1">
        <p:scale>
          <a:sx n="109" d="100"/>
          <a:sy n="109" d="100"/>
        </p:scale>
        <p:origin x="6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3804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Geçen hafta bileşenleri yazdık ama görünümleri ham kaldı. Bu hafta onları düzenlemeyi öğreniyoruz. Hafta, Ö4 çıktısının, yani standartlara uygun arayüz tasarlama becerisinin ilk basamağıdır. Öğrencilerin geçen haftaki projesini yanlarında bulundurmalarını isteyin; uygulama saatinde aynı projeyi güzelleştireceğiz. Anlatım önerisi: "Geçen hafta ekranımızda bileşenler vardı ama hepsi ham görünüyordu. Bu hafta onlara biçim vereceğiz. Aynı kodla çok daha düzenli, çok daha okunur bir ekran elde edeceksiniz." Dersin başında öğrencilerin geçen haftaki projesinin çalışıp çalışmadığını kontrol edin.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Hedefleri okurken stilsiz bir profil kartı ekranını projeksiyonda gösterip öğrencilere ne düzeltirlerdi diye sorun. Gelen yanıtları üç gruba ayırın: renk ve yazı tipi (stil), hizalama ve sıralama (yerleşim), cihaz farkları. Bu üç grup bugünkü ders akışını oluşturacak. Hafta sonunda aynı ekranı bu bilgilerle yeniden düzenlemiş olacaksınız. Her hedef için hafta sonunda bir mini sınama yapacağınızı söyleyin ve hedeflerin dönem projesindeki arayüz ölçütleriyle doğrudan ilgili olduğunu belirtin. Öğrencilerin hedefleri kendi cümleleriyle defterlerine yazması, öz değerlendirmeyi güçlendirir. Anlatım önerisi: "Bu üç hedef bugünün üç parçası: stil yazmak, Flexbox ile yerleştirmek ve farklı cihazlarda düzenin bozulmamasını sağlamak. Şimdi stilsiz bir ekrana bakalım, siz ne düzeltirdiniz?" Gelen cevapları üç gruba ayırıp tahtada tutun.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Süre dağılımı: stil temelleri 25 dk, Flexbox 50 dk, boyut ve güvenli alan 25 dk, platform farkları 20 dk, uygulama 60 dk. Flexbox bölümünde öğrencilerin canlı denemesi ve tahmin etme etkinlikleri için zaman ayırın. Bu bölümü kısaltmayın; stil konusunun en çok zorlanılan kısmıdır ve sonraki haftaların tamamı buna dayanır. Anlatım önerisi: "Bugünün kalbi Flexbox. Önce stilin nasıl yazıldığını görüp CSS'ten farkını öğreneceğiz. Sonra Flexbox'a elli dakika ayıracağız. Son saatte geçen haftaki profil kartını baştan stilleyeceksiniz." Flexbox bölümünü kısaltmamayı özellikle söyleyin.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"İlk bölümde stil nasıl yazılır, hangi birimleri kullanırız ve yazılara nasıl biçim veririz, bunu göreceğiz. Web bilenler için tanıdık, bilmeyenler için sıfırdan." Bölüme geçmeden önce öğrencilere 'CSS yazdınız mı?' diye sorun.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Stil nesnelerinin bileşenin altında tanımlanmasının bir gelenek olduğunu, çünkü fonksiyonlar tanımlandıktan sonra çalışıp const nesnenin o anda hazır olduğunu söyleyin. Hatalı bir özellik adı yazdırıp editörün uyarısını gösterin. StyleSheet.create'in çalışma anında ek bir iş yapmayıp tip denetimi ve düzen sağladığını belirtmek yeterlidir. Anlatım önerisi: "Stilleri bileşenin içine dağıtmak yerine StyleSheet.create ile adlandırıp bir yerde topluyoruz. Kart ve başlık adlarıyla çağırıyoruz. Yanlış bir özellik adı yazarsam TypeScript hemen uyarır." Bilerek yanlış bir özellik yazdırıp editörün uyarısını gösterin.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bilmeyen öğrenciler için tablo gereksiz görünebilir; onlara yalnızca sağ sütunu okumalarını söyleyin. Web bilenlere ise "CSS gibi görünen ama CSS olmayan" bir sistem olduğunu vurgulayın. Cascade yokluğunun neden iyi olduğunu açıklayın: bir bileşenin görünümü yalnızca kendisine verilen stile bağlıdır, uzaktaki bir kural beklenmedik değişiklik yapmaz. Anlatım önerisi: "React Native stili CSS gibi görünür ama CSS değildir. background-color yerine backgroundColor yazarız, birim yazmayız, seçici ve kalıtım yoktur. En önemli fark varsayılan yön: web'de yan yana, burada alt alta." Web bilenlere tablonun tamamını, bilmeyenlere yalnızca sağ sütunu okutun.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Piksel ve dp farkını bir fotoğraf benzetmesiyle anlatın: aynı resmi farklı baskı kalitesiyle bastığınızda boyut aynı kalır, ayrıntı değişir. Erişilebilirlik açısından büyük yazı ayarının önemini vurgulayın: yaşlı kullanıcılar ve görme zorluğu olanlar bunu sık kullanır. Test için emülatörde yazı boyutunu büyütüp uygulamanın nasıl göründüğünü gözlemletin. Anlatım önerisi: "Sayıların yanına birim yazmıyoruz. 100 yazınca ekran yoğunluğu ne olursa olsun yaklaşık aynı fiziksel boyutta bir alan elde ediyoruz. Buna dp diyoruz." Sağdaki iki ekran çizimini gösterin. Emülatörde yazı boyutunu büyütüp tasarımın taşıp taşmadığını gözlemletin.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İkinci haftada işlenen kısa devre değerlendirmeyi hatırlatın. Dizi sırasının önemini küçük bir deneyle gösterin: sırayı değiştirince hangi renk kazanıyor? Koşullu stilin etkileşimli kullanımı useState ile birleştiğinde 6. haftada anlam kazanacak; bugün active değerini elle true ve false yapıp sonucu görmek yeterlidir. Anlatım önerisi: "Bir bileşene birden fazla stili dizi içinde verebiliriz. Sonraki stil öncekinin üzerine yazar. active doğruysa kalın ve siyah, değilse gri." Dizideki sırayı değiştirip hangi rengin kazandığını gösterin. Geçen haftaki kısa devre değerlendirmeyi hatırlatın.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Web'den gelen öğrencilerin en çok şaşırdığı noktalardan biri, metin renginin View'dan çocuğa geçmemesidir. Hatayı editörde gösterin ve düzeltmeyi Text'e taşımak olarak yapın. lineHeight'ın satır aralığını belirlediğini ve okunabilirlik için yazı boyutunun 1.3-1.5 katı seçilebileceğini söyleyin. Yazı tipi ailesi konusunu platform bölümünde ele alacağız. Anlatım önerisi: "Yazının boyutu, rengi, kalınlığı Text'e verilir. İçteki Text dıştakinin stilini miras alır. Ama View'a yazdığınız renk çocuklara geçmez." View'a fontSize yazdırıp editörün hatasını gösterin; düzeltmenin Text'e taşımak olduğunu söyleyin.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Dairesel avatar yapmanın yolunu öğrencilere sorun: genişlik, yükseklik ve borderRadius ilişkisini kendileri bulmalıdır. Renk paleti seçiminde erişilebilirlik için metin ve zemin arasındaki karşıtlığın yeterli olması gerektiğini söyleyin; açık gri üzerine açık gri yazı okunmaz. Tema ve renk sabitlerini ilerleyen haftalarda proje yapısında düzenleyeceğiz. Anlatım önerisi: "Bir kutuya renk, kenarlık ve yuvarlak köşe verelim. Genişliğin yarısı kadar borderRadius verirseniz kutu daire olur. Avatar böyle yapılır." Öğrencilere daire yapmayı kendilerinin bulmasını söyleyin. Metin ve zemin renginin yeterince zıt olması gerektiğini hatırlatın.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"Şimdi dersin en önemli bölümü: Flexbox. Önce iki eksen mantığını anlayacağız, sonra her özelliği tek tek deneyeceğiz." Öğrencilere bu bölümde hızlı ilerlemeyeceğinizi, canlı deneme yapılacağını söyleyin.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slaytı tahtada çizerek anlatın; flexDirection'ı değiştirdiğinizde eksenlerin yer değiştirdiğini oklarla gösterin. Öğrencilerin en sık hatası justifyContent ile alignItems'ı karıştırmaktır; "justify ana eksen, align çapraz eksen" cümlesini birlikte tekrarlayın. Bu bölümde bir etkinlik olarak her öğrenciye bir ekran taslağı verip eksen ve özellikleri işaretletin. Anlatım önerisi: "Flexbox'ta iki eksen var: ana eksen ve çapraz eksen. Yön column ise ana eksen dikey, row ise yataydır. justifyContent ana ekseni, alignItems çapraz ekseni düzenler." Sağdaki iki çizimi tahtada da çizdirin; 'justify ana, align çapraz' cümlesini birlikte tekrarlayın.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slaytı tahtada çizerek anlatın; flexDirection'ı değiştirdiğinizde eksenlerin yer değiştirdiğini oklarla gösterin. Öğrencilerin en sık hatası justifyContent ile alignItems'ı karıştırmaktır; "justify ana eksen, align çapraz eksen" cümlesini birlikte tekrarlayın. Bu bölümde bir etkinlik olarak her öğrenciye bir ekran taslağı verip eksen ve özellikleri işaretletin. Anlatım önerisi: "Flexbox'ta iki eksen var: ana eksen ve çapraz eksen. Yön column ise ana eksen dikey, row ise yataydır. justifyContent ana ekseni, alignItems çapraz ekseni düzenler." Sağdaki iki çizimi tahtada da çizdirin; 'justify ana, align çapraz' cümlesini birlikte tekrarlayın.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159411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flexDirection satırını silip öğrencilerden sonucu tahmin etmelerini isteyin. Ardından column ve row-reverse gibi diğer değerleri deneyin. Yön tersine çevirmenin sağdan sola yazılan diller için de önem taşıdığını söyleyin. Bu slayttan sonra tüm yerleşim kararlarının "önce yön" sorusuyla başlaması gerektiğini vurgulayın. Anlatım önerisi: "Varsayılan yön column, yani alt alta. Yan yana istiyorsak flexDirection row yazarız. Web'de tam tersi olduğu için en sık hata burada yapılır." flexDirection satırını silip öğrencilerden sonucu tahmin etmelerini isteyin, sonra deneyin.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Tabloyu ezberletmeyin; öğrencilerin bir "cheat sheet" olarak kullanmasını ve her değeri emülatörde deneyerek görmelerini önerin. Dolaşan bir oyun olarak, bir öğrencinin değer söylemesi ve diğerinin ekranda ne olacağını tahmin etmesi etkinliği yapın. alignItems için varsayılan değerin stretch olduğunu belirtmek, "neden genişliğim doluyor?" sorusunun cevabıdır. Anlatım önerisi: "Bu tablo bir kopya kâğıdı. justifyContent ana ekseni, alignItems çapraz ekseni düzenler. alignItems'ın varsayılanı stretch, bu yüzden öğeler genişliği doldurur." Her değeri emülatörde deneyin; bir öğrenci değer söylesin, diğeri sonucu tahmin etsin.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"Aynı üç kutu, aynı ekran. Değişen tek şey justifyContent değeri. Önce soldan başlayalım: flex-start kutuları başa yığar. Center ortada toplar. Flex-end sona yığar. Space-between ilk ve son kutuyu uçlara koyar, kalan boşluğu aralarına paylaştırır. Space-around ise her kutunun çevresine eşit boşluk bırakır, bu yüzden uçlardaki boşluk yarım kalır." Her değeri gösterirken önce öğrencilerden tahmin etmelerini isteyin, sonra emülatörde deneyin. En çok karıştırılan çifti, space-between ile space-around'u, iki çizim üzerinde karşılaştırın. Yönü row yaptığınızda aynı çizimlerin yatay hâlini canlı gösterin; ana eksen değişince bu özelliğin yönünün de değiştiğini vurgulayın.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"Şimdi çapraz eksene bakalım. Yön column olduğu için çapraz eksen yatay. Flex-start kutuları sola, center ortaya, flex-end sağa koyar. Stretch ise kutuyu genişliğin tamamına yayar. Dikkat edin: stretch yalnızca kutunun genişliğini siz yazmadıysanız çalışır." Bir önceki slaytla birlikte düşündürün: justifyContent dikey, alignItems yatay hareket ettirir. Öğrencilerden iki özelliği birlikte kullanarak kutuyu ekranın sağ alt köşesine koymalarını isteyin; cevap justifyContent flex-end ve alignItems flex-end olacaktır. Ekranı ortalama slaydında bu ikiliyi tekrar göreceğiz. Yönü row yaptığınızda eksenlerin yer değiştirdiğini aynı çizimler üzerinden hatırlatın.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flex: 1 satırını silin ve öğrencilerden neden ortalanmadığını açıklamalarını isteyin. Bu klasik hata, birçok başlangıç projesinde karşılaşılır ve çözümü bu slaytta saklıdır. Yön row yapıldığında hangi özelliğin yatay, hangisinin dikey çalıştığını sorarak 12. slayttaki eksen bilgisini pekiştirin. Bu düzen giriş ekranları ve yükleniyor göstergelerinde çok kullanılır. Anlatım önerisi: "Bir şeyi ekranın ortasına koymanın klasik yolu: flex 1, justifyContent center, alignItems center. flex 1 yoksa kapsayıcı küçük kalır ve ortalama çalışmaz." flex: 1 satırını silip nedenini sorun. Yönü row yapınca hangi özelliğin hangi yönde çalıştığını sorun.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Üst bilgi, içerik ve alt bilgiden oluşan klasik ekran düzenini bu mantıkla anlatın: üst ve altı sabit, ortası flex: 1. Oranların değerini değiştirip sonucu canlı gösterin. flex: 1'in kısaltma olduğunu, ayrıntı olarak büyüme ve küçülme davranışlarını ayarladığını ancak bu derste yalnızca kullanımın yeterli olduğunu söyleyin. Anlatım önerisi: "flex değeri, boş alandan alacağı payı söyler. Bir, iki, bir dersem alan dörde bölünür; ortadaki iki pay alır." Sağdaki üç renkli şemayı gösterin, oranları değiştirip canlı deneyin. Üst ve alt sabit, ortası flex 1 olan klasik ekran düzenini anlatın.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Etiket bulutu örneğini gerçek hayatla ilişkilendirin: haber uygulamalarındaki kategori etiketleri veya ilgi alanı seçimleri. Yatay ekrandaki veya küçük ekrandaki davranışı emülatörün boyutunu değiştirerek gösterin. Öğrencilere Text bileşenlerine farklı uzunlukta içerik verip çıktıyı gözlemlemelerini söyleyin. alignSelf'in sık kullanılan bir özellik olmadığını da ekleyin. Anlatım önerisi: "alignSelf tek bir çocuğu farklı hizalar. flexWrap ise sığmayan öğeleri alt satıra indirir. Etiket bulutları böyle yapılır." Uzunluğu bilinmeyen içeriklerde wrap'in neden gerekli olduğunu gösterin; emülatör boyutunu değiştirin.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Kutu modelini tahtada çizin: içerik, padding, kenarlık, margin. Margin'in kendisinin görünmediğini, yalnızca boşluk yarattığını vurgulayın. gap özelliğinin görece yeni olduğunu ve eski kodlarda margin ile aynı iş yapıldığını söyleyin; React Native sürümünüzün destekleyip desteklemediğini belgeden doğrulayın. Tutarlı bir boşluk ölçeği, örneğin 4, 8, 12, 16, kullanmanın görsel kaliteyi artırdığını belirtin. Anlatım önerisi: "padding içeride, margin dışarıdadır. gap ise çocuklar arasına eşit boşluk koyar, her birine ayrı margin yazmamıza gerek kalmaz." Kutu modelini tahtada çizin: içerik, padding, kenarlık, margin. gap'in sürümde desteklenip desteklenmediğini belgeden doğrulayın.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Sabit piksel değerlerinin küçük ekranda taşma, büyük ekranda boş alan yaratabileceğini anlatın. Yüzde, flex ve aspectRatio'nun uyumlu tasarımın üç temel aracı olduğunu söyleyin. Resim kartlarında aspectRatio'nun sık kullanıldığını gösterin. Öğrencilerden emülatör boyutunu değiştirip düzenin nasıl tepki verdiğini gözlemlemelerini isteyin. Anlatım önerisi: "Sabit piksel yazarsak küçük ekranda taşar, büyükte boşluk kalır. Yüzde ve aspectRatio ile ölçüyü ebeveyne ve orana bağlarız." Emülatör boyutunu değiştirip düzenin nasıl tepki verdiğini gösterin. Ebeveynin boyutu belirsizse yüzdenin çalışmadığını hatırlatın.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Native'de varsayılan konum relative'tir ve absolute yalnızca ebeveynine göre çalışır; web'deki sayfa koordinatı yoktur. Bildirim rozeti örneğini gerçek uygulamalarla ilişkilendirin: mesajlaşma uygulamasındaki okunmamış sayısı. Ekranda öğelerin birbirini kapatma riskini belirtin ve absolute'un aşırı kullanımının yerleşimi bozduğunu söyleyin. Avatar dosyasının kendi projelerindeki bir resim olması gerektiğini hatırlatın. Anlatım önerisi: "position absolute, bir öğeyi akıştan çıkarıp ebeveynine göre yerleştirir. Avatarın köşesindeki kırmızı rozet böyle yapılır." Mesajlaşma uygulamasındaki okunmamış sayısı örneğini verin; her şeyi absolute yaparsak düzenin bozulacağını söyleyin.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"Şimdi uygulamamızı farklı telefonlarda dayanıklı yapacağız: farklı boyutlar, dönen ekranlar ve çentikli cihazlar." Öğrencilerin kendi telefonlarının ekran biçimlerini karşılaştırmalarını isteyin.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Eski kaynaklarda Dimensions.get('window') kullanımı görülür; bu yöntem ekran döndüğünde güncellenmez, hook ise otomatik güncellenir. Hook kavramını burada ilk kez kullanıyoruz: fonksiyon bileşenin içinde çağrılan ve bileşene özellik katan fonksiyonlar. useState de aynı aileden. Detaylı hook kurallarını 6. haftada ele alacağız. Anlatım önerisi: "useWindowDimensions ekranın genişliğini ve yüksekliğini verir; ekran dönünce otomatik güncellenir. Genişlik yükseklikten büyükse yataydayız." Önce flex ve yüzdeyle çözmeyi denemelerini, ölçü okumanın son çare olduğunu söyleyin. Hook kavramını kısaca açın.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yön kilitleme kararının bir tasarım kararı olduğunu söyleyin: video oynatıcı yatay isterken bankacılık uygulaması genellikle dikey kalır. Emülatörde döndürme düğmesiyle önceki ekranın nasıl davrandığını gözlemlettirin. Yön ayarının platform dosyalarında yapıldığını, bunun Bare projenin Expo'dan farkı olduğunu belirtin. iOS tarafındaki ayar Xcode projesinde yapılır ve yalnızca macOS'ta uygulanır. Anlatım önerisi: "Telefonu çevirince genişlik ve yükseklik yer değiştirir. Yönü kilitlemek bir tasarım kararıdır: video yatay ister, bankacılık dikey kalır." Emülatörde döndürüp önceki ekranın nasıl davrandığını gözlemletin. Yön ayarının platform dosyalarında yapıldığını belirtin.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Sorunu kendi emülatörlerinde göstermek için çentikli veya kenardan kenara ekranlı bir cihaz profili seçtirin. Eski kaynaklarda SafeAreaView kullanıldığını ve bu yüzden öğrencilerin karşılaşacağını söyleyin; kullanımdan kalkma durumunu mutlaka resmî sayfadan doğrulayın, çünkü bu tür bilgiler sürümle değişir. Bir sonraki slaytta paketin nasıl kullanıldığını göstereceğiz. Anlatım önerisi: "Çentik, durum çubuğu ve alt gezinme çubuğu ekranın bir kısmını kaplar. İçeriği oraya taşırırsak yazı çentiğin altında kalır. Güvenli alan, kesintisiz bölgedir ve cihaza göre değişir." Çentikli bir emülatör profili seçtirin. SafeAreaView'un durumunu resmî sayfadan birlikte doğrulayın.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Yeni bir kütüphane eklemenin ilk örneği budur; kurulum sonrası yeniden derleme gerektiğini özellikle vurgulayın, çünkü öğrencilerin sık yaşadığı sorun yalnızca Metro yenileyip paketi bulamamaktır. 7. haftada navigasyon paketlerini eklerken aynı adımlar tekrarlanacak. Paketin sürümünü kendi React Native sürümünüzle uyumlu seçmek için dokümana bakın. Anlatım önerisi: "Provider'ı uygulamanın kökünde bir kez koyuyoruz. useSafeAreaInsets ile üst, alt, sol, sağ boşlukları okuyup başlığa ekliyoruz." Paket kurulumundan sonra yeniden derleme gerektiğini özellikle vurgulayın; öğrencilerin sık yaşadığı sorun yalnızca Metro'yu yenilemektir.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iOS çalıştırılmadığı için bu kod Android tarafında doğrulanabilir; iOS değerlerini Mac kullanan öğrencilere bırakın. Platform farklarını gereksiz kullanmanın kodu karmaşıklaştırdığını, çoğu görünümün iki platformda aynı çalıştığını söyleyin. Yazı tipi adlarının platformda mevcut olup olmadığını emülatörde denemeden kesin saymamalarını önerin. Anlatım önerisi: "Platform.OS hangi platformda çalıştığımızı söyler. Platform.select ise platforma göre değer seçer. Yazı tipi adları iki platformda farklı olduğundan bunu sık kullanırız." Gereksiz platform ayrımının kodu karmaşıklaştırdığını söyleyin; iOS tarafını Mac kullananlara bırakın.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Android'de elevation'ın gölgenin rengini ve boyutunu aynı ölçüde kontrol etmediğini, iki platformda görünümün tam aynı olmayacağını söyleyin. Öğrencilere bu farkı kabul etmeyi, tasarımı iki platformda ayrı ayrı kontrol etmeyi öğretin. Gerçek cihazın emülatörden farklı gölge çizebileceğini belirtin. Anlatım önerisi: "Gölgeyi iki platformda farklı yazıyoruz: iOS için shadow ile başlayan özellikler, Android için elevation. İkisini birlikte yazarsak iki tarafta da gölge görünür." İki platformun tam aynı görünmeyeceğini söyleyin. boxShadow'un sürümünüzde desteklenip desteklenmediğini belgeden doğrulayın.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Öğrencilerden gerçek bir sipariş uygulamasında kartı inceleyip parçalarına ayırmalarını isteyin; hangi flexDirection, hangi flex, hangi position kullanılmış olabilir? Bu etkinlik, bugünkü bilgilerin gerçek tasarıma aktarımını gösterir. Bu kartı uygulama saatinde bir bileşen olarak yazmaya çalışacaklarını söyleyin. Sınıfı beş gruba bölüp her gruba bir uygulama kartı verin ve parçalarına ayırtın; sonuçları tahtada karşılaştırın. Aynı kartın farklı uygulamalarda neden benzer göründüğünü, yani tasarım kalıplarının nasıl ortaya çıktığını tartıştırabilirsiniz. Anlatım önerisi: "Gerçek bir uygulamadan bir kart: yemek siparişi. Dış kart, içinde yatay satır, solda resim, sağda metin sütunu. Köşedeki indirim rozeti absolute ile bindirilmiş." Sağdaki şemayı kullanın. Öğrencilerden gerçek bir uygulamada kartı parçalarına ayırmalarını isteyin.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Element Inspector'ı canlı gösterin: Ctrl+M ile geliştirici menüsünü açıp Toggle Element Inspector seçeneğini seçin ve bir öğeye dokunun. Öğrenciler web geliştirici araçlarına benzer bir işlev bulmaktan memnun kalacaktır. Her belirti için bilerek bozuk bir ekran hazırlayıp öğrencilerin tablodan nedeni bulmasını sağlayın. Bu tabloyu dönem boyunca başvuru kaynağı olarak saklamalarını önerin. Anlatım önerisi: "Yerleşim sorunlarının çoğu beş belirtiden biri. Öğe görünmüyorsa yüksekliği sıfırdır, yan yana değilse flexDirection eksiktir. Tahmin etmek yerine Element Inspector'a bakın." Geliştirici menüsünden Inspector'ı canlı gösterin; her belirti için bilerek bozuk bir ekran hazırlayın.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Uygulama, haftanın tüm kavramlarını geçen haftaki bileşenlerle birleştirir. Değerlendirme: stilin StyleSheet'te toplanması, flex kullanımı, güvenli alan ve iki yönelimde düzenin bozulmaması. Emülatörde yatay moda geçirip kontrol etmeyi istemeyi unutmayın. Güvenli alan paketini ilk kez kuracak öğrencilere yeniden derleme adımını hatırlatın. Tam föy ayrı bir Uygulama Rehberi olarak hazırlanabilir. Anlatım önerisi: "Şimdi geçen haftaki profil kartını güzelleştiriyoruz. Önce StyleSheet ile stil, sonra row ile avatar ve metin, sonra rozet, en son güvenli alan." Sağdaki taslağı hedef olarak gösterin. Emülatörü yatay çevirmeyi hatırlatın; güvenli alan paketini kuracaklara yeniden derleme adımını söyleyin.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sorular ara sınavda çıkabilecek türdendir. Son sorunun yanıtı flexDirection: 'row' ve justifyContent: 'space-between' veya gap'tir; iki çözümü de kabul edin ve farkını tartışın. Öğrencilerin yanıtlarını tahtada çizerek göstermelerini isteyin. Yanlış yanıtlarda 12. slayttaki eksen şemasına dönün. Soruları önce bireysel, sonra eşli çalışmayla yanıtlatın; eşlerin birbirini düzeltmesi anlama düzeyini ortaya çıkarır. Yanıtlamakta zorlanılan soruyu işaretleyip uygulama saatinde bu konuya özel bir minik alıştırma yaptırın. Anlatım önerisi: "Şimdi kendinizi sınayın. Cevapları önce kâğıda yazın, sonra eşinizle karşılaştırın. Son soruda iki farklı çözüm olabilir, ikisini de kabul edeceğiz." Tahtada çizim yaptırın; yanlış cevaplarda 12. slayttaki eksen şemasına dönün.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Çıkış etkinliği olarak öğrencilerden ekranlarının önce ve sonra görüntülerini paylaşmalarını isteyin; gelişimi görmek motivasyon sağlar. Gelecek hafta bileşenlerin kullanıcı etkileşimine tepki vermesini öğreneceğimizi, bu yüzden bugünkü ekranları kaydetmelerini söyleyin. Emülatör ve stil sorunları yaşayanlara ofis saatini hatırlatın. Önce ve sonra ekran görüntülerini yan yana koyarak sınıfla paylaştırmak, kazanımı görünür kılar. Gelecek haftanın etkileşim konusuna geçerken bugünkü düzenin hareketsiz olduğunu, bir sonraki derste ise düğmeye basınca ekranın değişeceğini söyleyin. Anlatım önerisi: "Bugün stili yazmayı, Flexbox ile yerleştirmeyi ve farklı cihazlarda dayanıklı düzen kurmayı öğrendik. Ekranlarımız artık güzel ama hareketsiz. Gelecek hafta düğmeye basınca ekranın değişmesini göreceğiz." Çıkış etkinliği olarak önce ve sonra görüntülerini isteyin.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PAK">
    <p:bg>
      <p:bgPr>
        <a:solidFill>
          <a:srgbClr val="F8FAFC"/>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ERIK">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6400800"/>
            <a:ext cx="8229600" cy="274320"/>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BGP 201 Mobil Programlama · Hafta 5 · Layout ve Stil</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554480"/>
            <a:ext cx="7315200" cy="365760"/>
          </a:xfrm>
          <a:prstGeom prst="rect">
            <a:avLst/>
          </a:prstGeom>
          <a:noFill/>
          <a:ln/>
        </p:spPr>
        <p:txBody>
          <a:bodyPr wrap="square" lIns="0" tIns="0" rIns="0" bIns="0" rtlCol="0" anchor="ctr"/>
          <a:lstStyle/>
          <a:p>
            <a:pPr marL="0" indent="0" algn="l">
              <a:buNone/>
            </a:pPr>
            <a:r>
              <a:rPr lang="en-US" sz="1600" b="1" kern="0" spc="200" dirty="0">
                <a:solidFill>
                  <a:srgbClr val="2563EB"/>
                </a:solidFill>
                <a:latin typeface="Arial" pitchFamily="34" charset="0"/>
                <a:ea typeface="Arial" pitchFamily="34" charset="-122"/>
                <a:cs typeface="Arial" pitchFamily="34" charset="-120"/>
              </a:rPr>
              <a:t>BGP 201 Mobil Programlama · Hafta 5</a:t>
            </a:r>
            <a:endParaRPr lang="en-US" sz="1600" dirty="0"/>
          </a:p>
        </p:txBody>
      </p:sp>
      <p:sp>
        <p:nvSpPr>
          <p:cNvPr id="3" name="Text 1"/>
          <p:cNvSpPr txBox="1"/>
          <p:nvPr/>
        </p:nvSpPr>
        <p:spPr>
          <a:xfrm>
            <a:off x="822960" y="2011680"/>
            <a:ext cx="10332720" cy="1828800"/>
          </a:xfrm>
          <a:prstGeom prst="rect">
            <a:avLst/>
          </a:prstGeom>
          <a:noFill/>
          <a:ln/>
        </p:spPr>
        <p:txBody>
          <a:bodyPr wrap="square" lIns="0" tIns="0" rIns="0" bIns="0" rtlCol="0" anchor="t"/>
          <a:lstStyle/>
          <a:p>
            <a:pPr marL="0" indent="0" algn="l">
              <a:buNone/>
            </a:pPr>
            <a:r>
              <a:rPr lang="en-US" sz="4400" b="1" dirty="0">
                <a:solidFill>
                  <a:srgbClr val="111827"/>
                </a:solidFill>
                <a:latin typeface="Arial" pitchFamily="34" charset="0"/>
                <a:ea typeface="Arial" pitchFamily="34" charset="-122"/>
                <a:cs typeface="Arial" pitchFamily="34" charset="-120"/>
              </a:rPr>
              <a:t>Layout ve Stil: Flexbox ile Ekran Düzeni</a:t>
            </a:r>
            <a:endParaRPr lang="en-US" sz="4400" dirty="0"/>
          </a:p>
        </p:txBody>
      </p:sp>
      <p:sp>
        <p:nvSpPr>
          <p:cNvPr id="4" name="Text 2"/>
          <p:cNvSpPr txBox="1"/>
          <p:nvPr/>
        </p:nvSpPr>
        <p:spPr>
          <a:xfrm>
            <a:off x="822960" y="4023360"/>
            <a:ext cx="9601200" cy="640080"/>
          </a:xfrm>
          <a:prstGeom prst="rect">
            <a:avLst/>
          </a:prstGeom>
          <a:noFill/>
          <a:ln/>
        </p:spPr>
        <p:txBody>
          <a:bodyPr wrap="square" lIns="0" tIns="0" rIns="0" bIns="0" rtlCol="0" anchor="ctr"/>
          <a:lstStyle/>
          <a:p>
            <a:pPr marL="0" indent="0" algn="l">
              <a:buNone/>
            </a:pPr>
            <a:r>
              <a:rPr lang="en-US" sz="2200" dirty="0">
                <a:solidFill>
                  <a:srgbClr val="6B7280"/>
                </a:solidFill>
                <a:latin typeface="Arial" pitchFamily="34" charset="0"/>
                <a:ea typeface="Arial" pitchFamily="34" charset="-122"/>
                <a:cs typeface="Arial" pitchFamily="34" charset="-120"/>
              </a:rPr>
              <a:t>StyleSheet, Flexbox, güvenli alan ve platform farkları</a:t>
            </a:r>
            <a:endParaRPr lang="en-US" sz="2200" dirty="0"/>
          </a:p>
        </p:txBody>
      </p:sp>
      <p:pic>
        <p:nvPicPr>
          <p:cNvPr id="5" name="Image 0" descr="/tmp/claude-0/-home-claude/bb2dbc6e-f574-5e99-8510-889b704da121/scratchpad/decks/logos/react.png"/>
          <p:cNvPicPr>
            <a:picLocks noChangeAspect="1"/>
          </p:cNvPicPr>
          <p:nvPr/>
        </p:nvPicPr>
        <p:blipFill>
          <a:blip r:embed="rId3"/>
          <a:stretch>
            <a:fillRect/>
          </a:stretch>
        </p:blipFill>
        <p:spPr>
          <a:xfrm>
            <a:off x="822960" y="5394960"/>
            <a:ext cx="548640" cy="548640"/>
          </a:xfrm>
          <a:prstGeom prst="rect">
            <a:avLst/>
          </a:prstGeom>
        </p:spPr>
      </p:pic>
      <p:pic>
        <p:nvPicPr>
          <p:cNvPr id="6" name="Image 1" descr="/tmp/claude-0/-home-claude/bb2dbc6e-f574-5e99-8510-889b704da121/scratchpad/decks/logos/android.png"/>
          <p:cNvPicPr>
            <a:picLocks noChangeAspect="1"/>
          </p:cNvPicPr>
          <p:nvPr/>
        </p:nvPicPr>
        <p:blipFill>
          <a:blip r:embed="rId4"/>
          <a:stretch>
            <a:fillRect/>
          </a:stretch>
        </p:blipFill>
        <p:spPr>
          <a:xfrm>
            <a:off x="1828800" y="5394960"/>
            <a:ext cx="548640" cy="548640"/>
          </a:xfrm>
          <a:prstGeom prst="rect">
            <a:avLst/>
          </a:prstGeom>
        </p:spPr>
      </p:pic>
      <p:pic>
        <p:nvPicPr>
          <p:cNvPr id="7" name="Image 2" descr="/tmp/claude-0/-home-claude/bb2dbc6e-f574-5e99-8510-889b704da121/scratchpad/decks/logos/ios.png"/>
          <p:cNvPicPr>
            <a:picLocks noChangeAspect="1"/>
          </p:cNvPicPr>
          <p:nvPr/>
        </p:nvPicPr>
        <p:blipFill>
          <a:blip r:embed="rId5"/>
          <a:stretch>
            <a:fillRect/>
          </a:stretch>
        </p:blipFill>
        <p:spPr>
          <a:xfrm>
            <a:off x="2834640" y="5394960"/>
            <a:ext cx="548640" cy="548640"/>
          </a:xfrm>
          <a:prstGeom prst="rect">
            <a:avLst/>
          </a:prstGeom>
        </p:spPr>
      </p:pic>
      <p:pic>
        <p:nvPicPr>
          <p:cNvPr id="8" name="Image 3" descr="/tmp/claude-0/-home-claude/bb2dbc6e-f574-5e99-8510-889b704da121/scratchpad/decks/logos/play.png"/>
          <p:cNvPicPr>
            <a:picLocks noChangeAspect="1"/>
          </p:cNvPicPr>
          <p:nvPr/>
        </p:nvPicPr>
        <p:blipFill>
          <a:blip r:embed="rId6"/>
          <a:stretch>
            <a:fillRect/>
          </a:stretch>
        </p:blipFill>
        <p:spPr>
          <a:xfrm>
            <a:off x="3840480" y="5394960"/>
            <a:ext cx="548640" cy="548640"/>
          </a:xfrm>
          <a:prstGeom prst="rect">
            <a:avLst/>
          </a:prstGeom>
        </p:spPr>
      </p:pic>
      <p:pic>
        <p:nvPicPr>
          <p:cNvPr id="9" name="Image 4" descr="/tmp/claude-0/-home-claude/bb2dbc6e-f574-5e99-8510-889b704da121/scratchpad/decks/logos/appstore.png"/>
          <p:cNvPicPr>
            <a:picLocks noChangeAspect="1"/>
          </p:cNvPicPr>
          <p:nvPr/>
        </p:nvPicPr>
        <p:blipFill>
          <a:blip r:embed="rId7"/>
          <a:stretch>
            <a:fillRect/>
          </a:stretch>
        </p:blipFill>
        <p:spPr>
          <a:xfrm>
            <a:off x="4846320" y="5394960"/>
            <a:ext cx="548640" cy="548640"/>
          </a:xfrm>
          <a:prstGeom prst="rect">
            <a:avLst/>
          </a:prstGeom>
        </p:spPr>
      </p:pic>
      <p:pic>
        <p:nvPicPr>
          <p:cNvPr id="10" name="Image 5" descr="/tmp/claude-0/-home-claude/bb2dbc6e-f574-5e99-8510-889b704da121/scratchpad/decks/logos/kotlin.png"/>
          <p:cNvPicPr>
            <a:picLocks noChangeAspect="1"/>
          </p:cNvPicPr>
          <p:nvPr/>
        </p:nvPicPr>
        <p:blipFill>
          <a:blip r:embed="rId8"/>
          <a:stretch>
            <a:fillRect/>
          </a:stretch>
        </p:blipFill>
        <p:spPr>
          <a:xfrm>
            <a:off x="5852160" y="5394960"/>
            <a:ext cx="548640" cy="548640"/>
          </a:xfrm>
          <a:prstGeom prst="rect">
            <a:avLst/>
          </a:prstGeom>
        </p:spPr>
      </p:pic>
      <p:pic>
        <p:nvPicPr>
          <p:cNvPr id="11" name="Image 6" descr="/tmp/claude-0/-home-claude/bb2dbc6e-f574-5e99-8510-889b704da121/scratchpad/decks/logos/flutter.png"/>
          <p:cNvPicPr>
            <a:picLocks noChangeAspect="1"/>
          </p:cNvPicPr>
          <p:nvPr/>
        </p:nvPicPr>
        <p:blipFill>
          <a:blip r:embed="rId9"/>
          <a:stretch>
            <a:fillRect/>
          </a:stretch>
        </p:blipFill>
        <p:spPr>
          <a:xfrm>
            <a:off x="6858000" y="5394960"/>
            <a:ext cx="548640" cy="548640"/>
          </a:xfrm>
          <a:prstGeom prst="rect">
            <a:avLst/>
          </a:prstGeom>
        </p:spPr>
      </p:pic>
      <p:pic>
        <p:nvPicPr>
          <p:cNvPr id="12" name="Image 7" descr="/tmp/claude-0/-home-claude/bb2dbc6e-f574-5e99-8510-889b704da121/scratchpad/decks/logos/swift.png"/>
          <p:cNvPicPr>
            <a:picLocks noChangeAspect="1"/>
          </p:cNvPicPr>
          <p:nvPr/>
        </p:nvPicPr>
        <p:blipFill>
          <a:blip r:embed="rId10"/>
          <a:stretch>
            <a:fillRect/>
          </a:stretch>
        </p:blipFill>
        <p:spPr>
          <a:xfrm>
            <a:off x="7863840" y="5394960"/>
            <a:ext cx="548640"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Bu Hafta Neyi Öğreneceğiz?</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828800"/>
            <a:ext cx="3474720" cy="3474720"/>
          </a:xfrm>
          <a:prstGeom prst="roundRect">
            <a:avLst>
              <a:gd name="adj" fmla="val 2632"/>
            </a:avLst>
          </a:prstGeom>
          <a:solidFill>
            <a:srgbClr val="EFF6FF"/>
          </a:solidFill>
          <a:ln w="9525">
            <a:solidFill>
              <a:srgbClr val="EFF6FF"/>
            </a:solidFill>
            <a:prstDash val="solid"/>
          </a:ln>
        </p:spPr>
      </p:sp>
      <p:sp>
        <p:nvSpPr>
          <p:cNvPr id="5" name="Text 3"/>
          <p:cNvSpPr txBox="1"/>
          <p:nvPr/>
        </p:nvSpPr>
        <p:spPr>
          <a:xfrm>
            <a:off x="1005840" y="2057400"/>
            <a:ext cx="914400" cy="822960"/>
          </a:xfrm>
          <a:prstGeom prst="rect">
            <a:avLst/>
          </a:prstGeom>
          <a:noFill/>
          <a:ln/>
        </p:spPr>
        <p:txBody>
          <a:bodyPr wrap="square" lIns="0" tIns="0" rIns="0" bIns="0" rtlCol="0" anchor="ctr"/>
          <a:lstStyle/>
          <a:p>
            <a:pPr marL="0" indent="0" algn="l">
              <a:buNone/>
            </a:pPr>
            <a:r>
              <a:rPr lang="en-US" sz="4800" b="1" dirty="0">
                <a:solidFill>
                  <a:srgbClr val="2563EB"/>
                </a:solidFill>
                <a:latin typeface="Arial" pitchFamily="34" charset="0"/>
                <a:ea typeface="Arial" pitchFamily="34" charset="-122"/>
                <a:cs typeface="Arial" pitchFamily="34" charset="-120"/>
              </a:rPr>
              <a:t>1</a:t>
            </a:r>
            <a:endParaRPr lang="en-US" sz="4800" dirty="0"/>
          </a:p>
        </p:txBody>
      </p:sp>
      <p:sp>
        <p:nvSpPr>
          <p:cNvPr id="6" name="Text 4"/>
          <p:cNvSpPr txBox="1"/>
          <p:nvPr/>
        </p:nvSpPr>
        <p:spPr>
          <a:xfrm>
            <a:off x="1005840" y="3017520"/>
            <a:ext cx="2926080" cy="2194560"/>
          </a:xfrm>
          <a:prstGeom prst="rect">
            <a:avLst/>
          </a:prstGeom>
          <a:noFill/>
          <a:ln/>
        </p:spPr>
        <p:txBody>
          <a:bodyPr wrap="square" lIns="0" tIns="0" rIns="0" bIns="0" rtlCol="0" anchor="t"/>
          <a:lstStyle/>
          <a:p>
            <a:pPr marL="0" indent="0" algn="l">
              <a:buNone/>
            </a:pPr>
            <a:r>
              <a:rPr lang="en-US" sz="1900" dirty="0">
                <a:solidFill>
                  <a:srgbClr val="111827"/>
                </a:solidFill>
                <a:latin typeface="Arial" pitchFamily="34" charset="0"/>
                <a:ea typeface="Arial" pitchFamily="34" charset="-122"/>
                <a:cs typeface="Arial" pitchFamily="34" charset="-120"/>
              </a:rPr>
              <a:t>StyleSheet ile stil tanımlar ve React Native stilinin CSS'ten farklarını açıklarsınız.</a:t>
            </a:r>
            <a:endParaRPr lang="en-US" sz="1900" dirty="0"/>
          </a:p>
        </p:txBody>
      </p:sp>
      <p:sp>
        <p:nvSpPr>
          <p:cNvPr id="7" name="Shape 5"/>
          <p:cNvSpPr/>
          <p:nvPr/>
        </p:nvSpPr>
        <p:spPr>
          <a:xfrm>
            <a:off x="4480560" y="1828800"/>
            <a:ext cx="3474720" cy="3474720"/>
          </a:xfrm>
          <a:prstGeom prst="roundRect">
            <a:avLst>
              <a:gd name="adj" fmla="val 2632"/>
            </a:avLst>
          </a:prstGeom>
          <a:solidFill>
            <a:srgbClr val="EFF6FF"/>
          </a:solidFill>
          <a:ln w="9525">
            <a:solidFill>
              <a:srgbClr val="EFF6FF"/>
            </a:solidFill>
            <a:prstDash val="solid"/>
          </a:ln>
        </p:spPr>
      </p:sp>
      <p:sp>
        <p:nvSpPr>
          <p:cNvPr id="8" name="Text 6"/>
          <p:cNvSpPr txBox="1"/>
          <p:nvPr/>
        </p:nvSpPr>
        <p:spPr>
          <a:xfrm>
            <a:off x="4754880" y="2057400"/>
            <a:ext cx="914400" cy="822960"/>
          </a:xfrm>
          <a:prstGeom prst="rect">
            <a:avLst/>
          </a:prstGeom>
          <a:noFill/>
          <a:ln/>
        </p:spPr>
        <p:txBody>
          <a:bodyPr wrap="square" lIns="0" tIns="0" rIns="0" bIns="0" rtlCol="0" anchor="ctr"/>
          <a:lstStyle/>
          <a:p>
            <a:pPr marL="0" indent="0" algn="l">
              <a:buNone/>
            </a:pPr>
            <a:r>
              <a:rPr lang="en-US" sz="4800" b="1" dirty="0">
                <a:solidFill>
                  <a:srgbClr val="2563EB"/>
                </a:solidFill>
                <a:latin typeface="Arial" pitchFamily="34" charset="0"/>
                <a:ea typeface="Arial" pitchFamily="34" charset="-122"/>
                <a:cs typeface="Arial" pitchFamily="34" charset="-120"/>
              </a:rPr>
              <a:t>2</a:t>
            </a:r>
            <a:endParaRPr lang="en-US" sz="4800" dirty="0"/>
          </a:p>
        </p:txBody>
      </p:sp>
      <p:sp>
        <p:nvSpPr>
          <p:cNvPr id="9" name="Text 7"/>
          <p:cNvSpPr txBox="1"/>
          <p:nvPr/>
        </p:nvSpPr>
        <p:spPr>
          <a:xfrm>
            <a:off x="4754880" y="3017520"/>
            <a:ext cx="2926080" cy="2194560"/>
          </a:xfrm>
          <a:prstGeom prst="rect">
            <a:avLst/>
          </a:prstGeom>
          <a:noFill/>
          <a:ln/>
        </p:spPr>
        <p:txBody>
          <a:bodyPr wrap="square" lIns="0" tIns="0" rIns="0" bIns="0" rtlCol="0" anchor="t"/>
          <a:lstStyle/>
          <a:p>
            <a:pPr marL="0" indent="0" algn="l">
              <a:buNone/>
            </a:pPr>
            <a:r>
              <a:rPr lang="en-US" sz="1900" dirty="0">
                <a:solidFill>
                  <a:srgbClr val="111827"/>
                </a:solidFill>
                <a:latin typeface="Arial" pitchFamily="34" charset="0"/>
                <a:ea typeface="Arial" pitchFamily="34" charset="-122"/>
                <a:cs typeface="Arial" pitchFamily="34" charset="-120"/>
              </a:rPr>
              <a:t>Flexbox ile bileşenleri yatay, dikey ve oranlı olarak yerleştirirsiniz.</a:t>
            </a:r>
            <a:endParaRPr lang="en-US" sz="1900" dirty="0"/>
          </a:p>
        </p:txBody>
      </p:sp>
      <p:sp>
        <p:nvSpPr>
          <p:cNvPr id="10" name="Shape 8"/>
          <p:cNvSpPr/>
          <p:nvPr/>
        </p:nvSpPr>
        <p:spPr>
          <a:xfrm>
            <a:off x="8229600" y="1828800"/>
            <a:ext cx="3474720" cy="3474720"/>
          </a:xfrm>
          <a:prstGeom prst="roundRect">
            <a:avLst>
              <a:gd name="adj" fmla="val 2632"/>
            </a:avLst>
          </a:prstGeom>
          <a:solidFill>
            <a:srgbClr val="EFF6FF"/>
          </a:solidFill>
          <a:ln w="9525">
            <a:solidFill>
              <a:srgbClr val="EFF6FF"/>
            </a:solidFill>
            <a:prstDash val="solid"/>
          </a:ln>
        </p:spPr>
      </p:sp>
      <p:sp>
        <p:nvSpPr>
          <p:cNvPr id="11" name="Text 9"/>
          <p:cNvSpPr txBox="1"/>
          <p:nvPr/>
        </p:nvSpPr>
        <p:spPr>
          <a:xfrm>
            <a:off x="8503920" y="2057400"/>
            <a:ext cx="914400" cy="822960"/>
          </a:xfrm>
          <a:prstGeom prst="rect">
            <a:avLst/>
          </a:prstGeom>
          <a:noFill/>
          <a:ln/>
        </p:spPr>
        <p:txBody>
          <a:bodyPr wrap="square" lIns="0" tIns="0" rIns="0" bIns="0" rtlCol="0" anchor="ctr"/>
          <a:lstStyle/>
          <a:p>
            <a:pPr marL="0" indent="0" algn="l">
              <a:buNone/>
            </a:pPr>
            <a:r>
              <a:rPr lang="en-US" sz="4800" b="1" dirty="0">
                <a:solidFill>
                  <a:srgbClr val="2563EB"/>
                </a:solidFill>
                <a:latin typeface="Arial" pitchFamily="34" charset="0"/>
                <a:ea typeface="Arial" pitchFamily="34" charset="-122"/>
                <a:cs typeface="Arial" pitchFamily="34" charset="-120"/>
              </a:rPr>
              <a:t>3</a:t>
            </a:r>
            <a:endParaRPr lang="en-US" sz="4800" dirty="0"/>
          </a:p>
        </p:txBody>
      </p:sp>
      <p:sp>
        <p:nvSpPr>
          <p:cNvPr id="12" name="Text 10"/>
          <p:cNvSpPr txBox="1"/>
          <p:nvPr/>
        </p:nvSpPr>
        <p:spPr>
          <a:xfrm>
            <a:off x="8503920" y="3017520"/>
            <a:ext cx="2926080" cy="2194560"/>
          </a:xfrm>
          <a:prstGeom prst="rect">
            <a:avLst/>
          </a:prstGeom>
          <a:noFill/>
          <a:ln/>
        </p:spPr>
        <p:txBody>
          <a:bodyPr wrap="square" lIns="0" tIns="0" rIns="0" bIns="0" rtlCol="0" anchor="t"/>
          <a:lstStyle/>
          <a:p>
            <a:pPr marL="0" indent="0" algn="l">
              <a:buNone/>
            </a:pPr>
            <a:r>
              <a:rPr lang="en-US" sz="1900" dirty="0">
                <a:solidFill>
                  <a:srgbClr val="111827"/>
                </a:solidFill>
                <a:latin typeface="Arial" pitchFamily="34" charset="0"/>
                <a:ea typeface="Arial" pitchFamily="34" charset="-122"/>
                <a:cs typeface="Arial" pitchFamily="34" charset="-120"/>
              </a:rPr>
              <a:t>Ekran boyutu, güvenli alan ve Android ile iOS farklarını hesaba katan düzenler kurarsınız.</a:t>
            </a:r>
            <a:endParaRPr lang="en-US" sz="19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Üç Saatlik Ders Akışı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1989734" cy="1051560"/>
          </a:xfrm>
          <a:prstGeom prst="roundRect">
            <a:avLst>
              <a:gd name="adj" fmla="val 8696"/>
            </a:avLst>
          </a:prstGeom>
          <a:solidFill>
            <a:srgbClr val="EFF6FF"/>
          </a:solidFill>
          <a:ln w="9525">
            <a:solidFill>
              <a:srgbClr val="EFF6FF"/>
            </a:solidFill>
            <a:prstDash val="solid"/>
          </a:ln>
        </p:spPr>
      </p:sp>
      <p:sp>
        <p:nvSpPr>
          <p:cNvPr id="5" name="Text 3"/>
          <p:cNvSpPr txBox="1"/>
          <p:nvPr/>
        </p:nvSpPr>
        <p:spPr>
          <a:xfrm>
            <a:off x="868680"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1</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Stil temelleri</a:t>
            </a:r>
            <a:endParaRPr lang="en-US" sz="1200" dirty="0"/>
          </a:p>
        </p:txBody>
      </p:sp>
      <p:sp>
        <p:nvSpPr>
          <p:cNvPr id="6" name="Text 4"/>
          <p:cNvSpPr txBox="1"/>
          <p:nvPr/>
        </p:nvSpPr>
        <p:spPr>
          <a:xfrm>
            <a:off x="272125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2977286" y="1645920"/>
            <a:ext cx="1989734" cy="1051560"/>
          </a:xfrm>
          <a:prstGeom prst="roundRect">
            <a:avLst>
              <a:gd name="adj" fmla="val 8696"/>
            </a:avLst>
          </a:prstGeom>
          <a:solidFill>
            <a:srgbClr val="EFF6FF"/>
          </a:solidFill>
          <a:ln w="9525">
            <a:solidFill>
              <a:srgbClr val="EFF6FF"/>
            </a:solidFill>
            <a:prstDash val="solid"/>
          </a:ln>
        </p:spPr>
      </p:sp>
      <p:sp>
        <p:nvSpPr>
          <p:cNvPr id="8" name="Text 6"/>
          <p:cNvSpPr txBox="1"/>
          <p:nvPr/>
        </p:nvSpPr>
        <p:spPr>
          <a:xfrm>
            <a:off x="3114446"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2</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Flexbox</a:t>
            </a:r>
            <a:endParaRPr lang="en-US" sz="1200" dirty="0"/>
          </a:p>
        </p:txBody>
      </p:sp>
      <p:sp>
        <p:nvSpPr>
          <p:cNvPr id="9" name="Text 7"/>
          <p:cNvSpPr txBox="1"/>
          <p:nvPr/>
        </p:nvSpPr>
        <p:spPr>
          <a:xfrm>
            <a:off x="4967021"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5223053" y="1645920"/>
            <a:ext cx="1989734" cy="1051560"/>
          </a:xfrm>
          <a:prstGeom prst="roundRect">
            <a:avLst>
              <a:gd name="adj" fmla="val 8696"/>
            </a:avLst>
          </a:prstGeom>
          <a:solidFill>
            <a:srgbClr val="EFF6FF"/>
          </a:solidFill>
          <a:ln w="9525">
            <a:solidFill>
              <a:srgbClr val="EFF6FF"/>
            </a:solidFill>
            <a:prstDash val="solid"/>
          </a:ln>
        </p:spPr>
      </p:sp>
      <p:sp>
        <p:nvSpPr>
          <p:cNvPr id="11" name="Text 9"/>
          <p:cNvSpPr txBox="1"/>
          <p:nvPr/>
        </p:nvSpPr>
        <p:spPr>
          <a:xfrm>
            <a:off x="5360213"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3</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Boyut ve güvenli alan</a:t>
            </a:r>
            <a:endParaRPr lang="en-US" sz="1200" dirty="0"/>
          </a:p>
        </p:txBody>
      </p:sp>
      <p:sp>
        <p:nvSpPr>
          <p:cNvPr id="12" name="Text 10"/>
          <p:cNvSpPr txBox="1"/>
          <p:nvPr/>
        </p:nvSpPr>
        <p:spPr>
          <a:xfrm>
            <a:off x="7212787"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7468819" y="1645920"/>
            <a:ext cx="1989734" cy="1051560"/>
          </a:xfrm>
          <a:prstGeom prst="roundRect">
            <a:avLst>
              <a:gd name="adj" fmla="val 8696"/>
            </a:avLst>
          </a:prstGeom>
          <a:solidFill>
            <a:srgbClr val="EFF6FF"/>
          </a:solidFill>
          <a:ln w="9525">
            <a:solidFill>
              <a:srgbClr val="EFF6FF"/>
            </a:solidFill>
            <a:prstDash val="solid"/>
          </a:ln>
        </p:spPr>
      </p:sp>
      <p:sp>
        <p:nvSpPr>
          <p:cNvPr id="14" name="Text 12"/>
          <p:cNvSpPr txBox="1"/>
          <p:nvPr/>
        </p:nvSpPr>
        <p:spPr>
          <a:xfrm>
            <a:off x="7605979"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4</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Platform farkları</a:t>
            </a:r>
            <a:endParaRPr lang="en-US" sz="1200" dirty="0"/>
          </a:p>
        </p:txBody>
      </p:sp>
      <p:sp>
        <p:nvSpPr>
          <p:cNvPr id="15" name="Text 13"/>
          <p:cNvSpPr txBox="1"/>
          <p:nvPr/>
        </p:nvSpPr>
        <p:spPr>
          <a:xfrm>
            <a:off x="945855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9714586" y="1645920"/>
            <a:ext cx="1989734" cy="1051560"/>
          </a:xfrm>
          <a:prstGeom prst="roundRect">
            <a:avLst>
              <a:gd name="adj" fmla="val 8696"/>
            </a:avLst>
          </a:prstGeom>
          <a:solidFill>
            <a:srgbClr val="2563EB"/>
          </a:solidFill>
          <a:ln w="9525">
            <a:solidFill>
              <a:srgbClr val="2563EB"/>
            </a:solidFill>
            <a:prstDash val="solid"/>
          </a:ln>
        </p:spPr>
      </p:sp>
      <p:sp>
        <p:nvSpPr>
          <p:cNvPr id="17" name="Text 15"/>
          <p:cNvSpPr txBox="1"/>
          <p:nvPr/>
        </p:nvSpPr>
        <p:spPr>
          <a:xfrm>
            <a:off x="9851746"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FFFFFF"/>
                </a:solidFill>
                <a:latin typeface="Arial" pitchFamily="34" charset="0"/>
                <a:ea typeface="Arial" pitchFamily="34" charset="-122"/>
                <a:cs typeface="Arial" pitchFamily="34" charset="-120"/>
              </a:rPr>
              <a:t>5</a:t>
            </a:r>
            <a:endParaRPr lang="en-US" sz="1200" dirty="0"/>
          </a:p>
          <a:p>
            <a:pPr marL="0" indent="0" algn="l">
              <a:buNone/>
            </a:pPr>
            <a:r>
              <a:rPr lang="en-US" sz="1400" b="1" dirty="0">
                <a:solidFill>
                  <a:srgbClr val="FFFFFF"/>
                </a:solidFill>
                <a:latin typeface="Arial" pitchFamily="34" charset="0"/>
                <a:ea typeface="Arial" pitchFamily="34" charset="-122"/>
                <a:cs typeface="Arial" pitchFamily="34" charset="-120"/>
              </a:rPr>
              <a:t>Uygulama</a:t>
            </a:r>
            <a:endParaRPr lang="en-US" sz="1200" dirty="0"/>
          </a:p>
        </p:txBody>
      </p:sp>
      <p:sp>
        <p:nvSpPr>
          <p:cNvPr id="18" name="Text 16"/>
          <p:cNvSpPr txBox="1"/>
          <p:nvPr/>
        </p:nvSpPr>
        <p:spPr>
          <a:xfrm>
            <a:off x="731520" y="3017520"/>
            <a:ext cx="10972800" cy="32918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Önce stilin nasıl yazıldığını ve CSS'ten nerede ayrıldığını görüyoruz. Ardından dersin ana konusu olan Flexbox'ı işliyoruz. Sonra farklı ekran boyutlarında ve çentikli cihazlarda düzenin bozulmaması için boyut ve güvenli alan konusunu ele alıyoruz. Son saatte geçen haftaki profil kartı ekranını baştan stilleyeceksiniz.</a:t>
            </a:r>
            <a:endParaRPr lang="en-US" sz="22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822960" y="2194560"/>
            <a:ext cx="7315200" cy="365760"/>
          </a:xfrm>
          <a:prstGeom prst="rect">
            <a:avLst/>
          </a:prstGeom>
          <a:noFill/>
          <a:ln/>
        </p:spPr>
        <p:txBody>
          <a:bodyPr wrap="square" lIns="0" tIns="0" rIns="0" bIns="0" rtlCol="0" anchor="ctr"/>
          <a:lstStyle/>
          <a:p>
            <a:pPr marL="0" indent="0" algn="l">
              <a:buNone/>
            </a:pPr>
            <a:r>
              <a:rPr lang="en-US" sz="1600" b="1" kern="0" spc="400" dirty="0">
                <a:solidFill>
                  <a:srgbClr val="2563EB"/>
                </a:solidFill>
                <a:latin typeface="Arial" pitchFamily="34" charset="0"/>
                <a:ea typeface="Arial" pitchFamily="34" charset="-122"/>
                <a:cs typeface="Arial" pitchFamily="34" charset="-120"/>
              </a:rPr>
              <a:t>BÖLÜM 1</a:t>
            </a:r>
            <a:endParaRPr lang="en-US" sz="1600" dirty="0"/>
          </a:p>
        </p:txBody>
      </p:sp>
      <p:sp>
        <p:nvSpPr>
          <p:cNvPr id="3" name="Text 1"/>
          <p:cNvSpPr txBox="1"/>
          <p:nvPr/>
        </p:nvSpPr>
        <p:spPr>
          <a:xfrm>
            <a:off x="822960" y="2651760"/>
            <a:ext cx="10058400" cy="1371600"/>
          </a:xfrm>
          <a:prstGeom prst="rect">
            <a:avLst/>
          </a:prstGeom>
          <a:noFill/>
          <a:ln/>
        </p:spPr>
        <p:txBody>
          <a:bodyPr wrap="square" lIns="0" tIns="0" rIns="0" bIns="0" rtlCol="0" anchor="t"/>
          <a:lstStyle/>
          <a:p>
            <a:pPr marL="0" indent="0" algn="l">
              <a:buNone/>
            </a:pPr>
            <a:r>
              <a:rPr lang="en-US" sz="4400" b="1" dirty="0">
                <a:solidFill>
                  <a:srgbClr val="111827"/>
                </a:solidFill>
                <a:latin typeface="Arial" pitchFamily="34" charset="0"/>
                <a:ea typeface="Arial" pitchFamily="34" charset="-122"/>
                <a:cs typeface="Arial" pitchFamily="34" charset="-120"/>
              </a:rPr>
              <a:t>Stil Temelleri</a:t>
            </a:r>
            <a:endParaRPr lang="en-US" sz="4400" dirty="0"/>
          </a:p>
        </p:txBody>
      </p:sp>
      <p:sp>
        <p:nvSpPr>
          <p:cNvPr id="4" name="Text 2"/>
          <p:cNvSpPr txBox="1"/>
          <p:nvPr/>
        </p:nvSpPr>
        <p:spPr>
          <a:xfrm>
            <a:off x="822960" y="4114800"/>
            <a:ext cx="9144000" cy="548640"/>
          </a:xfrm>
          <a:prstGeom prst="rect">
            <a:avLst/>
          </a:prstGeom>
          <a:noFill/>
          <a:ln/>
        </p:spPr>
        <p:txBody>
          <a:bodyPr wrap="square" lIns="0" tIns="0" rIns="0" bIns="0" rtlCol="0" anchor="ctr"/>
          <a:lstStyle/>
          <a:p>
            <a:pPr marL="0" indent="0" algn="l">
              <a:buNone/>
            </a:pPr>
            <a:r>
              <a:rPr lang="en-US" sz="2200" dirty="0">
                <a:solidFill>
                  <a:srgbClr val="6B7280"/>
                </a:solidFill>
                <a:latin typeface="Arial" pitchFamily="34" charset="0"/>
                <a:ea typeface="Arial" pitchFamily="34" charset="-122"/>
                <a:cs typeface="Arial" pitchFamily="34" charset="-120"/>
              </a:rPr>
              <a:t>StyleSheet, birimler, Text stilleri</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StyleSheet ile Stil Yazmak</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694176"/>
          </a:xfrm>
          <a:prstGeom prst="roundRect">
            <a:avLst>
              <a:gd name="adj" fmla="val 247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3145536"/>
          </a:xfrm>
          <a:prstGeom prst="rect">
            <a:avLst/>
          </a:prstGeom>
          <a:noFill/>
          <a:ln/>
        </p:spPr>
        <p:txBody>
          <a:bodyPr wrap="square" lIns="0" tIns="0" rIns="0" bIns="0" rtlCol="0" anchor="t"/>
          <a:lstStyle/>
          <a:p>
            <a:pPr marL="0" indent="0" algn="l">
              <a:buNone/>
            </a:pPr>
            <a:r>
              <a:rPr lang="en-US" sz="1200" b="1" dirty="0">
                <a:solidFill>
                  <a:srgbClr val="2563EB"/>
                </a:solidFill>
                <a:latin typeface="Courier New" pitchFamily="34" charset="0"/>
                <a:ea typeface="Courier New" pitchFamily="34" charset="-122"/>
                <a:cs typeface="Courier New" pitchFamily="34" charset="-120"/>
              </a:rPr>
              <a:t>import</a:t>
            </a:r>
            <a:r>
              <a:rPr lang="en-US" sz="1200" dirty="0">
                <a:solidFill>
                  <a:srgbClr val="111827"/>
                </a:solidFill>
                <a:latin typeface="Courier New" pitchFamily="34" charset="0"/>
                <a:ea typeface="Courier New" pitchFamily="34" charset="-122"/>
                <a:cs typeface="Courier New" pitchFamily="34" charset="-120"/>
              </a:rPr>
              <a:t> { StyleSheet, Text, View }</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a:t>
            </a:r>
            <a:r>
              <a:rPr lang="en-US" sz="1200" b="1" dirty="0">
                <a:solidFill>
                  <a:srgbClr val="2563EB"/>
                </a:solidFill>
                <a:latin typeface="Courier New" pitchFamily="34" charset="0"/>
                <a:ea typeface="Courier New" pitchFamily="34" charset="-122"/>
                <a:cs typeface="Courier New" pitchFamily="34" charset="-120"/>
              </a:rPr>
              <a:t>from</a:t>
            </a:r>
            <a:r>
              <a:rPr lang="en-US" sz="1200" dirty="0">
                <a:solidFill>
                  <a:srgbClr val="111827"/>
                </a:solidFill>
                <a:latin typeface="Courier New" pitchFamily="34" charset="0"/>
                <a:ea typeface="Courier New" pitchFamily="34" charset="-122"/>
                <a:cs typeface="Courier New" pitchFamily="34" charset="-120"/>
              </a:rPr>
              <a:t> </a:t>
            </a:r>
            <a:r>
              <a:rPr lang="en-US" sz="1200" dirty="0">
                <a:solidFill>
                  <a:srgbClr val="047857"/>
                </a:solidFill>
                <a:latin typeface="Courier New" pitchFamily="34" charset="0"/>
                <a:ea typeface="Courier New" pitchFamily="34" charset="-122"/>
                <a:cs typeface="Courier New" pitchFamily="34" charset="-120"/>
              </a:rPr>
              <a:t>'react-native'</a:t>
            </a: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a:t>
            </a:r>
            <a:endParaRPr lang="en-US" sz="1200" dirty="0"/>
          </a:p>
          <a:p>
            <a:pPr marL="0" indent="0" algn="l">
              <a:buNone/>
            </a:pPr>
            <a:r>
              <a:rPr lang="en-US" sz="1200" b="1" dirty="0">
                <a:solidFill>
                  <a:srgbClr val="2563EB"/>
                </a:solidFill>
                <a:latin typeface="Courier New" pitchFamily="34" charset="0"/>
                <a:ea typeface="Courier New" pitchFamily="34" charset="-122"/>
                <a:cs typeface="Courier New" pitchFamily="34" charset="-120"/>
              </a:rPr>
              <a:t>export</a:t>
            </a:r>
            <a:r>
              <a:rPr lang="en-US" sz="1200" dirty="0">
                <a:solidFill>
                  <a:srgbClr val="111827"/>
                </a:solidFill>
                <a:latin typeface="Courier New" pitchFamily="34" charset="0"/>
                <a:ea typeface="Courier New" pitchFamily="34" charset="-122"/>
                <a:cs typeface="Courier New" pitchFamily="34" charset="-120"/>
              </a:rPr>
              <a:t> </a:t>
            </a:r>
            <a:r>
              <a:rPr lang="en-US" sz="1200" b="1" dirty="0">
                <a:solidFill>
                  <a:srgbClr val="2563EB"/>
                </a:solidFill>
                <a:latin typeface="Courier New" pitchFamily="34" charset="0"/>
                <a:ea typeface="Courier New" pitchFamily="34" charset="-122"/>
                <a:cs typeface="Courier New" pitchFamily="34" charset="-120"/>
              </a:rPr>
              <a:t>default</a:t>
            </a:r>
            <a:r>
              <a:rPr lang="en-US" sz="1200" dirty="0">
                <a:solidFill>
                  <a:srgbClr val="111827"/>
                </a:solidFill>
                <a:latin typeface="Courier New" pitchFamily="34" charset="0"/>
                <a:ea typeface="Courier New" pitchFamily="34" charset="-122"/>
                <a:cs typeface="Courier New" pitchFamily="34" charset="-120"/>
              </a:rPr>
              <a:t> </a:t>
            </a:r>
            <a:r>
              <a:rPr lang="en-US" sz="1200" b="1" dirty="0">
                <a:solidFill>
                  <a:srgbClr val="2563EB"/>
                </a:solidFill>
                <a:latin typeface="Courier New" pitchFamily="34" charset="0"/>
                <a:ea typeface="Courier New" pitchFamily="34" charset="-122"/>
                <a:cs typeface="Courier New" pitchFamily="34" charset="-120"/>
              </a:rPr>
              <a:t>function</a:t>
            </a:r>
            <a:r>
              <a:rPr lang="en-US" sz="1200" dirty="0">
                <a:solidFill>
                  <a:srgbClr val="111827"/>
                </a:solidFill>
                <a:latin typeface="Courier New" pitchFamily="34" charset="0"/>
                <a:ea typeface="Courier New" pitchFamily="34" charset="-122"/>
                <a:cs typeface="Courier New" pitchFamily="34" charset="-120"/>
              </a:rPr>
              <a:t> Card() {</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a:t>
            </a:r>
            <a:r>
              <a:rPr lang="en-US" sz="1200" b="1" dirty="0">
                <a:solidFill>
                  <a:srgbClr val="2563EB"/>
                </a:solidFill>
                <a:latin typeface="Courier New" pitchFamily="34" charset="0"/>
                <a:ea typeface="Courier New" pitchFamily="34" charset="-122"/>
                <a:cs typeface="Courier New" pitchFamily="34" charset="-120"/>
              </a:rPr>
              <a:t>return</a:t>
            </a:r>
            <a:r>
              <a:rPr lang="en-US" sz="1200" dirty="0">
                <a:solidFill>
                  <a:srgbClr val="111827"/>
                </a:solidFill>
                <a:latin typeface="Courier New" pitchFamily="34" charset="0"/>
                <a:ea typeface="Courier New" pitchFamily="34" charset="-122"/>
                <a:cs typeface="Courier New" pitchFamily="34" charset="-120"/>
              </a:rPr>
              <a:t> (</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&lt;View style={styles.card}&gt;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&lt;Text style={styles.title}&gt;Başlık&lt;/Text&gt;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&lt;/View&gt;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marL="0" indent="0" algn="l">
              <a:buNone/>
            </a:pPr>
            <a:r>
              <a:rPr lang="en-US" sz="1200" b="1" dirty="0">
                <a:solidFill>
                  <a:srgbClr val="2563EB"/>
                </a:solidFill>
                <a:latin typeface="Courier New" pitchFamily="34" charset="0"/>
                <a:ea typeface="Courier New" pitchFamily="34" charset="-122"/>
                <a:cs typeface="Courier New" pitchFamily="34" charset="-120"/>
              </a:rPr>
              <a:t>const</a:t>
            </a:r>
            <a:r>
              <a:rPr lang="en-US" sz="1200" dirty="0">
                <a:solidFill>
                  <a:srgbClr val="111827"/>
                </a:solidFill>
                <a:latin typeface="Courier New" pitchFamily="34" charset="0"/>
                <a:ea typeface="Courier New" pitchFamily="34" charset="-122"/>
                <a:cs typeface="Courier New" pitchFamily="34" charset="-120"/>
              </a:rPr>
              <a:t> styles = StyleSheet.create({</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card: { padding: </a:t>
            </a:r>
            <a:r>
              <a:rPr lang="en-US" sz="1200" dirty="0">
                <a:solidFill>
                  <a:srgbClr val="B45309"/>
                </a:solidFill>
                <a:latin typeface="Courier New" pitchFamily="34" charset="0"/>
                <a:ea typeface="Courier New" pitchFamily="34" charset="-122"/>
                <a:cs typeface="Courier New" pitchFamily="34" charset="-120"/>
              </a:rPr>
              <a:t>16</a:t>
            </a:r>
            <a:r>
              <a:rPr lang="en-US" sz="1200" dirty="0">
                <a:solidFill>
                  <a:srgbClr val="111827"/>
                </a:solidFill>
                <a:latin typeface="Courier New" pitchFamily="34" charset="0"/>
                <a:ea typeface="Courier New" pitchFamily="34" charset="-122"/>
                <a:cs typeface="Courier New" pitchFamily="34" charset="-120"/>
              </a:rPr>
              <a:t>, backgroundColor: </a:t>
            </a:r>
            <a:r>
              <a:rPr lang="en-US" sz="1200" dirty="0">
                <a:solidFill>
                  <a:srgbClr val="047857"/>
                </a:solidFill>
                <a:latin typeface="Courier New" pitchFamily="34" charset="0"/>
                <a:ea typeface="Courier New" pitchFamily="34" charset="-122"/>
                <a:cs typeface="Courier New" pitchFamily="34" charset="-120"/>
              </a:rPr>
              <a:t>'white'</a:t>
            </a:r>
            <a:r>
              <a:rPr lang="en-US" sz="1200" dirty="0">
                <a:solidFill>
                  <a:srgbClr val="111827"/>
                </a:solidFill>
                <a:latin typeface="Courier New" pitchFamily="34" charset="0"/>
                <a:ea typeface="Courier New" pitchFamily="34" charset="-122"/>
                <a:cs typeface="Courier New" pitchFamily="34" charset="-120"/>
              </a:rPr>
              <a:t> },</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title: { fontSize: </a:t>
            </a:r>
            <a:r>
              <a:rPr lang="en-US" sz="1200" dirty="0">
                <a:solidFill>
                  <a:srgbClr val="B45309"/>
                </a:solidFill>
                <a:latin typeface="Courier New" pitchFamily="34" charset="0"/>
                <a:ea typeface="Courier New" pitchFamily="34" charset="-122"/>
                <a:cs typeface="Courier New" pitchFamily="34" charset="-120"/>
              </a:rPr>
              <a:t>20</a:t>
            </a:r>
            <a:r>
              <a:rPr lang="en-US" sz="1200" dirty="0">
                <a:solidFill>
                  <a:srgbClr val="111827"/>
                </a:solidFill>
                <a:latin typeface="Courier New" pitchFamily="34" charset="0"/>
                <a:ea typeface="Courier New" pitchFamily="34" charset="-122"/>
                <a:cs typeface="Courier New" pitchFamily="34" charset="-120"/>
              </a:rPr>
              <a:t>, fontWeight: </a:t>
            </a:r>
            <a:r>
              <a:rPr lang="en-US" sz="1200" dirty="0">
                <a:solidFill>
                  <a:srgbClr val="047857"/>
                </a:solidFill>
                <a:latin typeface="Courier New" pitchFamily="34" charset="0"/>
                <a:ea typeface="Courier New" pitchFamily="34" charset="-122"/>
                <a:cs typeface="Courier New" pitchFamily="34" charset="-120"/>
              </a:rPr>
              <a:t>'bold'</a:t>
            </a:r>
            <a:r>
              <a:rPr lang="en-US" sz="1200" dirty="0">
                <a:solidFill>
                  <a:srgbClr val="111827"/>
                </a:solidFill>
                <a:latin typeface="Courier New" pitchFamily="34" charset="0"/>
                <a:ea typeface="Courier New" pitchFamily="34" charset="-122"/>
                <a:cs typeface="Courier New" pitchFamily="34" charset="-120"/>
              </a:rPr>
              <a:t> },</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a:t>
            </a:r>
            <a:endParaRPr lang="en-US" sz="1200" dirty="0"/>
          </a:p>
        </p:txBody>
      </p:sp>
      <p:sp>
        <p:nvSpPr>
          <p:cNvPr id="7" name="Shape 5"/>
          <p:cNvSpPr/>
          <p:nvPr/>
        </p:nvSpPr>
        <p:spPr>
          <a:xfrm>
            <a:off x="731520" y="5477256"/>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5605272"/>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Beyaz zeminli, 16 birim iç boşluklu bir kartta kalın ve büyük bir başlık görünür.</a:t>
            </a:r>
            <a:endParaRPr lang="en-US" sz="1100" dirty="0"/>
          </a:p>
        </p:txBody>
      </p:sp>
      <p:sp>
        <p:nvSpPr>
          <p:cNvPr id="9" name="Text 7"/>
          <p:cNvSpPr txBox="1"/>
          <p:nvPr/>
        </p:nvSpPr>
        <p:spPr>
          <a:xfrm>
            <a:off x="7772400" y="1645920"/>
            <a:ext cx="3931920" cy="427939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stilleri bileşenden ayırıp adlandırılmış nesnelerde toplamaktır.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StyleSheet.create stilleri bir nesnede adlandırır; bileşen yalnızca adıyla kullanır. Aynı stil birden çok yerde tekrar yazılmaz ve yanlış özellik adı TypeScript tarafından yakalanır. Satır içi stil küçük denemeler için uygundur ama tekrar eden yerleşimde kalabalık yaratır.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Tekrar kullanılan veya birkaç özellikli stilleri StyleSheet'e, tek seferlik küçük ayarları satır içine yazın.</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React Native Stili CSS Değildir</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1" cy="2414016"/>
        </p:xfrm>
        <a:graphic>
          <a:graphicData uri="http://schemas.openxmlformats.org/drawingml/2006/table">
            <a:tbl>
              <a:tblPr/>
              <a:tblGrid>
                <a:gridCol w="3142225">
                  <a:extLst>
                    <a:ext uri="{9D8B030D-6E8A-4147-A177-3AD203B41FA5}">
                      <a16:colId xmlns:a16="http://schemas.microsoft.com/office/drawing/2014/main" val="20000"/>
                    </a:ext>
                  </a:extLst>
                </a:gridCol>
                <a:gridCol w="3321923">
                  <a:extLst>
                    <a:ext uri="{9D8B030D-6E8A-4147-A177-3AD203B41FA5}">
                      <a16:colId xmlns:a16="http://schemas.microsoft.com/office/drawing/2014/main" val="20001"/>
                    </a:ext>
                  </a:extLst>
                </a:gridCol>
                <a:gridCol w="4508653">
                  <a:extLst>
                    <a:ext uri="{9D8B030D-6E8A-4147-A177-3AD203B41FA5}">
                      <a16:colId xmlns:a16="http://schemas.microsoft.com/office/drawing/2014/main" val="20002"/>
                    </a:ext>
                  </a:extLst>
                </a:gridCol>
              </a:tblGrid>
              <a:tr h="402336">
                <a:tc>
                  <a:txBody>
                    <a:bodyPr/>
                    <a:lstStyle/>
                    <a:p>
                      <a:pPr marL="0" indent="0">
                        <a:buNone/>
                      </a:pPr>
                      <a:r>
                        <a:rPr lang="en-US" sz="1400" b="1" dirty="0">
                          <a:solidFill>
                            <a:srgbClr val="2563EB"/>
                          </a:solidFill>
                        </a:rPr>
                        <a:t>Konu</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Web (CSS)</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React Native</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402336">
                <a:tc>
                  <a:txBody>
                    <a:bodyPr/>
                    <a:lstStyle/>
                    <a:p>
                      <a:pPr marL="0" indent="0">
                        <a:buNone/>
                      </a:pPr>
                      <a:r>
                        <a:rPr lang="en-US" sz="1800" b="1" dirty="0">
                          <a:solidFill>
                            <a:srgbClr val="111827"/>
                          </a:solidFill>
                        </a:rPr>
                        <a:t>Yazım</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background-color</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backgroundColor (camelCase)</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800" b="1" dirty="0">
                          <a:solidFill>
                            <a:srgbClr val="111827"/>
                          </a:solidFill>
                        </a:rPr>
                        <a:t>Birim</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px, em, %</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Birimsiz sayı (dp)</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800" b="1" dirty="0">
                          <a:solidFill>
                            <a:srgbClr val="111827"/>
                          </a:solidFill>
                        </a:rPr>
                        <a:t>Seçici ve kalıtım</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class, cascade</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Yok; stil bileşene doğrudan verilir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800" b="1" dirty="0">
                          <a:solidFill>
                            <a:srgbClr val="111827"/>
                          </a:solidFill>
                        </a:rPr>
                        <a:t>Varsayılan yön</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flex-direction: row</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flexDirection: column</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buNone/>
                      </a:pPr>
                      <a:r>
                        <a:rPr lang="en-US" sz="1800" b="1" dirty="0">
                          <a:solidFill>
                            <a:srgbClr val="111827"/>
                          </a:solidFill>
                        </a:rPr>
                        <a:t>Metin stili</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Çocuklara kalıtılır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Yalnızca iç içe Text'lere kalıtılır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731520" y="4334256"/>
            <a:ext cx="10972800" cy="1018032"/>
          </a:xfrm>
          <a:prstGeom prst="roundRect">
            <a:avLst>
              <a:gd name="adj" fmla="val 8982"/>
            </a:avLst>
          </a:prstGeom>
          <a:solidFill>
            <a:srgbClr val="EFF6FF"/>
          </a:solidFill>
          <a:ln w="9525">
            <a:solidFill>
              <a:srgbClr val="EFF6FF"/>
            </a:solidFill>
            <a:prstDash val="solid"/>
          </a:ln>
        </p:spPr>
      </p:sp>
      <p:sp>
        <p:nvSpPr>
          <p:cNvPr id="6" name="Text 3"/>
          <p:cNvSpPr txBox="1"/>
          <p:nvPr/>
        </p:nvSpPr>
        <p:spPr>
          <a:xfrm>
            <a:off x="932688" y="4462272"/>
            <a:ext cx="10570464" cy="7620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lgn="l">
              <a:buNone/>
            </a:pPr>
            <a:r>
              <a:rPr lang="en-US" sz="1600" dirty="0">
                <a:solidFill>
                  <a:srgbClr val="111827"/>
                </a:solidFill>
                <a:latin typeface="Arial" pitchFamily="34" charset="0"/>
                <a:ea typeface="Arial" pitchFamily="34" charset="-122"/>
                <a:cs typeface="Arial" pitchFamily="34" charset="-120"/>
              </a:rPr>
              <a:t>Web bilginiz varsa kavramlar tanıdık gelir ama kurallar farklıdır; en sık hata varsayılan yönün farklı olduğunu unutmaktır.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Birimler: dp ve Ekran Yoğunluğu</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React Native'de sayılar birimsizdir ve yoğunluktan bağımsız piksel (dp) olarak yorumlanır. 100 yazdığınızda, ekranın piksel yoğunluğu ne olursa olsun yaklaşık aynı fiziksel boyutta bir alan elde edersiniz. Bu sayede aynı uygulama farklı çözünürlüklü cihazlarda benzer görünür. Yüzde değerleri ise metin olarak yazılır: '50%'.</a:t>
            </a:r>
            <a:endParaRPr lang="en-US" sz="2200" dirty="0"/>
          </a:p>
        </p:txBody>
      </p:sp>
      <p:sp>
        <p:nvSpPr>
          <p:cNvPr id="5" name="Shape 3"/>
          <p:cNvSpPr/>
          <p:nvPr/>
        </p:nvSpPr>
        <p:spPr>
          <a:xfrm>
            <a:off x="7863840" y="1645920"/>
            <a:ext cx="1737360" cy="2103120"/>
          </a:xfrm>
          <a:prstGeom prst="roundRect">
            <a:avLst>
              <a:gd name="adj" fmla="val 5263"/>
            </a:avLst>
          </a:prstGeom>
          <a:solidFill>
            <a:srgbClr val="FFFFFF"/>
          </a:solidFill>
          <a:ln w="15875">
            <a:solidFill>
              <a:srgbClr val="CBD5E1"/>
            </a:solidFill>
            <a:prstDash val="solid"/>
          </a:ln>
        </p:spPr>
      </p:sp>
      <p:sp>
        <p:nvSpPr>
          <p:cNvPr id="6" name="Shape 4"/>
          <p:cNvSpPr/>
          <p:nvPr/>
        </p:nvSpPr>
        <p:spPr>
          <a:xfrm>
            <a:off x="8275320" y="1874520"/>
            <a:ext cx="914400" cy="914400"/>
          </a:xfrm>
          <a:prstGeom prst="roundRect">
            <a:avLst>
              <a:gd name="adj" fmla="val 10000"/>
            </a:avLst>
          </a:prstGeom>
          <a:solidFill>
            <a:srgbClr val="EFF6FF"/>
          </a:solidFill>
          <a:ln w="19050">
            <a:solidFill>
              <a:srgbClr val="2563EB"/>
            </a:solidFill>
            <a:prstDash val="solid"/>
          </a:ln>
        </p:spPr>
      </p:sp>
      <p:sp>
        <p:nvSpPr>
          <p:cNvPr id="7" name="Shape 5"/>
          <p:cNvSpPr/>
          <p:nvPr/>
        </p:nvSpPr>
        <p:spPr>
          <a:xfrm>
            <a:off x="8458200" y="1911096"/>
            <a:ext cx="0" cy="841248"/>
          </a:xfrm>
          <a:prstGeom prst="line">
            <a:avLst/>
          </a:prstGeom>
          <a:noFill/>
          <a:ln w="6350">
            <a:solidFill>
              <a:srgbClr val="93C5FD"/>
            </a:solidFill>
            <a:prstDash val="solid"/>
          </a:ln>
        </p:spPr>
      </p:sp>
      <p:sp>
        <p:nvSpPr>
          <p:cNvPr id="8" name="Shape 6"/>
          <p:cNvSpPr/>
          <p:nvPr/>
        </p:nvSpPr>
        <p:spPr>
          <a:xfrm>
            <a:off x="8311896" y="2057400"/>
            <a:ext cx="841248" cy="0"/>
          </a:xfrm>
          <a:prstGeom prst="line">
            <a:avLst/>
          </a:prstGeom>
          <a:noFill/>
          <a:ln w="6350">
            <a:solidFill>
              <a:srgbClr val="93C5FD"/>
            </a:solidFill>
            <a:prstDash val="solid"/>
          </a:ln>
        </p:spPr>
      </p:sp>
      <p:sp>
        <p:nvSpPr>
          <p:cNvPr id="9" name="Shape 7"/>
          <p:cNvSpPr/>
          <p:nvPr/>
        </p:nvSpPr>
        <p:spPr>
          <a:xfrm>
            <a:off x="8641080" y="1911096"/>
            <a:ext cx="0" cy="841248"/>
          </a:xfrm>
          <a:prstGeom prst="line">
            <a:avLst/>
          </a:prstGeom>
          <a:noFill/>
          <a:ln w="6350">
            <a:solidFill>
              <a:srgbClr val="93C5FD"/>
            </a:solidFill>
            <a:prstDash val="solid"/>
          </a:ln>
        </p:spPr>
      </p:sp>
      <p:sp>
        <p:nvSpPr>
          <p:cNvPr id="10" name="Shape 8"/>
          <p:cNvSpPr/>
          <p:nvPr/>
        </p:nvSpPr>
        <p:spPr>
          <a:xfrm>
            <a:off x="8311896" y="2240280"/>
            <a:ext cx="841248" cy="0"/>
          </a:xfrm>
          <a:prstGeom prst="line">
            <a:avLst/>
          </a:prstGeom>
          <a:noFill/>
          <a:ln w="6350">
            <a:solidFill>
              <a:srgbClr val="93C5FD"/>
            </a:solidFill>
            <a:prstDash val="solid"/>
          </a:ln>
        </p:spPr>
      </p:sp>
      <p:sp>
        <p:nvSpPr>
          <p:cNvPr id="11" name="Shape 9"/>
          <p:cNvSpPr/>
          <p:nvPr/>
        </p:nvSpPr>
        <p:spPr>
          <a:xfrm>
            <a:off x="8823960" y="1911096"/>
            <a:ext cx="0" cy="841248"/>
          </a:xfrm>
          <a:prstGeom prst="line">
            <a:avLst/>
          </a:prstGeom>
          <a:noFill/>
          <a:ln w="6350">
            <a:solidFill>
              <a:srgbClr val="93C5FD"/>
            </a:solidFill>
            <a:prstDash val="solid"/>
          </a:ln>
        </p:spPr>
      </p:sp>
      <p:sp>
        <p:nvSpPr>
          <p:cNvPr id="12" name="Shape 10"/>
          <p:cNvSpPr/>
          <p:nvPr/>
        </p:nvSpPr>
        <p:spPr>
          <a:xfrm>
            <a:off x="8311896" y="2423160"/>
            <a:ext cx="841248" cy="0"/>
          </a:xfrm>
          <a:prstGeom prst="line">
            <a:avLst/>
          </a:prstGeom>
          <a:noFill/>
          <a:ln w="6350">
            <a:solidFill>
              <a:srgbClr val="93C5FD"/>
            </a:solidFill>
            <a:prstDash val="solid"/>
          </a:ln>
        </p:spPr>
      </p:sp>
      <p:sp>
        <p:nvSpPr>
          <p:cNvPr id="13" name="Shape 11"/>
          <p:cNvSpPr/>
          <p:nvPr/>
        </p:nvSpPr>
        <p:spPr>
          <a:xfrm>
            <a:off x="9006840" y="1911096"/>
            <a:ext cx="0" cy="841248"/>
          </a:xfrm>
          <a:prstGeom prst="line">
            <a:avLst/>
          </a:prstGeom>
          <a:noFill/>
          <a:ln w="6350">
            <a:solidFill>
              <a:srgbClr val="93C5FD"/>
            </a:solidFill>
            <a:prstDash val="solid"/>
          </a:ln>
        </p:spPr>
      </p:sp>
      <p:sp>
        <p:nvSpPr>
          <p:cNvPr id="14" name="Shape 12"/>
          <p:cNvSpPr/>
          <p:nvPr/>
        </p:nvSpPr>
        <p:spPr>
          <a:xfrm>
            <a:off x="8311896" y="2606040"/>
            <a:ext cx="841248" cy="0"/>
          </a:xfrm>
          <a:prstGeom prst="line">
            <a:avLst/>
          </a:prstGeom>
          <a:noFill/>
          <a:ln w="6350">
            <a:solidFill>
              <a:srgbClr val="93C5FD"/>
            </a:solidFill>
            <a:prstDash val="solid"/>
          </a:ln>
        </p:spPr>
      </p:sp>
      <p:sp>
        <p:nvSpPr>
          <p:cNvPr id="15" name="Text 13"/>
          <p:cNvSpPr txBox="1"/>
          <p:nvPr/>
        </p:nvSpPr>
        <p:spPr>
          <a:xfrm>
            <a:off x="7863840" y="2880360"/>
            <a:ext cx="1737360" cy="228600"/>
          </a:xfrm>
          <a:prstGeom prst="rect">
            <a:avLst/>
          </a:prstGeom>
          <a:noFill/>
          <a:ln/>
        </p:spPr>
        <p:txBody>
          <a:bodyPr wrap="square" lIns="0" tIns="0" rIns="0" bIns="0" rtlCol="0" anchor="ctr"/>
          <a:lstStyle/>
          <a:p>
            <a:pPr marL="0" indent="0" algn="ctr">
              <a:buNone/>
            </a:pPr>
            <a:r>
              <a:rPr lang="en-US" sz="1200" b="1" dirty="0">
                <a:solidFill>
                  <a:srgbClr val="2563EB"/>
                </a:solidFill>
                <a:latin typeface="Arial" pitchFamily="34" charset="0"/>
                <a:ea typeface="Arial" pitchFamily="34" charset="-122"/>
                <a:cs typeface="Arial" pitchFamily="34" charset="-120"/>
              </a:rPr>
              <a:t>100 dp</a:t>
            </a:r>
            <a:endParaRPr lang="en-US" sz="1200" dirty="0"/>
          </a:p>
        </p:txBody>
      </p:sp>
      <p:sp>
        <p:nvSpPr>
          <p:cNvPr id="16" name="Text 14"/>
          <p:cNvSpPr txBox="1"/>
          <p:nvPr/>
        </p:nvSpPr>
        <p:spPr>
          <a:xfrm>
            <a:off x="7863840" y="3127248"/>
            <a:ext cx="1737360" cy="228600"/>
          </a:xfrm>
          <a:prstGeom prst="rect">
            <a:avLst/>
          </a:prstGeom>
          <a:noFill/>
          <a:ln/>
        </p:spPr>
        <p:txBody>
          <a:bodyPr wrap="square" lIns="0" tIns="0" rIns="0" bIns="0" rtlCol="0" anchor="ctr"/>
          <a:lstStyle/>
          <a:p>
            <a:pPr marL="0" indent="0" algn="ctr">
              <a:buNone/>
            </a:pPr>
            <a:r>
              <a:rPr lang="en-US" sz="1200" dirty="0">
                <a:solidFill>
                  <a:srgbClr val="111827"/>
                </a:solidFill>
                <a:latin typeface="Arial" pitchFamily="34" charset="0"/>
                <a:ea typeface="Arial" pitchFamily="34" charset="-122"/>
                <a:cs typeface="Arial" pitchFamily="34" charset="-120"/>
              </a:rPr>
              <a:t>Düşük yoğunluk</a:t>
            </a:r>
            <a:endParaRPr lang="en-US" sz="1200" dirty="0"/>
          </a:p>
        </p:txBody>
      </p:sp>
      <p:sp>
        <p:nvSpPr>
          <p:cNvPr id="17" name="Text 15"/>
          <p:cNvSpPr txBox="1"/>
          <p:nvPr/>
        </p:nvSpPr>
        <p:spPr>
          <a:xfrm>
            <a:off x="7863840" y="3383280"/>
            <a:ext cx="1737360" cy="228600"/>
          </a:xfrm>
          <a:prstGeom prst="rect">
            <a:avLst/>
          </a:prstGeom>
          <a:noFill/>
          <a:ln/>
        </p:spPr>
        <p:txBody>
          <a:bodyPr wrap="square" lIns="0" tIns="0" rIns="0" bIns="0" rtlCol="0" anchor="ctr"/>
          <a:lstStyle/>
          <a:p>
            <a:pPr marL="0" indent="0" algn="ctr">
              <a:buNone/>
            </a:pPr>
            <a:r>
              <a:rPr lang="en-US" sz="1100" dirty="0">
                <a:solidFill>
                  <a:srgbClr val="6B7280"/>
                </a:solidFill>
                <a:latin typeface="Arial" pitchFamily="34" charset="0"/>
                <a:ea typeface="Arial" pitchFamily="34" charset="-122"/>
                <a:cs typeface="Arial" pitchFamily="34" charset="-120"/>
              </a:rPr>
              <a:t>100 piksel (1x) </a:t>
            </a:r>
            <a:endParaRPr lang="en-US" sz="1100" dirty="0"/>
          </a:p>
        </p:txBody>
      </p:sp>
      <p:sp>
        <p:nvSpPr>
          <p:cNvPr id="18" name="Shape 16"/>
          <p:cNvSpPr/>
          <p:nvPr/>
        </p:nvSpPr>
        <p:spPr>
          <a:xfrm>
            <a:off x="9784080" y="1645920"/>
            <a:ext cx="1737360" cy="2103120"/>
          </a:xfrm>
          <a:prstGeom prst="roundRect">
            <a:avLst>
              <a:gd name="adj" fmla="val 5263"/>
            </a:avLst>
          </a:prstGeom>
          <a:solidFill>
            <a:srgbClr val="FFFFFF"/>
          </a:solidFill>
          <a:ln w="15875">
            <a:solidFill>
              <a:srgbClr val="CBD5E1"/>
            </a:solidFill>
            <a:prstDash val="solid"/>
          </a:ln>
        </p:spPr>
      </p:sp>
      <p:sp>
        <p:nvSpPr>
          <p:cNvPr id="19" name="Shape 17"/>
          <p:cNvSpPr/>
          <p:nvPr/>
        </p:nvSpPr>
        <p:spPr>
          <a:xfrm>
            <a:off x="10195560" y="1874520"/>
            <a:ext cx="914400" cy="914400"/>
          </a:xfrm>
          <a:prstGeom prst="roundRect">
            <a:avLst>
              <a:gd name="adj" fmla="val 10000"/>
            </a:avLst>
          </a:prstGeom>
          <a:solidFill>
            <a:srgbClr val="EFF6FF"/>
          </a:solidFill>
          <a:ln w="19050">
            <a:solidFill>
              <a:srgbClr val="2563EB"/>
            </a:solidFill>
            <a:prstDash val="solid"/>
          </a:ln>
        </p:spPr>
      </p:sp>
      <p:sp>
        <p:nvSpPr>
          <p:cNvPr id="20" name="Shape 18"/>
          <p:cNvSpPr/>
          <p:nvPr/>
        </p:nvSpPr>
        <p:spPr>
          <a:xfrm>
            <a:off x="10256520" y="1911096"/>
            <a:ext cx="0" cy="841248"/>
          </a:xfrm>
          <a:prstGeom prst="line">
            <a:avLst/>
          </a:prstGeom>
          <a:noFill/>
          <a:ln w="6350">
            <a:solidFill>
              <a:srgbClr val="93C5FD"/>
            </a:solidFill>
            <a:prstDash val="solid"/>
          </a:ln>
        </p:spPr>
      </p:sp>
      <p:sp>
        <p:nvSpPr>
          <p:cNvPr id="21" name="Shape 19"/>
          <p:cNvSpPr/>
          <p:nvPr/>
        </p:nvSpPr>
        <p:spPr>
          <a:xfrm>
            <a:off x="10232136" y="1935480"/>
            <a:ext cx="841248" cy="0"/>
          </a:xfrm>
          <a:prstGeom prst="line">
            <a:avLst/>
          </a:prstGeom>
          <a:noFill/>
          <a:ln w="6350">
            <a:solidFill>
              <a:srgbClr val="93C5FD"/>
            </a:solidFill>
            <a:prstDash val="solid"/>
          </a:ln>
        </p:spPr>
      </p:sp>
      <p:sp>
        <p:nvSpPr>
          <p:cNvPr id="22" name="Shape 20"/>
          <p:cNvSpPr/>
          <p:nvPr/>
        </p:nvSpPr>
        <p:spPr>
          <a:xfrm>
            <a:off x="10317480" y="1911096"/>
            <a:ext cx="0" cy="841248"/>
          </a:xfrm>
          <a:prstGeom prst="line">
            <a:avLst/>
          </a:prstGeom>
          <a:noFill/>
          <a:ln w="6350">
            <a:solidFill>
              <a:srgbClr val="93C5FD"/>
            </a:solidFill>
            <a:prstDash val="solid"/>
          </a:ln>
        </p:spPr>
      </p:sp>
      <p:sp>
        <p:nvSpPr>
          <p:cNvPr id="23" name="Shape 21"/>
          <p:cNvSpPr/>
          <p:nvPr/>
        </p:nvSpPr>
        <p:spPr>
          <a:xfrm>
            <a:off x="10232136" y="1996440"/>
            <a:ext cx="841248" cy="0"/>
          </a:xfrm>
          <a:prstGeom prst="line">
            <a:avLst/>
          </a:prstGeom>
          <a:noFill/>
          <a:ln w="6350">
            <a:solidFill>
              <a:srgbClr val="93C5FD"/>
            </a:solidFill>
            <a:prstDash val="solid"/>
          </a:ln>
        </p:spPr>
      </p:sp>
      <p:sp>
        <p:nvSpPr>
          <p:cNvPr id="24" name="Shape 22"/>
          <p:cNvSpPr/>
          <p:nvPr/>
        </p:nvSpPr>
        <p:spPr>
          <a:xfrm>
            <a:off x="10378440" y="1911096"/>
            <a:ext cx="0" cy="841248"/>
          </a:xfrm>
          <a:prstGeom prst="line">
            <a:avLst/>
          </a:prstGeom>
          <a:noFill/>
          <a:ln w="6350">
            <a:solidFill>
              <a:srgbClr val="93C5FD"/>
            </a:solidFill>
            <a:prstDash val="solid"/>
          </a:ln>
        </p:spPr>
      </p:sp>
      <p:sp>
        <p:nvSpPr>
          <p:cNvPr id="25" name="Shape 23"/>
          <p:cNvSpPr/>
          <p:nvPr/>
        </p:nvSpPr>
        <p:spPr>
          <a:xfrm>
            <a:off x="10232136" y="2057400"/>
            <a:ext cx="841248" cy="0"/>
          </a:xfrm>
          <a:prstGeom prst="line">
            <a:avLst/>
          </a:prstGeom>
          <a:noFill/>
          <a:ln w="6350">
            <a:solidFill>
              <a:srgbClr val="93C5FD"/>
            </a:solidFill>
            <a:prstDash val="solid"/>
          </a:ln>
        </p:spPr>
      </p:sp>
      <p:sp>
        <p:nvSpPr>
          <p:cNvPr id="26" name="Shape 24"/>
          <p:cNvSpPr/>
          <p:nvPr/>
        </p:nvSpPr>
        <p:spPr>
          <a:xfrm>
            <a:off x="10439400" y="1911096"/>
            <a:ext cx="0" cy="841248"/>
          </a:xfrm>
          <a:prstGeom prst="line">
            <a:avLst/>
          </a:prstGeom>
          <a:noFill/>
          <a:ln w="6350">
            <a:solidFill>
              <a:srgbClr val="93C5FD"/>
            </a:solidFill>
            <a:prstDash val="solid"/>
          </a:ln>
        </p:spPr>
      </p:sp>
      <p:sp>
        <p:nvSpPr>
          <p:cNvPr id="27" name="Shape 25"/>
          <p:cNvSpPr/>
          <p:nvPr/>
        </p:nvSpPr>
        <p:spPr>
          <a:xfrm>
            <a:off x="10232136" y="2118360"/>
            <a:ext cx="841248" cy="0"/>
          </a:xfrm>
          <a:prstGeom prst="line">
            <a:avLst/>
          </a:prstGeom>
          <a:noFill/>
          <a:ln w="6350">
            <a:solidFill>
              <a:srgbClr val="93C5FD"/>
            </a:solidFill>
            <a:prstDash val="solid"/>
          </a:ln>
        </p:spPr>
      </p:sp>
      <p:sp>
        <p:nvSpPr>
          <p:cNvPr id="28" name="Shape 26"/>
          <p:cNvSpPr/>
          <p:nvPr/>
        </p:nvSpPr>
        <p:spPr>
          <a:xfrm>
            <a:off x="10500360" y="1911096"/>
            <a:ext cx="0" cy="841248"/>
          </a:xfrm>
          <a:prstGeom prst="line">
            <a:avLst/>
          </a:prstGeom>
          <a:noFill/>
          <a:ln w="6350">
            <a:solidFill>
              <a:srgbClr val="93C5FD"/>
            </a:solidFill>
            <a:prstDash val="solid"/>
          </a:ln>
        </p:spPr>
      </p:sp>
      <p:sp>
        <p:nvSpPr>
          <p:cNvPr id="29" name="Shape 27"/>
          <p:cNvSpPr/>
          <p:nvPr/>
        </p:nvSpPr>
        <p:spPr>
          <a:xfrm>
            <a:off x="10232136" y="2179320"/>
            <a:ext cx="841248" cy="0"/>
          </a:xfrm>
          <a:prstGeom prst="line">
            <a:avLst/>
          </a:prstGeom>
          <a:noFill/>
          <a:ln w="6350">
            <a:solidFill>
              <a:srgbClr val="93C5FD"/>
            </a:solidFill>
            <a:prstDash val="solid"/>
          </a:ln>
        </p:spPr>
      </p:sp>
      <p:sp>
        <p:nvSpPr>
          <p:cNvPr id="30" name="Shape 28"/>
          <p:cNvSpPr/>
          <p:nvPr/>
        </p:nvSpPr>
        <p:spPr>
          <a:xfrm>
            <a:off x="10561320" y="1911096"/>
            <a:ext cx="0" cy="841248"/>
          </a:xfrm>
          <a:prstGeom prst="line">
            <a:avLst/>
          </a:prstGeom>
          <a:noFill/>
          <a:ln w="6350">
            <a:solidFill>
              <a:srgbClr val="93C5FD"/>
            </a:solidFill>
            <a:prstDash val="solid"/>
          </a:ln>
        </p:spPr>
      </p:sp>
      <p:sp>
        <p:nvSpPr>
          <p:cNvPr id="31" name="Shape 29"/>
          <p:cNvSpPr/>
          <p:nvPr/>
        </p:nvSpPr>
        <p:spPr>
          <a:xfrm>
            <a:off x="10232136" y="2240280"/>
            <a:ext cx="841248" cy="0"/>
          </a:xfrm>
          <a:prstGeom prst="line">
            <a:avLst/>
          </a:prstGeom>
          <a:noFill/>
          <a:ln w="6350">
            <a:solidFill>
              <a:srgbClr val="93C5FD"/>
            </a:solidFill>
            <a:prstDash val="solid"/>
          </a:ln>
        </p:spPr>
      </p:sp>
      <p:sp>
        <p:nvSpPr>
          <p:cNvPr id="32" name="Shape 30"/>
          <p:cNvSpPr/>
          <p:nvPr/>
        </p:nvSpPr>
        <p:spPr>
          <a:xfrm>
            <a:off x="10622280" y="1911096"/>
            <a:ext cx="0" cy="841248"/>
          </a:xfrm>
          <a:prstGeom prst="line">
            <a:avLst/>
          </a:prstGeom>
          <a:noFill/>
          <a:ln w="6350">
            <a:solidFill>
              <a:srgbClr val="93C5FD"/>
            </a:solidFill>
            <a:prstDash val="solid"/>
          </a:ln>
        </p:spPr>
      </p:sp>
      <p:sp>
        <p:nvSpPr>
          <p:cNvPr id="33" name="Shape 31"/>
          <p:cNvSpPr/>
          <p:nvPr/>
        </p:nvSpPr>
        <p:spPr>
          <a:xfrm>
            <a:off x="10232136" y="2301240"/>
            <a:ext cx="841248" cy="0"/>
          </a:xfrm>
          <a:prstGeom prst="line">
            <a:avLst/>
          </a:prstGeom>
          <a:noFill/>
          <a:ln w="6350">
            <a:solidFill>
              <a:srgbClr val="93C5FD"/>
            </a:solidFill>
            <a:prstDash val="solid"/>
          </a:ln>
        </p:spPr>
      </p:sp>
      <p:sp>
        <p:nvSpPr>
          <p:cNvPr id="34" name="Shape 32"/>
          <p:cNvSpPr/>
          <p:nvPr/>
        </p:nvSpPr>
        <p:spPr>
          <a:xfrm>
            <a:off x="10683240" y="1911096"/>
            <a:ext cx="0" cy="841248"/>
          </a:xfrm>
          <a:prstGeom prst="line">
            <a:avLst/>
          </a:prstGeom>
          <a:noFill/>
          <a:ln w="6350">
            <a:solidFill>
              <a:srgbClr val="93C5FD"/>
            </a:solidFill>
            <a:prstDash val="solid"/>
          </a:ln>
        </p:spPr>
      </p:sp>
      <p:sp>
        <p:nvSpPr>
          <p:cNvPr id="35" name="Shape 33"/>
          <p:cNvSpPr/>
          <p:nvPr/>
        </p:nvSpPr>
        <p:spPr>
          <a:xfrm>
            <a:off x="10232136" y="2362200"/>
            <a:ext cx="841248" cy="0"/>
          </a:xfrm>
          <a:prstGeom prst="line">
            <a:avLst/>
          </a:prstGeom>
          <a:noFill/>
          <a:ln w="6350">
            <a:solidFill>
              <a:srgbClr val="93C5FD"/>
            </a:solidFill>
            <a:prstDash val="solid"/>
          </a:ln>
        </p:spPr>
      </p:sp>
      <p:sp>
        <p:nvSpPr>
          <p:cNvPr id="36" name="Shape 34"/>
          <p:cNvSpPr/>
          <p:nvPr/>
        </p:nvSpPr>
        <p:spPr>
          <a:xfrm>
            <a:off x="10744200" y="1911096"/>
            <a:ext cx="0" cy="841248"/>
          </a:xfrm>
          <a:prstGeom prst="line">
            <a:avLst/>
          </a:prstGeom>
          <a:noFill/>
          <a:ln w="6350">
            <a:solidFill>
              <a:srgbClr val="93C5FD"/>
            </a:solidFill>
            <a:prstDash val="solid"/>
          </a:ln>
        </p:spPr>
      </p:sp>
      <p:sp>
        <p:nvSpPr>
          <p:cNvPr id="37" name="Shape 35"/>
          <p:cNvSpPr/>
          <p:nvPr/>
        </p:nvSpPr>
        <p:spPr>
          <a:xfrm>
            <a:off x="10232136" y="2423160"/>
            <a:ext cx="841248" cy="0"/>
          </a:xfrm>
          <a:prstGeom prst="line">
            <a:avLst/>
          </a:prstGeom>
          <a:noFill/>
          <a:ln w="6350">
            <a:solidFill>
              <a:srgbClr val="93C5FD"/>
            </a:solidFill>
            <a:prstDash val="solid"/>
          </a:ln>
        </p:spPr>
      </p:sp>
      <p:sp>
        <p:nvSpPr>
          <p:cNvPr id="38" name="Shape 36"/>
          <p:cNvSpPr/>
          <p:nvPr/>
        </p:nvSpPr>
        <p:spPr>
          <a:xfrm>
            <a:off x="10805160" y="1911096"/>
            <a:ext cx="0" cy="841248"/>
          </a:xfrm>
          <a:prstGeom prst="line">
            <a:avLst/>
          </a:prstGeom>
          <a:noFill/>
          <a:ln w="6350">
            <a:solidFill>
              <a:srgbClr val="93C5FD"/>
            </a:solidFill>
            <a:prstDash val="solid"/>
          </a:ln>
        </p:spPr>
      </p:sp>
      <p:sp>
        <p:nvSpPr>
          <p:cNvPr id="39" name="Shape 37"/>
          <p:cNvSpPr/>
          <p:nvPr/>
        </p:nvSpPr>
        <p:spPr>
          <a:xfrm>
            <a:off x="10232136" y="2484120"/>
            <a:ext cx="841248" cy="0"/>
          </a:xfrm>
          <a:prstGeom prst="line">
            <a:avLst/>
          </a:prstGeom>
          <a:noFill/>
          <a:ln w="6350">
            <a:solidFill>
              <a:srgbClr val="93C5FD"/>
            </a:solidFill>
            <a:prstDash val="solid"/>
          </a:ln>
        </p:spPr>
      </p:sp>
      <p:sp>
        <p:nvSpPr>
          <p:cNvPr id="40" name="Shape 38"/>
          <p:cNvSpPr/>
          <p:nvPr/>
        </p:nvSpPr>
        <p:spPr>
          <a:xfrm>
            <a:off x="10866120" y="1911096"/>
            <a:ext cx="0" cy="841248"/>
          </a:xfrm>
          <a:prstGeom prst="line">
            <a:avLst/>
          </a:prstGeom>
          <a:noFill/>
          <a:ln w="6350">
            <a:solidFill>
              <a:srgbClr val="93C5FD"/>
            </a:solidFill>
            <a:prstDash val="solid"/>
          </a:ln>
        </p:spPr>
      </p:sp>
      <p:sp>
        <p:nvSpPr>
          <p:cNvPr id="41" name="Shape 39"/>
          <p:cNvSpPr/>
          <p:nvPr/>
        </p:nvSpPr>
        <p:spPr>
          <a:xfrm>
            <a:off x="10232136" y="2545080"/>
            <a:ext cx="841248" cy="0"/>
          </a:xfrm>
          <a:prstGeom prst="line">
            <a:avLst/>
          </a:prstGeom>
          <a:noFill/>
          <a:ln w="6350">
            <a:solidFill>
              <a:srgbClr val="93C5FD"/>
            </a:solidFill>
            <a:prstDash val="solid"/>
          </a:ln>
        </p:spPr>
      </p:sp>
      <p:sp>
        <p:nvSpPr>
          <p:cNvPr id="42" name="Shape 40"/>
          <p:cNvSpPr/>
          <p:nvPr/>
        </p:nvSpPr>
        <p:spPr>
          <a:xfrm>
            <a:off x="10927080" y="1911096"/>
            <a:ext cx="0" cy="841248"/>
          </a:xfrm>
          <a:prstGeom prst="line">
            <a:avLst/>
          </a:prstGeom>
          <a:noFill/>
          <a:ln w="6350">
            <a:solidFill>
              <a:srgbClr val="93C5FD"/>
            </a:solidFill>
            <a:prstDash val="solid"/>
          </a:ln>
        </p:spPr>
      </p:sp>
      <p:sp>
        <p:nvSpPr>
          <p:cNvPr id="43" name="Shape 41"/>
          <p:cNvSpPr/>
          <p:nvPr/>
        </p:nvSpPr>
        <p:spPr>
          <a:xfrm>
            <a:off x="10232136" y="2606040"/>
            <a:ext cx="841248" cy="0"/>
          </a:xfrm>
          <a:prstGeom prst="line">
            <a:avLst/>
          </a:prstGeom>
          <a:noFill/>
          <a:ln w="6350">
            <a:solidFill>
              <a:srgbClr val="93C5FD"/>
            </a:solidFill>
            <a:prstDash val="solid"/>
          </a:ln>
        </p:spPr>
      </p:sp>
      <p:sp>
        <p:nvSpPr>
          <p:cNvPr id="44" name="Shape 42"/>
          <p:cNvSpPr/>
          <p:nvPr/>
        </p:nvSpPr>
        <p:spPr>
          <a:xfrm>
            <a:off x="10988040" y="1911096"/>
            <a:ext cx="0" cy="841248"/>
          </a:xfrm>
          <a:prstGeom prst="line">
            <a:avLst/>
          </a:prstGeom>
          <a:noFill/>
          <a:ln w="6350">
            <a:solidFill>
              <a:srgbClr val="93C5FD"/>
            </a:solidFill>
            <a:prstDash val="solid"/>
          </a:ln>
        </p:spPr>
      </p:sp>
      <p:sp>
        <p:nvSpPr>
          <p:cNvPr id="45" name="Shape 43"/>
          <p:cNvSpPr/>
          <p:nvPr/>
        </p:nvSpPr>
        <p:spPr>
          <a:xfrm>
            <a:off x="10232136" y="2667000"/>
            <a:ext cx="841248" cy="0"/>
          </a:xfrm>
          <a:prstGeom prst="line">
            <a:avLst/>
          </a:prstGeom>
          <a:noFill/>
          <a:ln w="6350">
            <a:solidFill>
              <a:srgbClr val="93C5FD"/>
            </a:solidFill>
            <a:prstDash val="solid"/>
          </a:ln>
        </p:spPr>
      </p:sp>
      <p:sp>
        <p:nvSpPr>
          <p:cNvPr id="46" name="Shape 44"/>
          <p:cNvSpPr/>
          <p:nvPr/>
        </p:nvSpPr>
        <p:spPr>
          <a:xfrm>
            <a:off x="11049000" y="1911096"/>
            <a:ext cx="0" cy="841248"/>
          </a:xfrm>
          <a:prstGeom prst="line">
            <a:avLst/>
          </a:prstGeom>
          <a:noFill/>
          <a:ln w="6350">
            <a:solidFill>
              <a:srgbClr val="93C5FD"/>
            </a:solidFill>
            <a:prstDash val="solid"/>
          </a:ln>
        </p:spPr>
      </p:sp>
      <p:sp>
        <p:nvSpPr>
          <p:cNvPr id="47" name="Shape 45"/>
          <p:cNvSpPr/>
          <p:nvPr/>
        </p:nvSpPr>
        <p:spPr>
          <a:xfrm>
            <a:off x="10232136" y="2727960"/>
            <a:ext cx="841248" cy="0"/>
          </a:xfrm>
          <a:prstGeom prst="line">
            <a:avLst/>
          </a:prstGeom>
          <a:noFill/>
          <a:ln w="6350">
            <a:solidFill>
              <a:srgbClr val="93C5FD"/>
            </a:solidFill>
            <a:prstDash val="solid"/>
          </a:ln>
        </p:spPr>
      </p:sp>
      <p:sp>
        <p:nvSpPr>
          <p:cNvPr id="48" name="Text 46"/>
          <p:cNvSpPr txBox="1"/>
          <p:nvPr/>
        </p:nvSpPr>
        <p:spPr>
          <a:xfrm>
            <a:off x="9784080" y="2880360"/>
            <a:ext cx="1737360" cy="228600"/>
          </a:xfrm>
          <a:prstGeom prst="rect">
            <a:avLst/>
          </a:prstGeom>
          <a:noFill/>
          <a:ln/>
        </p:spPr>
        <p:txBody>
          <a:bodyPr wrap="square" lIns="0" tIns="0" rIns="0" bIns="0" rtlCol="0" anchor="ctr"/>
          <a:lstStyle/>
          <a:p>
            <a:pPr marL="0" indent="0" algn="ctr">
              <a:buNone/>
            </a:pPr>
            <a:r>
              <a:rPr lang="en-US" sz="1200" b="1" dirty="0">
                <a:solidFill>
                  <a:srgbClr val="2563EB"/>
                </a:solidFill>
                <a:latin typeface="Arial" pitchFamily="34" charset="0"/>
                <a:ea typeface="Arial" pitchFamily="34" charset="-122"/>
                <a:cs typeface="Arial" pitchFamily="34" charset="-120"/>
              </a:rPr>
              <a:t>100 dp</a:t>
            </a:r>
            <a:endParaRPr lang="en-US" sz="1200" dirty="0"/>
          </a:p>
        </p:txBody>
      </p:sp>
      <p:sp>
        <p:nvSpPr>
          <p:cNvPr id="49" name="Text 47"/>
          <p:cNvSpPr txBox="1"/>
          <p:nvPr/>
        </p:nvSpPr>
        <p:spPr>
          <a:xfrm>
            <a:off x="9784080" y="3127248"/>
            <a:ext cx="1737360" cy="228600"/>
          </a:xfrm>
          <a:prstGeom prst="rect">
            <a:avLst/>
          </a:prstGeom>
          <a:noFill/>
          <a:ln/>
        </p:spPr>
        <p:txBody>
          <a:bodyPr wrap="square" lIns="0" tIns="0" rIns="0" bIns="0" rtlCol="0" anchor="ctr"/>
          <a:lstStyle/>
          <a:p>
            <a:pPr marL="0" indent="0" algn="ctr">
              <a:buNone/>
            </a:pPr>
            <a:r>
              <a:rPr lang="en-US" sz="1200" dirty="0">
                <a:solidFill>
                  <a:srgbClr val="111827"/>
                </a:solidFill>
                <a:latin typeface="Arial" pitchFamily="34" charset="0"/>
                <a:ea typeface="Arial" pitchFamily="34" charset="-122"/>
                <a:cs typeface="Arial" pitchFamily="34" charset="-120"/>
              </a:rPr>
              <a:t>Yüksek yoğunluk</a:t>
            </a:r>
            <a:endParaRPr lang="en-US" sz="1200" dirty="0"/>
          </a:p>
        </p:txBody>
      </p:sp>
      <p:sp>
        <p:nvSpPr>
          <p:cNvPr id="50" name="Text 48"/>
          <p:cNvSpPr txBox="1"/>
          <p:nvPr/>
        </p:nvSpPr>
        <p:spPr>
          <a:xfrm>
            <a:off x="9784080" y="3383280"/>
            <a:ext cx="1737360" cy="228600"/>
          </a:xfrm>
          <a:prstGeom prst="rect">
            <a:avLst/>
          </a:prstGeom>
          <a:noFill/>
          <a:ln/>
        </p:spPr>
        <p:txBody>
          <a:bodyPr wrap="square" lIns="0" tIns="0" rIns="0" bIns="0" rtlCol="0" anchor="ctr"/>
          <a:lstStyle/>
          <a:p>
            <a:pPr marL="0" indent="0" algn="ctr">
              <a:buNone/>
            </a:pPr>
            <a:r>
              <a:rPr lang="en-US" sz="1100" dirty="0">
                <a:solidFill>
                  <a:srgbClr val="6B7280"/>
                </a:solidFill>
                <a:latin typeface="Arial" pitchFamily="34" charset="0"/>
                <a:ea typeface="Arial" pitchFamily="34" charset="-122"/>
                <a:cs typeface="Arial" pitchFamily="34" charset="-120"/>
              </a:rPr>
              <a:t>300 piksel (3x) </a:t>
            </a:r>
            <a:endParaRPr lang="en-US" sz="1100" dirty="0"/>
          </a:p>
        </p:txBody>
      </p:sp>
      <p:sp>
        <p:nvSpPr>
          <p:cNvPr id="51" name="Text 49"/>
          <p:cNvSpPr txBox="1"/>
          <p:nvPr/>
        </p:nvSpPr>
        <p:spPr>
          <a:xfrm>
            <a:off x="7863840" y="3840480"/>
            <a:ext cx="3657600" cy="274320"/>
          </a:xfrm>
          <a:prstGeom prst="rect">
            <a:avLst/>
          </a:prstGeom>
          <a:noFill/>
          <a:ln/>
        </p:spPr>
        <p:txBody>
          <a:bodyPr wrap="square" lIns="0" tIns="0" rIns="0" bIns="0" rtlCol="0" anchor="ctr"/>
          <a:lstStyle/>
          <a:p>
            <a:pPr marL="0" indent="0" algn="ctr">
              <a:buNone/>
            </a:pPr>
            <a:r>
              <a:rPr lang="en-US" sz="1200" dirty="0">
                <a:solidFill>
                  <a:srgbClr val="6B7280"/>
                </a:solidFill>
                <a:latin typeface="Arial" pitchFamily="34" charset="0"/>
                <a:ea typeface="Arial" pitchFamily="34" charset="-122"/>
                <a:cs typeface="Arial" pitchFamily="34" charset="-120"/>
              </a:rPr>
              <a:t>Aynı fiziksel boyut, farklı piksel sayısı</a:t>
            </a:r>
            <a:endParaRPr lang="en-US" sz="1200" dirty="0"/>
          </a:p>
        </p:txBody>
      </p:sp>
      <p:sp>
        <p:nvSpPr>
          <p:cNvPr id="52" name="Shape 50"/>
          <p:cNvSpPr/>
          <p:nvPr/>
        </p:nvSpPr>
        <p:spPr>
          <a:xfrm>
            <a:off x="7863840" y="4206240"/>
            <a:ext cx="3657600" cy="1383792"/>
          </a:xfrm>
          <a:prstGeom prst="roundRect">
            <a:avLst>
              <a:gd name="adj" fmla="val 6608"/>
            </a:avLst>
          </a:prstGeom>
          <a:solidFill>
            <a:srgbClr val="EFF6FF"/>
          </a:solidFill>
          <a:ln w="9525">
            <a:solidFill>
              <a:srgbClr val="EFF6FF"/>
            </a:solidFill>
            <a:prstDash val="solid"/>
          </a:ln>
        </p:spPr>
      </p:sp>
      <p:sp>
        <p:nvSpPr>
          <p:cNvPr id="53" name="Text 51"/>
          <p:cNvSpPr txBox="1"/>
          <p:nvPr/>
        </p:nvSpPr>
        <p:spPr>
          <a:xfrm>
            <a:off x="8065008" y="4334256"/>
            <a:ext cx="325526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Yazı boyutu da dp cinsindendir ve kullanıcı sistem ayarlarında yazı boyutunu büyütmüşse metin ölçeklenir; tasarımınız büyük yazıda taşmamalıdır.</a:t>
            </a:r>
            <a:endParaRPr lang="en-US" sz="1100" dirty="0"/>
          </a:p>
        </p:txBody>
      </p:sp>
      <p:sp>
        <p:nvSpPr>
          <p:cNvPr id="54"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Stil Dizileri ve Koşullu Stil</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136392"/>
          </a:xfrm>
          <a:prstGeom prst="roundRect">
            <a:avLst>
              <a:gd name="adj" fmla="val 291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587752"/>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styles = StyleSheet.create({</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tab: { padding: </a:t>
            </a:r>
            <a:r>
              <a:rPr lang="en-US" sz="1600" dirty="0">
                <a:solidFill>
                  <a:srgbClr val="B45309"/>
                </a:solidFill>
                <a:latin typeface="Courier New" pitchFamily="34" charset="0"/>
                <a:ea typeface="Courier New" pitchFamily="34" charset="-122"/>
                <a:cs typeface="Courier New" pitchFamily="34" charset="-120"/>
              </a:rPr>
              <a:t>8</a:t>
            </a:r>
            <a:r>
              <a:rPr lang="en-US" sz="1600" dirty="0">
                <a:solidFill>
                  <a:srgbClr val="111827"/>
                </a:solidFill>
                <a:latin typeface="Courier New" pitchFamily="34" charset="0"/>
                <a:ea typeface="Courier New" pitchFamily="34" charset="-122"/>
                <a:cs typeface="Courier New" pitchFamily="34" charset="-120"/>
              </a:rPr>
              <a:t>, color: </a:t>
            </a:r>
            <a:r>
              <a:rPr lang="en-US" sz="1600" dirty="0">
                <a:solidFill>
                  <a:srgbClr val="047857"/>
                </a:solidFill>
                <a:latin typeface="Courier New" pitchFamily="34" charset="0"/>
                <a:ea typeface="Courier New" pitchFamily="34" charset="-122"/>
                <a:cs typeface="Courier New" pitchFamily="34" charset="-120"/>
              </a:rPr>
              <a:t>'gray'</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active: { color: </a:t>
            </a:r>
            <a:r>
              <a:rPr lang="en-US" sz="1600" dirty="0">
                <a:solidFill>
                  <a:srgbClr val="047857"/>
                </a:solidFill>
                <a:latin typeface="Courier New" pitchFamily="34" charset="0"/>
                <a:ea typeface="Courier New" pitchFamily="34" charset="-122"/>
                <a:cs typeface="Courier New" pitchFamily="34" charset="-120"/>
              </a:rPr>
              <a:t>'black'</a:t>
            </a:r>
            <a:r>
              <a:rPr lang="en-US" sz="1600" dirty="0">
                <a:solidFill>
                  <a:srgbClr val="111827"/>
                </a:solidFill>
                <a:latin typeface="Courier New" pitchFamily="34" charset="0"/>
                <a:ea typeface="Courier New" pitchFamily="34" charset="-122"/>
                <a:cs typeface="Courier New" pitchFamily="34" charset="-120"/>
              </a:rPr>
              <a:t>, fontWeight: </a:t>
            </a:r>
            <a:r>
              <a:rPr lang="en-US" sz="1600" dirty="0">
                <a:solidFill>
                  <a:srgbClr val="047857"/>
                </a:solidFill>
                <a:latin typeface="Courier New" pitchFamily="34" charset="0"/>
                <a:ea typeface="Courier New" pitchFamily="34" charset="-122"/>
                <a:cs typeface="Courier New" pitchFamily="34" charset="-120"/>
              </a:rPr>
              <a:t>'bold'</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function</a:t>
            </a:r>
            <a:r>
              <a:rPr lang="en-US" sz="1600" dirty="0">
                <a:solidFill>
                  <a:srgbClr val="111827"/>
                </a:solidFill>
                <a:latin typeface="Courier New" pitchFamily="34" charset="0"/>
                <a:ea typeface="Courier New" pitchFamily="34" charset="-122"/>
                <a:cs typeface="Courier New" pitchFamily="34" charset="-120"/>
              </a:rPr>
              <a:t> Tab({ active }: { active: boolean })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 style={[styles.tab,</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active &amp;&amp; styles.active]}&gt;Sekme&lt;/Text&gt;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919472"/>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5047488"/>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active true olduğunda Sekme yazısı siyah ve kalın, false olduğunda gri görünür.</a:t>
            </a:r>
            <a:endParaRPr lang="en-US" sz="1100" dirty="0"/>
          </a:p>
        </p:txBody>
      </p:sp>
      <p:sp>
        <p:nvSpPr>
          <p:cNvPr id="9" name="Text 7"/>
          <p:cNvSpPr txBox="1"/>
          <p:nvPr/>
        </p:nvSpPr>
        <p:spPr>
          <a:xfrm>
            <a:off x="7772400" y="1645920"/>
            <a:ext cx="3931920" cy="26334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bir bileşene birden fazla stili birleştirmektir.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style özelliği dizi kabul eder ve sonraki öğe önceki öğenin üzerine yazar. active &amp;&amp; styles.active ifadesi, active true ise stili ekler, false ise hiçbir şey eklemez. Böylece durum değiştikçe görünüm de değişir.</a:t>
            </a:r>
            <a:endParaRPr lang="en-US" sz="1800" dirty="0"/>
          </a:p>
        </p:txBody>
      </p:sp>
      <p:sp>
        <p:nvSpPr>
          <p:cNvPr id="10" name="Shape 8"/>
          <p:cNvSpPr/>
          <p:nvPr/>
        </p:nvSpPr>
        <p:spPr>
          <a:xfrm>
            <a:off x="7772400" y="4416552"/>
            <a:ext cx="3931920" cy="1383792"/>
          </a:xfrm>
          <a:prstGeom prst="roundRect">
            <a:avLst>
              <a:gd name="adj" fmla="val 6608"/>
            </a:avLst>
          </a:prstGeom>
          <a:solidFill>
            <a:srgbClr val="EFF6FF"/>
          </a:solidFill>
          <a:ln w="9525">
            <a:solidFill>
              <a:srgbClr val="EFF6FF"/>
            </a:solidFill>
            <a:prstDash val="solid"/>
          </a:ln>
        </p:spPr>
      </p:sp>
      <p:sp>
        <p:nvSpPr>
          <p:cNvPr id="11" name="Text 9"/>
          <p:cNvSpPr txBox="1"/>
          <p:nvPr/>
        </p:nvSpPr>
        <p:spPr>
          <a:xfrm>
            <a:off x="7973568" y="4544568"/>
            <a:ext cx="352958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Bu kısa kullanımda &amp;&amp; güvenlidir çünkü sonuç false veya stil nesnesidir. Sayı döndürebilecek ifadelerde (0 &amp;&amp; ...) 6. haftada göreceğimiz tuzağa dikkat edin.</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Text Stilleri</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156155"/>
          </a:xfrm>
          <a:prstGeom prst="roundRect">
            <a:avLst>
              <a:gd name="adj" fmla="val 4241"/>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1607515"/>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&lt;Text style={{ fontSize: </a:t>
            </a:r>
            <a:r>
              <a:rPr lang="en-US" sz="1600" dirty="0">
                <a:solidFill>
                  <a:srgbClr val="B45309"/>
                </a:solidFill>
                <a:latin typeface="Courier New" pitchFamily="34" charset="0"/>
                <a:ea typeface="Courier New" pitchFamily="34" charset="-122"/>
                <a:cs typeface="Courier New" pitchFamily="34" charset="-120"/>
              </a:rPr>
              <a:t>20</a:t>
            </a:r>
            <a:r>
              <a:rPr lang="en-US" sz="1600" dirty="0">
                <a:solidFill>
                  <a:srgbClr val="111827"/>
                </a:solidFill>
                <a:latin typeface="Courier New" pitchFamily="34" charset="0"/>
                <a:ea typeface="Courier New" pitchFamily="34" charset="-122"/>
                <a:cs typeface="Courier New" pitchFamily="34" charset="-120"/>
              </a:rPr>
              <a:t>, color: </a:t>
            </a:r>
            <a:r>
              <a:rPr lang="en-US" sz="1600" dirty="0">
                <a:solidFill>
                  <a:srgbClr val="047857"/>
                </a:solidFill>
                <a:latin typeface="Courier New" pitchFamily="34" charset="0"/>
                <a:ea typeface="Courier New" pitchFamily="34" charset="-122"/>
                <a:cs typeface="Courier New" pitchFamily="34" charset="-120"/>
              </a:rPr>
              <a:t>'#222'</a:t>
            </a:r>
            <a:r>
              <a:rPr lang="en-US" sz="1600" dirty="0">
                <a:solidFill>
                  <a:srgbClr val="111827"/>
                </a:solidFill>
                <a:latin typeface="Courier New" pitchFamily="34" charset="0"/>
                <a:ea typeface="Courier New" pitchFamily="34" charset="-122"/>
                <a:cs typeface="Courier New" pitchFamily="34" charset="-120"/>
              </a:rPr>
              <a:t>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Ana metin{</a:t>
            </a:r>
            <a:r>
              <a:rPr lang="en-US" sz="1600" dirty="0">
                <a:solidFill>
                  <a:srgbClr val="047857"/>
                </a:solidFill>
                <a:latin typeface="Courier New" pitchFamily="34" charset="0"/>
                <a:ea typeface="Courier New" pitchFamily="34" charset="-122"/>
                <a:cs typeface="Courier New" pitchFamily="34" charset="-120"/>
              </a:rPr>
              <a:t>' '</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 style={{ fontWeight: </a:t>
            </a:r>
            <a:r>
              <a:rPr lang="en-US" sz="1600" dirty="0">
                <a:solidFill>
                  <a:srgbClr val="047857"/>
                </a:solidFill>
                <a:latin typeface="Courier New" pitchFamily="34" charset="0"/>
                <a:ea typeface="Courier New" pitchFamily="34" charset="-122"/>
                <a:cs typeface="Courier New" pitchFamily="34" charset="-120"/>
              </a:rPr>
              <a:t>'bold'</a:t>
            </a:r>
            <a:r>
              <a:rPr lang="en-US" sz="1600" dirty="0">
                <a:solidFill>
                  <a:srgbClr val="111827"/>
                </a:solidFill>
                <a:latin typeface="Courier New" pitchFamily="34" charset="0"/>
                <a:ea typeface="Courier New" pitchFamily="34" charset="-122"/>
                <a:cs typeface="Courier New" pitchFamily="34" charset="-120"/>
              </a:rPr>
              <a:t>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kalın (boyut ve renk miras)</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&lt;/Text&gt;</a:t>
            </a:r>
            <a:endParaRPr lang="en-US" sz="1600" dirty="0"/>
          </a:p>
        </p:txBody>
      </p:sp>
      <p:sp>
        <p:nvSpPr>
          <p:cNvPr id="7" name="Shape 5"/>
          <p:cNvSpPr/>
          <p:nvPr/>
        </p:nvSpPr>
        <p:spPr>
          <a:xfrm>
            <a:off x="731520" y="3939235"/>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4067251"/>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Tek paragrafta "Ana metin" normal, "kalın..." kısmı kalın görünür; ikisi de aynı boyut ve renkte olur.</a:t>
            </a:r>
            <a:endParaRPr lang="en-US" sz="1100" dirty="0"/>
          </a:p>
        </p:txBody>
      </p:sp>
      <p:sp>
        <p:nvSpPr>
          <p:cNvPr id="9" name="Text 7"/>
          <p:cNvSpPr txBox="1"/>
          <p:nvPr/>
        </p:nvSpPr>
        <p:spPr>
          <a:xfrm>
            <a:off x="7772400" y="1645920"/>
            <a:ext cx="3931920" cy="318211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yazı görünümünü ayarlamak ve iç içe Text'te stil mirasını görmektir.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fontSize, color, fontWeight, textAlign ve lineHeight en sık kullanılan metin özellikleridir. İçteki Text, dıştaki Text'in stilini miras alır ve yalnızca kendi eklediği özelliği değiştirir. View'a verilen metin stili ise </a:t>
            </a:r>
            <a:r>
              <a:rPr lang="en-US" sz="1800" dirty="0" err="1">
                <a:solidFill>
                  <a:srgbClr val="111827"/>
                </a:solidFill>
                <a:latin typeface="Arial" pitchFamily="34" charset="0"/>
                <a:ea typeface="Arial" pitchFamily="34" charset="-122"/>
                <a:cs typeface="Arial" pitchFamily="34" charset="-120"/>
              </a:rPr>
              <a:t>çocuklara</a:t>
            </a:r>
            <a:r>
              <a:rPr lang="en-US" sz="1800" dirty="0">
                <a:solidFill>
                  <a:srgbClr val="111827"/>
                </a:solidFill>
                <a:latin typeface="Arial" pitchFamily="34" charset="0"/>
                <a:ea typeface="Arial" pitchFamily="34" charset="-122"/>
                <a:cs typeface="Arial" pitchFamily="34" charset="-120"/>
              </a:rPr>
              <a:t> </a:t>
            </a:r>
            <a:r>
              <a:rPr lang="en-US" sz="1800" dirty="0" err="1">
                <a:solidFill>
                  <a:srgbClr val="111827"/>
                </a:solidFill>
                <a:latin typeface="Arial" pitchFamily="34" charset="0"/>
                <a:ea typeface="Arial" pitchFamily="34" charset="-122"/>
                <a:cs typeface="Arial" pitchFamily="34" charset="-120"/>
              </a:rPr>
              <a:t>geçmez</a:t>
            </a:r>
            <a:r>
              <a:rPr lang="en-US" sz="1800" dirty="0">
                <a:solidFill>
                  <a:srgbClr val="111827"/>
                </a:solidFill>
                <a:latin typeface="Arial" pitchFamily="34" charset="0"/>
                <a:ea typeface="Arial" pitchFamily="34" charset="-122"/>
                <a:cs typeface="Arial" pitchFamily="34" charset="-120"/>
              </a:rPr>
              <a:t> (</a:t>
            </a:r>
            <a:r>
              <a:rPr lang="en-US" sz="1800" dirty="0" err="1">
                <a:solidFill>
                  <a:srgbClr val="111827"/>
                </a:solidFill>
                <a:latin typeface="Arial" pitchFamily="34" charset="0"/>
                <a:ea typeface="Arial" pitchFamily="34" charset="-122"/>
                <a:cs typeface="Arial" pitchFamily="34" charset="-120"/>
              </a:rPr>
              <a:t>Slayt</a:t>
            </a:r>
            <a:r>
              <a:rPr lang="en-US" sz="1800" dirty="0">
                <a:solidFill>
                  <a:srgbClr val="111827"/>
                </a:solidFill>
                <a:latin typeface="Arial" pitchFamily="34" charset="0"/>
                <a:ea typeface="Arial" pitchFamily="34" charset="-122"/>
                <a:cs typeface="Arial" pitchFamily="34" charset="-120"/>
              </a:rPr>
              <a:t> 6).</a:t>
            </a:r>
            <a:endParaRPr lang="en-US" sz="1800" dirty="0"/>
          </a:p>
        </p:txBody>
      </p:sp>
      <p:sp>
        <p:nvSpPr>
          <p:cNvPr id="10" name="Shape 8"/>
          <p:cNvSpPr/>
          <p:nvPr/>
        </p:nvSpPr>
        <p:spPr>
          <a:xfrm>
            <a:off x="7772400" y="4965192"/>
            <a:ext cx="3931920" cy="1170432"/>
          </a:xfrm>
          <a:prstGeom prst="roundRect">
            <a:avLst>
              <a:gd name="adj" fmla="val 7813"/>
            </a:avLst>
          </a:prstGeom>
          <a:solidFill>
            <a:srgbClr val="EFF6FF"/>
          </a:solidFill>
          <a:ln w="9525">
            <a:solidFill>
              <a:srgbClr val="EFF6FF"/>
            </a:solidFill>
            <a:prstDash val="solid"/>
          </a:ln>
        </p:spPr>
      </p:sp>
      <p:sp>
        <p:nvSpPr>
          <p:cNvPr id="11" name="Text 9"/>
          <p:cNvSpPr txBox="1"/>
          <p:nvPr/>
        </p:nvSpPr>
        <p:spPr>
          <a:xfrm>
            <a:off x="7973568" y="5093208"/>
            <a:ext cx="3529584" cy="914400"/>
          </a:xfrm>
          <a:prstGeom prst="rect">
            <a:avLst/>
          </a:prstGeom>
          <a:noFill/>
          <a:ln/>
        </p:spPr>
        <p:txBody>
          <a:bodyPr wrap="square" lIns="0" tIns="0" rIns="0" bIns="0" rtlCol="0" anchor="t"/>
          <a:lstStyle/>
          <a:p>
            <a:pPr marL="0" indent="0" algn="l">
              <a:buNone/>
            </a:pPr>
            <a:r>
              <a:rPr lang="en-US" sz="1100" b="1" dirty="0">
                <a:solidFill>
                  <a:srgbClr val="B91C1C"/>
                </a:solidFill>
                <a:latin typeface="Arial" pitchFamily="34" charset="0"/>
                <a:ea typeface="Arial" pitchFamily="34" charset="-122"/>
                <a:cs typeface="Arial" pitchFamily="34" charset="-120"/>
              </a:rPr>
              <a:t>SIK YAPILAN HATA</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View içine color veya fontSize yazmak; bu özellikler View'da yoktur ve TypeScript hata verir.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Renk, Kenarlık ve Yuvarlak Köşe</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136392"/>
          </a:xfrm>
          <a:prstGeom prst="roundRect">
            <a:avLst>
              <a:gd name="adj" fmla="val 291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587752"/>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styles = StyleSheet.create({</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box: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width: </a:t>
            </a:r>
            <a:r>
              <a:rPr lang="en-US" sz="1600" dirty="0">
                <a:solidFill>
                  <a:srgbClr val="B45309"/>
                </a:solidFill>
                <a:latin typeface="Courier New" pitchFamily="34" charset="0"/>
                <a:ea typeface="Courier New" pitchFamily="34" charset="-122"/>
                <a:cs typeface="Courier New" pitchFamily="34" charset="-120"/>
              </a:rPr>
              <a:t>120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height: </a:t>
            </a:r>
            <a:r>
              <a:rPr lang="en-US" sz="1600" dirty="0">
                <a:solidFill>
                  <a:srgbClr val="B45309"/>
                </a:solidFill>
                <a:latin typeface="Courier New" pitchFamily="34" charset="0"/>
                <a:ea typeface="Courier New" pitchFamily="34" charset="-122"/>
                <a:cs typeface="Courier New" pitchFamily="34" charset="-120"/>
              </a:rPr>
              <a:t>120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backgroundColor: </a:t>
            </a:r>
            <a:r>
              <a:rPr lang="en-US" sz="1600" dirty="0">
                <a:solidFill>
                  <a:srgbClr val="047857"/>
                </a:solidFill>
                <a:latin typeface="Courier New" pitchFamily="34" charset="0"/>
                <a:ea typeface="Courier New" pitchFamily="34" charset="-122"/>
                <a:cs typeface="Courier New" pitchFamily="34" charset="-120"/>
              </a:rPr>
              <a:t>'#eef2f9'</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borderWidth: </a:t>
            </a:r>
            <a:r>
              <a:rPr lang="en-US" sz="1600" dirty="0">
                <a:solidFill>
                  <a:srgbClr val="B45309"/>
                </a:solidFill>
                <a:latin typeface="Courier New" pitchFamily="34" charset="0"/>
                <a:ea typeface="Courier New" pitchFamily="34" charset="-122"/>
                <a:cs typeface="Courier New" pitchFamily="34" charset="-120"/>
              </a:rPr>
              <a:t>2</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borderColor: </a:t>
            </a:r>
            <a:r>
              <a:rPr lang="en-US" sz="1600" dirty="0">
                <a:solidFill>
                  <a:srgbClr val="047857"/>
                </a:solidFill>
                <a:latin typeface="Courier New" pitchFamily="34" charset="0"/>
                <a:ea typeface="Courier New" pitchFamily="34" charset="-122"/>
                <a:cs typeface="Courier New" pitchFamily="34" charset="-120"/>
              </a:rPr>
              <a:t>'#0e9aa7'</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borderRadius: </a:t>
            </a:r>
            <a:r>
              <a:rPr lang="en-US" sz="1600" dirty="0">
                <a:solidFill>
                  <a:srgbClr val="B45309"/>
                </a:solidFill>
                <a:latin typeface="Courier New" pitchFamily="34" charset="0"/>
                <a:ea typeface="Courier New" pitchFamily="34" charset="-122"/>
                <a:cs typeface="Courier New" pitchFamily="34" charset="-120"/>
              </a:rPr>
              <a:t>16</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919472"/>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5047488"/>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Açık mavi zeminli, turkuaz kenarlıklı, yuvarlatılmış köşeli 120 birimlik bir kare görünür.</a:t>
            </a:r>
            <a:endParaRPr lang="en-US" sz="1100" dirty="0"/>
          </a:p>
        </p:txBody>
      </p:sp>
      <p:sp>
        <p:nvSpPr>
          <p:cNvPr id="9" name="Text 7"/>
          <p:cNvSpPr txBox="1"/>
          <p:nvPr/>
        </p:nvSpPr>
        <p:spPr>
          <a:xfrm>
            <a:off x="7772400" y="1645920"/>
            <a:ext cx="3931920" cy="427939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kutuların görünümünü şekillendirmektir.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backgroundColor zemin rengini, borderWidth ve borderColor kenarlığı, borderRadius köşe yuvarlaklığını belirler. Renkler ad, onaltılık kod veya rgb olarak yazılabilir. Genişlik yüksekliğin yarısı kadar yuvarlaklık verirseniz kutu daire olur.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Renkleri kodun her yerine yazmak yerine tek bir sabitler nesnesinde toplamak, tasarım değiştiğinde tek noktadan güncelleme sağlar.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822960" y="2194560"/>
            <a:ext cx="7315200" cy="365760"/>
          </a:xfrm>
          <a:prstGeom prst="rect">
            <a:avLst/>
          </a:prstGeom>
          <a:noFill/>
          <a:ln/>
        </p:spPr>
        <p:txBody>
          <a:bodyPr wrap="square" lIns="0" tIns="0" rIns="0" bIns="0" rtlCol="0" anchor="ctr"/>
          <a:lstStyle/>
          <a:p>
            <a:pPr marL="0" indent="0" algn="l">
              <a:buNone/>
            </a:pPr>
            <a:r>
              <a:rPr lang="en-US" sz="1600" b="1" kern="0" spc="400" dirty="0">
                <a:solidFill>
                  <a:srgbClr val="2563EB"/>
                </a:solidFill>
                <a:latin typeface="Arial" pitchFamily="34" charset="0"/>
                <a:ea typeface="Arial" pitchFamily="34" charset="-122"/>
                <a:cs typeface="Arial" pitchFamily="34" charset="-120"/>
              </a:rPr>
              <a:t>BÖLÜM 2</a:t>
            </a:r>
            <a:endParaRPr lang="en-US" sz="1600" dirty="0"/>
          </a:p>
        </p:txBody>
      </p:sp>
      <p:sp>
        <p:nvSpPr>
          <p:cNvPr id="3" name="Text 1"/>
          <p:cNvSpPr txBox="1"/>
          <p:nvPr/>
        </p:nvSpPr>
        <p:spPr>
          <a:xfrm>
            <a:off x="822960" y="2651760"/>
            <a:ext cx="10058400" cy="1371600"/>
          </a:xfrm>
          <a:prstGeom prst="rect">
            <a:avLst/>
          </a:prstGeom>
          <a:noFill/>
          <a:ln/>
        </p:spPr>
        <p:txBody>
          <a:bodyPr wrap="square" lIns="0" tIns="0" rIns="0" bIns="0" rtlCol="0" anchor="t"/>
          <a:lstStyle/>
          <a:p>
            <a:pPr marL="0" indent="0" algn="l">
              <a:buNone/>
            </a:pPr>
            <a:r>
              <a:rPr lang="en-US" sz="4400" b="1" dirty="0">
                <a:solidFill>
                  <a:srgbClr val="111827"/>
                </a:solidFill>
                <a:latin typeface="Arial" pitchFamily="34" charset="0"/>
                <a:ea typeface="Arial" pitchFamily="34" charset="-122"/>
                <a:cs typeface="Arial" pitchFamily="34" charset="-120"/>
              </a:rPr>
              <a:t>Flexbox</a:t>
            </a:r>
            <a:endParaRPr lang="en-US" sz="4400" dirty="0"/>
          </a:p>
        </p:txBody>
      </p:sp>
      <p:sp>
        <p:nvSpPr>
          <p:cNvPr id="4" name="Text 2"/>
          <p:cNvSpPr txBox="1"/>
          <p:nvPr/>
        </p:nvSpPr>
        <p:spPr>
          <a:xfrm>
            <a:off x="822960" y="4114800"/>
            <a:ext cx="9144000" cy="548640"/>
          </a:xfrm>
          <a:prstGeom prst="rect">
            <a:avLst/>
          </a:prstGeom>
          <a:noFill/>
          <a:ln/>
        </p:spPr>
        <p:txBody>
          <a:bodyPr wrap="square" lIns="0" tIns="0" rIns="0" bIns="0" rtlCol="0" anchor="ctr"/>
          <a:lstStyle/>
          <a:p>
            <a:pPr marL="0" indent="0" algn="l">
              <a:buNone/>
            </a:pPr>
            <a:r>
              <a:rPr lang="en-US" sz="2200" dirty="0">
                <a:solidFill>
                  <a:srgbClr val="6B7280"/>
                </a:solidFill>
                <a:latin typeface="Arial" pitchFamily="34" charset="0"/>
                <a:ea typeface="Arial" pitchFamily="34" charset="-122"/>
                <a:cs typeface="Arial" pitchFamily="34" charset="-120"/>
              </a:rPr>
              <a:t>Ana eksen, çapraz eksen, oranlar</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Flexbox Mantığı: İki Eksen</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3486912" cy="1051560"/>
          </a:xfrm>
          <a:prstGeom prst="roundRect">
            <a:avLst>
              <a:gd name="adj" fmla="val 8696"/>
            </a:avLst>
          </a:prstGeom>
          <a:solidFill>
            <a:srgbClr val="EFF6FF"/>
          </a:solidFill>
          <a:ln w="9525">
            <a:solidFill>
              <a:srgbClr val="EFF6FF"/>
            </a:solidFill>
            <a:prstDash val="solid"/>
          </a:ln>
        </p:spPr>
      </p:sp>
      <p:sp>
        <p:nvSpPr>
          <p:cNvPr id="5" name="Text 3"/>
          <p:cNvSpPr txBox="1"/>
          <p:nvPr/>
        </p:nvSpPr>
        <p:spPr>
          <a:xfrm>
            <a:off x="868680" y="1737360"/>
            <a:ext cx="3212592"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1</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Ana eksen (flexDirection)</a:t>
            </a:r>
            <a:endParaRPr lang="en-US" sz="1200" dirty="0"/>
          </a:p>
        </p:txBody>
      </p:sp>
      <p:sp>
        <p:nvSpPr>
          <p:cNvPr id="6" name="Text 4"/>
          <p:cNvSpPr txBox="1"/>
          <p:nvPr/>
        </p:nvSpPr>
        <p:spPr>
          <a:xfrm>
            <a:off x="4218432"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4474464" y="1645920"/>
            <a:ext cx="3486912" cy="1051560"/>
          </a:xfrm>
          <a:prstGeom prst="roundRect">
            <a:avLst>
              <a:gd name="adj" fmla="val 8696"/>
            </a:avLst>
          </a:prstGeom>
          <a:solidFill>
            <a:srgbClr val="EFF6FF"/>
          </a:solidFill>
          <a:ln w="9525">
            <a:solidFill>
              <a:srgbClr val="EFF6FF"/>
            </a:solidFill>
            <a:prstDash val="solid"/>
          </a:ln>
        </p:spPr>
      </p:sp>
      <p:sp>
        <p:nvSpPr>
          <p:cNvPr id="8" name="Text 6"/>
          <p:cNvSpPr txBox="1"/>
          <p:nvPr/>
        </p:nvSpPr>
        <p:spPr>
          <a:xfrm>
            <a:off x="4611624" y="1737360"/>
            <a:ext cx="3212592"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2</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Ana eksende dağıt (justifyContent)</a:t>
            </a:r>
            <a:endParaRPr lang="en-US" sz="1200" dirty="0"/>
          </a:p>
        </p:txBody>
      </p:sp>
      <p:sp>
        <p:nvSpPr>
          <p:cNvPr id="9" name="Text 7"/>
          <p:cNvSpPr txBox="1"/>
          <p:nvPr/>
        </p:nvSpPr>
        <p:spPr>
          <a:xfrm>
            <a:off x="7961376"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8217408" y="1645920"/>
            <a:ext cx="3486912" cy="1051560"/>
          </a:xfrm>
          <a:prstGeom prst="roundRect">
            <a:avLst>
              <a:gd name="adj" fmla="val 8696"/>
            </a:avLst>
          </a:prstGeom>
          <a:solidFill>
            <a:srgbClr val="2563EB"/>
          </a:solidFill>
          <a:ln w="9525">
            <a:solidFill>
              <a:srgbClr val="2563EB"/>
            </a:solidFill>
            <a:prstDash val="solid"/>
          </a:ln>
        </p:spPr>
      </p:sp>
      <p:sp>
        <p:nvSpPr>
          <p:cNvPr id="11" name="Text 9"/>
          <p:cNvSpPr txBox="1"/>
          <p:nvPr/>
        </p:nvSpPr>
        <p:spPr>
          <a:xfrm>
            <a:off x="8354568" y="1737360"/>
            <a:ext cx="3212592" cy="868680"/>
          </a:xfrm>
          <a:prstGeom prst="rect">
            <a:avLst/>
          </a:prstGeom>
          <a:noFill/>
          <a:ln/>
        </p:spPr>
        <p:txBody>
          <a:bodyPr wrap="square" lIns="0" tIns="0" rIns="0" bIns="0" rtlCol="0" anchor="ctr">
            <a:normAutofit/>
          </a:bodyPr>
          <a:lstStyle/>
          <a:p>
            <a:pPr marL="0" indent="0" algn="l">
              <a:buNone/>
            </a:pPr>
            <a:r>
              <a:rPr lang="en-US" sz="1200" b="1" dirty="0">
                <a:solidFill>
                  <a:srgbClr val="FFFFFF"/>
                </a:solidFill>
                <a:latin typeface="Arial" pitchFamily="34" charset="0"/>
                <a:ea typeface="Arial" pitchFamily="34" charset="-122"/>
                <a:cs typeface="Arial" pitchFamily="34" charset="-120"/>
              </a:rPr>
              <a:t>3</a:t>
            </a:r>
            <a:endParaRPr lang="en-US" sz="1200" dirty="0"/>
          </a:p>
          <a:p>
            <a:pPr marL="0" indent="0" algn="l">
              <a:buNone/>
            </a:pPr>
            <a:r>
              <a:rPr lang="en-US" sz="1600" b="1" dirty="0">
                <a:solidFill>
                  <a:srgbClr val="FFFFFF"/>
                </a:solidFill>
                <a:latin typeface="Arial" pitchFamily="34" charset="0"/>
                <a:ea typeface="Arial" pitchFamily="34" charset="-122"/>
                <a:cs typeface="Arial" pitchFamily="34" charset="-120"/>
              </a:rPr>
              <a:t>Çapraz eksende hizala (alignItems)</a:t>
            </a:r>
            <a:endParaRPr lang="en-US" sz="1200" dirty="0"/>
          </a:p>
        </p:txBody>
      </p:sp>
      <p:sp>
        <p:nvSpPr>
          <p:cNvPr id="12" name="Text 10"/>
          <p:cNvSpPr txBox="1"/>
          <p:nvPr/>
        </p:nvSpPr>
        <p:spPr>
          <a:xfrm>
            <a:off x="731520" y="3017520"/>
            <a:ext cx="6766560" cy="32918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Flexbox, bir kapsayıcının çocuklarını bir ana eksen boyunca dizer. flexDirection ana ekseni belirler: column ise dikey, row ise yataydır. justifyContent çocukları ana eksen boyunca, alignItems ise çapraz eksen boyunca yerleştirir. Ana eksen değişince bu iki özelliğin yönü de değişir; bu yüzden yön en başta düşünülmelidir.</a:t>
            </a:r>
            <a:endParaRPr lang="en-US" sz="2200" dirty="0"/>
          </a:p>
        </p:txBody>
      </p:sp>
      <p:sp>
        <p:nvSpPr>
          <p:cNvPr id="13" name="Shape 11"/>
          <p:cNvSpPr/>
          <p:nvPr/>
        </p:nvSpPr>
        <p:spPr>
          <a:xfrm>
            <a:off x="7863840" y="3017520"/>
            <a:ext cx="1737360" cy="2103120"/>
          </a:xfrm>
          <a:prstGeom prst="roundRect">
            <a:avLst>
              <a:gd name="adj" fmla="val 5263"/>
            </a:avLst>
          </a:prstGeom>
          <a:solidFill>
            <a:srgbClr val="FFFFFF"/>
          </a:solidFill>
          <a:ln w="15875">
            <a:solidFill>
              <a:srgbClr val="CBD5E1"/>
            </a:solidFill>
            <a:prstDash val="solid"/>
          </a:ln>
        </p:spPr>
      </p:sp>
      <p:sp>
        <p:nvSpPr>
          <p:cNvPr id="14" name="Text 12"/>
          <p:cNvSpPr txBox="1"/>
          <p:nvPr/>
        </p:nvSpPr>
        <p:spPr>
          <a:xfrm>
            <a:off x="7863840" y="3063240"/>
            <a:ext cx="1737360" cy="274320"/>
          </a:xfrm>
          <a:prstGeom prst="rect">
            <a:avLst/>
          </a:prstGeom>
          <a:noFill/>
          <a:ln/>
        </p:spPr>
        <p:txBody>
          <a:bodyPr wrap="square" lIns="0" tIns="0" rIns="0" bIns="0" rtlCol="0" anchor="ctr"/>
          <a:lstStyle/>
          <a:p>
            <a:pPr marL="0" indent="0" algn="ctr">
              <a:buNone/>
            </a:pPr>
            <a:r>
              <a:rPr lang="en-US" sz="1200" b="1" dirty="0">
                <a:solidFill>
                  <a:srgbClr val="2563EB"/>
                </a:solidFill>
                <a:latin typeface="Courier New" pitchFamily="34" charset="0"/>
                <a:ea typeface="Courier New" pitchFamily="34" charset="-122"/>
                <a:cs typeface="Courier New" pitchFamily="34" charset="-120"/>
              </a:rPr>
              <a:t>column</a:t>
            </a:r>
            <a:endParaRPr lang="en-US" sz="1200" dirty="0"/>
          </a:p>
        </p:txBody>
      </p:sp>
      <p:sp>
        <p:nvSpPr>
          <p:cNvPr id="15" name="Shape 13"/>
          <p:cNvSpPr/>
          <p:nvPr/>
        </p:nvSpPr>
        <p:spPr>
          <a:xfrm>
            <a:off x="8092440" y="3429000"/>
            <a:ext cx="731520" cy="347472"/>
          </a:xfrm>
          <a:prstGeom prst="roundRect">
            <a:avLst>
              <a:gd name="adj" fmla="val 26316"/>
            </a:avLst>
          </a:prstGeom>
          <a:solidFill>
            <a:srgbClr val="EFF6FF"/>
          </a:solidFill>
          <a:ln w="12700">
            <a:solidFill>
              <a:srgbClr val="2563EB"/>
            </a:solidFill>
            <a:prstDash val="solid"/>
          </a:ln>
        </p:spPr>
      </p:sp>
      <p:sp>
        <p:nvSpPr>
          <p:cNvPr id="16" name="Shape 14"/>
          <p:cNvSpPr/>
          <p:nvPr/>
        </p:nvSpPr>
        <p:spPr>
          <a:xfrm>
            <a:off x="8092440" y="3886200"/>
            <a:ext cx="731520" cy="347472"/>
          </a:xfrm>
          <a:prstGeom prst="roundRect">
            <a:avLst>
              <a:gd name="adj" fmla="val 26316"/>
            </a:avLst>
          </a:prstGeom>
          <a:solidFill>
            <a:srgbClr val="EFF6FF"/>
          </a:solidFill>
          <a:ln w="12700">
            <a:solidFill>
              <a:srgbClr val="2563EB"/>
            </a:solidFill>
            <a:prstDash val="solid"/>
          </a:ln>
        </p:spPr>
      </p:sp>
      <p:sp>
        <p:nvSpPr>
          <p:cNvPr id="17" name="Shape 15"/>
          <p:cNvSpPr/>
          <p:nvPr/>
        </p:nvSpPr>
        <p:spPr>
          <a:xfrm>
            <a:off x="8092440" y="4343400"/>
            <a:ext cx="731520" cy="347472"/>
          </a:xfrm>
          <a:prstGeom prst="roundRect">
            <a:avLst>
              <a:gd name="adj" fmla="val 26316"/>
            </a:avLst>
          </a:prstGeom>
          <a:solidFill>
            <a:srgbClr val="EFF6FF"/>
          </a:solidFill>
          <a:ln w="12700">
            <a:solidFill>
              <a:srgbClr val="2563EB"/>
            </a:solidFill>
            <a:prstDash val="solid"/>
          </a:ln>
        </p:spPr>
      </p:sp>
      <p:sp>
        <p:nvSpPr>
          <p:cNvPr id="18" name="Shape 16"/>
          <p:cNvSpPr/>
          <p:nvPr/>
        </p:nvSpPr>
        <p:spPr>
          <a:xfrm>
            <a:off x="9189720" y="3429000"/>
            <a:ext cx="0" cy="1371600"/>
          </a:xfrm>
          <a:prstGeom prst="line">
            <a:avLst/>
          </a:prstGeom>
          <a:noFill/>
          <a:ln w="22225">
            <a:solidFill>
              <a:srgbClr val="2563EB"/>
            </a:solidFill>
            <a:prstDash val="solid"/>
            <a:tailEnd type="triangle"/>
          </a:ln>
        </p:spPr>
      </p:sp>
      <p:sp>
        <p:nvSpPr>
          <p:cNvPr id="19" name="Text 17"/>
          <p:cNvSpPr txBox="1"/>
          <p:nvPr/>
        </p:nvSpPr>
        <p:spPr>
          <a:xfrm rot="16200000">
            <a:off x="8635044" y="3888369"/>
            <a:ext cx="644652" cy="215117"/>
          </a:xfrm>
          <a:prstGeom prst="rect">
            <a:avLst/>
          </a:prstGeom>
          <a:noFill/>
          <a:ln/>
        </p:spPr>
        <p:txBody>
          <a:bodyPr wrap="square" lIns="0" tIns="0" rIns="0" bIns="0" rtlCol="0" anchor="ctr"/>
          <a:lstStyle/>
          <a:p>
            <a:pPr marL="0" indent="0" algn="l">
              <a:buNone/>
            </a:pPr>
            <a:r>
              <a:rPr lang="en-US" sz="1000" dirty="0">
                <a:solidFill>
                  <a:srgbClr val="2563EB"/>
                </a:solidFill>
                <a:latin typeface="Arial" pitchFamily="34" charset="0"/>
                <a:ea typeface="Arial" pitchFamily="34" charset="-122"/>
                <a:cs typeface="Arial" pitchFamily="34" charset="-120"/>
              </a:rPr>
              <a:t>ana </a:t>
            </a:r>
            <a:r>
              <a:rPr lang="en-US" sz="1000" dirty="0" err="1">
                <a:solidFill>
                  <a:srgbClr val="2563EB"/>
                </a:solidFill>
                <a:latin typeface="Arial" pitchFamily="34" charset="0"/>
                <a:ea typeface="Arial" pitchFamily="34" charset="-122"/>
                <a:cs typeface="Arial" pitchFamily="34" charset="-120"/>
              </a:rPr>
              <a:t>eksen</a:t>
            </a:r>
            <a:endParaRPr lang="en-US" sz="1000" dirty="0"/>
          </a:p>
        </p:txBody>
      </p:sp>
      <p:sp>
        <p:nvSpPr>
          <p:cNvPr id="20" name="Text 18"/>
          <p:cNvSpPr txBox="1"/>
          <p:nvPr/>
        </p:nvSpPr>
        <p:spPr>
          <a:xfrm>
            <a:off x="7863840" y="4800600"/>
            <a:ext cx="1737360" cy="274320"/>
          </a:xfrm>
          <a:prstGeom prst="rect">
            <a:avLst/>
          </a:prstGeom>
          <a:noFill/>
          <a:ln/>
        </p:spPr>
        <p:txBody>
          <a:bodyPr wrap="square" lIns="0" tIns="0" rIns="0" bIns="0" rtlCol="0" anchor="ctr"/>
          <a:lstStyle/>
          <a:p>
            <a:pPr marL="0" indent="0" algn="ctr">
              <a:buNone/>
            </a:pPr>
            <a:r>
              <a:rPr lang="en-US" sz="1100" dirty="0">
                <a:solidFill>
                  <a:srgbClr val="6B7280"/>
                </a:solidFill>
                <a:latin typeface="Arial" pitchFamily="34" charset="0"/>
                <a:ea typeface="Arial" pitchFamily="34" charset="-122"/>
                <a:cs typeface="Arial" pitchFamily="34" charset="-120"/>
              </a:rPr>
              <a:t>Ana eksen dikey</a:t>
            </a:r>
            <a:endParaRPr lang="en-US" sz="1100" dirty="0"/>
          </a:p>
        </p:txBody>
      </p:sp>
      <p:sp>
        <p:nvSpPr>
          <p:cNvPr id="21" name="Shape 19"/>
          <p:cNvSpPr/>
          <p:nvPr/>
        </p:nvSpPr>
        <p:spPr>
          <a:xfrm>
            <a:off x="9784080" y="3017520"/>
            <a:ext cx="1737360" cy="2103120"/>
          </a:xfrm>
          <a:prstGeom prst="roundRect">
            <a:avLst>
              <a:gd name="adj" fmla="val 5263"/>
            </a:avLst>
          </a:prstGeom>
          <a:solidFill>
            <a:srgbClr val="FFFFFF"/>
          </a:solidFill>
          <a:ln w="15875">
            <a:solidFill>
              <a:srgbClr val="CBD5E1"/>
            </a:solidFill>
            <a:prstDash val="solid"/>
          </a:ln>
        </p:spPr>
      </p:sp>
      <p:sp>
        <p:nvSpPr>
          <p:cNvPr id="22" name="Text 20"/>
          <p:cNvSpPr txBox="1"/>
          <p:nvPr/>
        </p:nvSpPr>
        <p:spPr>
          <a:xfrm>
            <a:off x="9784080" y="3063240"/>
            <a:ext cx="1737360" cy="274320"/>
          </a:xfrm>
          <a:prstGeom prst="rect">
            <a:avLst/>
          </a:prstGeom>
          <a:noFill/>
          <a:ln/>
        </p:spPr>
        <p:txBody>
          <a:bodyPr wrap="square" lIns="0" tIns="0" rIns="0" bIns="0" rtlCol="0" anchor="ctr"/>
          <a:lstStyle/>
          <a:p>
            <a:pPr marL="0" indent="0" algn="ctr">
              <a:buNone/>
            </a:pPr>
            <a:r>
              <a:rPr lang="en-US" sz="1200" b="1" dirty="0">
                <a:solidFill>
                  <a:srgbClr val="2563EB"/>
                </a:solidFill>
                <a:latin typeface="Courier New" pitchFamily="34" charset="0"/>
                <a:ea typeface="Courier New" pitchFamily="34" charset="-122"/>
                <a:cs typeface="Courier New" pitchFamily="34" charset="-120"/>
              </a:rPr>
              <a:t>row</a:t>
            </a:r>
            <a:endParaRPr lang="en-US" sz="1200" dirty="0"/>
          </a:p>
        </p:txBody>
      </p:sp>
      <p:sp>
        <p:nvSpPr>
          <p:cNvPr id="23" name="Shape 21"/>
          <p:cNvSpPr/>
          <p:nvPr/>
        </p:nvSpPr>
        <p:spPr>
          <a:xfrm>
            <a:off x="9875520" y="3520440"/>
            <a:ext cx="411480" cy="548640"/>
          </a:xfrm>
          <a:prstGeom prst="roundRect">
            <a:avLst>
              <a:gd name="adj" fmla="val 22222"/>
            </a:avLst>
          </a:prstGeom>
          <a:solidFill>
            <a:srgbClr val="EFF6FF"/>
          </a:solidFill>
          <a:ln w="12700">
            <a:solidFill>
              <a:srgbClr val="2563EB"/>
            </a:solidFill>
            <a:prstDash val="solid"/>
          </a:ln>
        </p:spPr>
      </p:sp>
      <p:sp>
        <p:nvSpPr>
          <p:cNvPr id="24" name="Shape 22"/>
          <p:cNvSpPr/>
          <p:nvPr/>
        </p:nvSpPr>
        <p:spPr>
          <a:xfrm>
            <a:off x="10396728" y="3520440"/>
            <a:ext cx="411480" cy="548640"/>
          </a:xfrm>
          <a:prstGeom prst="roundRect">
            <a:avLst>
              <a:gd name="adj" fmla="val 22222"/>
            </a:avLst>
          </a:prstGeom>
          <a:solidFill>
            <a:srgbClr val="EFF6FF"/>
          </a:solidFill>
          <a:ln w="12700">
            <a:solidFill>
              <a:srgbClr val="2563EB"/>
            </a:solidFill>
            <a:prstDash val="solid"/>
          </a:ln>
        </p:spPr>
      </p:sp>
      <p:sp>
        <p:nvSpPr>
          <p:cNvPr id="25" name="Shape 23"/>
          <p:cNvSpPr/>
          <p:nvPr/>
        </p:nvSpPr>
        <p:spPr>
          <a:xfrm>
            <a:off x="10917936" y="3520440"/>
            <a:ext cx="411480" cy="548640"/>
          </a:xfrm>
          <a:prstGeom prst="roundRect">
            <a:avLst>
              <a:gd name="adj" fmla="val 22222"/>
            </a:avLst>
          </a:prstGeom>
          <a:solidFill>
            <a:srgbClr val="EFF6FF"/>
          </a:solidFill>
          <a:ln w="12700">
            <a:solidFill>
              <a:srgbClr val="2563EB"/>
            </a:solidFill>
            <a:prstDash val="solid"/>
          </a:ln>
        </p:spPr>
      </p:sp>
      <p:sp>
        <p:nvSpPr>
          <p:cNvPr id="26" name="Shape 24"/>
          <p:cNvSpPr/>
          <p:nvPr/>
        </p:nvSpPr>
        <p:spPr>
          <a:xfrm>
            <a:off x="9875520" y="4389120"/>
            <a:ext cx="1554480" cy="0"/>
          </a:xfrm>
          <a:prstGeom prst="line">
            <a:avLst/>
          </a:prstGeom>
          <a:noFill/>
          <a:ln w="22225">
            <a:solidFill>
              <a:srgbClr val="2563EB"/>
            </a:solidFill>
            <a:prstDash val="solid"/>
            <a:tailEnd type="triangle"/>
          </a:ln>
        </p:spPr>
      </p:sp>
      <p:sp>
        <p:nvSpPr>
          <p:cNvPr id="27" name="Text 25"/>
          <p:cNvSpPr txBox="1"/>
          <p:nvPr/>
        </p:nvSpPr>
        <p:spPr>
          <a:xfrm>
            <a:off x="9784080" y="4434840"/>
            <a:ext cx="1737360" cy="274320"/>
          </a:xfrm>
          <a:prstGeom prst="rect">
            <a:avLst/>
          </a:prstGeom>
          <a:noFill/>
          <a:ln/>
        </p:spPr>
        <p:txBody>
          <a:bodyPr wrap="square" lIns="0" tIns="0" rIns="0" bIns="0" rtlCol="0" anchor="ctr"/>
          <a:lstStyle/>
          <a:p>
            <a:pPr marL="0" indent="0" algn="ctr">
              <a:buNone/>
            </a:pPr>
            <a:r>
              <a:rPr lang="en-US" sz="1000" dirty="0">
                <a:solidFill>
                  <a:srgbClr val="2563EB"/>
                </a:solidFill>
                <a:latin typeface="Arial" pitchFamily="34" charset="0"/>
                <a:ea typeface="Arial" pitchFamily="34" charset="-122"/>
                <a:cs typeface="Arial" pitchFamily="34" charset="-120"/>
              </a:rPr>
              <a:t>ana eksen</a:t>
            </a:r>
            <a:endParaRPr lang="en-US" sz="1000" dirty="0"/>
          </a:p>
        </p:txBody>
      </p:sp>
      <p:sp>
        <p:nvSpPr>
          <p:cNvPr id="28" name="Text 26"/>
          <p:cNvSpPr txBox="1"/>
          <p:nvPr/>
        </p:nvSpPr>
        <p:spPr>
          <a:xfrm>
            <a:off x="9784080" y="4800600"/>
            <a:ext cx="1737360" cy="274320"/>
          </a:xfrm>
          <a:prstGeom prst="rect">
            <a:avLst/>
          </a:prstGeom>
          <a:noFill/>
          <a:ln/>
        </p:spPr>
        <p:txBody>
          <a:bodyPr wrap="square" lIns="0" tIns="0" rIns="0" bIns="0" rtlCol="0" anchor="ctr"/>
          <a:lstStyle/>
          <a:p>
            <a:pPr marL="0" indent="0" algn="ctr">
              <a:buNone/>
            </a:pPr>
            <a:r>
              <a:rPr lang="en-US" sz="1100" dirty="0">
                <a:solidFill>
                  <a:srgbClr val="6B7280"/>
                </a:solidFill>
                <a:latin typeface="Arial" pitchFamily="34" charset="0"/>
                <a:ea typeface="Arial" pitchFamily="34" charset="-122"/>
                <a:cs typeface="Arial" pitchFamily="34" charset="-120"/>
              </a:rPr>
              <a:t>Ana eksen yatay</a:t>
            </a:r>
            <a:endParaRPr lang="en-US" sz="1100" dirty="0"/>
          </a:p>
        </p:txBody>
      </p:sp>
      <p:sp>
        <p:nvSpPr>
          <p:cNvPr id="29"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Flexbox Mantığı: İki Eksen</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3486912" cy="1051560"/>
          </a:xfrm>
          <a:prstGeom prst="roundRect">
            <a:avLst>
              <a:gd name="adj" fmla="val 8696"/>
            </a:avLst>
          </a:prstGeom>
          <a:solidFill>
            <a:srgbClr val="EFF6FF"/>
          </a:solidFill>
          <a:ln w="9525">
            <a:solidFill>
              <a:srgbClr val="EFF6FF"/>
            </a:solidFill>
            <a:prstDash val="solid"/>
          </a:ln>
        </p:spPr>
      </p:sp>
      <p:sp>
        <p:nvSpPr>
          <p:cNvPr id="5" name="Text 3"/>
          <p:cNvSpPr txBox="1"/>
          <p:nvPr/>
        </p:nvSpPr>
        <p:spPr>
          <a:xfrm>
            <a:off x="868680" y="1737360"/>
            <a:ext cx="3212592"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1</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Ana eksen (flexDirection)</a:t>
            </a:r>
            <a:endParaRPr lang="en-US" sz="1200" dirty="0"/>
          </a:p>
        </p:txBody>
      </p:sp>
      <p:sp>
        <p:nvSpPr>
          <p:cNvPr id="6" name="Text 4"/>
          <p:cNvSpPr txBox="1"/>
          <p:nvPr/>
        </p:nvSpPr>
        <p:spPr>
          <a:xfrm>
            <a:off x="4218432"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4474464" y="1645920"/>
            <a:ext cx="3486912" cy="1051560"/>
          </a:xfrm>
          <a:prstGeom prst="roundRect">
            <a:avLst>
              <a:gd name="adj" fmla="val 8696"/>
            </a:avLst>
          </a:prstGeom>
          <a:solidFill>
            <a:srgbClr val="EFF6FF"/>
          </a:solidFill>
          <a:ln w="9525">
            <a:solidFill>
              <a:srgbClr val="EFF6FF"/>
            </a:solidFill>
            <a:prstDash val="solid"/>
          </a:ln>
        </p:spPr>
      </p:sp>
      <p:sp>
        <p:nvSpPr>
          <p:cNvPr id="8" name="Text 6"/>
          <p:cNvSpPr txBox="1"/>
          <p:nvPr/>
        </p:nvSpPr>
        <p:spPr>
          <a:xfrm>
            <a:off x="4611624" y="1737360"/>
            <a:ext cx="3212592"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2</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Ana eksende dağıt (justifyContent)</a:t>
            </a:r>
            <a:endParaRPr lang="en-US" sz="1200" dirty="0"/>
          </a:p>
        </p:txBody>
      </p:sp>
      <p:sp>
        <p:nvSpPr>
          <p:cNvPr id="9" name="Text 7"/>
          <p:cNvSpPr txBox="1"/>
          <p:nvPr/>
        </p:nvSpPr>
        <p:spPr>
          <a:xfrm>
            <a:off x="7961376"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8217408" y="1645920"/>
            <a:ext cx="3486912" cy="1051560"/>
          </a:xfrm>
          <a:prstGeom prst="roundRect">
            <a:avLst>
              <a:gd name="adj" fmla="val 8696"/>
            </a:avLst>
          </a:prstGeom>
          <a:solidFill>
            <a:srgbClr val="2563EB"/>
          </a:solidFill>
          <a:ln w="9525">
            <a:solidFill>
              <a:srgbClr val="2563EB"/>
            </a:solidFill>
            <a:prstDash val="solid"/>
          </a:ln>
        </p:spPr>
      </p:sp>
      <p:sp>
        <p:nvSpPr>
          <p:cNvPr id="11" name="Text 9"/>
          <p:cNvSpPr txBox="1"/>
          <p:nvPr/>
        </p:nvSpPr>
        <p:spPr>
          <a:xfrm>
            <a:off x="8354568" y="1737360"/>
            <a:ext cx="3212592" cy="868680"/>
          </a:xfrm>
          <a:prstGeom prst="rect">
            <a:avLst/>
          </a:prstGeom>
          <a:noFill/>
          <a:ln/>
        </p:spPr>
        <p:txBody>
          <a:bodyPr wrap="square" lIns="0" tIns="0" rIns="0" bIns="0" rtlCol="0" anchor="ctr">
            <a:normAutofit/>
          </a:bodyPr>
          <a:lstStyle/>
          <a:p>
            <a:pPr marL="0" indent="0" algn="l">
              <a:buNone/>
            </a:pPr>
            <a:r>
              <a:rPr lang="en-US" sz="1200" b="1" dirty="0">
                <a:solidFill>
                  <a:srgbClr val="FFFFFF"/>
                </a:solidFill>
                <a:latin typeface="Arial" pitchFamily="34" charset="0"/>
                <a:ea typeface="Arial" pitchFamily="34" charset="-122"/>
                <a:cs typeface="Arial" pitchFamily="34" charset="-120"/>
              </a:rPr>
              <a:t>3</a:t>
            </a:r>
            <a:endParaRPr lang="en-US" sz="1200" dirty="0"/>
          </a:p>
          <a:p>
            <a:pPr marL="0" indent="0" algn="l">
              <a:buNone/>
            </a:pPr>
            <a:r>
              <a:rPr lang="en-US" sz="1600" b="1" dirty="0">
                <a:solidFill>
                  <a:srgbClr val="FFFFFF"/>
                </a:solidFill>
                <a:latin typeface="Arial" pitchFamily="34" charset="0"/>
                <a:ea typeface="Arial" pitchFamily="34" charset="-122"/>
                <a:cs typeface="Arial" pitchFamily="34" charset="-120"/>
              </a:rPr>
              <a:t>Çapraz eksende hizala (alignItems)</a:t>
            </a:r>
            <a:endParaRPr lang="en-US" sz="1200" dirty="0"/>
          </a:p>
        </p:txBody>
      </p:sp>
      <p:sp>
        <p:nvSpPr>
          <p:cNvPr id="29"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13</a:t>
            </a:fld>
            <a:endParaRPr lang="en-US"/>
          </a:p>
        </p:txBody>
      </p:sp>
      <p:pic>
        <p:nvPicPr>
          <p:cNvPr id="31" name="Resim 30">
            <a:extLst>
              <a:ext uri="{FF2B5EF4-FFF2-40B4-BE49-F238E27FC236}">
                <a16:creationId xmlns:a16="http://schemas.microsoft.com/office/drawing/2014/main" id="{30FEF4FD-7891-3137-AA32-50E816CC301F}"/>
              </a:ext>
            </a:extLst>
          </p:cNvPr>
          <p:cNvPicPr>
            <a:picLocks noChangeAspect="1"/>
          </p:cNvPicPr>
          <p:nvPr/>
        </p:nvPicPr>
        <p:blipFill>
          <a:blip r:embed="rId3"/>
          <a:stretch>
            <a:fillRect/>
          </a:stretch>
        </p:blipFill>
        <p:spPr>
          <a:xfrm>
            <a:off x="8089392" y="3259211"/>
            <a:ext cx="3592837" cy="2821549"/>
          </a:xfrm>
          <a:prstGeom prst="rect">
            <a:avLst/>
          </a:prstGeom>
        </p:spPr>
      </p:pic>
      <p:sp>
        <p:nvSpPr>
          <p:cNvPr id="32" name="Text 10">
            <a:extLst>
              <a:ext uri="{FF2B5EF4-FFF2-40B4-BE49-F238E27FC236}">
                <a16:creationId xmlns:a16="http://schemas.microsoft.com/office/drawing/2014/main" id="{4B0C0DC9-D816-1B8D-A536-3B25E98970B8}"/>
              </a:ext>
            </a:extLst>
          </p:cNvPr>
          <p:cNvSpPr txBox="1"/>
          <p:nvPr/>
        </p:nvSpPr>
        <p:spPr>
          <a:xfrm>
            <a:off x="731520" y="3017520"/>
            <a:ext cx="6766560" cy="3291840"/>
          </a:xfrm>
          <a:prstGeom prst="rect">
            <a:avLst/>
          </a:prstGeom>
          <a:noFill/>
          <a:ln/>
        </p:spPr>
        <p:txBody>
          <a:bodyPr wrap="square" lIns="0" tIns="0" rIns="0" bIns="0" rtlCol="0" anchor="t"/>
          <a:lstStyle/>
          <a:p>
            <a:pPr marL="0" indent="0" algn="l">
              <a:spcAft>
                <a:spcPts val="800"/>
              </a:spcAft>
              <a:buNone/>
            </a:pPr>
            <a:r>
              <a:rPr lang="en-US" sz="2200" dirty="0" err="1">
                <a:solidFill>
                  <a:srgbClr val="111827"/>
                </a:solidFill>
                <a:latin typeface="Arial" pitchFamily="34" charset="0"/>
                <a:cs typeface="Arial" pitchFamily="34" charset="-120"/>
              </a:rPr>
              <a:t>Sağ</a:t>
            </a:r>
            <a:r>
              <a:rPr lang="en-US" sz="2200" dirty="0">
                <a:solidFill>
                  <a:srgbClr val="111827"/>
                </a:solidFill>
                <a:latin typeface="Arial" pitchFamily="34" charset="0"/>
                <a:cs typeface="Arial" pitchFamily="34" charset="-120"/>
              </a:rPr>
              <a:t> </a:t>
            </a:r>
            <a:r>
              <a:rPr lang="en-US" sz="2200" dirty="0" err="1">
                <a:solidFill>
                  <a:srgbClr val="111827"/>
                </a:solidFill>
                <a:latin typeface="Arial" pitchFamily="34" charset="0"/>
                <a:cs typeface="Arial" pitchFamily="34" charset="-120"/>
              </a:rPr>
              <a:t>tarafta</a:t>
            </a:r>
            <a:r>
              <a:rPr lang="en-US" sz="2200" dirty="0">
                <a:solidFill>
                  <a:srgbClr val="111827"/>
                </a:solidFill>
                <a:latin typeface="Arial" pitchFamily="34" charset="0"/>
                <a:cs typeface="Arial" pitchFamily="34" charset="-120"/>
              </a:rPr>
              <a:t> Flex (kutu = </a:t>
            </a:r>
            <a:r>
              <a:rPr lang="en-US" sz="2200" dirty="0" err="1">
                <a:solidFill>
                  <a:srgbClr val="111827"/>
                </a:solidFill>
                <a:latin typeface="Arial" pitchFamily="34" charset="0"/>
                <a:cs typeface="Arial" pitchFamily="34" charset="-120"/>
              </a:rPr>
              <a:t>yerleşim</a:t>
            </a:r>
            <a:r>
              <a:rPr lang="en-US" sz="2200" dirty="0">
                <a:solidFill>
                  <a:srgbClr val="111827"/>
                </a:solidFill>
                <a:latin typeface="Arial" pitchFamily="34" charset="0"/>
                <a:cs typeface="Arial" pitchFamily="34" charset="-120"/>
              </a:rPr>
              <a:t>) </a:t>
            </a:r>
            <a:r>
              <a:rPr lang="en-US" sz="2200" dirty="0" err="1">
                <a:solidFill>
                  <a:srgbClr val="111827"/>
                </a:solidFill>
                <a:latin typeface="Arial" pitchFamily="34" charset="0"/>
                <a:cs typeface="Arial" pitchFamily="34" charset="-120"/>
              </a:rPr>
              <a:t>yönüne</a:t>
            </a:r>
            <a:r>
              <a:rPr lang="en-US" sz="2200" dirty="0">
                <a:solidFill>
                  <a:srgbClr val="111827"/>
                </a:solidFill>
                <a:latin typeface="Arial" pitchFamily="34" charset="0"/>
                <a:cs typeface="Arial" pitchFamily="34" charset="-120"/>
              </a:rPr>
              <a:t> </a:t>
            </a:r>
            <a:r>
              <a:rPr lang="en-US" sz="2200" dirty="0" err="1">
                <a:solidFill>
                  <a:srgbClr val="111827"/>
                </a:solidFill>
                <a:latin typeface="Arial" pitchFamily="34" charset="0"/>
                <a:cs typeface="Arial" pitchFamily="34" charset="-120"/>
              </a:rPr>
              <a:t>ait</a:t>
            </a:r>
            <a:r>
              <a:rPr lang="en-US" sz="2200" dirty="0">
                <a:solidFill>
                  <a:srgbClr val="111827"/>
                </a:solidFill>
                <a:latin typeface="Arial" pitchFamily="34" charset="0"/>
                <a:cs typeface="Arial" pitchFamily="34" charset="-120"/>
              </a:rPr>
              <a:t> </a:t>
            </a:r>
            <a:r>
              <a:rPr lang="en-US" sz="2200" dirty="0" err="1">
                <a:solidFill>
                  <a:srgbClr val="111827"/>
                </a:solidFill>
                <a:latin typeface="Arial" pitchFamily="34" charset="0"/>
                <a:cs typeface="Arial" pitchFamily="34" charset="-120"/>
              </a:rPr>
              <a:t>örnek</a:t>
            </a:r>
            <a:r>
              <a:rPr lang="en-US" sz="2200" dirty="0">
                <a:solidFill>
                  <a:srgbClr val="111827"/>
                </a:solidFill>
                <a:latin typeface="Arial" pitchFamily="34" charset="0"/>
                <a:cs typeface="Arial" pitchFamily="34" charset="-120"/>
              </a:rPr>
              <a:t> </a:t>
            </a:r>
            <a:r>
              <a:rPr lang="en-US" sz="2200" dirty="0" err="1">
                <a:solidFill>
                  <a:srgbClr val="111827"/>
                </a:solidFill>
                <a:latin typeface="Arial" pitchFamily="34" charset="0"/>
                <a:cs typeface="Arial" pitchFamily="34" charset="-120"/>
              </a:rPr>
              <a:t>bir</a:t>
            </a:r>
            <a:r>
              <a:rPr lang="en-US" sz="2200" dirty="0">
                <a:solidFill>
                  <a:srgbClr val="111827"/>
                </a:solidFill>
                <a:latin typeface="Arial" pitchFamily="34" charset="0"/>
                <a:cs typeface="Arial" pitchFamily="34" charset="-120"/>
              </a:rPr>
              <a:t> </a:t>
            </a:r>
            <a:r>
              <a:rPr lang="en-US" sz="2200" dirty="0" err="1">
                <a:solidFill>
                  <a:srgbClr val="111827"/>
                </a:solidFill>
                <a:latin typeface="Arial" pitchFamily="34" charset="0"/>
                <a:cs typeface="Arial" pitchFamily="34" charset="-120"/>
              </a:rPr>
              <a:t>resim</a:t>
            </a:r>
            <a:r>
              <a:rPr lang="en-US" sz="2200" dirty="0">
                <a:solidFill>
                  <a:srgbClr val="111827"/>
                </a:solidFill>
                <a:latin typeface="Arial" pitchFamily="34" charset="0"/>
                <a:cs typeface="Arial" pitchFamily="34" charset="-120"/>
              </a:rPr>
              <a:t> </a:t>
            </a:r>
            <a:r>
              <a:rPr lang="en-US" sz="2200" dirty="0" err="1">
                <a:solidFill>
                  <a:srgbClr val="111827"/>
                </a:solidFill>
                <a:latin typeface="Arial" pitchFamily="34" charset="0"/>
                <a:cs typeface="Arial" pitchFamily="34" charset="-120"/>
              </a:rPr>
              <a:t>görülmektedir</a:t>
            </a:r>
            <a:r>
              <a:rPr lang="en-US" sz="2200" dirty="0">
                <a:solidFill>
                  <a:srgbClr val="111827"/>
                </a:solidFill>
                <a:latin typeface="Arial" pitchFamily="34" charset="0"/>
                <a:cs typeface="Arial" pitchFamily="34" charset="-120"/>
              </a:rPr>
              <a:t>. </a:t>
            </a:r>
            <a:r>
              <a:rPr lang="en-US" sz="2200" dirty="0" err="1">
                <a:solidFill>
                  <a:srgbClr val="111827"/>
                </a:solidFill>
                <a:latin typeface="Arial" pitchFamily="34" charset="0"/>
                <a:cs typeface="Arial" pitchFamily="34" charset="-120"/>
              </a:rPr>
              <a:t>Resimde</a:t>
            </a:r>
            <a:r>
              <a:rPr lang="en-US" sz="2200" dirty="0">
                <a:solidFill>
                  <a:srgbClr val="111827"/>
                </a:solidFill>
                <a:latin typeface="Arial" pitchFamily="34" charset="0"/>
                <a:cs typeface="Arial" pitchFamily="34" charset="-120"/>
              </a:rPr>
              <a:t> ana </a:t>
            </a:r>
            <a:r>
              <a:rPr lang="en-US" sz="2200" dirty="0" err="1">
                <a:solidFill>
                  <a:srgbClr val="111827"/>
                </a:solidFill>
                <a:latin typeface="Arial" pitchFamily="34" charset="0"/>
                <a:cs typeface="Arial" pitchFamily="34" charset="-120"/>
              </a:rPr>
              <a:t>eksen</a:t>
            </a:r>
            <a:r>
              <a:rPr lang="en-US" sz="2200" dirty="0">
                <a:solidFill>
                  <a:srgbClr val="111827"/>
                </a:solidFill>
                <a:latin typeface="Arial" pitchFamily="34" charset="0"/>
                <a:cs typeface="Arial" pitchFamily="34" charset="-120"/>
              </a:rPr>
              <a:t> (main axis) </a:t>
            </a:r>
            <a:r>
              <a:rPr lang="en-US" sz="2200" dirty="0" err="1">
                <a:solidFill>
                  <a:srgbClr val="111827"/>
                </a:solidFill>
                <a:latin typeface="Arial" pitchFamily="34" charset="0"/>
                <a:cs typeface="Arial" pitchFamily="34" charset="-120"/>
              </a:rPr>
              <a:t>sütun</a:t>
            </a:r>
            <a:r>
              <a:rPr lang="en-US" sz="2200" dirty="0">
                <a:solidFill>
                  <a:srgbClr val="111827"/>
                </a:solidFill>
                <a:latin typeface="Arial" pitchFamily="34" charset="0"/>
                <a:cs typeface="Arial" pitchFamily="34" charset="-120"/>
              </a:rPr>
              <a:t> </a:t>
            </a:r>
            <a:r>
              <a:rPr lang="en-US" sz="2200" dirty="0" err="1">
                <a:solidFill>
                  <a:srgbClr val="111827"/>
                </a:solidFill>
                <a:latin typeface="Arial" pitchFamily="34" charset="0"/>
                <a:cs typeface="Arial" pitchFamily="34" charset="-120"/>
              </a:rPr>
              <a:t>bazlı</a:t>
            </a:r>
            <a:r>
              <a:rPr lang="en-US" sz="2200" dirty="0">
                <a:solidFill>
                  <a:srgbClr val="111827"/>
                </a:solidFill>
                <a:latin typeface="Arial" pitchFamily="34" charset="0"/>
                <a:cs typeface="Arial" pitchFamily="34" charset="-120"/>
              </a:rPr>
              <a:t> </a:t>
            </a:r>
            <a:r>
              <a:rPr lang="en-US" sz="2200" dirty="0" err="1">
                <a:solidFill>
                  <a:srgbClr val="111827"/>
                </a:solidFill>
                <a:latin typeface="Arial" pitchFamily="34" charset="0"/>
                <a:cs typeface="Arial" pitchFamily="34" charset="-120"/>
              </a:rPr>
              <a:t>olarak</a:t>
            </a:r>
            <a:r>
              <a:rPr lang="en-US" sz="2200" dirty="0">
                <a:solidFill>
                  <a:srgbClr val="111827"/>
                </a:solidFill>
                <a:latin typeface="Arial" pitchFamily="34" charset="0"/>
                <a:cs typeface="Arial" pitchFamily="34" charset="-120"/>
              </a:rPr>
              <a:t> </a:t>
            </a:r>
            <a:r>
              <a:rPr lang="en-US" sz="2200" dirty="0" err="1">
                <a:solidFill>
                  <a:srgbClr val="111827"/>
                </a:solidFill>
                <a:latin typeface="Arial" pitchFamily="34" charset="0"/>
                <a:cs typeface="Arial" pitchFamily="34" charset="-120"/>
              </a:rPr>
              <a:t>verilmişken</a:t>
            </a:r>
            <a:r>
              <a:rPr lang="en-US" sz="2200" dirty="0">
                <a:solidFill>
                  <a:srgbClr val="111827"/>
                </a:solidFill>
                <a:latin typeface="Arial" pitchFamily="34" charset="0"/>
                <a:cs typeface="Arial" pitchFamily="34" charset="-120"/>
              </a:rPr>
              <a:t>, Çapraz </a:t>
            </a:r>
            <a:r>
              <a:rPr lang="en-US" sz="2200" dirty="0" err="1">
                <a:solidFill>
                  <a:srgbClr val="111827"/>
                </a:solidFill>
                <a:latin typeface="Arial" pitchFamily="34" charset="0"/>
                <a:cs typeface="Arial" pitchFamily="34" charset="-120"/>
              </a:rPr>
              <a:t>eksen</a:t>
            </a:r>
            <a:r>
              <a:rPr lang="en-US" sz="2200" dirty="0">
                <a:solidFill>
                  <a:srgbClr val="111827"/>
                </a:solidFill>
                <a:latin typeface="Arial" pitchFamily="34" charset="0"/>
                <a:cs typeface="Arial" pitchFamily="34" charset="-120"/>
              </a:rPr>
              <a:t> (cross axis), </a:t>
            </a:r>
            <a:r>
              <a:rPr lang="en-US" sz="2200" dirty="0" err="1">
                <a:solidFill>
                  <a:srgbClr val="111827"/>
                </a:solidFill>
                <a:latin typeface="Arial" pitchFamily="34" charset="0"/>
                <a:cs typeface="Arial" pitchFamily="34" charset="-120"/>
              </a:rPr>
              <a:t>satır</a:t>
            </a:r>
            <a:r>
              <a:rPr lang="en-US" sz="2200" dirty="0">
                <a:solidFill>
                  <a:srgbClr val="111827"/>
                </a:solidFill>
                <a:latin typeface="Arial" pitchFamily="34" charset="0"/>
                <a:cs typeface="Arial" pitchFamily="34" charset="-120"/>
              </a:rPr>
              <a:t> </a:t>
            </a:r>
            <a:r>
              <a:rPr lang="en-US" sz="2200" dirty="0" err="1">
                <a:solidFill>
                  <a:srgbClr val="111827"/>
                </a:solidFill>
                <a:latin typeface="Arial" pitchFamily="34" charset="0"/>
                <a:cs typeface="Arial" pitchFamily="34" charset="-120"/>
              </a:rPr>
              <a:t>bazlı</a:t>
            </a:r>
            <a:r>
              <a:rPr lang="en-US" sz="2200" dirty="0">
                <a:solidFill>
                  <a:srgbClr val="111827"/>
                </a:solidFill>
                <a:latin typeface="Arial" pitchFamily="34" charset="0"/>
                <a:cs typeface="Arial" pitchFamily="34" charset="-120"/>
              </a:rPr>
              <a:t> </a:t>
            </a:r>
            <a:r>
              <a:rPr lang="en-US" sz="2200" dirty="0" err="1">
                <a:solidFill>
                  <a:srgbClr val="111827"/>
                </a:solidFill>
                <a:latin typeface="Arial" pitchFamily="34" charset="0"/>
                <a:cs typeface="Arial" pitchFamily="34" charset="-120"/>
              </a:rPr>
              <a:t>olacak</a:t>
            </a:r>
            <a:r>
              <a:rPr lang="en-US" sz="2200" dirty="0">
                <a:solidFill>
                  <a:srgbClr val="111827"/>
                </a:solidFill>
                <a:latin typeface="Arial" pitchFamily="34" charset="0"/>
                <a:cs typeface="Arial" pitchFamily="34" charset="-120"/>
              </a:rPr>
              <a:t> </a:t>
            </a:r>
            <a:r>
              <a:rPr lang="en-US" sz="2200" dirty="0" err="1">
                <a:solidFill>
                  <a:srgbClr val="111827"/>
                </a:solidFill>
                <a:latin typeface="Arial" pitchFamily="34" charset="0"/>
                <a:cs typeface="Arial" pitchFamily="34" charset="-120"/>
              </a:rPr>
              <a:t>şekilde</a:t>
            </a:r>
            <a:r>
              <a:rPr lang="en-US" sz="2200" dirty="0">
                <a:solidFill>
                  <a:srgbClr val="111827"/>
                </a:solidFill>
                <a:latin typeface="Arial" pitchFamily="34" charset="0"/>
                <a:cs typeface="Arial" pitchFamily="34" charset="-120"/>
              </a:rPr>
              <a:t> </a:t>
            </a:r>
            <a:r>
              <a:rPr lang="en-US" sz="2200" dirty="0" err="1">
                <a:solidFill>
                  <a:srgbClr val="111827"/>
                </a:solidFill>
                <a:latin typeface="Arial" pitchFamily="34" charset="0"/>
                <a:cs typeface="Arial" pitchFamily="34" charset="-120"/>
              </a:rPr>
              <a:t>verilmiştir</a:t>
            </a:r>
            <a:r>
              <a:rPr lang="en-US" sz="2200" dirty="0">
                <a:solidFill>
                  <a:srgbClr val="111827"/>
                </a:solidFill>
                <a:latin typeface="Arial" pitchFamily="34" charset="0"/>
                <a:cs typeface="Arial" pitchFamily="34" charset="-120"/>
              </a:rPr>
              <a:t>. </a:t>
            </a:r>
            <a:endParaRPr lang="en-US" sz="2200" dirty="0"/>
          </a:p>
        </p:txBody>
      </p:sp>
    </p:spTree>
    <p:extLst>
      <p:ext uri="{BB962C8B-B14F-4D97-AF65-F5344CB8AC3E}">
        <p14:creationId xmlns:p14="http://schemas.microsoft.com/office/powerpoint/2010/main" val="541561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flexDirection: Varsayılan column</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381451"/>
          </a:xfrm>
          <a:prstGeom prst="roundRect">
            <a:avLst>
              <a:gd name="adj" fmla="val 2704"/>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832811"/>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box =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width: </a:t>
            </a:r>
            <a:r>
              <a:rPr lang="en-US" sz="1600" dirty="0">
                <a:solidFill>
                  <a:srgbClr val="B45309"/>
                </a:solidFill>
                <a:latin typeface="Courier New" pitchFamily="34" charset="0"/>
                <a:ea typeface="Courier New" pitchFamily="34" charset="-122"/>
                <a:cs typeface="Courier New" pitchFamily="34" charset="-120"/>
              </a:rPr>
              <a:t>50</a:t>
            </a:r>
            <a:r>
              <a:rPr lang="en-US" sz="1600" dirty="0">
                <a:solidFill>
                  <a:srgbClr val="111827"/>
                </a:solidFill>
                <a:latin typeface="Courier New" pitchFamily="34" charset="0"/>
                <a:ea typeface="Courier New" pitchFamily="34" charset="-122"/>
                <a:cs typeface="Courier New" pitchFamily="34" charset="-120"/>
              </a:rPr>
              <a:t>, height: </a:t>
            </a:r>
            <a:r>
              <a:rPr lang="en-US" sz="1600" dirty="0">
                <a:solidFill>
                  <a:srgbClr val="B45309"/>
                </a:solidFill>
                <a:latin typeface="Courier New" pitchFamily="34" charset="0"/>
                <a:ea typeface="Courier New" pitchFamily="34" charset="-122"/>
                <a:cs typeface="Courier New" pitchFamily="34" charset="-120"/>
              </a:rPr>
              <a:t>50</a:t>
            </a:r>
            <a:r>
              <a:rPr lang="en-US" sz="1600" dirty="0">
                <a:solidFill>
                  <a:srgbClr val="111827"/>
                </a:solidFill>
                <a:latin typeface="Courier New" pitchFamily="34" charset="0"/>
                <a:ea typeface="Courier New" pitchFamily="34" charset="-122"/>
                <a:cs typeface="Courier New" pitchFamily="34" charset="-120"/>
              </a:rPr>
              <a:t>, backgroundColor: </a:t>
            </a:r>
            <a:r>
              <a:rPr lang="en-US" sz="1600" dirty="0">
                <a:solidFill>
                  <a:srgbClr val="047857"/>
                </a:solidFill>
                <a:latin typeface="Courier New" pitchFamily="34" charset="0"/>
                <a:ea typeface="Courier New" pitchFamily="34" charset="-122"/>
                <a:cs typeface="Courier New" pitchFamily="34" charset="-120"/>
              </a:rPr>
              <a:t>'teal'</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row =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&lt;View style={{ flexDirection: </a:t>
            </a:r>
            <a:r>
              <a:rPr lang="en-US" sz="1600" dirty="0">
                <a:solidFill>
                  <a:srgbClr val="047857"/>
                </a:solidFill>
                <a:latin typeface="Courier New" pitchFamily="34" charset="0"/>
                <a:ea typeface="Courier New" pitchFamily="34" charset="-122"/>
                <a:cs typeface="Courier New" pitchFamily="34" charset="-120"/>
              </a:rPr>
              <a:t>'row'</a:t>
            </a:r>
            <a:r>
              <a:rPr lang="en-US" sz="1600" dirty="0">
                <a:solidFill>
                  <a:srgbClr val="111827"/>
                </a:solidFill>
                <a:latin typeface="Courier New" pitchFamily="34" charset="0"/>
                <a:ea typeface="Courier New" pitchFamily="34" charset="-122"/>
                <a:cs typeface="Courier New" pitchFamily="34" charset="-120"/>
              </a:rPr>
              <a:t>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&lt;View style={box}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&lt;View style={box}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&lt;View style={box}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&lt;/View&gt;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i="1" dirty="0">
                <a:solidFill>
                  <a:srgbClr val="6B7280"/>
                </a:solidFill>
                <a:latin typeface="Courier New" pitchFamily="34" charset="0"/>
                <a:ea typeface="Courier New" pitchFamily="34" charset="-122"/>
                <a:cs typeface="Courier New" pitchFamily="34" charset="-120"/>
              </a:rPr>
              <a:t>// flexDirection verilmezse: 'column' (dikey)</a:t>
            </a:r>
            <a:endParaRPr lang="en-US" sz="1600" dirty="0"/>
          </a:p>
        </p:txBody>
      </p:sp>
      <p:sp>
        <p:nvSpPr>
          <p:cNvPr id="7" name="Shape 5"/>
          <p:cNvSpPr/>
          <p:nvPr/>
        </p:nvSpPr>
        <p:spPr>
          <a:xfrm>
            <a:off x="731520" y="5164531"/>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5292547"/>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Üç turkuaz kare soldan sağa yan yana görünür.</a:t>
            </a:r>
            <a:endParaRPr lang="en-US" sz="1100" dirty="0"/>
          </a:p>
        </p:txBody>
      </p:sp>
      <p:sp>
        <p:nvSpPr>
          <p:cNvPr id="9" name="Text 7"/>
          <p:cNvSpPr txBox="1"/>
          <p:nvPr/>
        </p:nvSpPr>
        <p:spPr>
          <a:xfrm>
            <a:off x="7772400" y="1645920"/>
            <a:ext cx="3931920" cy="26334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çocukların yatay mı dikey mi dizileceğini seçmektir.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flexDirection row verildiğinde üç kutu yan yana, verilmediğinde alt alta dizilir. Web'de varsayılan row olduğu için bu fark, web bilenlerin en sık hata yaptığı noktadır. Yön seçimi ekran düzeninin iskeletidir.</a:t>
            </a:r>
            <a:endParaRPr lang="en-US" sz="1800" dirty="0"/>
          </a:p>
        </p:txBody>
      </p:sp>
      <p:sp>
        <p:nvSpPr>
          <p:cNvPr id="10" name="Shape 8"/>
          <p:cNvSpPr/>
          <p:nvPr/>
        </p:nvSpPr>
        <p:spPr>
          <a:xfrm>
            <a:off x="7772400" y="4416552"/>
            <a:ext cx="3931920" cy="1170432"/>
          </a:xfrm>
          <a:prstGeom prst="roundRect">
            <a:avLst>
              <a:gd name="adj" fmla="val 7813"/>
            </a:avLst>
          </a:prstGeom>
          <a:solidFill>
            <a:srgbClr val="EFF6FF"/>
          </a:solidFill>
          <a:ln w="9525">
            <a:solidFill>
              <a:srgbClr val="EFF6FF"/>
            </a:solidFill>
            <a:prstDash val="solid"/>
          </a:ln>
        </p:spPr>
      </p:sp>
      <p:sp>
        <p:nvSpPr>
          <p:cNvPr id="11" name="Text 9"/>
          <p:cNvSpPr txBox="1"/>
          <p:nvPr/>
        </p:nvSpPr>
        <p:spPr>
          <a:xfrm>
            <a:off x="7973568" y="4544568"/>
            <a:ext cx="3529584" cy="91440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Web'den gelen alışkanlıkla yan yana beklenip alt alta çıkan öğeler, genellikle flexDirection eksikliğinden kaynaklanır.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Hizalama Özellikleri</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0" cy="2651760"/>
        </p:xfrm>
        <a:graphic>
          <a:graphicData uri="http://schemas.openxmlformats.org/drawingml/2006/table">
            <a:tbl>
              <a:tblPr/>
              <a:tblGrid>
                <a:gridCol w="2535841">
                  <a:extLst>
                    <a:ext uri="{9D8B030D-6E8A-4147-A177-3AD203B41FA5}">
                      <a16:colId xmlns:a16="http://schemas.microsoft.com/office/drawing/2014/main" val="20000"/>
                    </a:ext>
                  </a:extLst>
                </a:gridCol>
                <a:gridCol w="3320195">
                  <a:extLst>
                    <a:ext uri="{9D8B030D-6E8A-4147-A177-3AD203B41FA5}">
                      <a16:colId xmlns:a16="http://schemas.microsoft.com/office/drawing/2014/main" val="20001"/>
                    </a:ext>
                  </a:extLst>
                </a:gridCol>
                <a:gridCol w="5116764">
                  <a:extLst>
                    <a:ext uri="{9D8B030D-6E8A-4147-A177-3AD203B41FA5}">
                      <a16:colId xmlns:a16="http://schemas.microsoft.com/office/drawing/2014/main" val="20002"/>
                    </a:ext>
                  </a:extLst>
                </a:gridCol>
              </a:tblGrid>
              <a:tr h="475488">
                <a:tc>
                  <a:txBody>
                    <a:bodyPr/>
                    <a:lstStyle/>
                    <a:p>
                      <a:pPr marL="0" indent="0">
                        <a:buNone/>
                      </a:pPr>
                      <a:r>
                        <a:rPr lang="en-US" sz="1400" b="1" dirty="0">
                          <a:solidFill>
                            <a:srgbClr val="2563EB"/>
                          </a:solidFill>
                        </a:rPr>
                        <a:t>Özellik</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Hangi eksende?</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Sık kullanılan değerler</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749808">
                <a:tc>
                  <a:txBody>
                    <a:bodyPr/>
                    <a:lstStyle/>
                    <a:p>
                      <a:pPr marL="0" indent="0">
                        <a:buNone/>
                      </a:pPr>
                      <a:r>
                        <a:rPr lang="en-US" sz="1800" b="1" dirty="0">
                          <a:solidFill>
                            <a:srgbClr val="111827"/>
                          </a:solidFill>
                        </a:rPr>
                        <a:t>justifyContent</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Ana eksen</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flex-start, center, flex-end, space-between, space-around</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800" b="1" dirty="0">
                          <a:solidFill>
                            <a:srgbClr val="111827"/>
                          </a:solidFill>
                        </a:rPr>
                        <a:t>alignItems</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Çapraz eksen</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flex-start, center, flex-end, stretch</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800" b="1" dirty="0">
                          <a:solidFill>
                            <a:srgbClr val="111827"/>
                          </a:solidFill>
                        </a:rPr>
                        <a:t>alignSelf</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Çapraz eksen (tek çocuk)</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auto, flex-start, center, flex-end</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800" b="1" dirty="0">
                          <a:solidFill>
                            <a:srgbClr val="111827"/>
                          </a:solidFill>
                        </a:rPr>
                        <a:t>flexWrap</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Satır sarma</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nowrap, wrap</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731520" y="4572000"/>
            <a:ext cx="10972800" cy="1018032"/>
          </a:xfrm>
          <a:prstGeom prst="roundRect">
            <a:avLst>
              <a:gd name="adj" fmla="val 8982"/>
            </a:avLst>
          </a:prstGeom>
          <a:solidFill>
            <a:srgbClr val="EFF6FF"/>
          </a:solidFill>
          <a:ln w="9525">
            <a:solidFill>
              <a:srgbClr val="EFF6FF"/>
            </a:solidFill>
            <a:prstDash val="solid"/>
          </a:ln>
        </p:spPr>
      </p:sp>
      <p:sp>
        <p:nvSpPr>
          <p:cNvPr id="6" name="Text 3"/>
          <p:cNvSpPr txBox="1"/>
          <p:nvPr/>
        </p:nvSpPr>
        <p:spPr>
          <a:xfrm>
            <a:off x="932688" y="4700016"/>
            <a:ext cx="10570464" cy="7620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lgn="l">
              <a:buNone/>
            </a:pPr>
            <a:r>
              <a:rPr lang="en-US" sz="1600" dirty="0">
                <a:solidFill>
                  <a:srgbClr val="111827"/>
                </a:solidFill>
                <a:latin typeface="Arial" pitchFamily="34" charset="0"/>
                <a:ea typeface="Arial" pitchFamily="34" charset="-122"/>
                <a:cs typeface="Arial" pitchFamily="34" charset="-120"/>
              </a:rPr>
              <a:t>Araya eşit boşluk koymak için space-between, ortalamak için center, tüm genişliği doldurmak için stretch (alignItems varsayılanı) kullanılır.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justifyContent: Ana Eksende Dağıtım</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1975104" cy="2468880"/>
          </a:xfrm>
          <a:prstGeom prst="roundRect">
            <a:avLst>
              <a:gd name="adj" fmla="val 4630"/>
            </a:avLst>
          </a:prstGeom>
          <a:solidFill>
            <a:srgbClr val="FFFFFF"/>
          </a:solidFill>
          <a:ln w="19050">
            <a:solidFill>
              <a:srgbClr val="CBD5E1"/>
            </a:solidFill>
            <a:prstDash val="solid"/>
          </a:ln>
        </p:spPr>
      </p:sp>
      <p:sp>
        <p:nvSpPr>
          <p:cNvPr id="5" name="Shape 3"/>
          <p:cNvSpPr/>
          <p:nvPr/>
        </p:nvSpPr>
        <p:spPr>
          <a:xfrm>
            <a:off x="822960" y="1737360"/>
            <a:ext cx="1792224" cy="2286000"/>
          </a:xfrm>
          <a:prstGeom prst="roundRect">
            <a:avLst>
              <a:gd name="adj" fmla="val 5102"/>
            </a:avLst>
          </a:prstGeom>
          <a:solidFill>
            <a:srgbClr val="EFF6FF"/>
          </a:solidFill>
          <a:ln w="9525">
            <a:solidFill>
              <a:srgbClr val="EFF6FF"/>
            </a:solidFill>
            <a:prstDash val="solid"/>
          </a:ln>
        </p:spPr>
      </p:sp>
      <p:sp>
        <p:nvSpPr>
          <p:cNvPr id="6" name="Shape 4"/>
          <p:cNvSpPr/>
          <p:nvPr/>
        </p:nvSpPr>
        <p:spPr>
          <a:xfrm>
            <a:off x="914400" y="1737360"/>
            <a:ext cx="502920" cy="365760"/>
          </a:xfrm>
          <a:prstGeom prst="roundRect">
            <a:avLst>
              <a:gd name="adj" fmla="val 25000"/>
            </a:avLst>
          </a:prstGeom>
          <a:solidFill>
            <a:srgbClr val="EF4444"/>
          </a:solidFill>
          <a:ln w="9525">
            <a:solidFill>
              <a:srgbClr val="EF4444"/>
            </a:solidFill>
            <a:prstDash val="solid"/>
          </a:ln>
        </p:spPr>
      </p:sp>
      <p:sp>
        <p:nvSpPr>
          <p:cNvPr id="7" name="Shape 5"/>
          <p:cNvSpPr/>
          <p:nvPr/>
        </p:nvSpPr>
        <p:spPr>
          <a:xfrm>
            <a:off x="914400" y="2103120"/>
            <a:ext cx="502920" cy="365760"/>
          </a:xfrm>
          <a:prstGeom prst="roundRect">
            <a:avLst>
              <a:gd name="adj" fmla="val 25000"/>
            </a:avLst>
          </a:prstGeom>
          <a:solidFill>
            <a:srgbClr val="F59E0B"/>
          </a:solidFill>
          <a:ln w="9525">
            <a:solidFill>
              <a:srgbClr val="F59E0B"/>
            </a:solidFill>
            <a:prstDash val="solid"/>
          </a:ln>
        </p:spPr>
      </p:sp>
      <p:sp>
        <p:nvSpPr>
          <p:cNvPr id="8" name="Shape 6"/>
          <p:cNvSpPr/>
          <p:nvPr/>
        </p:nvSpPr>
        <p:spPr>
          <a:xfrm>
            <a:off x="914400" y="2468880"/>
            <a:ext cx="502920" cy="365760"/>
          </a:xfrm>
          <a:prstGeom prst="roundRect">
            <a:avLst>
              <a:gd name="adj" fmla="val 25000"/>
            </a:avLst>
          </a:prstGeom>
          <a:solidFill>
            <a:srgbClr val="22C55E"/>
          </a:solidFill>
          <a:ln w="9525">
            <a:solidFill>
              <a:srgbClr val="22C55E"/>
            </a:solidFill>
            <a:prstDash val="solid"/>
          </a:ln>
        </p:spPr>
      </p:sp>
      <p:sp>
        <p:nvSpPr>
          <p:cNvPr id="9" name="Text 7"/>
          <p:cNvSpPr txBox="1"/>
          <p:nvPr/>
        </p:nvSpPr>
        <p:spPr>
          <a:xfrm>
            <a:off x="731520" y="4224528"/>
            <a:ext cx="1975104" cy="320040"/>
          </a:xfrm>
          <a:prstGeom prst="rect">
            <a:avLst/>
          </a:prstGeom>
          <a:noFill/>
          <a:ln/>
        </p:spPr>
        <p:txBody>
          <a:bodyPr wrap="square" lIns="0" tIns="0" rIns="0" bIns="0" rtlCol="0" anchor="ctr"/>
          <a:lstStyle/>
          <a:p>
            <a:pPr marL="0" indent="0" algn="ctr">
              <a:buNone/>
            </a:pPr>
            <a:r>
              <a:rPr lang="en-US" sz="1200" b="1" dirty="0">
                <a:solidFill>
                  <a:srgbClr val="2563EB"/>
                </a:solidFill>
                <a:latin typeface="Courier New" pitchFamily="34" charset="0"/>
                <a:ea typeface="Courier New" pitchFamily="34" charset="-122"/>
                <a:cs typeface="Courier New" pitchFamily="34" charset="-120"/>
              </a:rPr>
              <a:t>flex-start</a:t>
            </a:r>
            <a:endParaRPr lang="en-US" sz="1200" dirty="0"/>
          </a:p>
        </p:txBody>
      </p:sp>
      <p:sp>
        <p:nvSpPr>
          <p:cNvPr id="10" name="Text 8"/>
          <p:cNvSpPr txBox="1"/>
          <p:nvPr/>
        </p:nvSpPr>
        <p:spPr>
          <a:xfrm>
            <a:off x="731520" y="4572000"/>
            <a:ext cx="1975104" cy="594360"/>
          </a:xfrm>
          <a:prstGeom prst="rect">
            <a:avLst/>
          </a:prstGeom>
          <a:noFill/>
          <a:ln/>
        </p:spPr>
        <p:txBody>
          <a:bodyPr wrap="square" lIns="0" tIns="0" rIns="0" bIns="0" rtlCol="0" anchor="t"/>
          <a:lstStyle/>
          <a:p>
            <a:pPr marL="0" indent="0" algn="ctr">
              <a:buNone/>
            </a:pPr>
            <a:r>
              <a:rPr lang="en-US" sz="1200" dirty="0">
                <a:solidFill>
                  <a:srgbClr val="111827"/>
                </a:solidFill>
                <a:latin typeface="Arial" pitchFamily="34" charset="0"/>
                <a:ea typeface="Arial" pitchFamily="34" charset="-122"/>
                <a:cs typeface="Arial" pitchFamily="34" charset="-120"/>
              </a:rPr>
              <a:t>Başa yığılır (varsayılan)</a:t>
            </a:r>
            <a:endParaRPr lang="en-US" sz="1200" dirty="0"/>
          </a:p>
        </p:txBody>
      </p:sp>
      <p:sp>
        <p:nvSpPr>
          <p:cNvPr id="11" name="Shape 9"/>
          <p:cNvSpPr/>
          <p:nvPr/>
        </p:nvSpPr>
        <p:spPr>
          <a:xfrm>
            <a:off x="2980944" y="1645920"/>
            <a:ext cx="1975104" cy="2468880"/>
          </a:xfrm>
          <a:prstGeom prst="roundRect">
            <a:avLst>
              <a:gd name="adj" fmla="val 4630"/>
            </a:avLst>
          </a:prstGeom>
          <a:solidFill>
            <a:srgbClr val="FFFFFF"/>
          </a:solidFill>
          <a:ln w="19050">
            <a:solidFill>
              <a:srgbClr val="CBD5E1"/>
            </a:solidFill>
            <a:prstDash val="solid"/>
          </a:ln>
        </p:spPr>
      </p:sp>
      <p:sp>
        <p:nvSpPr>
          <p:cNvPr id="12" name="Shape 10"/>
          <p:cNvSpPr/>
          <p:nvPr/>
        </p:nvSpPr>
        <p:spPr>
          <a:xfrm>
            <a:off x="3072384" y="1737360"/>
            <a:ext cx="1792224" cy="2286000"/>
          </a:xfrm>
          <a:prstGeom prst="roundRect">
            <a:avLst>
              <a:gd name="adj" fmla="val 5102"/>
            </a:avLst>
          </a:prstGeom>
          <a:solidFill>
            <a:srgbClr val="EFF6FF"/>
          </a:solidFill>
          <a:ln w="9525">
            <a:solidFill>
              <a:srgbClr val="EFF6FF"/>
            </a:solidFill>
            <a:prstDash val="solid"/>
          </a:ln>
        </p:spPr>
      </p:sp>
      <p:sp>
        <p:nvSpPr>
          <p:cNvPr id="13" name="Shape 11"/>
          <p:cNvSpPr/>
          <p:nvPr/>
        </p:nvSpPr>
        <p:spPr>
          <a:xfrm>
            <a:off x="3163824" y="2331720"/>
            <a:ext cx="502920" cy="365760"/>
          </a:xfrm>
          <a:prstGeom prst="roundRect">
            <a:avLst>
              <a:gd name="adj" fmla="val 25000"/>
            </a:avLst>
          </a:prstGeom>
          <a:solidFill>
            <a:srgbClr val="EF4444"/>
          </a:solidFill>
          <a:ln w="9525">
            <a:solidFill>
              <a:srgbClr val="EF4444"/>
            </a:solidFill>
            <a:prstDash val="solid"/>
          </a:ln>
        </p:spPr>
      </p:sp>
      <p:sp>
        <p:nvSpPr>
          <p:cNvPr id="14" name="Shape 12"/>
          <p:cNvSpPr/>
          <p:nvPr/>
        </p:nvSpPr>
        <p:spPr>
          <a:xfrm>
            <a:off x="3163824" y="2697480"/>
            <a:ext cx="502920" cy="365760"/>
          </a:xfrm>
          <a:prstGeom prst="roundRect">
            <a:avLst>
              <a:gd name="adj" fmla="val 25000"/>
            </a:avLst>
          </a:prstGeom>
          <a:solidFill>
            <a:srgbClr val="F59E0B"/>
          </a:solidFill>
          <a:ln w="9525">
            <a:solidFill>
              <a:srgbClr val="F59E0B"/>
            </a:solidFill>
            <a:prstDash val="solid"/>
          </a:ln>
        </p:spPr>
      </p:sp>
      <p:sp>
        <p:nvSpPr>
          <p:cNvPr id="15" name="Shape 13"/>
          <p:cNvSpPr/>
          <p:nvPr/>
        </p:nvSpPr>
        <p:spPr>
          <a:xfrm>
            <a:off x="3163824" y="3063240"/>
            <a:ext cx="502920" cy="365760"/>
          </a:xfrm>
          <a:prstGeom prst="roundRect">
            <a:avLst>
              <a:gd name="adj" fmla="val 25000"/>
            </a:avLst>
          </a:prstGeom>
          <a:solidFill>
            <a:srgbClr val="22C55E"/>
          </a:solidFill>
          <a:ln w="9525">
            <a:solidFill>
              <a:srgbClr val="22C55E"/>
            </a:solidFill>
            <a:prstDash val="solid"/>
          </a:ln>
        </p:spPr>
      </p:sp>
      <p:sp>
        <p:nvSpPr>
          <p:cNvPr id="16" name="Text 14"/>
          <p:cNvSpPr txBox="1"/>
          <p:nvPr/>
        </p:nvSpPr>
        <p:spPr>
          <a:xfrm>
            <a:off x="2980944" y="4224528"/>
            <a:ext cx="1975104" cy="320040"/>
          </a:xfrm>
          <a:prstGeom prst="rect">
            <a:avLst/>
          </a:prstGeom>
          <a:noFill/>
          <a:ln/>
        </p:spPr>
        <p:txBody>
          <a:bodyPr wrap="square" lIns="0" tIns="0" rIns="0" bIns="0" rtlCol="0" anchor="ctr"/>
          <a:lstStyle/>
          <a:p>
            <a:pPr marL="0" indent="0" algn="ctr">
              <a:buNone/>
            </a:pPr>
            <a:r>
              <a:rPr lang="en-US" sz="1200" b="1" dirty="0">
                <a:solidFill>
                  <a:srgbClr val="2563EB"/>
                </a:solidFill>
                <a:latin typeface="Courier New" pitchFamily="34" charset="0"/>
                <a:ea typeface="Courier New" pitchFamily="34" charset="-122"/>
                <a:cs typeface="Courier New" pitchFamily="34" charset="-120"/>
              </a:rPr>
              <a:t>center</a:t>
            </a:r>
            <a:endParaRPr lang="en-US" sz="1200" dirty="0"/>
          </a:p>
        </p:txBody>
      </p:sp>
      <p:sp>
        <p:nvSpPr>
          <p:cNvPr id="17" name="Text 15"/>
          <p:cNvSpPr txBox="1"/>
          <p:nvPr/>
        </p:nvSpPr>
        <p:spPr>
          <a:xfrm>
            <a:off x="2980944" y="4572000"/>
            <a:ext cx="1975104" cy="594360"/>
          </a:xfrm>
          <a:prstGeom prst="rect">
            <a:avLst/>
          </a:prstGeom>
          <a:noFill/>
          <a:ln/>
        </p:spPr>
        <p:txBody>
          <a:bodyPr wrap="square" lIns="0" tIns="0" rIns="0" bIns="0" rtlCol="0" anchor="t"/>
          <a:lstStyle/>
          <a:p>
            <a:pPr marL="0" indent="0" algn="ctr">
              <a:buNone/>
            </a:pPr>
            <a:r>
              <a:rPr lang="en-US" sz="1200" dirty="0">
                <a:solidFill>
                  <a:srgbClr val="111827"/>
                </a:solidFill>
                <a:latin typeface="Arial" pitchFamily="34" charset="0"/>
                <a:ea typeface="Arial" pitchFamily="34" charset="-122"/>
                <a:cs typeface="Arial" pitchFamily="34" charset="-120"/>
              </a:rPr>
              <a:t>Ortada toplanır</a:t>
            </a:r>
            <a:endParaRPr lang="en-US" sz="1200" dirty="0"/>
          </a:p>
        </p:txBody>
      </p:sp>
      <p:sp>
        <p:nvSpPr>
          <p:cNvPr id="18" name="Shape 16"/>
          <p:cNvSpPr/>
          <p:nvPr/>
        </p:nvSpPr>
        <p:spPr>
          <a:xfrm>
            <a:off x="5230368" y="1645920"/>
            <a:ext cx="1975104" cy="2468880"/>
          </a:xfrm>
          <a:prstGeom prst="roundRect">
            <a:avLst>
              <a:gd name="adj" fmla="val 4630"/>
            </a:avLst>
          </a:prstGeom>
          <a:solidFill>
            <a:srgbClr val="FFFFFF"/>
          </a:solidFill>
          <a:ln w="19050">
            <a:solidFill>
              <a:srgbClr val="CBD5E1"/>
            </a:solidFill>
            <a:prstDash val="solid"/>
          </a:ln>
        </p:spPr>
      </p:sp>
      <p:sp>
        <p:nvSpPr>
          <p:cNvPr id="19" name="Shape 17"/>
          <p:cNvSpPr/>
          <p:nvPr/>
        </p:nvSpPr>
        <p:spPr>
          <a:xfrm>
            <a:off x="5321808" y="1737360"/>
            <a:ext cx="1792224" cy="2286000"/>
          </a:xfrm>
          <a:prstGeom prst="roundRect">
            <a:avLst>
              <a:gd name="adj" fmla="val 5102"/>
            </a:avLst>
          </a:prstGeom>
          <a:solidFill>
            <a:srgbClr val="EFF6FF"/>
          </a:solidFill>
          <a:ln w="9525">
            <a:solidFill>
              <a:srgbClr val="EFF6FF"/>
            </a:solidFill>
            <a:prstDash val="solid"/>
          </a:ln>
        </p:spPr>
      </p:sp>
      <p:sp>
        <p:nvSpPr>
          <p:cNvPr id="20" name="Shape 18"/>
          <p:cNvSpPr/>
          <p:nvPr/>
        </p:nvSpPr>
        <p:spPr>
          <a:xfrm>
            <a:off x="5413248" y="2926080"/>
            <a:ext cx="502920" cy="365760"/>
          </a:xfrm>
          <a:prstGeom prst="roundRect">
            <a:avLst>
              <a:gd name="adj" fmla="val 25000"/>
            </a:avLst>
          </a:prstGeom>
          <a:solidFill>
            <a:srgbClr val="EF4444"/>
          </a:solidFill>
          <a:ln w="9525">
            <a:solidFill>
              <a:srgbClr val="EF4444"/>
            </a:solidFill>
            <a:prstDash val="solid"/>
          </a:ln>
        </p:spPr>
      </p:sp>
      <p:sp>
        <p:nvSpPr>
          <p:cNvPr id="21" name="Shape 19"/>
          <p:cNvSpPr/>
          <p:nvPr/>
        </p:nvSpPr>
        <p:spPr>
          <a:xfrm>
            <a:off x="5413248" y="3291840"/>
            <a:ext cx="502920" cy="365760"/>
          </a:xfrm>
          <a:prstGeom prst="roundRect">
            <a:avLst>
              <a:gd name="adj" fmla="val 25000"/>
            </a:avLst>
          </a:prstGeom>
          <a:solidFill>
            <a:srgbClr val="F59E0B"/>
          </a:solidFill>
          <a:ln w="9525">
            <a:solidFill>
              <a:srgbClr val="F59E0B"/>
            </a:solidFill>
            <a:prstDash val="solid"/>
          </a:ln>
        </p:spPr>
      </p:sp>
      <p:sp>
        <p:nvSpPr>
          <p:cNvPr id="22" name="Shape 20"/>
          <p:cNvSpPr/>
          <p:nvPr/>
        </p:nvSpPr>
        <p:spPr>
          <a:xfrm>
            <a:off x="5413248" y="3657600"/>
            <a:ext cx="502920" cy="365760"/>
          </a:xfrm>
          <a:prstGeom prst="roundRect">
            <a:avLst>
              <a:gd name="adj" fmla="val 25000"/>
            </a:avLst>
          </a:prstGeom>
          <a:solidFill>
            <a:srgbClr val="22C55E"/>
          </a:solidFill>
          <a:ln w="9525">
            <a:solidFill>
              <a:srgbClr val="22C55E"/>
            </a:solidFill>
            <a:prstDash val="solid"/>
          </a:ln>
        </p:spPr>
      </p:sp>
      <p:sp>
        <p:nvSpPr>
          <p:cNvPr id="23" name="Text 21"/>
          <p:cNvSpPr txBox="1"/>
          <p:nvPr/>
        </p:nvSpPr>
        <p:spPr>
          <a:xfrm>
            <a:off x="5230368" y="4224528"/>
            <a:ext cx="1975104" cy="320040"/>
          </a:xfrm>
          <a:prstGeom prst="rect">
            <a:avLst/>
          </a:prstGeom>
          <a:noFill/>
          <a:ln/>
        </p:spPr>
        <p:txBody>
          <a:bodyPr wrap="square" lIns="0" tIns="0" rIns="0" bIns="0" rtlCol="0" anchor="ctr"/>
          <a:lstStyle/>
          <a:p>
            <a:pPr marL="0" indent="0" algn="ctr">
              <a:buNone/>
            </a:pPr>
            <a:r>
              <a:rPr lang="en-US" sz="1200" b="1" dirty="0">
                <a:solidFill>
                  <a:srgbClr val="2563EB"/>
                </a:solidFill>
                <a:latin typeface="Courier New" pitchFamily="34" charset="0"/>
                <a:ea typeface="Courier New" pitchFamily="34" charset="-122"/>
                <a:cs typeface="Courier New" pitchFamily="34" charset="-120"/>
              </a:rPr>
              <a:t>flex-end</a:t>
            </a:r>
            <a:endParaRPr lang="en-US" sz="1200" dirty="0"/>
          </a:p>
        </p:txBody>
      </p:sp>
      <p:sp>
        <p:nvSpPr>
          <p:cNvPr id="24" name="Text 22"/>
          <p:cNvSpPr txBox="1"/>
          <p:nvPr/>
        </p:nvSpPr>
        <p:spPr>
          <a:xfrm>
            <a:off x="5230368" y="4572000"/>
            <a:ext cx="1975104" cy="594360"/>
          </a:xfrm>
          <a:prstGeom prst="rect">
            <a:avLst/>
          </a:prstGeom>
          <a:noFill/>
          <a:ln/>
        </p:spPr>
        <p:txBody>
          <a:bodyPr wrap="square" lIns="0" tIns="0" rIns="0" bIns="0" rtlCol="0" anchor="t"/>
          <a:lstStyle/>
          <a:p>
            <a:pPr marL="0" indent="0" algn="ctr">
              <a:buNone/>
            </a:pPr>
            <a:r>
              <a:rPr lang="en-US" sz="1200" dirty="0">
                <a:solidFill>
                  <a:srgbClr val="111827"/>
                </a:solidFill>
                <a:latin typeface="Arial" pitchFamily="34" charset="0"/>
                <a:ea typeface="Arial" pitchFamily="34" charset="-122"/>
                <a:cs typeface="Arial" pitchFamily="34" charset="-120"/>
              </a:rPr>
              <a:t>Sona yığılır</a:t>
            </a:r>
            <a:endParaRPr lang="en-US" sz="1200" dirty="0"/>
          </a:p>
        </p:txBody>
      </p:sp>
      <p:sp>
        <p:nvSpPr>
          <p:cNvPr id="25" name="Shape 23"/>
          <p:cNvSpPr/>
          <p:nvPr/>
        </p:nvSpPr>
        <p:spPr>
          <a:xfrm>
            <a:off x="7479792" y="1645920"/>
            <a:ext cx="1975104" cy="2468880"/>
          </a:xfrm>
          <a:prstGeom prst="roundRect">
            <a:avLst>
              <a:gd name="adj" fmla="val 4630"/>
            </a:avLst>
          </a:prstGeom>
          <a:solidFill>
            <a:srgbClr val="FFFFFF"/>
          </a:solidFill>
          <a:ln w="19050">
            <a:solidFill>
              <a:srgbClr val="CBD5E1"/>
            </a:solidFill>
            <a:prstDash val="solid"/>
          </a:ln>
        </p:spPr>
      </p:sp>
      <p:sp>
        <p:nvSpPr>
          <p:cNvPr id="26" name="Shape 24"/>
          <p:cNvSpPr/>
          <p:nvPr/>
        </p:nvSpPr>
        <p:spPr>
          <a:xfrm>
            <a:off x="7571232" y="1737360"/>
            <a:ext cx="1792224" cy="2286000"/>
          </a:xfrm>
          <a:prstGeom prst="roundRect">
            <a:avLst>
              <a:gd name="adj" fmla="val 5102"/>
            </a:avLst>
          </a:prstGeom>
          <a:solidFill>
            <a:srgbClr val="EFF6FF"/>
          </a:solidFill>
          <a:ln w="9525">
            <a:solidFill>
              <a:srgbClr val="EFF6FF"/>
            </a:solidFill>
            <a:prstDash val="solid"/>
          </a:ln>
        </p:spPr>
      </p:sp>
      <p:sp>
        <p:nvSpPr>
          <p:cNvPr id="27" name="Shape 25"/>
          <p:cNvSpPr/>
          <p:nvPr/>
        </p:nvSpPr>
        <p:spPr>
          <a:xfrm>
            <a:off x="7662672" y="1737360"/>
            <a:ext cx="502920" cy="365760"/>
          </a:xfrm>
          <a:prstGeom prst="roundRect">
            <a:avLst>
              <a:gd name="adj" fmla="val 25000"/>
            </a:avLst>
          </a:prstGeom>
          <a:solidFill>
            <a:srgbClr val="EF4444"/>
          </a:solidFill>
          <a:ln w="9525">
            <a:solidFill>
              <a:srgbClr val="EF4444"/>
            </a:solidFill>
            <a:prstDash val="solid"/>
          </a:ln>
        </p:spPr>
      </p:sp>
      <p:sp>
        <p:nvSpPr>
          <p:cNvPr id="28" name="Shape 26"/>
          <p:cNvSpPr/>
          <p:nvPr/>
        </p:nvSpPr>
        <p:spPr>
          <a:xfrm>
            <a:off x="7662672" y="2697480"/>
            <a:ext cx="502920" cy="365760"/>
          </a:xfrm>
          <a:prstGeom prst="roundRect">
            <a:avLst>
              <a:gd name="adj" fmla="val 25000"/>
            </a:avLst>
          </a:prstGeom>
          <a:solidFill>
            <a:srgbClr val="F59E0B"/>
          </a:solidFill>
          <a:ln w="9525">
            <a:solidFill>
              <a:srgbClr val="F59E0B"/>
            </a:solidFill>
            <a:prstDash val="solid"/>
          </a:ln>
        </p:spPr>
      </p:sp>
      <p:sp>
        <p:nvSpPr>
          <p:cNvPr id="29" name="Shape 27"/>
          <p:cNvSpPr/>
          <p:nvPr/>
        </p:nvSpPr>
        <p:spPr>
          <a:xfrm>
            <a:off x="7662672" y="3657600"/>
            <a:ext cx="502920" cy="365760"/>
          </a:xfrm>
          <a:prstGeom prst="roundRect">
            <a:avLst>
              <a:gd name="adj" fmla="val 25000"/>
            </a:avLst>
          </a:prstGeom>
          <a:solidFill>
            <a:srgbClr val="22C55E"/>
          </a:solidFill>
          <a:ln w="9525">
            <a:solidFill>
              <a:srgbClr val="22C55E"/>
            </a:solidFill>
            <a:prstDash val="solid"/>
          </a:ln>
        </p:spPr>
      </p:sp>
      <p:sp>
        <p:nvSpPr>
          <p:cNvPr id="30" name="Text 28"/>
          <p:cNvSpPr txBox="1"/>
          <p:nvPr/>
        </p:nvSpPr>
        <p:spPr>
          <a:xfrm>
            <a:off x="7479792" y="4224528"/>
            <a:ext cx="1975104" cy="320040"/>
          </a:xfrm>
          <a:prstGeom prst="rect">
            <a:avLst/>
          </a:prstGeom>
          <a:noFill/>
          <a:ln/>
        </p:spPr>
        <p:txBody>
          <a:bodyPr wrap="square" lIns="0" tIns="0" rIns="0" bIns="0" rtlCol="0" anchor="ctr"/>
          <a:lstStyle/>
          <a:p>
            <a:pPr marL="0" indent="0" algn="ctr">
              <a:buNone/>
            </a:pPr>
            <a:r>
              <a:rPr lang="en-US" sz="1200" b="1" dirty="0">
                <a:solidFill>
                  <a:srgbClr val="2563EB"/>
                </a:solidFill>
                <a:latin typeface="Courier New" pitchFamily="34" charset="0"/>
                <a:ea typeface="Courier New" pitchFamily="34" charset="-122"/>
                <a:cs typeface="Courier New" pitchFamily="34" charset="-120"/>
              </a:rPr>
              <a:t>space-between</a:t>
            </a:r>
            <a:endParaRPr lang="en-US" sz="1200" dirty="0"/>
          </a:p>
        </p:txBody>
      </p:sp>
      <p:sp>
        <p:nvSpPr>
          <p:cNvPr id="31" name="Text 29"/>
          <p:cNvSpPr txBox="1"/>
          <p:nvPr/>
        </p:nvSpPr>
        <p:spPr>
          <a:xfrm>
            <a:off x="7479792" y="4572000"/>
            <a:ext cx="1975104" cy="594360"/>
          </a:xfrm>
          <a:prstGeom prst="rect">
            <a:avLst/>
          </a:prstGeom>
          <a:noFill/>
          <a:ln/>
        </p:spPr>
        <p:txBody>
          <a:bodyPr wrap="square" lIns="0" tIns="0" rIns="0" bIns="0" rtlCol="0" anchor="t"/>
          <a:lstStyle/>
          <a:p>
            <a:pPr marL="0" indent="0" algn="ctr">
              <a:buNone/>
            </a:pPr>
            <a:r>
              <a:rPr lang="en-US" sz="1200" dirty="0">
                <a:solidFill>
                  <a:srgbClr val="111827"/>
                </a:solidFill>
                <a:latin typeface="Arial" pitchFamily="34" charset="0"/>
                <a:ea typeface="Arial" pitchFamily="34" charset="-122"/>
                <a:cs typeface="Arial" pitchFamily="34" charset="-120"/>
              </a:rPr>
              <a:t>İlk ve son uçlarda, boşluk aralarda</a:t>
            </a:r>
            <a:endParaRPr lang="en-US" sz="1200" dirty="0"/>
          </a:p>
        </p:txBody>
      </p:sp>
      <p:sp>
        <p:nvSpPr>
          <p:cNvPr id="32" name="Shape 30"/>
          <p:cNvSpPr/>
          <p:nvPr/>
        </p:nvSpPr>
        <p:spPr>
          <a:xfrm>
            <a:off x="9729216" y="1645920"/>
            <a:ext cx="1975104" cy="2468880"/>
          </a:xfrm>
          <a:prstGeom prst="roundRect">
            <a:avLst>
              <a:gd name="adj" fmla="val 4630"/>
            </a:avLst>
          </a:prstGeom>
          <a:solidFill>
            <a:srgbClr val="FFFFFF"/>
          </a:solidFill>
          <a:ln w="19050">
            <a:solidFill>
              <a:srgbClr val="CBD5E1"/>
            </a:solidFill>
            <a:prstDash val="solid"/>
          </a:ln>
        </p:spPr>
      </p:sp>
      <p:sp>
        <p:nvSpPr>
          <p:cNvPr id="33" name="Shape 31"/>
          <p:cNvSpPr/>
          <p:nvPr/>
        </p:nvSpPr>
        <p:spPr>
          <a:xfrm>
            <a:off x="9820656" y="1737360"/>
            <a:ext cx="1792224" cy="2286000"/>
          </a:xfrm>
          <a:prstGeom prst="roundRect">
            <a:avLst>
              <a:gd name="adj" fmla="val 5102"/>
            </a:avLst>
          </a:prstGeom>
          <a:solidFill>
            <a:srgbClr val="EFF6FF"/>
          </a:solidFill>
          <a:ln w="9525">
            <a:solidFill>
              <a:srgbClr val="EFF6FF"/>
            </a:solidFill>
            <a:prstDash val="solid"/>
          </a:ln>
        </p:spPr>
      </p:sp>
      <p:sp>
        <p:nvSpPr>
          <p:cNvPr id="34" name="Shape 32"/>
          <p:cNvSpPr/>
          <p:nvPr/>
        </p:nvSpPr>
        <p:spPr>
          <a:xfrm>
            <a:off x="9912096" y="1935480"/>
            <a:ext cx="502920" cy="365760"/>
          </a:xfrm>
          <a:prstGeom prst="roundRect">
            <a:avLst>
              <a:gd name="adj" fmla="val 25000"/>
            </a:avLst>
          </a:prstGeom>
          <a:solidFill>
            <a:srgbClr val="EF4444"/>
          </a:solidFill>
          <a:ln w="9525">
            <a:solidFill>
              <a:srgbClr val="EF4444"/>
            </a:solidFill>
            <a:prstDash val="solid"/>
          </a:ln>
        </p:spPr>
      </p:sp>
      <p:sp>
        <p:nvSpPr>
          <p:cNvPr id="35" name="Shape 33"/>
          <p:cNvSpPr/>
          <p:nvPr/>
        </p:nvSpPr>
        <p:spPr>
          <a:xfrm>
            <a:off x="9912096" y="2697480"/>
            <a:ext cx="502920" cy="365760"/>
          </a:xfrm>
          <a:prstGeom prst="roundRect">
            <a:avLst>
              <a:gd name="adj" fmla="val 25000"/>
            </a:avLst>
          </a:prstGeom>
          <a:solidFill>
            <a:srgbClr val="F59E0B"/>
          </a:solidFill>
          <a:ln w="9525">
            <a:solidFill>
              <a:srgbClr val="F59E0B"/>
            </a:solidFill>
            <a:prstDash val="solid"/>
          </a:ln>
        </p:spPr>
      </p:sp>
      <p:sp>
        <p:nvSpPr>
          <p:cNvPr id="36" name="Shape 34"/>
          <p:cNvSpPr/>
          <p:nvPr/>
        </p:nvSpPr>
        <p:spPr>
          <a:xfrm>
            <a:off x="9912096" y="3459480"/>
            <a:ext cx="502920" cy="365760"/>
          </a:xfrm>
          <a:prstGeom prst="roundRect">
            <a:avLst>
              <a:gd name="adj" fmla="val 25000"/>
            </a:avLst>
          </a:prstGeom>
          <a:solidFill>
            <a:srgbClr val="22C55E"/>
          </a:solidFill>
          <a:ln w="9525">
            <a:solidFill>
              <a:srgbClr val="22C55E"/>
            </a:solidFill>
            <a:prstDash val="solid"/>
          </a:ln>
        </p:spPr>
      </p:sp>
      <p:sp>
        <p:nvSpPr>
          <p:cNvPr id="37" name="Text 35"/>
          <p:cNvSpPr txBox="1"/>
          <p:nvPr/>
        </p:nvSpPr>
        <p:spPr>
          <a:xfrm>
            <a:off x="9729216" y="4224528"/>
            <a:ext cx="1975104" cy="320040"/>
          </a:xfrm>
          <a:prstGeom prst="rect">
            <a:avLst/>
          </a:prstGeom>
          <a:noFill/>
          <a:ln/>
        </p:spPr>
        <p:txBody>
          <a:bodyPr wrap="square" lIns="0" tIns="0" rIns="0" bIns="0" rtlCol="0" anchor="ctr"/>
          <a:lstStyle/>
          <a:p>
            <a:pPr marL="0" indent="0" algn="ctr">
              <a:buNone/>
            </a:pPr>
            <a:r>
              <a:rPr lang="en-US" sz="1200" b="1" dirty="0">
                <a:solidFill>
                  <a:srgbClr val="2563EB"/>
                </a:solidFill>
                <a:latin typeface="Courier New" pitchFamily="34" charset="0"/>
                <a:ea typeface="Courier New" pitchFamily="34" charset="-122"/>
                <a:cs typeface="Courier New" pitchFamily="34" charset="-120"/>
              </a:rPr>
              <a:t>space-around</a:t>
            </a:r>
            <a:endParaRPr lang="en-US" sz="1200" dirty="0"/>
          </a:p>
        </p:txBody>
      </p:sp>
      <p:sp>
        <p:nvSpPr>
          <p:cNvPr id="38" name="Text 36"/>
          <p:cNvSpPr txBox="1"/>
          <p:nvPr/>
        </p:nvSpPr>
        <p:spPr>
          <a:xfrm>
            <a:off x="9729216" y="4572000"/>
            <a:ext cx="1975104" cy="594360"/>
          </a:xfrm>
          <a:prstGeom prst="rect">
            <a:avLst/>
          </a:prstGeom>
          <a:noFill/>
          <a:ln/>
        </p:spPr>
        <p:txBody>
          <a:bodyPr wrap="square" lIns="0" tIns="0" rIns="0" bIns="0" rtlCol="0" anchor="t"/>
          <a:lstStyle/>
          <a:p>
            <a:pPr marL="0" indent="0" algn="ctr">
              <a:buNone/>
            </a:pPr>
            <a:r>
              <a:rPr lang="en-US" sz="1200" dirty="0">
                <a:solidFill>
                  <a:srgbClr val="111827"/>
                </a:solidFill>
                <a:latin typeface="Arial" pitchFamily="34" charset="0"/>
                <a:ea typeface="Arial" pitchFamily="34" charset="-122"/>
                <a:cs typeface="Arial" pitchFamily="34" charset="-120"/>
              </a:rPr>
              <a:t>Her çocuğun çevresinde eşit boşluk</a:t>
            </a:r>
            <a:endParaRPr lang="en-US" sz="1200" dirty="0"/>
          </a:p>
        </p:txBody>
      </p:sp>
      <p:sp>
        <p:nvSpPr>
          <p:cNvPr id="39" name="Shape 37"/>
          <p:cNvSpPr/>
          <p:nvPr/>
        </p:nvSpPr>
        <p:spPr>
          <a:xfrm>
            <a:off x="731520" y="5303520"/>
            <a:ext cx="10972800" cy="914400"/>
          </a:xfrm>
          <a:prstGeom prst="roundRect">
            <a:avLst>
              <a:gd name="adj" fmla="val 10000"/>
            </a:avLst>
          </a:prstGeom>
          <a:solidFill>
            <a:srgbClr val="EFF6FF"/>
          </a:solidFill>
          <a:ln w="9525">
            <a:solidFill>
              <a:srgbClr val="EFF6FF"/>
            </a:solidFill>
            <a:prstDash val="solid"/>
          </a:ln>
        </p:spPr>
      </p:sp>
      <p:sp>
        <p:nvSpPr>
          <p:cNvPr id="40" name="Text 38"/>
          <p:cNvSpPr txBox="1"/>
          <p:nvPr/>
        </p:nvSpPr>
        <p:spPr>
          <a:xfrm>
            <a:off x="932688" y="5431536"/>
            <a:ext cx="10570464" cy="658368"/>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Çocukları ortalamak için center, iki uca itmek için space-between, her çocuğun çevresine eşit nefes payı için space-around kullanın. Varsayılan yön column olduğu için burada ana eksen dikeydir.</a:t>
            </a:r>
            <a:endParaRPr lang="en-US" sz="1100" dirty="0"/>
          </a:p>
        </p:txBody>
      </p:sp>
      <p:sp>
        <p:nvSpPr>
          <p:cNvPr id="41"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alignItems: Çapraz Eksende Hizalama</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2400300" cy="2468880"/>
          </a:xfrm>
          <a:prstGeom prst="roundRect">
            <a:avLst>
              <a:gd name="adj" fmla="val 3810"/>
            </a:avLst>
          </a:prstGeom>
          <a:solidFill>
            <a:srgbClr val="FFFFFF"/>
          </a:solidFill>
          <a:ln w="19050">
            <a:solidFill>
              <a:srgbClr val="CBD5E1"/>
            </a:solidFill>
            <a:prstDash val="solid"/>
          </a:ln>
        </p:spPr>
      </p:sp>
      <p:sp>
        <p:nvSpPr>
          <p:cNvPr id="5" name="Shape 3"/>
          <p:cNvSpPr/>
          <p:nvPr/>
        </p:nvSpPr>
        <p:spPr>
          <a:xfrm>
            <a:off x="822960" y="1737360"/>
            <a:ext cx="2217420" cy="2286000"/>
          </a:xfrm>
          <a:prstGeom prst="roundRect">
            <a:avLst>
              <a:gd name="adj" fmla="val 4124"/>
            </a:avLst>
          </a:prstGeom>
          <a:solidFill>
            <a:srgbClr val="EFF6FF"/>
          </a:solidFill>
          <a:ln w="9525">
            <a:solidFill>
              <a:srgbClr val="EFF6FF"/>
            </a:solidFill>
            <a:prstDash val="solid"/>
          </a:ln>
        </p:spPr>
      </p:sp>
      <p:sp>
        <p:nvSpPr>
          <p:cNvPr id="6" name="Shape 4"/>
          <p:cNvSpPr/>
          <p:nvPr/>
        </p:nvSpPr>
        <p:spPr>
          <a:xfrm>
            <a:off x="914400" y="1828800"/>
            <a:ext cx="502920" cy="365760"/>
          </a:xfrm>
          <a:prstGeom prst="roundRect">
            <a:avLst>
              <a:gd name="adj" fmla="val 25000"/>
            </a:avLst>
          </a:prstGeom>
          <a:solidFill>
            <a:srgbClr val="EF4444"/>
          </a:solidFill>
          <a:ln w="9525">
            <a:solidFill>
              <a:srgbClr val="EF4444"/>
            </a:solidFill>
            <a:prstDash val="solid"/>
          </a:ln>
        </p:spPr>
      </p:sp>
      <p:sp>
        <p:nvSpPr>
          <p:cNvPr id="7" name="Shape 5"/>
          <p:cNvSpPr/>
          <p:nvPr/>
        </p:nvSpPr>
        <p:spPr>
          <a:xfrm>
            <a:off x="914400" y="2240280"/>
            <a:ext cx="502920" cy="365760"/>
          </a:xfrm>
          <a:prstGeom prst="roundRect">
            <a:avLst>
              <a:gd name="adj" fmla="val 25000"/>
            </a:avLst>
          </a:prstGeom>
          <a:solidFill>
            <a:srgbClr val="F59E0B"/>
          </a:solidFill>
          <a:ln w="9525">
            <a:solidFill>
              <a:srgbClr val="F59E0B"/>
            </a:solidFill>
            <a:prstDash val="solid"/>
          </a:ln>
        </p:spPr>
      </p:sp>
      <p:sp>
        <p:nvSpPr>
          <p:cNvPr id="8" name="Shape 6"/>
          <p:cNvSpPr/>
          <p:nvPr/>
        </p:nvSpPr>
        <p:spPr>
          <a:xfrm>
            <a:off x="914400" y="2651760"/>
            <a:ext cx="502920" cy="365760"/>
          </a:xfrm>
          <a:prstGeom prst="roundRect">
            <a:avLst>
              <a:gd name="adj" fmla="val 25000"/>
            </a:avLst>
          </a:prstGeom>
          <a:solidFill>
            <a:srgbClr val="22C55E"/>
          </a:solidFill>
          <a:ln w="9525">
            <a:solidFill>
              <a:srgbClr val="22C55E"/>
            </a:solidFill>
            <a:prstDash val="solid"/>
          </a:ln>
        </p:spPr>
      </p:sp>
      <p:sp>
        <p:nvSpPr>
          <p:cNvPr id="9" name="Text 7"/>
          <p:cNvSpPr txBox="1"/>
          <p:nvPr/>
        </p:nvSpPr>
        <p:spPr>
          <a:xfrm>
            <a:off x="731520" y="4224528"/>
            <a:ext cx="2400300" cy="320040"/>
          </a:xfrm>
          <a:prstGeom prst="rect">
            <a:avLst/>
          </a:prstGeom>
          <a:noFill/>
          <a:ln/>
        </p:spPr>
        <p:txBody>
          <a:bodyPr wrap="square" lIns="0" tIns="0" rIns="0" bIns="0" rtlCol="0" anchor="ctr"/>
          <a:lstStyle/>
          <a:p>
            <a:pPr marL="0" indent="0" algn="ctr">
              <a:buNone/>
            </a:pPr>
            <a:r>
              <a:rPr lang="en-US" sz="1300" b="1" dirty="0">
                <a:solidFill>
                  <a:srgbClr val="2563EB"/>
                </a:solidFill>
                <a:latin typeface="Courier New" pitchFamily="34" charset="0"/>
                <a:ea typeface="Courier New" pitchFamily="34" charset="-122"/>
                <a:cs typeface="Courier New" pitchFamily="34" charset="-120"/>
              </a:rPr>
              <a:t>flex-start</a:t>
            </a:r>
            <a:endParaRPr lang="en-US" sz="1300" dirty="0"/>
          </a:p>
        </p:txBody>
      </p:sp>
      <p:sp>
        <p:nvSpPr>
          <p:cNvPr id="10" name="Text 8"/>
          <p:cNvSpPr txBox="1"/>
          <p:nvPr/>
        </p:nvSpPr>
        <p:spPr>
          <a:xfrm>
            <a:off x="731520" y="4572000"/>
            <a:ext cx="2400300" cy="594360"/>
          </a:xfrm>
          <a:prstGeom prst="rect">
            <a:avLst/>
          </a:prstGeom>
          <a:noFill/>
          <a:ln/>
        </p:spPr>
        <p:txBody>
          <a:bodyPr wrap="square" lIns="0" tIns="0" rIns="0" bIns="0" rtlCol="0" anchor="t"/>
          <a:lstStyle/>
          <a:p>
            <a:pPr marL="0" indent="0" algn="ctr">
              <a:buNone/>
            </a:pPr>
            <a:r>
              <a:rPr lang="en-US" sz="1200" dirty="0">
                <a:solidFill>
                  <a:srgbClr val="111827"/>
                </a:solidFill>
                <a:latin typeface="Arial" pitchFamily="34" charset="0"/>
                <a:ea typeface="Arial" pitchFamily="34" charset="-122"/>
                <a:cs typeface="Arial" pitchFamily="34" charset="-120"/>
              </a:rPr>
              <a:t>Çapraz eksenin başı (sol)</a:t>
            </a:r>
            <a:endParaRPr lang="en-US" sz="1200" dirty="0"/>
          </a:p>
        </p:txBody>
      </p:sp>
      <p:sp>
        <p:nvSpPr>
          <p:cNvPr id="11" name="Shape 9"/>
          <p:cNvSpPr/>
          <p:nvPr/>
        </p:nvSpPr>
        <p:spPr>
          <a:xfrm>
            <a:off x="3589020" y="1645920"/>
            <a:ext cx="2400300" cy="2468880"/>
          </a:xfrm>
          <a:prstGeom prst="roundRect">
            <a:avLst>
              <a:gd name="adj" fmla="val 3810"/>
            </a:avLst>
          </a:prstGeom>
          <a:solidFill>
            <a:srgbClr val="FFFFFF"/>
          </a:solidFill>
          <a:ln w="19050">
            <a:solidFill>
              <a:srgbClr val="CBD5E1"/>
            </a:solidFill>
            <a:prstDash val="solid"/>
          </a:ln>
        </p:spPr>
      </p:sp>
      <p:sp>
        <p:nvSpPr>
          <p:cNvPr id="12" name="Shape 10"/>
          <p:cNvSpPr/>
          <p:nvPr/>
        </p:nvSpPr>
        <p:spPr>
          <a:xfrm>
            <a:off x="3680460" y="1737360"/>
            <a:ext cx="2217420" cy="2286000"/>
          </a:xfrm>
          <a:prstGeom prst="roundRect">
            <a:avLst>
              <a:gd name="adj" fmla="val 4124"/>
            </a:avLst>
          </a:prstGeom>
          <a:solidFill>
            <a:srgbClr val="EFF6FF"/>
          </a:solidFill>
          <a:ln w="9525">
            <a:solidFill>
              <a:srgbClr val="EFF6FF"/>
            </a:solidFill>
            <a:prstDash val="solid"/>
          </a:ln>
        </p:spPr>
      </p:sp>
      <p:sp>
        <p:nvSpPr>
          <p:cNvPr id="13" name="Shape 11"/>
          <p:cNvSpPr/>
          <p:nvPr/>
        </p:nvSpPr>
        <p:spPr>
          <a:xfrm>
            <a:off x="4537710" y="1828800"/>
            <a:ext cx="502920" cy="365760"/>
          </a:xfrm>
          <a:prstGeom prst="roundRect">
            <a:avLst>
              <a:gd name="adj" fmla="val 25000"/>
            </a:avLst>
          </a:prstGeom>
          <a:solidFill>
            <a:srgbClr val="EF4444"/>
          </a:solidFill>
          <a:ln w="9525">
            <a:solidFill>
              <a:srgbClr val="EF4444"/>
            </a:solidFill>
            <a:prstDash val="solid"/>
          </a:ln>
        </p:spPr>
      </p:sp>
      <p:sp>
        <p:nvSpPr>
          <p:cNvPr id="14" name="Shape 12"/>
          <p:cNvSpPr/>
          <p:nvPr/>
        </p:nvSpPr>
        <p:spPr>
          <a:xfrm>
            <a:off x="4537710" y="2240280"/>
            <a:ext cx="502920" cy="365760"/>
          </a:xfrm>
          <a:prstGeom prst="roundRect">
            <a:avLst>
              <a:gd name="adj" fmla="val 25000"/>
            </a:avLst>
          </a:prstGeom>
          <a:solidFill>
            <a:srgbClr val="F59E0B"/>
          </a:solidFill>
          <a:ln w="9525">
            <a:solidFill>
              <a:srgbClr val="F59E0B"/>
            </a:solidFill>
            <a:prstDash val="solid"/>
          </a:ln>
        </p:spPr>
      </p:sp>
      <p:sp>
        <p:nvSpPr>
          <p:cNvPr id="15" name="Shape 13"/>
          <p:cNvSpPr/>
          <p:nvPr/>
        </p:nvSpPr>
        <p:spPr>
          <a:xfrm>
            <a:off x="4537710" y="2651760"/>
            <a:ext cx="502920" cy="365760"/>
          </a:xfrm>
          <a:prstGeom prst="roundRect">
            <a:avLst>
              <a:gd name="adj" fmla="val 25000"/>
            </a:avLst>
          </a:prstGeom>
          <a:solidFill>
            <a:srgbClr val="22C55E"/>
          </a:solidFill>
          <a:ln w="9525">
            <a:solidFill>
              <a:srgbClr val="22C55E"/>
            </a:solidFill>
            <a:prstDash val="solid"/>
          </a:ln>
        </p:spPr>
      </p:sp>
      <p:sp>
        <p:nvSpPr>
          <p:cNvPr id="16" name="Text 14"/>
          <p:cNvSpPr txBox="1"/>
          <p:nvPr/>
        </p:nvSpPr>
        <p:spPr>
          <a:xfrm>
            <a:off x="3589020" y="4224528"/>
            <a:ext cx="2400300" cy="320040"/>
          </a:xfrm>
          <a:prstGeom prst="rect">
            <a:avLst/>
          </a:prstGeom>
          <a:noFill/>
          <a:ln/>
        </p:spPr>
        <p:txBody>
          <a:bodyPr wrap="square" lIns="0" tIns="0" rIns="0" bIns="0" rtlCol="0" anchor="ctr"/>
          <a:lstStyle/>
          <a:p>
            <a:pPr marL="0" indent="0" algn="ctr">
              <a:buNone/>
            </a:pPr>
            <a:r>
              <a:rPr lang="en-US" sz="1300" b="1" dirty="0">
                <a:solidFill>
                  <a:srgbClr val="2563EB"/>
                </a:solidFill>
                <a:latin typeface="Courier New" pitchFamily="34" charset="0"/>
                <a:ea typeface="Courier New" pitchFamily="34" charset="-122"/>
                <a:cs typeface="Courier New" pitchFamily="34" charset="-120"/>
              </a:rPr>
              <a:t>center</a:t>
            </a:r>
            <a:endParaRPr lang="en-US" sz="1300" dirty="0"/>
          </a:p>
        </p:txBody>
      </p:sp>
      <p:sp>
        <p:nvSpPr>
          <p:cNvPr id="17" name="Text 15"/>
          <p:cNvSpPr txBox="1"/>
          <p:nvPr/>
        </p:nvSpPr>
        <p:spPr>
          <a:xfrm>
            <a:off x="3589020" y="4572000"/>
            <a:ext cx="2400300" cy="594360"/>
          </a:xfrm>
          <a:prstGeom prst="rect">
            <a:avLst/>
          </a:prstGeom>
          <a:noFill/>
          <a:ln/>
        </p:spPr>
        <p:txBody>
          <a:bodyPr wrap="square" lIns="0" tIns="0" rIns="0" bIns="0" rtlCol="0" anchor="t"/>
          <a:lstStyle/>
          <a:p>
            <a:pPr marL="0" indent="0" algn="ctr">
              <a:buNone/>
            </a:pPr>
            <a:r>
              <a:rPr lang="en-US" sz="1200" dirty="0">
                <a:solidFill>
                  <a:srgbClr val="111827"/>
                </a:solidFill>
                <a:latin typeface="Arial" pitchFamily="34" charset="0"/>
                <a:ea typeface="Arial" pitchFamily="34" charset="-122"/>
                <a:cs typeface="Arial" pitchFamily="34" charset="-120"/>
              </a:rPr>
              <a:t>Çapraz eksenin ortası</a:t>
            </a:r>
            <a:endParaRPr lang="en-US" sz="1200" dirty="0"/>
          </a:p>
        </p:txBody>
      </p:sp>
      <p:sp>
        <p:nvSpPr>
          <p:cNvPr id="18" name="Shape 16"/>
          <p:cNvSpPr/>
          <p:nvPr/>
        </p:nvSpPr>
        <p:spPr>
          <a:xfrm>
            <a:off x="6446520" y="1645920"/>
            <a:ext cx="2400300" cy="2468880"/>
          </a:xfrm>
          <a:prstGeom prst="roundRect">
            <a:avLst>
              <a:gd name="adj" fmla="val 3810"/>
            </a:avLst>
          </a:prstGeom>
          <a:solidFill>
            <a:srgbClr val="FFFFFF"/>
          </a:solidFill>
          <a:ln w="19050">
            <a:solidFill>
              <a:srgbClr val="CBD5E1"/>
            </a:solidFill>
            <a:prstDash val="solid"/>
          </a:ln>
        </p:spPr>
      </p:sp>
      <p:sp>
        <p:nvSpPr>
          <p:cNvPr id="19" name="Shape 17"/>
          <p:cNvSpPr/>
          <p:nvPr/>
        </p:nvSpPr>
        <p:spPr>
          <a:xfrm>
            <a:off x="6537960" y="1737360"/>
            <a:ext cx="2217420" cy="2286000"/>
          </a:xfrm>
          <a:prstGeom prst="roundRect">
            <a:avLst>
              <a:gd name="adj" fmla="val 4124"/>
            </a:avLst>
          </a:prstGeom>
          <a:solidFill>
            <a:srgbClr val="EFF6FF"/>
          </a:solidFill>
          <a:ln w="9525">
            <a:solidFill>
              <a:srgbClr val="EFF6FF"/>
            </a:solidFill>
            <a:prstDash val="solid"/>
          </a:ln>
        </p:spPr>
      </p:sp>
      <p:sp>
        <p:nvSpPr>
          <p:cNvPr id="20" name="Shape 18"/>
          <p:cNvSpPr/>
          <p:nvPr/>
        </p:nvSpPr>
        <p:spPr>
          <a:xfrm>
            <a:off x="8161020" y="1828800"/>
            <a:ext cx="502920" cy="365760"/>
          </a:xfrm>
          <a:prstGeom prst="roundRect">
            <a:avLst>
              <a:gd name="adj" fmla="val 25000"/>
            </a:avLst>
          </a:prstGeom>
          <a:solidFill>
            <a:srgbClr val="EF4444"/>
          </a:solidFill>
          <a:ln w="9525">
            <a:solidFill>
              <a:srgbClr val="EF4444"/>
            </a:solidFill>
            <a:prstDash val="solid"/>
          </a:ln>
        </p:spPr>
      </p:sp>
      <p:sp>
        <p:nvSpPr>
          <p:cNvPr id="21" name="Shape 19"/>
          <p:cNvSpPr/>
          <p:nvPr/>
        </p:nvSpPr>
        <p:spPr>
          <a:xfrm>
            <a:off x="8161020" y="2240280"/>
            <a:ext cx="502920" cy="365760"/>
          </a:xfrm>
          <a:prstGeom prst="roundRect">
            <a:avLst>
              <a:gd name="adj" fmla="val 25000"/>
            </a:avLst>
          </a:prstGeom>
          <a:solidFill>
            <a:srgbClr val="F59E0B"/>
          </a:solidFill>
          <a:ln w="9525">
            <a:solidFill>
              <a:srgbClr val="F59E0B"/>
            </a:solidFill>
            <a:prstDash val="solid"/>
          </a:ln>
        </p:spPr>
      </p:sp>
      <p:sp>
        <p:nvSpPr>
          <p:cNvPr id="22" name="Shape 20"/>
          <p:cNvSpPr/>
          <p:nvPr/>
        </p:nvSpPr>
        <p:spPr>
          <a:xfrm>
            <a:off x="8161020" y="2651760"/>
            <a:ext cx="502920" cy="365760"/>
          </a:xfrm>
          <a:prstGeom prst="roundRect">
            <a:avLst>
              <a:gd name="adj" fmla="val 25000"/>
            </a:avLst>
          </a:prstGeom>
          <a:solidFill>
            <a:srgbClr val="22C55E"/>
          </a:solidFill>
          <a:ln w="9525">
            <a:solidFill>
              <a:srgbClr val="22C55E"/>
            </a:solidFill>
            <a:prstDash val="solid"/>
          </a:ln>
        </p:spPr>
      </p:sp>
      <p:sp>
        <p:nvSpPr>
          <p:cNvPr id="23" name="Text 21"/>
          <p:cNvSpPr txBox="1"/>
          <p:nvPr/>
        </p:nvSpPr>
        <p:spPr>
          <a:xfrm>
            <a:off x="6446520" y="4224528"/>
            <a:ext cx="2400300" cy="320040"/>
          </a:xfrm>
          <a:prstGeom prst="rect">
            <a:avLst/>
          </a:prstGeom>
          <a:noFill/>
          <a:ln/>
        </p:spPr>
        <p:txBody>
          <a:bodyPr wrap="square" lIns="0" tIns="0" rIns="0" bIns="0" rtlCol="0" anchor="ctr"/>
          <a:lstStyle/>
          <a:p>
            <a:pPr marL="0" indent="0" algn="ctr">
              <a:buNone/>
            </a:pPr>
            <a:r>
              <a:rPr lang="en-US" sz="1300" b="1" dirty="0">
                <a:solidFill>
                  <a:srgbClr val="2563EB"/>
                </a:solidFill>
                <a:latin typeface="Courier New" pitchFamily="34" charset="0"/>
                <a:ea typeface="Courier New" pitchFamily="34" charset="-122"/>
                <a:cs typeface="Courier New" pitchFamily="34" charset="-120"/>
              </a:rPr>
              <a:t>flex-end</a:t>
            </a:r>
            <a:endParaRPr lang="en-US" sz="1300" dirty="0"/>
          </a:p>
        </p:txBody>
      </p:sp>
      <p:sp>
        <p:nvSpPr>
          <p:cNvPr id="24" name="Text 22"/>
          <p:cNvSpPr txBox="1"/>
          <p:nvPr/>
        </p:nvSpPr>
        <p:spPr>
          <a:xfrm>
            <a:off x="6446520" y="4572000"/>
            <a:ext cx="2400300" cy="594360"/>
          </a:xfrm>
          <a:prstGeom prst="rect">
            <a:avLst/>
          </a:prstGeom>
          <a:noFill/>
          <a:ln/>
        </p:spPr>
        <p:txBody>
          <a:bodyPr wrap="square" lIns="0" tIns="0" rIns="0" bIns="0" rtlCol="0" anchor="t"/>
          <a:lstStyle/>
          <a:p>
            <a:pPr marL="0" indent="0" algn="ctr">
              <a:buNone/>
            </a:pPr>
            <a:r>
              <a:rPr lang="en-US" sz="1200" dirty="0">
                <a:solidFill>
                  <a:srgbClr val="111827"/>
                </a:solidFill>
                <a:latin typeface="Arial" pitchFamily="34" charset="0"/>
                <a:ea typeface="Arial" pitchFamily="34" charset="-122"/>
                <a:cs typeface="Arial" pitchFamily="34" charset="-120"/>
              </a:rPr>
              <a:t>Çapraz eksenin sonu (sağ)</a:t>
            </a:r>
            <a:endParaRPr lang="en-US" sz="1200" dirty="0"/>
          </a:p>
        </p:txBody>
      </p:sp>
      <p:sp>
        <p:nvSpPr>
          <p:cNvPr id="25" name="Shape 23"/>
          <p:cNvSpPr/>
          <p:nvPr/>
        </p:nvSpPr>
        <p:spPr>
          <a:xfrm>
            <a:off x="9304020" y="1645920"/>
            <a:ext cx="2400300" cy="2468880"/>
          </a:xfrm>
          <a:prstGeom prst="roundRect">
            <a:avLst>
              <a:gd name="adj" fmla="val 3810"/>
            </a:avLst>
          </a:prstGeom>
          <a:solidFill>
            <a:srgbClr val="FFFFFF"/>
          </a:solidFill>
          <a:ln w="19050">
            <a:solidFill>
              <a:srgbClr val="CBD5E1"/>
            </a:solidFill>
            <a:prstDash val="solid"/>
          </a:ln>
        </p:spPr>
      </p:sp>
      <p:sp>
        <p:nvSpPr>
          <p:cNvPr id="26" name="Shape 24"/>
          <p:cNvSpPr/>
          <p:nvPr/>
        </p:nvSpPr>
        <p:spPr>
          <a:xfrm>
            <a:off x="9395460" y="1737360"/>
            <a:ext cx="2217420" cy="2286000"/>
          </a:xfrm>
          <a:prstGeom prst="roundRect">
            <a:avLst>
              <a:gd name="adj" fmla="val 4124"/>
            </a:avLst>
          </a:prstGeom>
          <a:solidFill>
            <a:srgbClr val="EFF6FF"/>
          </a:solidFill>
          <a:ln w="9525">
            <a:solidFill>
              <a:srgbClr val="EFF6FF"/>
            </a:solidFill>
            <a:prstDash val="solid"/>
          </a:ln>
        </p:spPr>
      </p:sp>
      <p:sp>
        <p:nvSpPr>
          <p:cNvPr id="27" name="Shape 25"/>
          <p:cNvSpPr/>
          <p:nvPr/>
        </p:nvSpPr>
        <p:spPr>
          <a:xfrm>
            <a:off x="9486900" y="1828800"/>
            <a:ext cx="2034540" cy="365760"/>
          </a:xfrm>
          <a:prstGeom prst="roundRect">
            <a:avLst>
              <a:gd name="adj" fmla="val 25000"/>
            </a:avLst>
          </a:prstGeom>
          <a:solidFill>
            <a:srgbClr val="EF4444"/>
          </a:solidFill>
          <a:ln w="9525">
            <a:solidFill>
              <a:srgbClr val="EF4444"/>
            </a:solidFill>
            <a:prstDash val="solid"/>
          </a:ln>
        </p:spPr>
      </p:sp>
      <p:sp>
        <p:nvSpPr>
          <p:cNvPr id="28" name="Shape 26"/>
          <p:cNvSpPr/>
          <p:nvPr/>
        </p:nvSpPr>
        <p:spPr>
          <a:xfrm>
            <a:off x="9486900" y="2240280"/>
            <a:ext cx="2034540" cy="365760"/>
          </a:xfrm>
          <a:prstGeom prst="roundRect">
            <a:avLst>
              <a:gd name="adj" fmla="val 25000"/>
            </a:avLst>
          </a:prstGeom>
          <a:solidFill>
            <a:srgbClr val="F59E0B"/>
          </a:solidFill>
          <a:ln w="9525">
            <a:solidFill>
              <a:srgbClr val="F59E0B"/>
            </a:solidFill>
            <a:prstDash val="solid"/>
          </a:ln>
        </p:spPr>
      </p:sp>
      <p:sp>
        <p:nvSpPr>
          <p:cNvPr id="29" name="Shape 27"/>
          <p:cNvSpPr/>
          <p:nvPr/>
        </p:nvSpPr>
        <p:spPr>
          <a:xfrm>
            <a:off x="9486900" y="2651760"/>
            <a:ext cx="2034540" cy="365760"/>
          </a:xfrm>
          <a:prstGeom prst="roundRect">
            <a:avLst>
              <a:gd name="adj" fmla="val 25000"/>
            </a:avLst>
          </a:prstGeom>
          <a:solidFill>
            <a:srgbClr val="22C55E"/>
          </a:solidFill>
          <a:ln w="9525">
            <a:solidFill>
              <a:srgbClr val="22C55E"/>
            </a:solidFill>
            <a:prstDash val="solid"/>
          </a:ln>
        </p:spPr>
      </p:sp>
      <p:sp>
        <p:nvSpPr>
          <p:cNvPr id="30" name="Text 28"/>
          <p:cNvSpPr txBox="1"/>
          <p:nvPr/>
        </p:nvSpPr>
        <p:spPr>
          <a:xfrm>
            <a:off x="9304020" y="4224528"/>
            <a:ext cx="2400300" cy="320040"/>
          </a:xfrm>
          <a:prstGeom prst="rect">
            <a:avLst/>
          </a:prstGeom>
          <a:noFill/>
          <a:ln/>
        </p:spPr>
        <p:txBody>
          <a:bodyPr wrap="square" lIns="0" tIns="0" rIns="0" bIns="0" rtlCol="0" anchor="ctr"/>
          <a:lstStyle/>
          <a:p>
            <a:pPr marL="0" indent="0" algn="ctr">
              <a:buNone/>
            </a:pPr>
            <a:r>
              <a:rPr lang="en-US" sz="1300" b="1" dirty="0">
                <a:solidFill>
                  <a:srgbClr val="2563EB"/>
                </a:solidFill>
                <a:latin typeface="Courier New" pitchFamily="34" charset="0"/>
                <a:ea typeface="Courier New" pitchFamily="34" charset="-122"/>
                <a:cs typeface="Courier New" pitchFamily="34" charset="-120"/>
              </a:rPr>
              <a:t>stretch</a:t>
            </a:r>
            <a:endParaRPr lang="en-US" sz="1300" dirty="0"/>
          </a:p>
        </p:txBody>
      </p:sp>
      <p:sp>
        <p:nvSpPr>
          <p:cNvPr id="31" name="Text 29"/>
          <p:cNvSpPr txBox="1"/>
          <p:nvPr/>
        </p:nvSpPr>
        <p:spPr>
          <a:xfrm>
            <a:off x="9304020" y="4572000"/>
            <a:ext cx="2400300" cy="594360"/>
          </a:xfrm>
          <a:prstGeom prst="rect">
            <a:avLst/>
          </a:prstGeom>
          <a:noFill/>
          <a:ln/>
        </p:spPr>
        <p:txBody>
          <a:bodyPr wrap="square" lIns="0" tIns="0" rIns="0" bIns="0" rtlCol="0" anchor="t"/>
          <a:lstStyle/>
          <a:p>
            <a:pPr marL="0" indent="0" algn="ctr">
              <a:buNone/>
            </a:pPr>
            <a:r>
              <a:rPr lang="en-US" sz="1200" dirty="0">
                <a:solidFill>
                  <a:srgbClr val="111827"/>
                </a:solidFill>
                <a:latin typeface="Arial" pitchFamily="34" charset="0"/>
                <a:ea typeface="Arial" pitchFamily="34" charset="-122"/>
                <a:cs typeface="Arial" pitchFamily="34" charset="-120"/>
              </a:rPr>
              <a:t>Genişliği doldurur (varsayılan)</a:t>
            </a:r>
            <a:endParaRPr lang="en-US" sz="1200" dirty="0"/>
          </a:p>
        </p:txBody>
      </p:sp>
      <p:sp>
        <p:nvSpPr>
          <p:cNvPr id="32" name="Shape 30"/>
          <p:cNvSpPr/>
          <p:nvPr/>
        </p:nvSpPr>
        <p:spPr>
          <a:xfrm>
            <a:off x="731520" y="5303520"/>
            <a:ext cx="10972800" cy="914400"/>
          </a:xfrm>
          <a:prstGeom prst="roundRect">
            <a:avLst>
              <a:gd name="adj" fmla="val 10000"/>
            </a:avLst>
          </a:prstGeom>
          <a:solidFill>
            <a:srgbClr val="EFF6FF"/>
          </a:solidFill>
          <a:ln w="9525">
            <a:solidFill>
              <a:srgbClr val="EFF6FF"/>
            </a:solidFill>
            <a:prstDash val="solid"/>
          </a:ln>
        </p:spPr>
      </p:sp>
      <p:sp>
        <p:nvSpPr>
          <p:cNvPr id="33" name="Text 31"/>
          <p:cNvSpPr txBox="1"/>
          <p:nvPr/>
        </p:nvSpPr>
        <p:spPr>
          <a:xfrm>
            <a:off x="932688" y="5431536"/>
            <a:ext cx="10570464" cy="658368"/>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Çocukları çapraz eksende ortalamak için center, kutu genişliğini kapsayıcıya yaymak için stretch kullanın; stretch yalnızca çocuğa sabit genişlik verilmemişse etkilidir ve alignItems'ın varsayılanıdır.</a:t>
            </a:r>
            <a:endParaRPr lang="en-US" sz="1100" dirty="0"/>
          </a:p>
        </p:txBody>
      </p:sp>
      <p:sp>
        <p:nvSpPr>
          <p:cNvPr id="34"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Ekranı Ortalamak</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891333"/>
          </a:xfrm>
          <a:prstGeom prst="roundRect">
            <a:avLst>
              <a:gd name="adj" fmla="val 3163"/>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342693"/>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&lt;View</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style={{</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flex: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justifyContent: </a:t>
            </a:r>
            <a:r>
              <a:rPr lang="en-US" sz="1600" dirty="0">
                <a:solidFill>
                  <a:srgbClr val="047857"/>
                </a:solidFill>
                <a:latin typeface="Courier New" pitchFamily="34" charset="0"/>
                <a:ea typeface="Courier New" pitchFamily="34" charset="-122"/>
                <a:cs typeface="Courier New" pitchFamily="34" charset="-120"/>
              </a:rPr>
              <a:t>'center'</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alignItems: </a:t>
            </a:r>
            <a:r>
              <a:rPr lang="en-US" sz="1600" dirty="0">
                <a:solidFill>
                  <a:srgbClr val="047857"/>
                </a:solidFill>
                <a:latin typeface="Courier New" pitchFamily="34" charset="0"/>
                <a:ea typeface="Courier New" pitchFamily="34" charset="-122"/>
                <a:cs typeface="Courier New" pitchFamily="34" charset="-120"/>
              </a:rPr>
              <a:t>'center'</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&lt;Text&gt;Ortada&lt;/Text&gt;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&lt;/View&gt;</a:t>
            </a:r>
            <a:endParaRPr lang="en-US" sz="1600" dirty="0"/>
          </a:p>
        </p:txBody>
      </p:sp>
      <p:sp>
        <p:nvSpPr>
          <p:cNvPr id="7" name="Shape 5"/>
          <p:cNvSpPr/>
          <p:nvPr/>
        </p:nvSpPr>
        <p:spPr>
          <a:xfrm>
            <a:off x="731520" y="4674413"/>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802429"/>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Metin ekranın tam ortasında görünür.</a:t>
            </a:r>
            <a:endParaRPr lang="en-US" sz="1100" dirty="0"/>
          </a:p>
        </p:txBody>
      </p:sp>
      <p:sp>
        <p:nvSpPr>
          <p:cNvPr id="9" name="Text 7"/>
          <p:cNvSpPr txBox="1"/>
          <p:nvPr/>
        </p:nvSpPr>
        <p:spPr>
          <a:xfrm>
            <a:off x="7772400" y="1645920"/>
            <a:ext cx="3931920" cy="26334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en sık yapılan düzeni, içeriği ekranın ortasına koymayı yapmaktır.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flex: 1 kapsayıcıyı tüm boş alana yayar; yoksa yüksekliği yalnızca içeriği kadar olur. Varsayılan yön column olduğu için justifyContent dikeyde, alignItems yatayda ortalar.</a:t>
            </a:r>
            <a:endParaRPr lang="en-US" sz="1800" dirty="0"/>
          </a:p>
        </p:txBody>
      </p:sp>
      <p:sp>
        <p:nvSpPr>
          <p:cNvPr id="10" name="Shape 8"/>
          <p:cNvSpPr/>
          <p:nvPr/>
        </p:nvSpPr>
        <p:spPr>
          <a:xfrm>
            <a:off x="7772400" y="4416552"/>
            <a:ext cx="3931920" cy="1170432"/>
          </a:xfrm>
          <a:prstGeom prst="roundRect">
            <a:avLst>
              <a:gd name="adj" fmla="val 7813"/>
            </a:avLst>
          </a:prstGeom>
          <a:solidFill>
            <a:srgbClr val="EFF6FF"/>
          </a:solidFill>
          <a:ln w="9525">
            <a:solidFill>
              <a:srgbClr val="EFF6FF"/>
            </a:solidFill>
            <a:prstDash val="solid"/>
          </a:ln>
        </p:spPr>
      </p:sp>
      <p:sp>
        <p:nvSpPr>
          <p:cNvPr id="11" name="Text 9"/>
          <p:cNvSpPr txBox="1"/>
          <p:nvPr/>
        </p:nvSpPr>
        <p:spPr>
          <a:xfrm>
            <a:off x="7973568" y="4544568"/>
            <a:ext cx="3529584" cy="914400"/>
          </a:xfrm>
          <a:prstGeom prst="rect">
            <a:avLst/>
          </a:prstGeom>
          <a:noFill/>
          <a:ln/>
        </p:spPr>
        <p:txBody>
          <a:bodyPr wrap="square" lIns="0" tIns="0" rIns="0" bIns="0" rtlCol="0" anchor="t"/>
          <a:lstStyle/>
          <a:p>
            <a:pPr marL="0" indent="0" algn="l">
              <a:buNone/>
            </a:pPr>
            <a:r>
              <a:rPr lang="en-US" sz="1100" b="1" dirty="0">
                <a:solidFill>
                  <a:srgbClr val="B91C1C"/>
                </a:solidFill>
                <a:latin typeface="Arial" pitchFamily="34" charset="0"/>
                <a:ea typeface="Arial" pitchFamily="34" charset="-122"/>
                <a:cs typeface="Arial" pitchFamily="34" charset="-120"/>
              </a:rPr>
              <a:t>SIK YAPILAN HATA</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flex: 1 yazmadan ortalamaya çalışmak; kapsayıcı küçük kaldığı için içerik ortalanmış görünmez.</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flex: Boş Alanı Paylaşmak</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136392"/>
          </a:xfrm>
          <a:prstGeom prst="roundRect">
            <a:avLst>
              <a:gd name="adj" fmla="val 291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587752"/>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c = (f: number, bg: string) =&gt;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flex: f, backgroundColor: bg,</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split =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&lt;View style={{ flex: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&lt;View style={c(</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'tomato'</a:t>
            </a:r>
            <a:r>
              <a:rPr lang="en-US" sz="1600" dirty="0">
                <a:solidFill>
                  <a:srgbClr val="111827"/>
                </a:solidFill>
                <a:latin typeface="Courier New" pitchFamily="34" charset="0"/>
                <a:ea typeface="Courier New" pitchFamily="34" charset="-122"/>
                <a:cs typeface="Courier New" pitchFamily="34" charset="-120"/>
              </a:rPr>
              <a:t>)}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&lt;View style={c(</a:t>
            </a:r>
            <a:r>
              <a:rPr lang="en-US" sz="1600" dirty="0">
                <a:solidFill>
                  <a:srgbClr val="B45309"/>
                </a:solidFill>
                <a:latin typeface="Courier New" pitchFamily="34" charset="0"/>
                <a:ea typeface="Courier New" pitchFamily="34" charset="-122"/>
                <a:cs typeface="Courier New" pitchFamily="34" charset="-120"/>
              </a:rPr>
              <a:t>2</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'gold'</a:t>
            </a:r>
            <a:r>
              <a:rPr lang="en-US" sz="1600" dirty="0">
                <a:solidFill>
                  <a:srgbClr val="111827"/>
                </a:solidFill>
                <a:latin typeface="Courier New" pitchFamily="34" charset="0"/>
                <a:ea typeface="Courier New" pitchFamily="34" charset="-122"/>
                <a:cs typeface="Courier New" pitchFamily="34" charset="-120"/>
              </a:rPr>
              <a:t>)}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&lt;View style={c(</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'teal'</a:t>
            </a:r>
            <a:r>
              <a:rPr lang="en-US" sz="1600" dirty="0">
                <a:solidFill>
                  <a:srgbClr val="111827"/>
                </a:solidFill>
                <a:latin typeface="Courier New" pitchFamily="34" charset="0"/>
                <a:ea typeface="Courier New" pitchFamily="34" charset="-122"/>
                <a:cs typeface="Courier New" pitchFamily="34" charset="-120"/>
              </a:rPr>
              <a:t>)}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&lt;/View&gt;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919472"/>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5047488"/>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Ekran dikey olarak üç renge bölünür; ortadaki sarı alan diğerlerinin iki katı yüksekliktedir.</a:t>
            </a:r>
            <a:endParaRPr lang="en-US" sz="1100" dirty="0"/>
          </a:p>
        </p:txBody>
      </p:sp>
      <p:sp>
        <p:nvSpPr>
          <p:cNvPr id="9" name="Text 7"/>
          <p:cNvSpPr txBox="1"/>
          <p:nvPr/>
        </p:nvSpPr>
        <p:spPr>
          <a:xfrm>
            <a:off x="7772400" y="1645920"/>
            <a:ext cx="3931920" cy="40050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kapsayıcının boş alanını çocuklar arasında oranla bölmektir.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flex değeri, çocuğun boş alandaki payını belirtir. Üç çocuğun toplamı 4 olduğundan alan 1/4, 2/4 ve 1/4 oranında paylaşılır. Sabit yükseklikli bir çocuk eklerseniz, kalan alanı flex'li çocuklar paylaşır.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Oransal bölme için flex, kesin ölçü gerektiğinde width veya height kullanılır; farklı ekran boyutlarına uyum için flex genellikle daha dayanıklıdır.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alignSelf ve flexWrap</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891333"/>
          </a:xfrm>
          <a:prstGeom prst="roundRect">
            <a:avLst>
              <a:gd name="adj" fmla="val 3163"/>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342693"/>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&lt;View style={{</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flexDirection: </a:t>
            </a:r>
            <a:r>
              <a:rPr lang="en-US" sz="1600" dirty="0">
                <a:solidFill>
                  <a:srgbClr val="047857"/>
                </a:solidFill>
                <a:latin typeface="Courier New" pitchFamily="34" charset="0"/>
                <a:ea typeface="Courier New" pitchFamily="34" charset="-122"/>
                <a:cs typeface="Courier New" pitchFamily="34" charset="-120"/>
              </a:rPr>
              <a:t>'row'</a:t>
            </a:r>
            <a:r>
              <a:rPr lang="en-US" sz="1600" dirty="0">
                <a:solidFill>
                  <a:srgbClr val="111827"/>
                </a:solidFill>
                <a:latin typeface="Courier New" pitchFamily="34" charset="0"/>
                <a:ea typeface="Courier New" pitchFamily="34" charset="-122"/>
                <a:cs typeface="Courier New" pitchFamily="34" charset="-120"/>
              </a:rPr>
              <a:t>, flexWrap: </a:t>
            </a:r>
            <a:r>
              <a:rPr lang="en-US" sz="1600" dirty="0">
                <a:solidFill>
                  <a:srgbClr val="047857"/>
                </a:solidFill>
                <a:latin typeface="Courier New" pitchFamily="34" charset="0"/>
                <a:ea typeface="Courier New" pitchFamily="34" charset="-122"/>
                <a:cs typeface="Courier New" pitchFamily="34" charset="-120"/>
              </a:rPr>
              <a:t>'wrap'</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 style={{ alignSelf: </a:t>
            </a:r>
            <a:r>
              <a:rPr lang="en-US" sz="1600" dirty="0">
                <a:solidFill>
                  <a:srgbClr val="047857"/>
                </a:solidFill>
                <a:latin typeface="Courier New" pitchFamily="34" charset="0"/>
                <a:ea typeface="Courier New" pitchFamily="34" charset="-122"/>
                <a:cs typeface="Courier New" pitchFamily="34" charset="-120"/>
              </a:rPr>
              <a:t>'flex-end'</a:t>
            </a:r>
            <a:r>
              <a:rPr lang="en-US" sz="1600" dirty="0">
                <a:solidFill>
                  <a:srgbClr val="111827"/>
                </a:solidFill>
                <a:latin typeface="Courier New" pitchFamily="34" charset="0"/>
                <a:ea typeface="Courier New" pitchFamily="34" charset="-122"/>
                <a:cs typeface="Courier New" pitchFamily="34" charset="-120"/>
              </a:rPr>
              <a:t>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Alt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&lt;Text&gt;Etiket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&lt;Text&gt;Etiket </a:t>
            </a:r>
            <a:r>
              <a:rPr lang="en-US" sz="1600" dirty="0">
                <a:solidFill>
                  <a:srgbClr val="B45309"/>
                </a:solidFill>
                <a:latin typeface="Courier New" pitchFamily="34" charset="0"/>
                <a:ea typeface="Courier New" pitchFamily="34" charset="-122"/>
                <a:cs typeface="Courier New" pitchFamily="34" charset="-120"/>
              </a:rPr>
              <a:t>2</a:t>
            </a:r>
            <a:r>
              <a:rPr lang="en-US" sz="1600" dirty="0">
                <a:solidFill>
                  <a:srgbClr val="111827"/>
                </a:solidFill>
                <a:latin typeface="Courier New" pitchFamily="34" charset="0"/>
                <a:ea typeface="Courier New" pitchFamily="34" charset="-122"/>
                <a:cs typeface="Courier New" pitchFamily="34" charset="-120"/>
              </a:rPr>
              <a:t>&lt;/Text&gt;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&lt;/View&gt;</a:t>
            </a:r>
            <a:endParaRPr lang="en-US" sz="1600" dirty="0"/>
          </a:p>
        </p:txBody>
      </p:sp>
      <p:sp>
        <p:nvSpPr>
          <p:cNvPr id="7" name="Shape 5"/>
          <p:cNvSpPr/>
          <p:nvPr/>
        </p:nvSpPr>
        <p:spPr>
          <a:xfrm>
            <a:off x="731520" y="4674413"/>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4802429"/>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Etiketler yan yana dizilir, sığmayanlar alt satıra iner; "Alt" yazısı satırın altına hizalanır.</a:t>
            </a:r>
            <a:endParaRPr lang="en-US" sz="1100" dirty="0"/>
          </a:p>
        </p:txBody>
      </p:sp>
      <p:sp>
        <p:nvSpPr>
          <p:cNvPr id="9" name="Text 7"/>
          <p:cNvSpPr txBox="1"/>
          <p:nvPr/>
        </p:nvSpPr>
        <p:spPr>
          <a:xfrm>
            <a:off x="7772400" y="1645920"/>
            <a:ext cx="3931920" cy="290779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tek bir çocuğu farklı hizalamak ve sığmayan öğeleri alt satıra sarmaktır.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alignSelf, alignItems'ın tek bir çocuk için geçersiz kılınmış hâlidir. flexWrap wrap, çocuklar tek satıra sığmadığında yeni satıra geçmelerini sağlar; varsayılan davranışta öğeler sıkışır veya taşar.</a:t>
            </a:r>
            <a:endParaRPr lang="en-US" sz="1800" dirty="0"/>
          </a:p>
        </p:txBody>
      </p:sp>
      <p:sp>
        <p:nvSpPr>
          <p:cNvPr id="10" name="Shape 8"/>
          <p:cNvSpPr/>
          <p:nvPr/>
        </p:nvSpPr>
        <p:spPr>
          <a:xfrm>
            <a:off x="7772400" y="4690872"/>
            <a:ext cx="3931920" cy="1383792"/>
          </a:xfrm>
          <a:prstGeom prst="roundRect">
            <a:avLst>
              <a:gd name="adj" fmla="val 6608"/>
            </a:avLst>
          </a:prstGeom>
          <a:solidFill>
            <a:srgbClr val="EFF6FF"/>
          </a:solidFill>
          <a:ln w="9525">
            <a:solidFill>
              <a:srgbClr val="EFF6FF"/>
            </a:solidFill>
            <a:prstDash val="solid"/>
          </a:ln>
        </p:spPr>
      </p:sp>
      <p:sp>
        <p:nvSpPr>
          <p:cNvPr id="11" name="Text 9"/>
          <p:cNvSpPr txBox="1"/>
          <p:nvPr/>
        </p:nvSpPr>
        <p:spPr>
          <a:xfrm>
            <a:off x="7973568" y="4818888"/>
            <a:ext cx="352958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Kullanıcı etiketleri veya ilgi alanları gibi uzunluğu bilinmeyen içeriklerde flexWrap kullanılmazsa öğeler ekran dışına taşabilir.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Boşluk: margin, padding ve gap</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1666037"/>
          </a:xfrm>
          <a:prstGeom prst="roundRect">
            <a:avLst>
              <a:gd name="adj" fmla="val 5488"/>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1117397"/>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&lt;View style={{ flexDirection: </a:t>
            </a:r>
            <a:r>
              <a:rPr lang="en-US" sz="1600" dirty="0">
                <a:solidFill>
                  <a:srgbClr val="047857"/>
                </a:solidFill>
                <a:latin typeface="Courier New" pitchFamily="34" charset="0"/>
                <a:ea typeface="Courier New" pitchFamily="34" charset="-122"/>
                <a:cs typeface="Courier New" pitchFamily="34" charset="-120"/>
              </a:rPr>
              <a:t>'row'</a:t>
            </a:r>
            <a:r>
              <a:rPr lang="en-US" sz="1600" dirty="0">
                <a:solidFill>
                  <a:srgbClr val="111827"/>
                </a:solidFill>
                <a:latin typeface="Courier New" pitchFamily="34" charset="0"/>
                <a:ea typeface="Courier New" pitchFamily="34" charset="-122"/>
                <a:cs typeface="Courier New" pitchFamily="34" charset="-120"/>
              </a:rPr>
              <a:t>, gap: </a:t>
            </a:r>
            <a:r>
              <a:rPr lang="en-US" sz="1600" dirty="0">
                <a:solidFill>
                  <a:srgbClr val="B45309"/>
                </a:solidFill>
                <a:latin typeface="Courier New" pitchFamily="34" charset="0"/>
                <a:ea typeface="Courier New" pitchFamily="34" charset="-122"/>
                <a:cs typeface="Courier New" pitchFamily="34" charset="-120"/>
              </a:rPr>
              <a:t>12</a:t>
            </a:r>
            <a:r>
              <a:rPr lang="en-US" sz="1600" dirty="0">
                <a:solidFill>
                  <a:srgbClr val="111827"/>
                </a:solidFill>
                <a:latin typeface="Courier New" pitchFamily="34" charset="0"/>
                <a:ea typeface="Courier New" pitchFamily="34" charset="-122"/>
                <a:cs typeface="Courier New" pitchFamily="34" charset="-120"/>
              </a:rPr>
              <a:t>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 style={{ padding: </a:t>
            </a:r>
            <a:r>
              <a:rPr lang="en-US" sz="1600" dirty="0">
                <a:solidFill>
                  <a:srgbClr val="B45309"/>
                </a:solidFill>
                <a:latin typeface="Courier New" pitchFamily="34" charset="0"/>
                <a:ea typeface="Courier New" pitchFamily="34" charset="-122"/>
                <a:cs typeface="Courier New" pitchFamily="34" charset="-120"/>
              </a:rPr>
              <a:t>8</a:t>
            </a:r>
            <a:r>
              <a:rPr lang="en-US" sz="1600" dirty="0">
                <a:solidFill>
                  <a:srgbClr val="111827"/>
                </a:solidFill>
                <a:latin typeface="Courier New" pitchFamily="34" charset="0"/>
                <a:ea typeface="Courier New" pitchFamily="34" charset="-122"/>
                <a:cs typeface="Courier New" pitchFamily="34" charset="-120"/>
              </a:rPr>
              <a:t>, margin: </a:t>
            </a:r>
            <a:r>
              <a:rPr lang="en-US" sz="1600" dirty="0">
                <a:solidFill>
                  <a:srgbClr val="B45309"/>
                </a:solidFill>
                <a:latin typeface="Courier New" pitchFamily="34" charset="0"/>
                <a:ea typeface="Courier New" pitchFamily="34" charset="-122"/>
                <a:cs typeface="Courier New" pitchFamily="34" charset="-120"/>
              </a:rPr>
              <a:t>4</a:t>
            </a:r>
            <a:r>
              <a:rPr lang="en-US" sz="1600" dirty="0">
                <a:solidFill>
                  <a:srgbClr val="111827"/>
                </a:solidFill>
                <a:latin typeface="Courier New" pitchFamily="34" charset="0"/>
                <a:ea typeface="Courier New" pitchFamily="34" charset="-122"/>
                <a:cs typeface="Courier New" pitchFamily="34" charset="-120"/>
              </a:rPr>
              <a:t> }}&gt;A&lt;/Text&gt;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 style={{ paddingHorizontal: </a:t>
            </a:r>
            <a:r>
              <a:rPr lang="en-US" sz="1600" dirty="0">
                <a:solidFill>
                  <a:srgbClr val="B45309"/>
                </a:solidFill>
                <a:latin typeface="Courier New" pitchFamily="34" charset="0"/>
                <a:ea typeface="Courier New" pitchFamily="34" charset="-122"/>
                <a:cs typeface="Courier New" pitchFamily="34" charset="-120"/>
              </a:rPr>
              <a:t>16</a:t>
            </a:r>
            <a:r>
              <a:rPr lang="en-US" sz="1600" dirty="0">
                <a:solidFill>
                  <a:srgbClr val="111827"/>
                </a:solidFill>
                <a:latin typeface="Courier New" pitchFamily="34" charset="0"/>
                <a:ea typeface="Courier New" pitchFamily="34" charset="-122"/>
                <a:cs typeface="Courier New" pitchFamily="34" charset="-120"/>
              </a:rPr>
              <a:t> }}&gt;B&lt;/Text&gt;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&lt;/View&gt;</a:t>
            </a:r>
            <a:endParaRPr lang="en-US" sz="1600" dirty="0"/>
          </a:p>
        </p:txBody>
      </p:sp>
      <p:sp>
        <p:nvSpPr>
          <p:cNvPr id="7" name="Shape 5"/>
          <p:cNvSpPr/>
          <p:nvPr/>
        </p:nvSpPr>
        <p:spPr>
          <a:xfrm>
            <a:off x="731520" y="3449117"/>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3577133"/>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A ve B yan yana, aralarında en az 12 birim boşlukla görünür.</a:t>
            </a:r>
            <a:endParaRPr lang="en-US" sz="1100" dirty="0"/>
          </a:p>
        </p:txBody>
      </p:sp>
      <p:sp>
        <p:nvSpPr>
          <p:cNvPr id="9" name="Text 7"/>
          <p:cNvSpPr txBox="1"/>
          <p:nvPr/>
        </p:nvSpPr>
        <p:spPr>
          <a:xfrm>
            <a:off x="7772400" y="1645920"/>
            <a:ext cx="3931920" cy="40050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öğeler arasında ve içinde boşluk bırakmaktır.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padding öğenin içindeki, margin dışındaki boşluktur. Horizontal ve vertical ekleri yalnızca yatay veya dikey kenarlara uygulanır. gap ise çocuklar arasına eşit boşluk koyar ve her çocuğa ayrı margin yazma gereğini ortadan kaldırır.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Çocuklar arasındaki düzenli boşluk için gap, tek bir öğenin çevresi için margin, içeriğin kenardan uzaklığı için padding kullanın.</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Boyutlar: Sabit, Yüzde ve En Boy Oranı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1666037"/>
          </a:xfrm>
          <a:prstGeom prst="roundRect">
            <a:avLst>
              <a:gd name="adj" fmla="val 5488"/>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1117397"/>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&lt;View style={{ width: </a:t>
            </a:r>
            <a:r>
              <a:rPr lang="en-US" sz="1600" dirty="0">
                <a:solidFill>
                  <a:srgbClr val="047857"/>
                </a:solidFill>
                <a:latin typeface="Courier New" pitchFamily="34" charset="0"/>
                <a:ea typeface="Courier New" pitchFamily="34" charset="-122"/>
                <a:cs typeface="Courier New" pitchFamily="34" charset="-120"/>
              </a:rPr>
              <a:t>'80%'</a:t>
            </a:r>
            <a:r>
              <a:rPr lang="en-US" sz="1600" dirty="0">
                <a:solidFill>
                  <a:srgbClr val="111827"/>
                </a:solidFill>
                <a:latin typeface="Courier New" pitchFamily="34" charset="0"/>
                <a:ea typeface="Courier New" pitchFamily="34" charset="-122"/>
                <a:cs typeface="Courier New" pitchFamily="34" charset="-120"/>
              </a:rPr>
              <a:t>, height: </a:t>
            </a:r>
            <a:r>
              <a:rPr lang="en-US" sz="1600" dirty="0">
                <a:solidFill>
                  <a:srgbClr val="B45309"/>
                </a:solidFill>
                <a:latin typeface="Courier New" pitchFamily="34" charset="0"/>
                <a:ea typeface="Courier New" pitchFamily="34" charset="-122"/>
                <a:cs typeface="Courier New" pitchFamily="34" charset="-120"/>
              </a:rPr>
              <a:t>100</a:t>
            </a:r>
            <a:r>
              <a:rPr lang="en-US" sz="1600" dirty="0">
                <a:solidFill>
                  <a:srgbClr val="111827"/>
                </a:solidFill>
                <a:latin typeface="Courier New" pitchFamily="34" charset="0"/>
                <a:ea typeface="Courier New" pitchFamily="34" charset="-122"/>
                <a:cs typeface="Courier New" pitchFamily="34" charset="-120"/>
              </a:rPr>
              <a:t>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&lt;View style={{ width: </a:t>
            </a:r>
            <a:r>
              <a:rPr lang="en-US" sz="1600" dirty="0">
                <a:solidFill>
                  <a:srgbClr val="047857"/>
                </a:solidFill>
                <a:latin typeface="Courier New" pitchFamily="34" charset="0"/>
                <a:ea typeface="Courier New" pitchFamily="34" charset="-122"/>
                <a:cs typeface="Courier New" pitchFamily="34" charset="-120"/>
              </a:rPr>
              <a:t>'50%'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aspectRatio: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 }}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&lt;/View&gt;</a:t>
            </a:r>
            <a:endParaRPr lang="en-US" sz="1600" dirty="0"/>
          </a:p>
        </p:txBody>
      </p:sp>
      <p:sp>
        <p:nvSpPr>
          <p:cNvPr id="7" name="Shape 5"/>
          <p:cNvSpPr/>
          <p:nvPr/>
        </p:nvSpPr>
        <p:spPr>
          <a:xfrm>
            <a:off x="731520" y="3449117"/>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3577133"/>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Ekran genişliğinin yüzde seksenini kaplayan 100 birim yüksekliğinde bir alan ve içinde onun yarı genişliğinde bir kare görünür.</a:t>
            </a:r>
            <a:endParaRPr lang="en-US" sz="1100" dirty="0"/>
          </a:p>
        </p:txBody>
      </p:sp>
      <p:sp>
        <p:nvSpPr>
          <p:cNvPr id="9" name="Text 7"/>
          <p:cNvSpPr txBox="1"/>
          <p:nvPr/>
        </p:nvSpPr>
        <p:spPr>
          <a:xfrm>
            <a:off x="7772400" y="1645920"/>
            <a:ext cx="3931920" cy="26334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ölçüyü sabit ya da içine yerleştiği alana göre belirlemektir.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Yüzde değerleri ebeveynin boyutuna göre hesaplanır. aspectRatio, genişlik verilince yüksekliği orana göre kendisi belirler; 1 değeri kare demektir. Böylece farklı ekranlarda bile resim ve kartların oranı korunur.</a:t>
            </a:r>
            <a:endParaRPr lang="en-US" sz="1800" dirty="0"/>
          </a:p>
        </p:txBody>
      </p:sp>
      <p:sp>
        <p:nvSpPr>
          <p:cNvPr id="10" name="Shape 8"/>
          <p:cNvSpPr/>
          <p:nvPr/>
        </p:nvSpPr>
        <p:spPr>
          <a:xfrm>
            <a:off x="7772400" y="4416552"/>
            <a:ext cx="3931920" cy="1170432"/>
          </a:xfrm>
          <a:prstGeom prst="roundRect">
            <a:avLst>
              <a:gd name="adj" fmla="val 7813"/>
            </a:avLst>
          </a:prstGeom>
          <a:solidFill>
            <a:srgbClr val="EFF6FF"/>
          </a:solidFill>
          <a:ln w="9525">
            <a:solidFill>
              <a:srgbClr val="EFF6FF"/>
            </a:solidFill>
            <a:prstDash val="solid"/>
          </a:ln>
        </p:spPr>
      </p:sp>
      <p:sp>
        <p:nvSpPr>
          <p:cNvPr id="11" name="Text 9"/>
          <p:cNvSpPr txBox="1"/>
          <p:nvPr/>
        </p:nvSpPr>
        <p:spPr>
          <a:xfrm>
            <a:off x="7973568" y="4544568"/>
            <a:ext cx="3529584" cy="91440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Ebeveynin boyutu belli değilse yüzdeler çalışmaz; kapsayıcıya flex veya sabit boyut vermeyi unutmayın.</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position: absolute ile Üst Üste Bindirme</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381451"/>
          </a:xfrm>
          <a:prstGeom prst="roundRect">
            <a:avLst>
              <a:gd name="adj" fmla="val 2704"/>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832811"/>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avatar = require(</a:t>
            </a:r>
            <a:r>
              <a:rPr lang="en-US" sz="1600" dirty="0">
                <a:solidFill>
                  <a:srgbClr val="047857"/>
                </a:solidFill>
                <a:latin typeface="Courier New" pitchFamily="34" charset="0"/>
                <a:ea typeface="Courier New" pitchFamily="34" charset="-122"/>
                <a:cs typeface="Courier New" pitchFamily="34" charset="-120"/>
              </a:rPr>
              <a:t>'./avatar.png'</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withBadge =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&lt;View style={{ width: </a:t>
            </a:r>
            <a:r>
              <a:rPr lang="en-US" sz="1600" dirty="0">
                <a:solidFill>
                  <a:srgbClr val="B45309"/>
                </a:solidFill>
                <a:latin typeface="Courier New" pitchFamily="34" charset="0"/>
                <a:ea typeface="Courier New" pitchFamily="34" charset="-122"/>
                <a:cs typeface="Courier New" pitchFamily="34" charset="-120"/>
              </a:rPr>
              <a:t>80</a:t>
            </a:r>
            <a:r>
              <a:rPr lang="en-US" sz="1600" dirty="0">
                <a:solidFill>
                  <a:srgbClr val="111827"/>
                </a:solidFill>
                <a:latin typeface="Courier New" pitchFamily="34" charset="0"/>
                <a:ea typeface="Courier New" pitchFamily="34" charset="-122"/>
                <a:cs typeface="Courier New" pitchFamily="34" charset="-120"/>
              </a:rPr>
              <a:t>, height: </a:t>
            </a:r>
            <a:r>
              <a:rPr lang="en-US" sz="1600" dirty="0">
                <a:solidFill>
                  <a:srgbClr val="B45309"/>
                </a:solidFill>
                <a:latin typeface="Courier New" pitchFamily="34" charset="0"/>
                <a:ea typeface="Courier New" pitchFamily="34" charset="-122"/>
                <a:cs typeface="Courier New" pitchFamily="34" charset="-120"/>
              </a:rPr>
              <a:t>80</a:t>
            </a:r>
            <a:r>
              <a:rPr lang="en-US" sz="1600" dirty="0">
                <a:solidFill>
                  <a:srgbClr val="111827"/>
                </a:solidFill>
                <a:latin typeface="Courier New" pitchFamily="34" charset="0"/>
                <a:ea typeface="Courier New" pitchFamily="34" charset="-122"/>
                <a:cs typeface="Courier New" pitchFamily="34" charset="-120"/>
              </a:rPr>
              <a:t>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&lt;Image source={avatar} style={{ flex: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 }}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&lt;View style={{</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position: </a:t>
            </a:r>
            <a:r>
              <a:rPr lang="en-US" sz="1600" dirty="0">
                <a:solidFill>
                  <a:srgbClr val="047857"/>
                </a:solidFill>
                <a:latin typeface="Courier New" pitchFamily="34" charset="0"/>
                <a:ea typeface="Courier New" pitchFamily="34" charset="-122"/>
                <a:cs typeface="Courier New" pitchFamily="34" charset="-120"/>
              </a:rPr>
              <a:t>'absolute'</a:t>
            </a:r>
            <a:r>
              <a:rPr lang="en-US" sz="1600" dirty="0">
                <a:solidFill>
                  <a:srgbClr val="111827"/>
                </a:solidFill>
                <a:latin typeface="Courier New" pitchFamily="34" charset="0"/>
                <a:ea typeface="Courier New" pitchFamily="34" charset="-122"/>
                <a:cs typeface="Courier New" pitchFamily="34" charset="-120"/>
              </a:rPr>
              <a:t>, top: </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 right: </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width: </a:t>
            </a:r>
            <a:r>
              <a:rPr lang="en-US" sz="1600" dirty="0">
                <a:solidFill>
                  <a:srgbClr val="B45309"/>
                </a:solidFill>
                <a:latin typeface="Courier New" pitchFamily="34" charset="0"/>
                <a:ea typeface="Courier New" pitchFamily="34" charset="-122"/>
                <a:cs typeface="Courier New" pitchFamily="34" charset="-120"/>
              </a:rPr>
              <a:t>20</a:t>
            </a:r>
            <a:r>
              <a:rPr lang="en-US" sz="1600" dirty="0">
                <a:solidFill>
                  <a:srgbClr val="111827"/>
                </a:solidFill>
                <a:latin typeface="Courier New" pitchFamily="34" charset="0"/>
                <a:ea typeface="Courier New" pitchFamily="34" charset="-122"/>
                <a:cs typeface="Courier New" pitchFamily="34" charset="-120"/>
              </a:rPr>
              <a:t>, height: </a:t>
            </a:r>
            <a:r>
              <a:rPr lang="en-US" sz="1600" dirty="0">
                <a:solidFill>
                  <a:srgbClr val="B45309"/>
                </a:solidFill>
                <a:latin typeface="Courier New" pitchFamily="34" charset="0"/>
                <a:ea typeface="Courier New" pitchFamily="34" charset="-122"/>
                <a:cs typeface="Courier New" pitchFamily="34" charset="-120"/>
              </a:rPr>
              <a:t>20</a:t>
            </a:r>
            <a:r>
              <a:rPr lang="en-US" sz="1600" dirty="0">
                <a:solidFill>
                  <a:srgbClr val="111827"/>
                </a:solidFill>
                <a:latin typeface="Courier New" pitchFamily="34" charset="0"/>
                <a:ea typeface="Courier New" pitchFamily="34" charset="-122"/>
                <a:cs typeface="Courier New" pitchFamily="34" charset="-120"/>
              </a:rPr>
              <a:t>, borderRadius: </a:t>
            </a:r>
            <a:r>
              <a:rPr lang="en-US" sz="1600" dirty="0">
                <a:solidFill>
                  <a:srgbClr val="B45309"/>
                </a:solidFill>
                <a:latin typeface="Courier New" pitchFamily="34" charset="0"/>
                <a:ea typeface="Courier New" pitchFamily="34" charset="-122"/>
                <a:cs typeface="Courier New" pitchFamily="34" charset="-120"/>
              </a:rPr>
              <a:t>10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backgroundColor: </a:t>
            </a:r>
            <a:r>
              <a:rPr lang="en-US" sz="1600" dirty="0">
                <a:solidFill>
                  <a:srgbClr val="047857"/>
                </a:solidFill>
                <a:latin typeface="Courier New" pitchFamily="34" charset="0"/>
                <a:ea typeface="Courier New" pitchFamily="34" charset="-122"/>
                <a:cs typeface="Courier New" pitchFamily="34" charset="-120"/>
              </a:rPr>
              <a:t>'red'</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&lt;/View&gt;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5164531"/>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5292547"/>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80 birimlik avatarın sağ üst köşesinde kırmızı bir daire görünür.</a:t>
            </a:r>
            <a:endParaRPr lang="en-US" sz="1100" dirty="0"/>
          </a:p>
        </p:txBody>
      </p:sp>
      <p:sp>
        <p:nvSpPr>
          <p:cNvPr id="9" name="Text 7"/>
          <p:cNvSpPr txBox="1"/>
          <p:nvPr/>
        </p:nvSpPr>
        <p:spPr>
          <a:xfrm>
            <a:off x="7772400" y="1645920"/>
            <a:ext cx="3931920" cy="37307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bir öğeyi diğerinin üzerine, akışın dışında yerleştirmektir.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position absolute, öğeyi normal akıştan çıkarır ve en yakın ebeveyne göre top, right gibi değerlerle konumlandırır. Böylece avatarın köşesine bildirim rozeti bindirilir.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Normal düzen yeterliyse flex kullanın; yalnızca rozet, üst katman ve yüzen düğme gibi gerçekten bindirilen öğelerde absolute kullanın.</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822960" y="2194560"/>
            <a:ext cx="7315200" cy="365760"/>
          </a:xfrm>
          <a:prstGeom prst="rect">
            <a:avLst/>
          </a:prstGeom>
          <a:noFill/>
          <a:ln/>
        </p:spPr>
        <p:txBody>
          <a:bodyPr wrap="square" lIns="0" tIns="0" rIns="0" bIns="0" rtlCol="0" anchor="ctr"/>
          <a:lstStyle/>
          <a:p>
            <a:pPr marL="0" indent="0" algn="l">
              <a:buNone/>
            </a:pPr>
            <a:r>
              <a:rPr lang="en-US" sz="1600" b="1" kern="0" spc="400" dirty="0">
                <a:solidFill>
                  <a:srgbClr val="2563EB"/>
                </a:solidFill>
                <a:latin typeface="Arial" pitchFamily="34" charset="0"/>
                <a:ea typeface="Arial" pitchFamily="34" charset="-122"/>
                <a:cs typeface="Arial" pitchFamily="34" charset="-120"/>
              </a:rPr>
              <a:t>BÖLÜM 3</a:t>
            </a:r>
            <a:endParaRPr lang="en-US" sz="1600" dirty="0"/>
          </a:p>
        </p:txBody>
      </p:sp>
      <p:sp>
        <p:nvSpPr>
          <p:cNvPr id="3" name="Text 1"/>
          <p:cNvSpPr txBox="1"/>
          <p:nvPr/>
        </p:nvSpPr>
        <p:spPr>
          <a:xfrm>
            <a:off x="822960" y="2651760"/>
            <a:ext cx="10058400" cy="1371600"/>
          </a:xfrm>
          <a:prstGeom prst="rect">
            <a:avLst/>
          </a:prstGeom>
          <a:noFill/>
          <a:ln/>
        </p:spPr>
        <p:txBody>
          <a:bodyPr wrap="square" lIns="0" tIns="0" rIns="0" bIns="0" rtlCol="0" anchor="t"/>
          <a:lstStyle/>
          <a:p>
            <a:pPr marL="0" indent="0" algn="l">
              <a:buNone/>
            </a:pPr>
            <a:r>
              <a:rPr lang="en-US" sz="4400" b="1" dirty="0">
                <a:solidFill>
                  <a:srgbClr val="111827"/>
                </a:solidFill>
                <a:latin typeface="Arial" pitchFamily="34" charset="0"/>
                <a:ea typeface="Arial" pitchFamily="34" charset="-122"/>
                <a:cs typeface="Arial" pitchFamily="34" charset="-120"/>
              </a:rPr>
              <a:t>Boyut ve Güvenli Alan</a:t>
            </a:r>
            <a:endParaRPr lang="en-US" sz="4400" dirty="0"/>
          </a:p>
        </p:txBody>
      </p:sp>
      <p:sp>
        <p:nvSpPr>
          <p:cNvPr id="4" name="Text 2"/>
          <p:cNvSpPr txBox="1"/>
          <p:nvPr/>
        </p:nvSpPr>
        <p:spPr>
          <a:xfrm>
            <a:off x="822960" y="4114800"/>
            <a:ext cx="9144000" cy="548640"/>
          </a:xfrm>
          <a:prstGeom prst="rect">
            <a:avLst/>
          </a:prstGeom>
          <a:noFill/>
          <a:ln/>
        </p:spPr>
        <p:txBody>
          <a:bodyPr wrap="square" lIns="0" tIns="0" rIns="0" bIns="0" rtlCol="0" anchor="ctr"/>
          <a:lstStyle/>
          <a:p>
            <a:pPr marL="0" indent="0" algn="l">
              <a:buNone/>
            </a:pPr>
            <a:r>
              <a:rPr lang="en-US" sz="2200" dirty="0">
                <a:solidFill>
                  <a:srgbClr val="6B7280"/>
                </a:solidFill>
                <a:latin typeface="Arial" pitchFamily="34" charset="0"/>
                <a:ea typeface="Arial" pitchFamily="34" charset="-122"/>
                <a:cs typeface="Arial" pitchFamily="34" charset="-120"/>
              </a:rPr>
              <a:t>Farklı cihazlarda dayanıklı düzen</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Ekran Boyutunu Okumak</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381451"/>
          </a:xfrm>
          <a:prstGeom prst="roundRect">
            <a:avLst>
              <a:gd name="adj" fmla="val 2704"/>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832811"/>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import</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Text,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useWindowDimensions,</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from</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'react-native'</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function</a:t>
            </a:r>
            <a:r>
              <a:rPr lang="en-US" sz="1600" dirty="0">
                <a:solidFill>
                  <a:srgbClr val="111827"/>
                </a:solidFill>
                <a:latin typeface="Courier New" pitchFamily="34" charset="0"/>
                <a:ea typeface="Courier New" pitchFamily="34" charset="-122"/>
                <a:cs typeface="Courier New" pitchFamily="34" charset="-120"/>
              </a:rPr>
              <a:t> Info()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 width, height } = useWindowDimensions();</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label = width &gt; height ? </a:t>
            </a:r>
            <a:r>
              <a:rPr lang="en-US" sz="1600" dirty="0">
                <a:solidFill>
                  <a:srgbClr val="047857"/>
                </a:solidFill>
                <a:latin typeface="Courier New" pitchFamily="34" charset="0"/>
                <a:ea typeface="Courier New" pitchFamily="34" charset="-122"/>
                <a:cs typeface="Courier New" pitchFamily="34" charset="-120"/>
              </a:rPr>
              <a:t>'yatay'</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 </a:t>
            </a:r>
            <a:r>
              <a:rPr lang="en-US" sz="1600" dirty="0">
                <a:solidFill>
                  <a:srgbClr val="047857"/>
                </a:solidFill>
                <a:latin typeface="Courier New" pitchFamily="34" charset="0"/>
                <a:ea typeface="Courier New" pitchFamily="34" charset="-122"/>
                <a:cs typeface="Courier New" pitchFamily="34" charset="-120"/>
              </a:rPr>
              <a:t>'dikey'</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&lt;Text&gt;{width} x {height}: {label}&lt;/Text&gt;;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5164531"/>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5292547"/>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Ekranda örneğin "412 x 915: dikey" yazar; emülatör döndürülünce değerler ve etiket değişir.</a:t>
            </a:r>
            <a:endParaRPr lang="en-US" sz="1100" dirty="0"/>
          </a:p>
        </p:txBody>
      </p:sp>
      <p:sp>
        <p:nvSpPr>
          <p:cNvPr id="9" name="Text 7"/>
          <p:cNvSpPr txBox="1"/>
          <p:nvPr/>
        </p:nvSpPr>
        <p:spPr>
          <a:xfrm>
            <a:off x="7772400" y="1645920"/>
            <a:ext cx="3931920" cy="26334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ekran ölçülerine göre düzeni uyarlamaktır.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useWindowDimensions, pencere ölçülerini verir ve ekran döndürüldüğünde bileşeni otomatik güncelletir. Destructuring ile genişlik ve yüksekliği alırız. Bu değerler flex ve yüzde yetmediğinde koşullu düzen için kullanılır.</a:t>
            </a:r>
            <a:endParaRPr lang="en-US" sz="1800" dirty="0"/>
          </a:p>
        </p:txBody>
      </p:sp>
      <p:sp>
        <p:nvSpPr>
          <p:cNvPr id="10" name="Shape 8"/>
          <p:cNvSpPr/>
          <p:nvPr/>
        </p:nvSpPr>
        <p:spPr>
          <a:xfrm>
            <a:off x="7772400" y="4416552"/>
            <a:ext cx="3931920" cy="1170432"/>
          </a:xfrm>
          <a:prstGeom prst="roundRect">
            <a:avLst>
              <a:gd name="adj" fmla="val 7813"/>
            </a:avLst>
          </a:prstGeom>
          <a:solidFill>
            <a:srgbClr val="EFF6FF"/>
          </a:solidFill>
          <a:ln w="9525">
            <a:solidFill>
              <a:srgbClr val="EFF6FF"/>
            </a:solidFill>
            <a:prstDash val="solid"/>
          </a:ln>
        </p:spPr>
      </p:sp>
      <p:sp>
        <p:nvSpPr>
          <p:cNvPr id="11" name="Text 9"/>
          <p:cNvSpPr txBox="1"/>
          <p:nvPr/>
        </p:nvSpPr>
        <p:spPr>
          <a:xfrm>
            <a:off x="7973568" y="4544568"/>
            <a:ext cx="3529584" cy="91440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Önce flex ve yüzde ile çözmeyi deneyin; ölçüleri doğrudan okumak yalnızca gerçek ihtiyaç hâlinde tercih edilmelidir.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Ekran Yönelimi: Dikey ve Yatay</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Telefon döndürüldüğünde pencerenin genişliği ve yüksekliği yer değiştirir ve düzeniniz yeniden hesaplanır. Android'de varsayılan olarak yönelim değişikliği uygulamaya iletilir; yönelimi kilitlemek için AndroidManifest.xml içinde android:screenOrientation="portrait" gibi bir ayar kullanılır. Karar basittir: uygulamanız yatayda anlamlı bir deneyim sunuyorsa serbest bırakın, sunmuyorsa kilitleyin.</a:t>
            </a:r>
            <a:endParaRPr lang="en-US" sz="2200" dirty="0"/>
          </a:p>
        </p:txBody>
      </p:sp>
      <p:sp>
        <p:nvSpPr>
          <p:cNvPr id="5" name="Shape 3"/>
          <p:cNvSpPr/>
          <p:nvPr/>
        </p:nvSpPr>
        <p:spPr>
          <a:xfrm>
            <a:off x="8321040" y="1737360"/>
            <a:ext cx="914400" cy="1645920"/>
          </a:xfrm>
          <a:prstGeom prst="roundRect">
            <a:avLst>
              <a:gd name="adj" fmla="val 10000"/>
            </a:avLst>
          </a:prstGeom>
          <a:solidFill>
            <a:srgbClr val="FFFFFF"/>
          </a:solidFill>
          <a:ln w="25400">
            <a:solidFill>
              <a:srgbClr val="CBD5E1"/>
            </a:solidFill>
            <a:prstDash val="solid"/>
          </a:ln>
        </p:spPr>
      </p:sp>
      <p:sp>
        <p:nvSpPr>
          <p:cNvPr id="6" name="Text 4"/>
          <p:cNvSpPr txBox="1"/>
          <p:nvPr/>
        </p:nvSpPr>
        <p:spPr>
          <a:xfrm>
            <a:off x="8321040" y="1737360"/>
            <a:ext cx="914400" cy="1645920"/>
          </a:xfrm>
          <a:prstGeom prst="rect">
            <a:avLst/>
          </a:prstGeom>
          <a:noFill/>
          <a:ln/>
        </p:spPr>
        <p:txBody>
          <a:bodyPr wrap="square" lIns="0" tIns="0" rIns="0" bIns="0" rtlCol="0" anchor="ctr"/>
          <a:lstStyle/>
          <a:p>
            <a:pPr marL="0" indent="0" algn="ctr">
              <a:buNone/>
            </a:pPr>
            <a:r>
              <a:rPr lang="en-US" sz="1200" dirty="0">
                <a:solidFill>
                  <a:srgbClr val="2563EB"/>
                </a:solidFill>
                <a:latin typeface="Arial" pitchFamily="34" charset="0"/>
                <a:ea typeface="Arial" pitchFamily="34" charset="-122"/>
                <a:cs typeface="Arial" pitchFamily="34" charset="-120"/>
              </a:rPr>
              <a:t>dikey</a:t>
            </a:r>
            <a:endParaRPr lang="en-US" sz="1200" dirty="0"/>
          </a:p>
        </p:txBody>
      </p:sp>
      <p:sp>
        <p:nvSpPr>
          <p:cNvPr id="7" name="Shape 5"/>
          <p:cNvSpPr/>
          <p:nvPr/>
        </p:nvSpPr>
        <p:spPr>
          <a:xfrm>
            <a:off x="9509760" y="2194560"/>
            <a:ext cx="1645920" cy="914400"/>
          </a:xfrm>
          <a:prstGeom prst="roundRect">
            <a:avLst>
              <a:gd name="adj" fmla="val 10000"/>
            </a:avLst>
          </a:prstGeom>
          <a:solidFill>
            <a:srgbClr val="FFFFFF"/>
          </a:solidFill>
          <a:ln w="25400">
            <a:solidFill>
              <a:srgbClr val="CBD5E1"/>
            </a:solidFill>
            <a:prstDash val="solid"/>
          </a:ln>
        </p:spPr>
      </p:sp>
      <p:sp>
        <p:nvSpPr>
          <p:cNvPr id="8" name="Text 6"/>
          <p:cNvSpPr txBox="1"/>
          <p:nvPr/>
        </p:nvSpPr>
        <p:spPr>
          <a:xfrm>
            <a:off x="9509760" y="2194560"/>
            <a:ext cx="1645920" cy="914400"/>
          </a:xfrm>
          <a:prstGeom prst="rect">
            <a:avLst/>
          </a:prstGeom>
          <a:noFill/>
          <a:ln/>
        </p:spPr>
        <p:txBody>
          <a:bodyPr wrap="square" lIns="0" tIns="0" rIns="0" bIns="0" rtlCol="0" anchor="ctr"/>
          <a:lstStyle/>
          <a:p>
            <a:pPr marL="0" indent="0" algn="ctr">
              <a:buNone/>
            </a:pPr>
            <a:r>
              <a:rPr lang="en-US" sz="1200" dirty="0">
                <a:solidFill>
                  <a:srgbClr val="2563EB"/>
                </a:solidFill>
                <a:latin typeface="Arial" pitchFamily="34" charset="0"/>
                <a:ea typeface="Arial" pitchFamily="34" charset="-122"/>
                <a:cs typeface="Arial" pitchFamily="34" charset="-120"/>
              </a:rPr>
              <a:t>yatay</a:t>
            </a:r>
            <a:endParaRPr lang="en-US" sz="1200" dirty="0"/>
          </a:p>
        </p:txBody>
      </p:sp>
      <p:sp>
        <p:nvSpPr>
          <p:cNvPr id="9" name="Text 7"/>
          <p:cNvSpPr txBox="1"/>
          <p:nvPr/>
        </p:nvSpPr>
        <p:spPr>
          <a:xfrm>
            <a:off x="7863840" y="3520440"/>
            <a:ext cx="3657600" cy="274320"/>
          </a:xfrm>
          <a:prstGeom prst="rect">
            <a:avLst/>
          </a:prstGeom>
          <a:noFill/>
          <a:ln/>
        </p:spPr>
        <p:txBody>
          <a:bodyPr wrap="square" lIns="0" tIns="0" rIns="0" bIns="0" rtlCol="0" anchor="ctr"/>
          <a:lstStyle/>
          <a:p>
            <a:pPr marL="0" indent="0" algn="ctr">
              <a:buNone/>
            </a:pPr>
            <a:r>
              <a:rPr lang="en-US" sz="1200" dirty="0">
                <a:solidFill>
                  <a:srgbClr val="6B7280"/>
                </a:solidFill>
                <a:latin typeface="Arial" pitchFamily="34" charset="0"/>
                <a:ea typeface="Arial" pitchFamily="34" charset="-122"/>
                <a:cs typeface="Arial" pitchFamily="34" charset="-120"/>
              </a:rPr>
              <a:t>Genişlik ve yükseklik yer değiştirir</a:t>
            </a:r>
            <a:endParaRPr lang="en-US" sz="1200" dirty="0"/>
          </a:p>
        </p:txBody>
      </p:sp>
      <p:sp>
        <p:nvSpPr>
          <p:cNvPr id="10" name="Shape 8"/>
          <p:cNvSpPr/>
          <p:nvPr/>
        </p:nvSpPr>
        <p:spPr>
          <a:xfrm>
            <a:off x="7863840" y="3931920"/>
            <a:ext cx="3657600" cy="1383792"/>
          </a:xfrm>
          <a:prstGeom prst="roundRect">
            <a:avLst>
              <a:gd name="adj" fmla="val 6608"/>
            </a:avLst>
          </a:prstGeom>
          <a:solidFill>
            <a:srgbClr val="EFF6FF"/>
          </a:solidFill>
          <a:ln w="9525">
            <a:solidFill>
              <a:srgbClr val="EFF6FF"/>
            </a:solidFill>
            <a:prstDash val="solid"/>
          </a:ln>
        </p:spPr>
      </p:sp>
      <p:sp>
        <p:nvSpPr>
          <p:cNvPr id="11" name="Text 9"/>
          <p:cNvSpPr txBox="1"/>
          <p:nvPr/>
        </p:nvSpPr>
        <p:spPr>
          <a:xfrm>
            <a:off x="8065008" y="4059936"/>
            <a:ext cx="325526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Yatay moddaki düzeni test etmeden serbest bırakmak, yatayda kesilen içeriklere ve kullanılamaz ekranlara yol açabilir.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Güvenli Alan: Çentik ve Durum Çubuğu</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Modern telefonlarda çentik, delikli ön kamera, durum çubuğu ve alt gezinme çubuğu ekranın bir bölümünü kaplar. İçeriğinizi bu alanlara taşırırsanız metin çentiğin altında kalır ve dokunmak imkânsızlaşır. Bu nedenle içerik, "güvenli alan" denilen kesintisiz bölgede gösterilir. Güvenli alanın boyutları cihaza göre değişir, bu yüzden sabit sayılarla çözülmez.</a:t>
            </a:r>
            <a:endParaRPr lang="en-US" sz="2200" dirty="0"/>
          </a:p>
        </p:txBody>
      </p:sp>
      <p:sp>
        <p:nvSpPr>
          <p:cNvPr id="5" name="Shape 3"/>
          <p:cNvSpPr/>
          <p:nvPr/>
        </p:nvSpPr>
        <p:spPr>
          <a:xfrm>
            <a:off x="8869680" y="1645920"/>
            <a:ext cx="1645920" cy="2468880"/>
          </a:xfrm>
          <a:prstGeom prst="roundRect">
            <a:avLst>
              <a:gd name="adj" fmla="val 5556"/>
            </a:avLst>
          </a:prstGeom>
          <a:solidFill>
            <a:srgbClr val="FFFFFF"/>
          </a:solidFill>
          <a:ln w="25400">
            <a:solidFill>
              <a:srgbClr val="CBD5E1"/>
            </a:solidFill>
            <a:prstDash val="solid"/>
          </a:ln>
        </p:spPr>
      </p:sp>
      <p:sp>
        <p:nvSpPr>
          <p:cNvPr id="6" name="Shape 4"/>
          <p:cNvSpPr/>
          <p:nvPr/>
        </p:nvSpPr>
        <p:spPr>
          <a:xfrm>
            <a:off x="8915400" y="1691640"/>
            <a:ext cx="1554480" cy="457200"/>
          </a:xfrm>
          <a:prstGeom prst="roundRect">
            <a:avLst>
              <a:gd name="adj" fmla="val 20000"/>
            </a:avLst>
          </a:prstGeom>
          <a:solidFill>
            <a:srgbClr val="FEF3C7"/>
          </a:solidFill>
          <a:ln w="9525">
            <a:solidFill>
              <a:srgbClr val="FEF3C7"/>
            </a:solidFill>
            <a:prstDash val="solid"/>
          </a:ln>
        </p:spPr>
      </p:sp>
      <p:sp>
        <p:nvSpPr>
          <p:cNvPr id="7" name="Text 5"/>
          <p:cNvSpPr txBox="1"/>
          <p:nvPr/>
        </p:nvSpPr>
        <p:spPr>
          <a:xfrm>
            <a:off x="8915400" y="1691640"/>
            <a:ext cx="1554480" cy="457200"/>
          </a:xfrm>
          <a:prstGeom prst="rect">
            <a:avLst/>
          </a:prstGeom>
          <a:noFill/>
          <a:ln/>
        </p:spPr>
        <p:txBody>
          <a:bodyPr wrap="square" lIns="0" tIns="0" rIns="0" bIns="0" rtlCol="0" anchor="ctr"/>
          <a:lstStyle/>
          <a:p>
            <a:pPr marL="0" indent="0" algn="ctr">
              <a:buNone/>
            </a:pPr>
            <a:r>
              <a:rPr lang="en-US" sz="900" dirty="0">
                <a:solidFill>
                  <a:srgbClr val="B45309"/>
                </a:solidFill>
                <a:latin typeface="Arial" pitchFamily="34" charset="0"/>
                <a:ea typeface="Arial" pitchFamily="34" charset="-122"/>
                <a:cs typeface="Arial" pitchFamily="34" charset="-120"/>
              </a:rPr>
              <a:t>çentik, durum çubuğu</a:t>
            </a:r>
            <a:endParaRPr lang="en-US" sz="900" dirty="0"/>
          </a:p>
        </p:txBody>
      </p:sp>
      <p:sp>
        <p:nvSpPr>
          <p:cNvPr id="8" name="Shape 6"/>
          <p:cNvSpPr/>
          <p:nvPr/>
        </p:nvSpPr>
        <p:spPr>
          <a:xfrm>
            <a:off x="8915400" y="3657600"/>
            <a:ext cx="1554480" cy="411480"/>
          </a:xfrm>
          <a:prstGeom prst="roundRect">
            <a:avLst>
              <a:gd name="adj" fmla="val 22222"/>
            </a:avLst>
          </a:prstGeom>
          <a:solidFill>
            <a:srgbClr val="FEF3C7"/>
          </a:solidFill>
          <a:ln w="9525">
            <a:solidFill>
              <a:srgbClr val="FEF3C7"/>
            </a:solidFill>
            <a:prstDash val="solid"/>
          </a:ln>
        </p:spPr>
      </p:sp>
      <p:sp>
        <p:nvSpPr>
          <p:cNvPr id="9" name="Text 7"/>
          <p:cNvSpPr txBox="1"/>
          <p:nvPr/>
        </p:nvSpPr>
        <p:spPr>
          <a:xfrm>
            <a:off x="8915400" y="3657600"/>
            <a:ext cx="1554480" cy="411480"/>
          </a:xfrm>
          <a:prstGeom prst="rect">
            <a:avLst/>
          </a:prstGeom>
          <a:noFill/>
          <a:ln/>
        </p:spPr>
        <p:txBody>
          <a:bodyPr wrap="square" lIns="0" tIns="0" rIns="0" bIns="0" rtlCol="0" anchor="ctr"/>
          <a:lstStyle/>
          <a:p>
            <a:pPr marL="0" indent="0" algn="ctr">
              <a:buNone/>
            </a:pPr>
            <a:r>
              <a:rPr lang="en-US" sz="900" dirty="0">
                <a:solidFill>
                  <a:srgbClr val="B45309"/>
                </a:solidFill>
                <a:latin typeface="Arial" pitchFamily="34" charset="0"/>
                <a:ea typeface="Arial" pitchFamily="34" charset="-122"/>
                <a:cs typeface="Arial" pitchFamily="34" charset="-120"/>
              </a:rPr>
              <a:t>gezinme çubuğu</a:t>
            </a:r>
            <a:endParaRPr lang="en-US" sz="900" dirty="0"/>
          </a:p>
        </p:txBody>
      </p:sp>
      <p:sp>
        <p:nvSpPr>
          <p:cNvPr id="10" name="Shape 8"/>
          <p:cNvSpPr/>
          <p:nvPr/>
        </p:nvSpPr>
        <p:spPr>
          <a:xfrm>
            <a:off x="8915400" y="2194560"/>
            <a:ext cx="1554480" cy="1371600"/>
          </a:xfrm>
          <a:prstGeom prst="roundRect">
            <a:avLst>
              <a:gd name="adj" fmla="val 6667"/>
            </a:avLst>
          </a:prstGeom>
          <a:solidFill>
            <a:srgbClr val="EFF6FF"/>
          </a:solidFill>
          <a:ln w="9525">
            <a:solidFill>
              <a:srgbClr val="EFF6FF"/>
            </a:solidFill>
            <a:prstDash val="solid"/>
          </a:ln>
        </p:spPr>
      </p:sp>
      <p:sp>
        <p:nvSpPr>
          <p:cNvPr id="11" name="Text 9"/>
          <p:cNvSpPr txBox="1"/>
          <p:nvPr/>
        </p:nvSpPr>
        <p:spPr>
          <a:xfrm>
            <a:off x="8915400" y="2194560"/>
            <a:ext cx="1554480" cy="1371600"/>
          </a:xfrm>
          <a:prstGeom prst="rect">
            <a:avLst/>
          </a:prstGeom>
          <a:noFill/>
          <a:ln/>
        </p:spPr>
        <p:txBody>
          <a:bodyPr wrap="square" lIns="0" tIns="0" rIns="0" bIns="0" rtlCol="0" anchor="ctr"/>
          <a:lstStyle/>
          <a:p>
            <a:pPr marL="0" indent="0" algn="ctr">
              <a:buNone/>
            </a:pPr>
            <a:r>
              <a:rPr lang="en-US" sz="1200" b="1" dirty="0">
                <a:solidFill>
                  <a:srgbClr val="2563EB"/>
                </a:solidFill>
                <a:latin typeface="Arial" pitchFamily="34" charset="0"/>
                <a:ea typeface="Arial" pitchFamily="34" charset="-122"/>
                <a:cs typeface="Arial" pitchFamily="34" charset="-120"/>
              </a:rPr>
              <a:t>Güvenli alan</a:t>
            </a:r>
            <a:endParaRPr lang="en-US" sz="1200" dirty="0"/>
          </a:p>
        </p:txBody>
      </p:sp>
      <p:sp>
        <p:nvSpPr>
          <p:cNvPr id="12" name="Shape 10"/>
          <p:cNvSpPr/>
          <p:nvPr/>
        </p:nvSpPr>
        <p:spPr>
          <a:xfrm>
            <a:off x="7863840" y="4251960"/>
            <a:ext cx="3657600" cy="1810512"/>
          </a:xfrm>
          <a:prstGeom prst="roundRect">
            <a:avLst>
              <a:gd name="adj" fmla="val 5051"/>
            </a:avLst>
          </a:prstGeom>
          <a:solidFill>
            <a:srgbClr val="EFF6FF"/>
          </a:solidFill>
          <a:ln w="9525">
            <a:solidFill>
              <a:srgbClr val="EFF6FF"/>
            </a:solidFill>
            <a:prstDash val="solid"/>
          </a:ln>
        </p:spPr>
      </p:sp>
      <p:sp>
        <p:nvSpPr>
          <p:cNvPr id="13" name="Text 11"/>
          <p:cNvSpPr txBox="1"/>
          <p:nvPr/>
        </p:nvSpPr>
        <p:spPr>
          <a:xfrm>
            <a:off x="8065008" y="4379976"/>
            <a:ext cx="3255264" cy="155448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React Native'in yerleşik SafeAreaView bileşeni kullanımdan kaldırılmıştır ve  </a:t>
            </a:r>
            <a:r>
              <a:rPr lang="en-US" sz="1400" dirty="0" err="1">
                <a:solidFill>
                  <a:srgbClr val="111827"/>
                </a:solidFill>
                <a:latin typeface="Arial" pitchFamily="34" charset="0"/>
                <a:ea typeface="Arial" pitchFamily="34" charset="-122"/>
                <a:cs typeface="Arial" pitchFamily="34" charset="-120"/>
              </a:rPr>
              <a:t>yalnızca</a:t>
            </a:r>
            <a:r>
              <a:rPr lang="en-US" sz="1400" dirty="0">
                <a:solidFill>
                  <a:srgbClr val="111827"/>
                </a:solidFill>
                <a:latin typeface="Arial" pitchFamily="34" charset="0"/>
                <a:ea typeface="Arial" pitchFamily="34" charset="-122"/>
                <a:cs typeface="Arial" pitchFamily="34" charset="-120"/>
              </a:rPr>
              <a:t> iOS'ta etkindir; topluluğun react-native-safe-area-context paketi önerilir. Güncel durumu resmî dokümandan doğrulayın.</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Güvenli Alan Boşluklarını Kullanmak</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136392"/>
          </a:xfrm>
          <a:prstGeom prst="roundRect">
            <a:avLst>
              <a:gd name="adj" fmla="val 291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587752"/>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import</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SafeAreaProvider,</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useSafeAreaInsets,</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from</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'react-native-safe-area-context'</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function</a:t>
            </a:r>
            <a:r>
              <a:rPr lang="en-US" sz="1600" dirty="0">
                <a:solidFill>
                  <a:srgbClr val="111827"/>
                </a:solidFill>
                <a:latin typeface="Courier New" pitchFamily="34" charset="0"/>
                <a:ea typeface="Courier New" pitchFamily="34" charset="-122"/>
                <a:cs typeface="Courier New" pitchFamily="34" charset="-120"/>
              </a:rPr>
              <a:t> Header()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i = useSafeAreaInsets();</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&lt;View style={{ paddingTop: i.top }}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i="1" dirty="0">
                <a:solidFill>
                  <a:srgbClr val="6B7280"/>
                </a:solidFill>
                <a:latin typeface="Courier New" pitchFamily="34" charset="0"/>
                <a:ea typeface="Courier New" pitchFamily="34" charset="-122"/>
                <a:cs typeface="Courier New" pitchFamily="34" charset="-120"/>
              </a:rPr>
              <a:t>// Kökte: &lt;SafeAreaProvider&gt; ile sarılır</a:t>
            </a:r>
            <a:endParaRPr lang="en-US" sz="1600" dirty="0"/>
          </a:p>
        </p:txBody>
      </p:sp>
      <p:sp>
        <p:nvSpPr>
          <p:cNvPr id="7" name="Shape 5"/>
          <p:cNvSpPr/>
          <p:nvPr/>
        </p:nvSpPr>
        <p:spPr>
          <a:xfrm>
            <a:off x="731520" y="4919472"/>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5047488"/>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Başlık, durum çubuğu ve çentiğin altına girmeden, güvenli alanın başladığı yerden itibaren çizilir.</a:t>
            </a:r>
            <a:endParaRPr lang="en-US" sz="1100" dirty="0"/>
          </a:p>
        </p:txBody>
      </p:sp>
      <p:sp>
        <p:nvSpPr>
          <p:cNvPr id="9" name="Text 7"/>
          <p:cNvSpPr txBox="1"/>
          <p:nvPr/>
        </p:nvSpPr>
        <p:spPr>
          <a:xfrm>
            <a:off x="7772400" y="1645920"/>
            <a:ext cx="3931920" cy="2496312"/>
          </a:xfrm>
          <a:prstGeom prst="rect">
            <a:avLst/>
          </a:prstGeom>
          <a:noFill/>
          <a:ln/>
        </p:spPr>
        <p:txBody>
          <a:bodyPr wrap="square" lIns="0" tIns="0" rIns="0" bIns="0" rtlCol="0" anchor="t"/>
          <a:lstStyle/>
          <a:p>
            <a:pPr marL="0" indent="0" algn="l">
              <a:spcAft>
                <a:spcPts val="800"/>
              </a:spcAft>
              <a:buNone/>
            </a:pPr>
            <a:r>
              <a:rPr lang="en-US" sz="1700" dirty="0">
                <a:solidFill>
                  <a:srgbClr val="111827"/>
                </a:solidFill>
                <a:latin typeface="Arial" pitchFamily="34" charset="0"/>
                <a:ea typeface="Arial" pitchFamily="34" charset="-122"/>
                <a:cs typeface="Arial" pitchFamily="34" charset="-120"/>
              </a:rPr>
              <a:t>Amaç, cihazın güvenli alan boşluklarını hook ile okuyup düzene eklemektir.</a:t>
            </a:r>
            <a:endParaRPr lang="en-US" sz="1700" dirty="0"/>
          </a:p>
          <a:p>
            <a:pPr marL="0" indent="0" algn="l">
              <a:spcAft>
                <a:spcPts val="800"/>
              </a:spcAft>
              <a:buNone/>
            </a:pPr>
            <a:r>
              <a:rPr lang="en-US" sz="1700" b="1" dirty="0">
                <a:solidFill>
                  <a:srgbClr val="2563EB"/>
                </a:solidFill>
                <a:latin typeface="Arial" pitchFamily="34" charset="0"/>
                <a:ea typeface="Arial" pitchFamily="34" charset="-122"/>
                <a:cs typeface="Arial" pitchFamily="34" charset="-120"/>
              </a:rPr>
              <a:t>Kod mantığı: </a:t>
            </a:r>
            <a:r>
              <a:rPr lang="en-US" sz="1700" dirty="0">
                <a:solidFill>
                  <a:srgbClr val="111827"/>
                </a:solidFill>
                <a:latin typeface="Arial" pitchFamily="34" charset="0"/>
                <a:ea typeface="Arial" pitchFamily="34" charset="-122"/>
                <a:cs typeface="Arial" pitchFamily="34" charset="-120"/>
              </a:rPr>
              <a:t>SafeAreaProvider uygulamanın kökünde bir kez yerleştirilir ve güvenli alan bilgisini alt bileşenlere dağıtır. useSafeAreaInsets, üst, alt, sol ve sağ boşlukları verir; biz başlığın üst iç boşluğuna top değerini ekleriz.</a:t>
            </a:r>
            <a:endParaRPr lang="en-US" sz="1700" dirty="0"/>
          </a:p>
        </p:txBody>
      </p:sp>
      <p:sp>
        <p:nvSpPr>
          <p:cNvPr id="10" name="Shape 8"/>
          <p:cNvSpPr/>
          <p:nvPr/>
        </p:nvSpPr>
        <p:spPr>
          <a:xfrm>
            <a:off x="7772400" y="4279392"/>
            <a:ext cx="3931920" cy="1810512"/>
          </a:xfrm>
          <a:prstGeom prst="roundRect">
            <a:avLst>
              <a:gd name="adj" fmla="val 5051"/>
            </a:avLst>
          </a:prstGeom>
          <a:solidFill>
            <a:srgbClr val="EFF6FF"/>
          </a:solidFill>
          <a:ln w="9525">
            <a:solidFill>
              <a:srgbClr val="EFF6FF"/>
            </a:solidFill>
            <a:prstDash val="solid"/>
          </a:ln>
        </p:spPr>
      </p:sp>
      <p:sp>
        <p:nvSpPr>
          <p:cNvPr id="11" name="Text 9"/>
          <p:cNvSpPr txBox="1"/>
          <p:nvPr/>
        </p:nvSpPr>
        <p:spPr>
          <a:xfrm>
            <a:off x="7973568" y="4407408"/>
            <a:ext cx="3529584" cy="155448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Paket yerel kod içerir; npm install react-native-safe-area-context sonrası uygulamayı yeniden derlemek (npm run android) gerekir, yalnızca Metro'yu yenilemek yetmez. iOS'ta ayrıca pod kurulumu gerekir.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Platform Farkları: Platform API</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694176"/>
          </a:xfrm>
          <a:prstGeom prst="roundRect">
            <a:avLst>
              <a:gd name="adj" fmla="val 247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3145536"/>
          </a:xfrm>
          <a:prstGeom prst="rect">
            <a:avLst/>
          </a:prstGeom>
          <a:noFill/>
          <a:ln/>
        </p:spPr>
        <p:txBody>
          <a:bodyPr wrap="square" lIns="0" tIns="0" rIns="0" bIns="0" rtlCol="0" anchor="t"/>
          <a:lstStyle/>
          <a:p>
            <a:pPr marL="0" indent="0" algn="l">
              <a:buNone/>
            </a:pPr>
            <a:r>
              <a:rPr lang="en-US" sz="1200" b="1" dirty="0">
                <a:solidFill>
                  <a:srgbClr val="2563EB"/>
                </a:solidFill>
                <a:latin typeface="Courier New" pitchFamily="34" charset="0"/>
                <a:ea typeface="Courier New" pitchFamily="34" charset="-122"/>
                <a:cs typeface="Courier New" pitchFamily="34" charset="-120"/>
              </a:rPr>
              <a:t>import</a:t>
            </a:r>
            <a:r>
              <a:rPr lang="en-US" sz="1200" dirty="0">
                <a:solidFill>
                  <a:srgbClr val="111827"/>
                </a:solidFill>
                <a:latin typeface="Courier New" pitchFamily="34" charset="0"/>
                <a:ea typeface="Courier New" pitchFamily="34" charset="-122"/>
                <a:cs typeface="Courier New" pitchFamily="34" charset="-120"/>
              </a:rPr>
              <a:t> { Platform, Text } </a:t>
            </a:r>
            <a:r>
              <a:rPr lang="en-US" sz="1200" b="1" dirty="0">
                <a:solidFill>
                  <a:srgbClr val="2563EB"/>
                </a:solidFill>
                <a:latin typeface="Courier New" pitchFamily="34" charset="0"/>
                <a:ea typeface="Courier New" pitchFamily="34" charset="-122"/>
                <a:cs typeface="Courier New" pitchFamily="34" charset="-120"/>
              </a:rPr>
              <a:t>from</a:t>
            </a:r>
            <a:r>
              <a:rPr lang="en-US" sz="1200" dirty="0">
                <a:solidFill>
                  <a:srgbClr val="111827"/>
                </a:solidFill>
                <a:latin typeface="Courier New" pitchFamily="34" charset="0"/>
                <a:ea typeface="Courier New" pitchFamily="34" charset="-122"/>
                <a:cs typeface="Courier New" pitchFamily="34" charset="-120"/>
              </a:rPr>
              <a:t> </a:t>
            </a:r>
            <a:r>
              <a:rPr lang="en-US" sz="1200" dirty="0">
                <a:solidFill>
                  <a:srgbClr val="047857"/>
                </a:solidFill>
                <a:latin typeface="Courier New" pitchFamily="34" charset="0"/>
                <a:ea typeface="Courier New" pitchFamily="34" charset="-122"/>
                <a:cs typeface="Courier New" pitchFamily="34" charset="-120"/>
              </a:rPr>
              <a:t>'react-native'</a:t>
            </a: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a:t>
            </a:r>
            <a:endParaRPr lang="en-US" sz="1200" dirty="0"/>
          </a:p>
          <a:p>
            <a:pPr marL="0" indent="0" algn="l">
              <a:buNone/>
            </a:pPr>
            <a:r>
              <a:rPr lang="en-US" sz="1200" b="1" dirty="0">
                <a:solidFill>
                  <a:srgbClr val="2563EB"/>
                </a:solidFill>
                <a:latin typeface="Courier New" pitchFamily="34" charset="0"/>
                <a:ea typeface="Courier New" pitchFamily="34" charset="-122"/>
                <a:cs typeface="Courier New" pitchFamily="34" charset="-120"/>
              </a:rPr>
              <a:t>const</a:t>
            </a:r>
            <a:r>
              <a:rPr lang="en-US" sz="1200" dirty="0">
                <a:solidFill>
                  <a:srgbClr val="111827"/>
                </a:solidFill>
                <a:latin typeface="Courier New" pitchFamily="34" charset="0"/>
                <a:ea typeface="Courier New" pitchFamily="34" charset="-122"/>
                <a:cs typeface="Courier New" pitchFamily="34" charset="-120"/>
              </a:rPr>
              <a:t> font = Platform.select({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ios: </a:t>
            </a:r>
            <a:r>
              <a:rPr lang="en-US" sz="1200" dirty="0">
                <a:solidFill>
                  <a:srgbClr val="047857"/>
                </a:solidFill>
                <a:latin typeface="Courier New" pitchFamily="34" charset="0"/>
                <a:ea typeface="Courier New" pitchFamily="34" charset="-122"/>
                <a:cs typeface="Courier New" pitchFamily="34" charset="-120"/>
              </a:rPr>
              <a:t>'Georgia'</a:t>
            </a: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android: </a:t>
            </a:r>
            <a:r>
              <a:rPr lang="en-US" sz="1200" dirty="0">
                <a:solidFill>
                  <a:srgbClr val="047857"/>
                </a:solidFill>
                <a:latin typeface="Courier New" pitchFamily="34" charset="0"/>
                <a:ea typeface="Courier New" pitchFamily="34" charset="-122"/>
                <a:cs typeface="Courier New" pitchFamily="34" charset="-120"/>
              </a:rPr>
              <a:t>'serif'</a:t>
            </a: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a:t>
            </a:r>
            <a:r>
              <a:rPr lang="en-US" sz="1200" b="1" dirty="0">
                <a:solidFill>
                  <a:srgbClr val="2563EB"/>
                </a:solidFill>
                <a:latin typeface="Courier New" pitchFamily="34" charset="0"/>
                <a:ea typeface="Courier New" pitchFamily="34" charset="-122"/>
                <a:cs typeface="Courier New" pitchFamily="34" charset="-120"/>
              </a:rPr>
              <a:t>default</a:t>
            </a:r>
            <a:r>
              <a:rPr lang="en-US" sz="1200" dirty="0">
                <a:solidFill>
                  <a:srgbClr val="111827"/>
                </a:solidFill>
                <a:latin typeface="Courier New" pitchFamily="34" charset="0"/>
                <a:ea typeface="Courier New" pitchFamily="34" charset="-122"/>
                <a:cs typeface="Courier New" pitchFamily="34" charset="-120"/>
              </a:rPr>
              <a:t>: </a:t>
            </a:r>
            <a:r>
              <a:rPr lang="en-US" sz="1200" dirty="0">
                <a:solidFill>
                  <a:srgbClr val="047857"/>
                </a:solidFill>
                <a:latin typeface="Courier New" pitchFamily="34" charset="0"/>
                <a:ea typeface="Courier New" pitchFamily="34" charset="-122"/>
                <a:cs typeface="Courier New" pitchFamily="34" charset="-120"/>
              </a:rPr>
              <a:t>'System'</a:t>
            </a: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marL="0" indent="0" algn="l">
              <a:buNone/>
            </a:pPr>
            <a:r>
              <a:rPr lang="en-US" sz="1200" b="1" dirty="0">
                <a:solidFill>
                  <a:srgbClr val="2563EB"/>
                </a:solidFill>
                <a:latin typeface="Courier New" pitchFamily="34" charset="0"/>
                <a:ea typeface="Courier New" pitchFamily="34" charset="-122"/>
                <a:cs typeface="Courier New" pitchFamily="34" charset="-120"/>
              </a:rPr>
              <a:t>const</a:t>
            </a:r>
            <a:r>
              <a:rPr lang="en-US" sz="1200" dirty="0">
                <a:solidFill>
                  <a:srgbClr val="111827"/>
                </a:solidFill>
                <a:latin typeface="Courier New" pitchFamily="34" charset="0"/>
                <a:ea typeface="Courier New" pitchFamily="34" charset="-122"/>
                <a:cs typeface="Courier New" pitchFamily="34" charset="-120"/>
              </a:rPr>
              <a:t> isIos = Platform.OS === </a:t>
            </a:r>
            <a:r>
              <a:rPr lang="en-US" sz="1200" dirty="0">
                <a:solidFill>
                  <a:srgbClr val="047857"/>
                </a:solidFill>
                <a:latin typeface="Courier New" pitchFamily="34" charset="0"/>
                <a:ea typeface="Courier New" pitchFamily="34" charset="-122"/>
                <a:cs typeface="Courier New" pitchFamily="34" charset="-120"/>
              </a:rPr>
              <a:t>'ios'</a:t>
            </a: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marL="0" indent="0" algn="l">
              <a:buNone/>
            </a:pPr>
            <a:r>
              <a:rPr lang="en-US" sz="1200" b="1" dirty="0">
                <a:solidFill>
                  <a:srgbClr val="2563EB"/>
                </a:solidFill>
                <a:latin typeface="Courier New" pitchFamily="34" charset="0"/>
                <a:ea typeface="Courier New" pitchFamily="34" charset="-122"/>
                <a:cs typeface="Courier New" pitchFamily="34" charset="-120"/>
              </a:rPr>
              <a:t>const</a:t>
            </a:r>
            <a:r>
              <a:rPr lang="en-US" sz="1200" dirty="0">
                <a:solidFill>
                  <a:srgbClr val="111827"/>
                </a:solidFill>
                <a:latin typeface="Courier New" pitchFamily="34" charset="0"/>
                <a:ea typeface="Courier New" pitchFamily="34" charset="-122"/>
                <a:cs typeface="Courier New" pitchFamily="34" charset="-120"/>
              </a:rPr>
              <a:t> label = isIos ? </a:t>
            </a:r>
            <a:r>
              <a:rPr lang="en-US" sz="1200" dirty="0">
                <a:solidFill>
                  <a:srgbClr val="047857"/>
                </a:solidFill>
                <a:latin typeface="Courier New" pitchFamily="34" charset="0"/>
                <a:ea typeface="Courier New" pitchFamily="34" charset="-122"/>
                <a:cs typeface="Courier New" pitchFamily="34" charset="-120"/>
              </a:rPr>
              <a:t>'iPhone'</a:t>
            </a:r>
            <a:r>
              <a:rPr lang="en-US" sz="1200" dirty="0">
                <a:solidFill>
                  <a:srgbClr val="111827"/>
                </a:solidFill>
                <a:latin typeface="Courier New" pitchFamily="34" charset="0"/>
                <a:ea typeface="Courier New" pitchFamily="34" charset="-122"/>
                <a:cs typeface="Courier New" pitchFamily="34" charset="-120"/>
              </a:rPr>
              <a:t> : </a:t>
            </a:r>
            <a:r>
              <a:rPr lang="en-US" sz="1200" dirty="0">
                <a:solidFill>
                  <a:srgbClr val="047857"/>
                </a:solidFill>
                <a:latin typeface="Courier New" pitchFamily="34" charset="0"/>
                <a:ea typeface="Courier New" pitchFamily="34" charset="-122"/>
                <a:cs typeface="Courier New" pitchFamily="34" charset="-120"/>
              </a:rPr>
              <a:t>'Android'</a:t>
            </a: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marL="0" indent="0" algn="l">
              <a:buNone/>
            </a:pPr>
            <a:r>
              <a:rPr lang="en-US" sz="1200" b="1" dirty="0">
                <a:solidFill>
                  <a:srgbClr val="2563EB"/>
                </a:solidFill>
                <a:latin typeface="Courier New" pitchFamily="34" charset="0"/>
                <a:ea typeface="Courier New" pitchFamily="34" charset="-122"/>
                <a:cs typeface="Courier New" pitchFamily="34" charset="-120"/>
              </a:rPr>
              <a:t>const</a:t>
            </a:r>
            <a:r>
              <a:rPr lang="en-US" sz="1200" dirty="0">
                <a:solidFill>
                  <a:srgbClr val="111827"/>
                </a:solidFill>
                <a:latin typeface="Courier New" pitchFamily="34" charset="0"/>
                <a:ea typeface="Courier New" pitchFamily="34" charset="-122"/>
                <a:cs typeface="Courier New" pitchFamily="34" charset="-120"/>
              </a:rPr>
              <a:t> t = (</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&lt;Text style={{ fontFamily: font }}&gt;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{label}</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&lt;/Text&gt;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a:t>
            </a:r>
            <a:endParaRPr lang="en-US" sz="1200" dirty="0"/>
          </a:p>
        </p:txBody>
      </p:sp>
      <p:sp>
        <p:nvSpPr>
          <p:cNvPr id="7" name="Shape 5"/>
          <p:cNvSpPr/>
          <p:nvPr/>
        </p:nvSpPr>
        <p:spPr>
          <a:xfrm>
            <a:off x="731520" y="5477256"/>
            <a:ext cx="6766560" cy="859536"/>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5605272"/>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iOS'ta "iPhone" Georgia yazı tipiyle, Android'de "Android" serif yazı tipiyle görünür.</a:t>
            </a:r>
            <a:endParaRPr lang="en-US" sz="1100" dirty="0"/>
          </a:p>
        </p:txBody>
      </p:sp>
      <p:sp>
        <p:nvSpPr>
          <p:cNvPr id="9" name="Text 7"/>
          <p:cNvSpPr txBox="1"/>
          <p:nvPr/>
        </p:nvSpPr>
        <p:spPr>
          <a:xfrm>
            <a:off x="7772400" y="1645920"/>
            <a:ext cx="3931920" cy="40050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Android ve iOS'a göre farklı değer seçmektir.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Platform.OS çalışılan platformun adını verir. Platform.select, platforma göre bir değer seçer ve eşleşme yoksa default değerini döndürür. Yazı tipi adları iki platformda farklı olduğundan bu fark sık kullanılır.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Küçük değer farkları için Platform.select, tamamen farklı bileşen gerekiyorsa dosya adına .ios.tsx ve .android.tsx uzantısı vermek tercih edilir.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Gölge: İki Platform, İki Yöntem</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381451"/>
          </a:xfrm>
          <a:prstGeom prst="roundRect">
            <a:avLst>
              <a:gd name="adj" fmla="val 2704"/>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832811"/>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card =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backgroundColor: </a:t>
            </a:r>
            <a:r>
              <a:rPr lang="en-US" sz="1600" dirty="0">
                <a:solidFill>
                  <a:srgbClr val="047857"/>
                </a:solidFill>
                <a:latin typeface="Courier New" pitchFamily="34" charset="0"/>
                <a:ea typeface="Courier New" pitchFamily="34" charset="-122"/>
                <a:cs typeface="Courier New" pitchFamily="34" charset="-120"/>
              </a:rPr>
              <a:t>'white'</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borderRadius: </a:t>
            </a:r>
            <a:r>
              <a:rPr lang="en-US" sz="1600" dirty="0">
                <a:solidFill>
                  <a:srgbClr val="B45309"/>
                </a:solidFill>
                <a:latin typeface="Courier New" pitchFamily="34" charset="0"/>
                <a:ea typeface="Courier New" pitchFamily="34" charset="-122"/>
                <a:cs typeface="Courier New" pitchFamily="34" charset="-120"/>
              </a:rPr>
              <a:t>12</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i="1" dirty="0">
                <a:solidFill>
                  <a:srgbClr val="6B7280"/>
                </a:solidFill>
                <a:latin typeface="Courier New" pitchFamily="34" charset="0"/>
                <a:ea typeface="Courier New" pitchFamily="34" charset="-122"/>
                <a:cs typeface="Courier New" pitchFamily="34" charset="-120"/>
              </a:rPr>
              <a:t>// iOS gölgesi</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shadowColor: </a:t>
            </a:r>
            <a:r>
              <a:rPr lang="en-US" sz="1600" dirty="0">
                <a:solidFill>
                  <a:srgbClr val="047857"/>
                </a:solidFill>
                <a:latin typeface="Courier New" pitchFamily="34" charset="0"/>
                <a:ea typeface="Courier New" pitchFamily="34" charset="-122"/>
                <a:cs typeface="Courier New" pitchFamily="34" charset="-120"/>
              </a:rPr>
              <a:t>'#000'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shadowOpacity: </a:t>
            </a:r>
            <a:r>
              <a:rPr lang="en-US" sz="1600" dirty="0">
                <a:solidFill>
                  <a:srgbClr val="B45309"/>
                </a:solidFill>
                <a:latin typeface="Courier New" pitchFamily="34" charset="0"/>
                <a:ea typeface="Courier New" pitchFamily="34" charset="-122"/>
                <a:cs typeface="Courier New" pitchFamily="34" charset="-120"/>
              </a:rPr>
              <a:t>0.15</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shadowRadius: </a:t>
            </a:r>
            <a:r>
              <a:rPr lang="en-US" sz="1600" dirty="0">
                <a:solidFill>
                  <a:srgbClr val="B45309"/>
                </a:solidFill>
                <a:latin typeface="Courier New" pitchFamily="34" charset="0"/>
                <a:ea typeface="Courier New" pitchFamily="34" charset="-122"/>
                <a:cs typeface="Courier New" pitchFamily="34" charset="-120"/>
              </a:rPr>
              <a:t>8</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shadowOffset: { width: </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 height: </a:t>
            </a:r>
            <a:r>
              <a:rPr lang="en-US" sz="1600" dirty="0">
                <a:solidFill>
                  <a:srgbClr val="B45309"/>
                </a:solidFill>
                <a:latin typeface="Courier New" pitchFamily="34" charset="0"/>
                <a:ea typeface="Courier New" pitchFamily="34" charset="-122"/>
                <a:cs typeface="Courier New" pitchFamily="34" charset="-120"/>
              </a:rPr>
              <a:t>4</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i="1" dirty="0">
                <a:solidFill>
                  <a:srgbClr val="6B7280"/>
                </a:solidFill>
                <a:latin typeface="Courier New" pitchFamily="34" charset="0"/>
                <a:ea typeface="Courier New" pitchFamily="34" charset="-122"/>
                <a:cs typeface="Courier New" pitchFamily="34" charset="-120"/>
              </a:rPr>
              <a:t>// Android gölgesi</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elevation: </a:t>
            </a:r>
            <a:r>
              <a:rPr lang="en-US" sz="1600" dirty="0">
                <a:solidFill>
                  <a:srgbClr val="B45309"/>
                </a:solidFill>
                <a:latin typeface="Courier New" pitchFamily="34" charset="0"/>
                <a:ea typeface="Courier New" pitchFamily="34" charset="-122"/>
                <a:cs typeface="Courier New" pitchFamily="34" charset="-120"/>
              </a:rPr>
              <a:t>6</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5164531"/>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5292547"/>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Beyaz kart, arka plandan hafifçe yükselmiş gibi görünür.</a:t>
            </a:r>
            <a:endParaRPr lang="en-US" sz="1100" dirty="0"/>
          </a:p>
        </p:txBody>
      </p:sp>
      <p:sp>
        <p:nvSpPr>
          <p:cNvPr id="9" name="Text 7"/>
          <p:cNvSpPr txBox="1"/>
          <p:nvPr/>
        </p:nvSpPr>
        <p:spPr>
          <a:xfrm>
            <a:off x="7772400" y="1645920"/>
            <a:ext cx="3931920" cy="26334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kartlara derinlik veren gölgeyi iki platformda da elde etmektir.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iOS'ta gölge shadow ile başlayan dört özellikle, Android'de ise elevation ile tek özellikle kontrol edilir. İkisini birlikte yazmak her iki platformda da gölge sağlar. Gölgenin görünmesi için öğenin bir zemin rengi olması gerekir.</a:t>
            </a:r>
            <a:endParaRPr lang="en-US" sz="1800" dirty="0"/>
          </a:p>
        </p:txBody>
      </p:sp>
      <p:sp>
        <p:nvSpPr>
          <p:cNvPr id="10" name="Shape 8"/>
          <p:cNvSpPr/>
          <p:nvPr/>
        </p:nvSpPr>
        <p:spPr>
          <a:xfrm>
            <a:off x="7772400" y="4416552"/>
            <a:ext cx="3931920" cy="1383792"/>
          </a:xfrm>
          <a:prstGeom prst="roundRect">
            <a:avLst>
              <a:gd name="adj" fmla="val 6608"/>
            </a:avLst>
          </a:prstGeom>
          <a:solidFill>
            <a:srgbClr val="EFF6FF"/>
          </a:solidFill>
          <a:ln w="9525">
            <a:solidFill>
              <a:srgbClr val="EFF6FF"/>
            </a:solidFill>
            <a:prstDash val="solid"/>
          </a:ln>
        </p:spPr>
      </p:sp>
      <p:sp>
        <p:nvSpPr>
          <p:cNvPr id="11" name="Text 9"/>
          <p:cNvSpPr txBox="1"/>
          <p:nvPr/>
        </p:nvSpPr>
        <p:spPr>
          <a:xfrm>
            <a:off x="7973568" y="4544568"/>
            <a:ext cx="352958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Yeni sürümlerde boxShadow adlı tek bir özellik de sunulmuştur; kullandığınız React Native sürümünde desteklenip desteklenmediğini resmî dokümandan doğrulayın.</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Gerçek Senaryo: Yemek Siparişi Kartı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Bir yemek siparişi uygulamasındaki restoran kartı, bu haftanın bütün kavramlarını bir arada kullanır. Kartın kendisi yuvarlak köşeli ve gölgeli bir View'dur. İçeride yatay bir satırda resim ve metin sütunu bulunur; metin sütunu flex: 1 ile kalan alanı doldurur. Sağ üst köşedeki indirim rozeti position: absolute ile bindirilir. Kartın tamamı güvenli alan içinde ve farklı ekran genişliklerinde uyumlu kalır.</a:t>
            </a:r>
            <a:endParaRPr lang="en-US" sz="2200" dirty="0"/>
          </a:p>
        </p:txBody>
      </p:sp>
      <p:sp>
        <p:nvSpPr>
          <p:cNvPr id="5" name="Shape 3"/>
          <p:cNvSpPr/>
          <p:nvPr/>
        </p:nvSpPr>
        <p:spPr>
          <a:xfrm>
            <a:off x="7863840" y="1645920"/>
            <a:ext cx="3657600" cy="1737360"/>
          </a:xfrm>
          <a:prstGeom prst="roundRect">
            <a:avLst>
              <a:gd name="adj" fmla="val 5263"/>
            </a:avLst>
          </a:prstGeom>
          <a:solidFill>
            <a:srgbClr val="FFFFFF"/>
          </a:solidFill>
          <a:ln w="19050">
            <a:solidFill>
              <a:srgbClr val="CBD5E1"/>
            </a:solidFill>
            <a:prstDash val="solid"/>
          </a:ln>
        </p:spPr>
      </p:sp>
      <p:sp>
        <p:nvSpPr>
          <p:cNvPr id="6" name="Shape 4"/>
          <p:cNvSpPr/>
          <p:nvPr/>
        </p:nvSpPr>
        <p:spPr>
          <a:xfrm>
            <a:off x="8046720" y="1965960"/>
            <a:ext cx="1005840" cy="1005840"/>
          </a:xfrm>
          <a:prstGeom prst="roundRect">
            <a:avLst>
              <a:gd name="adj" fmla="val 9091"/>
            </a:avLst>
          </a:prstGeom>
          <a:solidFill>
            <a:srgbClr val="EFF6FF"/>
          </a:solidFill>
          <a:ln w="12700">
            <a:solidFill>
              <a:srgbClr val="2563EB"/>
            </a:solidFill>
            <a:prstDash val="solid"/>
          </a:ln>
        </p:spPr>
      </p:sp>
      <p:sp>
        <p:nvSpPr>
          <p:cNvPr id="7" name="Text 5"/>
          <p:cNvSpPr txBox="1"/>
          <p:nvPr/>
        </p:nvSpPr>
        <p:spPr>
          <a:xfrm>
            <a:off x="8046720" y="1965960"/>
            <a:ext cx="1005840" cy="1005840"/>
          </a:xfrm>
          <a:prstGeom prst="rect">
            <a:avLst/>
          </a:prstGeom>
          <a:noFill/>
          <a:ln/>
        </p:spPr>
        <p:txBody>
          <a:bodyPr wrap="square" lIns="0" tIns="0" rIns="0" bIns="0" rtlCol="0" anchor="ctr"/>
          <a:lstStyle/>
          <a:p>
            <a:pPr marL="0" indent="0" algn="ctr">
              <a:buNone/>
            </a:pPr>
            <a:r>
              <a:rPr lang="en-US" sz="1100" dirty="0">
                <a:solidFill>
                  <a:srgbClr val="2563EB"/>
                </a:solidFill>
                <a:latin typeface="Arial" pitchFamily="34" charset="0"/>
                <a:ea typeface="Arial" pitchFamily="34" charset="-122"/>
                <a:cs typeface="Arial" pitchFamily="34" charset="-120"/>
              </a:rPr>
              <a:t>Image</a:t>
            </a:r>
            <a:endParaRPr lang="en-US" sz="1100" dirty="0"/>
          </a:p>
        </p:txBody>
      </p:sp>
      <p:sp>
        <p:nvSpPr>
          <p:cNvPr id="8" name="Shape 6"/>
          <p:cNvSpPr/>
          <p:nvPr/>
        </p:nvSpPr>
        <p:spPr>
          <a:xfrm>
            <a:off x="9235440" y="2057400"/>
            <a:ext cx="1463040" cy="274320"/>
          </a:xfrm>
          <a:prstGeom prst="roundRect">
            <a:avLst>
              <a:gd name="adj" fmla="val 33333"/>
            </a:avLst>
          </a:prstGeom>
          <a:solidFill>
            <a:srgbClr val="EFF6FF"/>
          </a:solidFill>
          <a:ln w="9525">
            <a:solidFill>
              <a:srgbClr val="EFF6FF"/>
            </a:solidFill>
            <a:prstDash val="solid"/>
          </a:ln>
        </p:spPr>
      </p:sp>
      <p:sp>
        <p:nvSpPr>
          <p:cNvPr id="9" name="Shape 7"/>
          <p:cNvSpPr/>
          <p:nvPr/>
        </p:nvSpPr>
        <p:spPr>
          <a:xfrm>
            <a:off x="9235440" y="2468880"/>
            <a:ext cx="1463040" cy="274320"/>
          </a:xfrm>
          <a:prstGeom prst="roundRect">
            <a:avLst>
              <a:gd name="adj" fmla="val 33333"/>
            </a:avLst>
          </a:prstGeom>
          <a:solidFill>
            <a:srgbClr val="EFF6FF"/>
          </a:solidFill>
          <a:ln w="9525">
            <a:solidFill>
              <a:srgbClr val="EFF6FF"/>
            </a:solidFill>
            <a:prstDash val="solid"/>
          </a:ln>
        </p:spPr>
      </p:sp>
      <p:sp>
        <p:nvSpPr>
          <p:cNvPr id="10" name="Text 8"/>
          <p:cNvSpPr txBox="1"/>
          <p:nvPr/>
        </p:nvSpPr>
        <p:spPr>
          <a:xfrm>
            <a:off x="9235440" y="2834640"/>
            <a:ext cx="2103120" cy="274320"/>
          </a:xfrm>
          <a:prstGeom prst="rect">
            <a:avLst/>
          </a:prstGeom>
          <a:noFill/>
          <a:ln/>
        </p:spPr>
        <p:txBody>
          <a:bodyPr wrap="square" lIns="0" tIns="0" rIns="0" bIns="0" rtlCol="0" anchor="ctr"/>
          <a:lstStyle/>
          <a:p>
            <a:pPr marL="0" indent="0" algn="l">
              <a:buNone/>
            </a:pPr>
            <a:r>
              <a:rPr lang="en-US" sz="1000" dirty="0">
                <a:solidFill>
                  <a:srgbClr val="6B7280"/>
                </a:solidFill>
                <a:latin typeface="Arial" pitchFamily="34" charset="0"/>
                <a:ea typeface="Arial" pitchFamily="34" charset="-122"/>
                <a:cs typeface="Arial" pitchFamily="34" charset="-120"/>
              </a:rPr>
              <a:t>Text sütunu (flex: 1)</a:t>
            </a:r>
            <a:endParaRPr lang="en-US" sz="1000" dirty="0"/>
          </a:p>
        </p:txBody>
      </p:sp>
      <p:sp>
        <p:nvSpPr>
          <p:cNvPr id="11" name="Shape 9"/>
          <p:cNvSpPr/>
          <p:nvPr/>
        </p:nvSpPr>
        <p:spPr>
          <a:xfrm>
            <a:off x="11018520" y="1737360"/>
            <a:ext cx="411480" cy="411480"/>
          </a:xfrm>
          <a:prstGeom prst="ellipse">
            <a:avLst/>
          </a:prstGeom>
          <a:solidFill>
            <a:srgbClr val="EF4444"/>
          </a:solidFill>
          <a:ln w="12700">
            <a:solidFill>
              <a:srgbClr val="EF4444"/>
            </a:solidFill>
            <a:prstDash val="solid"/>
          </a:ln>
        </p:spPr>
      </p:sp>
      <p:sp>
        <p:nvSpPr>
          <p:cNvPr id="12" name="Text 10"/>
          <p:cNvSpPr txBox="1"/>
          <p:nvPr/>
        </p:nvSpPr>
        <p:spPr>
          <a:xfrm>
            <a:off x="11018520" y="1737360"/>
            <a:ext cx="41148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3" name="Text 11"/>
          <p:cNvSpPr txBox="1"/>
          <p:nvPr/>
        </p:nvSpPr>
        <p:spPr>
          <a:xfrm>
            <a:off x="7863840" y="3474720"/>
            <a:ext cx="3657600" cy="274320"/>
          </a:xfrm>
          <a:prstGeom prst="rect">
            <a:avLst/>
          </a:prstGeom>
          <a:noFill/>
          <a:ln/>
        </p:spPr>
        <p:txBody>
          <a:bodyPr wrap="square" lIns="0" tIns="0" rIns="0" bIns="0" rtlCol="0" anchor="ctr"/>
          <a:lstStyle/>
          <a:p>
            <a:pPr marL="0" indent="0" algn="ctr">
              <a:buNone/>
            </a:pPr>
            <a:r>
              <a:rPr lang="en-US" sz="1100" dirty="0">
                <a:solidFill>
                  <a:srgbClr val="6B7280"/>
                </a:solidFill>
                <a:latin typeface="Arial" pitchFamily="34" charset="0"/>
                <a:ea typeface="Arial" pitchFamily="34" charset="-122"/>
                <a:cs typeface="Arial" pitchFamily="34" charset="-120"/>
              </a:rPr>
              <a:t>Kart (View) · satır (row) · rozet (absolute)</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Hata Ayıklama: Yerleşim Sorunları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1" cy="2962656"/>
        </p:xfrm>
        <a:graphic>
          <a:graphicData uri="http://schemas.openxmlformats.org/drawingml/2006/table">
            <a:tbl>
              <a:tblPr/>
              <a:tblGrid>
                <a:gridCol w="3244490">
                  <a:extLst>
                    <a:ext uri="{9D8B030D-6E8A-4147-A177-3AD203B41FA5}">
                      <a16:colId xmlns:a16="http://schemas.microsoft.com/office/drawing/2014/main" val="20000"/>
                    </a:ext>
                  </a:extLst>
                </a:gridCol>
                <a:gridCol w="3449604">
                  <a:extLst>
                    <a:ext uri="{9D8B030D-6E8A-4147-A177-3AD203B41FA5}">
                      <a16:colId xmlns:a16="http://schemas.microsoft.com/office/drawing/2014/main" val="20001"/>
                    </a:ext>
                  </a:extLst>
                </a:gridCol>
                <a:gridCol w="4278707">
                  <a:extLst>
                    <a:ext uri="{9D8B030D-6E8A-4147-A177-3AD203B41FA5}">
                      <a16:colId xmlns:a16="http://schemas.microsoft.com/office/drawing/2014/main" val="20002"/>
                    </a:ext>
                  </a:extLst>
                </a:gridCol>
              </a:tblGrid>
              <a:tr h="402336">
                <a:tc>
                  <a:txBody>
                    <a:bodyPr/>
                    <a:lstStyle/>
                    <a:p>
                      <a:pPr marL="0" indent="0">
                        <a:buNone/>
                      </a:pPr>
                      <a:r>
                        <a:rPr lang="en-US" sz="1400" b="1" dirty="0">
                          <a:solidFill>
                            <a:srgbClr val="2563EB"/>
                          </a:solidFill>
                        </a:rPr>
                        <a:t>Belirti</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Olası neden</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Kontrol ve çözüm</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676656">
                <a:tc>
                  <a:txBody>
                    <a:bodyPr/>
                    <a:lstStyle/>
                    <a:p>
                      <a:pPr marL="0" indent="0">
                        <a:buNone/>
                      </a:pPr>
                      <a:r>
                        <a:rPr lang="en-US" sz="1800" b="1" dirty="0">
                          <a:solidFill>
                            <a:srgbClr val="111827"/>
                          </a:solidFill>
                        </a:rPr>
                        <a:t>Öğe hiç görünmüyor</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Yüksekliği 0 veya flex yok</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Kapsayıcıya flex: 1 veya sabit boyut ver</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800" b="1" dirty="0">
                          <a:solidFill>
                            <a:srgbClr val="111827"/>
                          </a:solidFill>
                        </a:rPr>
                        <a:t>Öğeler yan yana değil</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flexDirection eksik</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flexDirection: 'row' ekle</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676656">
                <a:tc>
                  <a:txBody>
                    <a:bodyPr/>
                    <a:lstStyle/>
                    <a:p>
                      <a:pPr marL="0" indent="0">
                        <a:buNone/>
                      </a:pPr>
                      <a:r>
                        <a:rPr lang="en-US" sz="1800" b="1" dirty="0">
                          <a:solidFill>
                            <a:srgbClr val="111827"/>
                          </a:solidFill>
                        </a:rPr>
                        <a:t>Ortalama çalışmıyor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Kapsayıcı küçük kalmış</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flex: 1 ekle, eksen yönünü kontrol et</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800" b="1" dirty="0">
                          <a:solidFill>
                            <a:srgbClr val="111827"/>
                          </a:solidFill>
                        </a:rPr>
                        <a:t>İçerik çentiğin altında</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Güvenli alan yok</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useSafeAreaInsets ile boşluk ekle</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buNone/>
                      </a:pPr>
                      <a:r>
                        <a:rPr lang="en-US" sz="1800" b="1" dirty="0">
                          <a:solidFill>
                            <a:srgbClr val="111827"/>
                          </a:solidFill>
                        </a:rPr>
                        <a:t>Android'de gölge yok</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elevation eksik</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elevation ekle ve zemin rengi ver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731520" y="4882896"/>
            <a:ext cx="10972800" cy="1018032"/>
          </a:xfrm>
          <a:prstGeom prst="roundRect">
            <a:avLst>
              <a:gd name="adj" fmla="val 8982"/>
            </a:avLst>
          </a:prstGeom>
          <a:solidFill>
            <a:srgbClr val="EFF6FF"/>
          </a:solidFill>
          <a:ln w="9525">
            <a:solidFill>
              <a:srgbClr val="EFF6FF"/>
            </a:solidFill>
            <a:prstDash val="solid"/>
          </a:ln>
        </p:spPr>
      </p:sp>
      <p:sp>
        <p:nvSpPr>
          <p:cNvPr id="6" name="Text 3"/>
          <p:cNvSpPr txBox="1"/>
          <p:nvPr/>
        </p:nvSpPr>
        <p:spPr>
          <a:xfrm>
            <a:off x="932688" y="5010912"/>
            <a:ext cx="10570464" cy="7620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lgn="l">
              <a:buNone/>
            </a:pPr>
            <a:r>
              <a:rPr lang="en-US" sz="1600" dirty="0">
                <a:solidFill>
                  <a:srgbClr val="111827"/>
                </a:solidFill>
                <a:latin typeface="Arial" pitchFamily="34" charset="0"/>
                <a:ea typeface="Arial" pitchFamily="34" charset="-122"/>
                <a:cs typeface="Arial" pitchFamily="34" charset="-120"/>
              </a:rPr>
              <a:t>Sorunun nedenini tahmin etmek yerine geliştirici menüsündeki Element Inspector'ı açıp öğenin gerçek boyutunu ve boşluklarını görün; çoğu yerleşim sorunu orada hemen anlaşılır.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Uygulama Saati: Profil Kartını Tasarlamak</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Geçen haftaki ProfileCard bileşenini StyleSheet ile stilleyin: yuvarlak köşeli, gölgeli kart ve daire avatar.</a:t>
            </a:r>
            <a:endParaRPr lang="en-US" sz="2200" dirty="0"/>
          </a:p>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Kartın içini flexDirection: 'row' ile düzenleyin: solda avatar, sağda ad ve meslek sütunu (flex: 1).</a:t>
            </a:r>
            <a:endParaRPr lang="en-US" sz="2200" dirty="0"/>
          </a:p>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Sağ üst köşeye position: absolute ile bir durum rozeti ekleyin.</a:t>
            </a:r>
            <a:endParaRPr lang="en-US" sz="2200" dirty="0"/>
          </a:p>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useSafeAreaInsets ile başlığın çentiğin altında kalmamasını sağlayın; emülatörü döndürüp düzeni kontrol edin.</a:t>
            </a:r>
            <a:endParaRPr lang="en-US" sz="2200" dirty="0"/>
          </a:p>
        </p:txBody>
      </p:sp>
      <p:sp>
        <p:nvSpPr>
          <p:cNvPr id="5" name="Shape 3"/>
          <p:cNvSpPr/>
          <p:nvPr/>
        </p:nvSpPr>
        <p:spPr>
          <a:xfrm>
            <a:off x="8503920" y="1645920"/>
            <a:ext cx="2377440" cy="3931920"/>
          </a:xfrm>
          <a:prstGeom prst="roundRect">
            <a:avLst>
              <a:gd name="adj" fmla="val 3846"/>
            </a:avLst>
          </a:prstGeom>
          <a:solidFill>
            <a:srgbClr val="FFFFFF"/>
          </a:solidFill>
          <a:ln w="25400">
            <a:solidFill>
              <a:srgbClr val="CBD5E1"/>
            </a:solidFill>
            <a:prstDash val="solid"/>
          </a:ln>
        </p:spPr>
      </p:sp>
      <p:sp>
        <p:nvSpPr>
          <p:cNvPr id="6" name="Shape 4"/>
          <p:cNvSpPr/>
          <p:nvPr/>
        </p:nvSpPr>
        <p:spPr>
          <a:xfrm>
            <a:off x="8549640" y="1691640"/>
            <a:ext cx="2286000" cy="365760"/>
          </a:xfrm>
          <a:prstGeom prst="roundRect">
            <a:avLst>
              <a:gd name="adj" fmla="val 25000"/>
            </a:avLst>
          </a:prstGeom>
          <a:solidFill>
            <a:srgbClr val="FEF3C7"/>
          </a:solidFill>
          <a:ln w="9525">
            <a:solidFill>
              <a:srgbClr val="FEF3C7"/>
            </a:solidFill>
            <a:prstDash val="solid"/>
          </a:ln>
        </p:spPr>
      </p:sp>
      <p:sp>
        <p:nvSpPr>
          <p:cNvPr id="7" name="Text 5"/>
          <p:cNvSpPr txBox="1"/>
          <p:nvPr/>
        </p:nvSpPr>
        <p:spPr>
          <a:xfrm>
            <a:off x="8549640" y="1691640"/>
            <a:ext cx="2286000" cy="365760"/>
          </a:xfrm>
          <a:prstGeom prst="rect">
            <a:avLst/>
          </a:prstGeom>
          <a:noFill/>
          <a:ln/>
        </p:spPr>
        <p:txBody>
          <a:bodyPr wrap="square" lIns="0" tIns="0" rIns="0" bIns="0" rtlCol="0" anchor="ctr"/>
          <a:lstStyle/>
          <a:p>
            <a:pPr marL="0" indent="0" algn="ctr">
              <a:buNone/>
            </a:pPr>
            <a:r>
              <a:rPr lang="en-US" sz="900" dirty="0">
                <a:solidFill>
                  <a:srgbClr val="B45309"/>
                </a:solidFill>
                <a:latin typeface="Arial" pitchFamily="34" charset="0"/>
                <a:ea typeface="Arial" pitchFamily="34" charset="-122"/>
                <a:cs typeface="Arial" pitchFamily="34" charset="-120"/>
              </a:rPr>
              <a:t>güvenli alan</a:t>
            </a:r>
            <a:endParaRPr lang="en-US" sz="900" dirty="0"/>
          </a:p>
        </p:txBody>
      </p:sp>
      <p:sp>
        <p:nvSpPr>
          <p:cNvPr id="8" name="Text 6"/>
          <p:cNvSpPr txBox="1"/>
          <p:nvPr/>
        </p:nvSpPr>
        <p:spPr>
          <a:xfrm>
            <a:off x="8641080" y="2103120"/>
            <a:ext cx="2103120" cy="320040"/>
          </a:xfrm>
          <a:prstGeom prst="rect">
            <a:avLst/>
          </a:prstGeom>
          <a:noFill/>
          <a:ln/>
        </p:spPr>
        <p:txBody>
          <a:bodyPr wrap="square" lIns="0" tIns="0" rIns="0" bIns="0" rtlCol="0" anchor="ctr"/>
          <a:lstStyle/>
          <a:p>
            <a:pPr marL="0" indent="0" algn="l">
              <a:buNone/>
            </a:pPr>
            <a:r>
              <a:rPr lang="en-US" sz="1200" b="1" dirty="0">
                <a:solidFill>
                  <a:srgbClr val="111827"/>
                </a:solidFill>
                <a:latin typeface="Arial" pitchFamily="34" charset="0"/>
                <a:ea typeface="Arial" pitchFamily="34" charset="-122"/>
                <a:cs typeface="Arial" pitchFamily="34" charset="-120"/>
              </a:rPr>
              <a:t>Profiller</a:t>
            </a:r>
            <a:endParaRPr lang="en-US" sz="1200" dirty="0"/>
          </a:p>
        </p:txBody>
      </p:sp>
      <p:sp>
        <p:nvSpPr>
          <p:cNvPr id="9" name="Shape 7"/>
          <p:cNvSpPr/>
          <p:nvPr/>
        </p:nvSpPr>
        <p:spPr>
          <a:xfrm>
            <a:off x="8641080" y="2514600"/>
            <a:ext cx="2103120" cy="868680"/>
          </a:xfrm>
          <a:prstGeom prst="roundRect">
            <a:avLst>
              <a:gd name="adj" fmla="val 10526"/>
            </a:avLst>
          </a:prstGeom>
          <a:solidFill>
            <a:srgbClr val="EFF6FF"/>
          </a:solidFill>
          <a:ln w="9525">
            <a:solidFill>
              <a:srgbClr val="EFF6FF"/>
            </a:solidFill>
            <a:prstDash val="solid"/>
          </a:ln>
        </p:spPr>
      </p:sp>
      <p:sp>
        <p:nvSpPr>
          <p:cNvPr id="10" name="Shape 8"/>
          <p:cNvSpPr/>
          <p:nvPr/>
        </p:nvSpPr>
        <p:spPr>
          <a:xfrm>
            <a:off x="8778240" y="2715768"/>
            <a:ext cx="457200" cy="457200"/>
          </a:xfrm>
          <a:prstGeom prst="ellipse">
            <a:avLst/>
          </a:prstGeom>
          <a:solidFill>
            <a:srgbClr val="2563EB"/>
          </a:solidFill>
          <a:ln w="12700">
            <a:solidFill>
              <a:srgbClr val="2563EB"/>
            </a:solidFill>
            <a:prstDash val="solid"/>
          </a:ln>
        </p:spPr>
      </p:sp>
      <p:sp>
        <p:nvSpPr>
          <p:cNvPr id="11" name="Text 9"/>
          <p:cNvSpPr txBox="1"/>
          <p:nvPr/>
        </p:nvSpPr>
        <p:spPr>
          <a:xfrm>
            <a:off x="9372600" y="2651760"/>
            <a:ext cx="1097280" cy="548640"/>
          </a:xfrm>
          <a:prstGeom prst="rect">
            <a:avLst/>
          </a:prstGeom>
          <a:noFill/>
          <a:ln/>
        </p:spPr>
        <p:txBody>
          <a:bodyPr wrap="square" lIns="0" tIns="0" rIns="0" bIns="0" rtlCol="0" anchor="ctr"/>
          <a:lstStyle/>
          <a:p>
            <a:pPr marL="0" indent="0" algn="l">
              <a:buNone/>
            </a:pPr>
            <a:r>
              <a:rPr lang="en-US" sz="1100" b="1" dirty="0">
                <a:solidFill>
                  <a:srgbClr val="111827"/>
                </a:solidFill>
                <a:latin typeface="Arial" pitchFamily="34" charset="0"/>
                <a:ea typeface="Arial" pitchFamily="34" charset="-122"/>
                <a:cs typeface="Arial" pitchFamily="34" charset="-120"/>
              </a:rPr>
              <a:t>Ad Soyad</a:t>
            </a:r>
            <a:endParaRPr lang="en-US" sz="1100" dirty="0"/>
          </a:p>
          <a:p>
            <a:pPr marL="0" indent="0" algn="l">
              <a:buNone/>
            </a:pPr>
            <a:r>
              <a:rPr lang="en-US" sz="1000" dirty="0">
                <a:solidFill>
                  <a:srgbClr val="6B7280"/>
                </a:solidFill>
                <a:latin typeface="Arial" pitchFamily="34" charset="0"/>
                <a:ea typeface="Arial" pitchFamily="34" charset="-122"/>
                <a:cs typeface="Arial" pitchFamily="34" charset="-120"/>
              </a:rPr>
              <a:t>Meslek</a:t>
            </a:r>
            <a:endParaRPr lang="en-US" sz="1100" dirty="0"/>
          </a:p>
        </p:txBody>
      </p:sp>
      <p:sp>
        <p:nvSpPr>
          <p:cNvPr id="12" name="Shape 10"/>
          <p:cNvSpPr/>
          <p:nvPr/>
        </p:nvSpPr>
        <p:spPr>
          <a:xfrm>
            <a:off x="10424160" y="2578608"/>
            <a:ext cx="228600" cy="228600"/>
          </a:xfrm>
          <a:prstGeom prst="ellipse">
            <a:avLst/>
          </a:prstGeom>
          <a:solidFill>
            <a:srgbClr val="22C55E"/>
          </a:solidFill>
          <a:ln w="12700">
            <a:solidFill>
              <a:srgbClr val="22C55E"/>
            </a:solidFill>
            <a:prstDash val="solid"/>
          </a:ln>
        </p:spPr>
      </p:sp>
      <p:sp>
        <p:nvSpPr>
          <p:cNvPr id="13" name="Shape 11"/>
          <p:cNvSpPr/>
          <p:nvPr/>
        </p:nvSpPr>
        <p:spPr>
          <a:xfrm>
            <a:off x="8641080" y="3520440"/>
            <a:ext cx="2103120" cy="868680"/>
          </a:xfrm>
          <a:prstGeom prst="roundRect">
            <a:avLst>
              <a:gd name="adj" fmla="val 10526"/>
            </a:avLst>
          </a:prstGeom>
          <a:solidFill>
            <a:srgbClr val="EFF6FF"/>
          </a:solidFill>
          <a:ln w="9525">
            <a:solidFill>
              <a:srgbClr val="EFF6FF"/>
            </a:solidFill>
            <a:prstDash val="solid"/>
          </a:ln>
        </p:spPr>
      </p:sp>
      <p:sp>
        <p:nvSpPr>
          <p:cNvPr id="14" name="Shape 12"/>
          <p:cNvSpPr/>
          <p:nvPr/>
        </p:nvSpPr>
        <p:spPr>
          <a:xfrm>
            <a:off x="8778240" y="3721608"/>
            <a:ext cx="457200" cy="457200"/>
          </a:xfrm>
          <a:prstGeom prst="ellipse">
            <a:avLst/>
          </a:prstGeom>
          <a:solidFill>
            <a:srgbClr val="2563EB"/>
          </a:solidFill>
          <a:ln w="12700">
            <a:solidFill>
              <a:srgbClr val="2563EB"/>
            </a:solidFill>
            <a:prstDash val="solid"/>
          </a:ln>
        </p:spPr>
      </p:sp>
      <p:sp>
        <p:nvSpPr>
          <p:cNvPr id="15" name="Text 13"/>
          <p:cNvSpPr txBox="1"/>
          <p:nvPr/>
        </p:nvSpPr>
        <p:spPr>
          <a:xfrm>
            <a:off x="9372600" y="3657600"/>
            <a:ext cx="1097280" cy="548640"/>
          </a:xfrm>
          <a:prstGeom prst="rect">
            <a:avLst/>
          </a:prstGeom>
          <a:noFill/>
          <a:ln/>
        </p:spPr>
        <p:txBody>
          <a:bodyPr wrap="square" lIns="0" tIns="0" rIns="0" bIns="0" rtlCol="0" anchor="ctr"/>
          <a:lstStyle/>
          <a:p>
            <a:pPr marL="0" indent="0" algn="l">
              <a:buNone/>
            </a:pPr>
            <a:r>
              <a:rPr lang="en-US" sz="1100" b="1" dirty="0">
                <a:solidFill>
                  <a:srgbClr val="111827"/>
                </a:solidFill>
                <a:latin typeface="Arial" pitchFamily="34" charset="0"/>
                <a:ea typeface="Arial" pitchFamily="34" charset="-122"/>
                <a:cs typeface="Arial" pitchFamily="34" charset="-120"/>
              </a:rPr>
              <a:t>Ad Soyad</a:t>
            </a:r>
            <a:endParaRPr lang="en-US" sz="1100" dirty="0"/>
          </a:p>
          <a:p>
            <a:pPr marL="0" indent="0" algn="l">
              <a:buNone/>
            </a:pPr>
            <a:r>
              <a:rPr lang="en-US" sz="1000" dirty="0">
                <a:solidFill>
                  <a:srgbClr val="6B7280"/>
                </a:solidFill>
                <a:latin typeface="Arial" pitchFamily="34" charset="0"/>
                <a:ea typeface="Arial" pitchFamily="34" charset="-122"/>
                <a:cs typeface="Arial" pitchFamily="34" charset="-120"/>
              </a:rPr>
              <a:t>Meslek</a:t>
            </a:r>
            <a:endParaRPr lang="en-US" sz="1100" dirty="0"/>
          </a:p>
        </p:txBody>
      </p:sp>
      <p:sp>
        <p:nvSpPr>
          <p:cNvPr id="16" name="Shape 14"/>
          <p:cNvSpPr/>
          <p:nvPr/>
        </p:nvSpPr>
        <p:spPr>
          <a:xfrm>
            <a:off x="10424160" y="3584448"/>
            <a:ext cx="228600" cy="228600"/>
          </a:xfrm>
          <a:prstGeom prst="ellipse">
            <a:avLst/>
          </a:prstGeom>
          <a:solidFill>
            <a:srgbClr val="22C55E"/>
          </a:solidFill>
          <a:ln w="12700">
            <a:solidFill>
              <a:srgbClr val="22C55E"/>
            </a:solidFill>
            <a:prstDash val="solid"/>
          </a:ln>
        </p:spPr>
      </p:sp>
      <p:sp>
        <p:nvSpPr>
          <p:cNvPr id="17" name="Shape 15"/>
          <p:cNvSpPr/>
          <p:nvPr/>
        </p:nvSpPr>
        <p:spPr>
          <a:xfrm>
            <a:off x="8641080" y="4526280"/>
            <a:ext cx="2103120" cy="868680"/>
          </a:xfrm>
          <a:prstGeom prst="roundRect">
            <a:avLst>
              <a:gd name="adj" fmla="val 10526"/>
            </a:avLst>
          </a:prstGeom>
          <a:solidFill>
            <a:srgbClr val="EFF6FF"/>
          </a:solidFill>
          <a:ln w="9525">
            <a:solidFill>
              <a:srgbClr val="EFF6FF"/>
            </a:solidFill>
            <a:prstDash val="solid"/>
          </a:ln>
        </p:spPr>
      </p:sp>
      <p:sp>
        <p:nvSpPr>
          <p:cNvPr id="18" name="Shape 16"/>
          <p:cNvSpPr/>
          <p:nvPr/>
        </p:nvSpPr>
        <p:spPr>
          <a:xfrm>
            <a:off x="8778240" y="4727448"/>
            <a:ext cx="457200" cy="457200"/>
          </a:xfrm>
          <a:prstGeom prst="ellipse">
            <a:avLst/>
          </a:prstGeom>
          <a:solidFill>
            <a:srgbClr val="2563EB"/>
          </a:solidFill>
          <a:ln w="12700">
            <a:solidFill>
              <a:srgbClr val="2563EB"/>
            </a:solidFill>
            <a:prstDash val="solid"/>
          </a:ln>
        </p:spPr>
      </p:sp>
      <p:sp>
        <p:nvSpPr>
          <p:cNvPr id="19" name="Text 17"/>
          <p:cNvSpPr txBox="1"/>
          <p:nvPr/>
        </p:nvSpPr>
        <p:spPr>
          <a:xfrm>
            <a:off x="9372600" y="4663440"/>
            <a:ext cx="1097280" cy="548640"/>
          </a:xfrm>
          <a:prstGeom prst="rect">
            <a:avLst/>
          </a:prstGeom>
          <a:noFill/>
          <a:ln/>
        </p:spPr>
        <p:txBody>
          <a:bodyPr wrap="square" lIns="0" tIns="0" rIns="0" bIns="0" rtlCol="0" anchor="ctr"/>
          <a:lstStyle/>
          <a:p>
            <a:pPr marL="0" indent="0" algn="l">
              <a:buNone/>
            </a:pPr>
            <a:r>
              <a:rPr lang="en-US" sz="1100" b="1" dirty="0">
                <a:solidFill>
                  <a:srgbClr val="111827"/>
                </a:solidFill>
                <a:latin typeface="Arial" pitchFamily="34" charset="0"/>
                <a:ea typeface="Arial" pitchFamily="34" charset="-122"/>
                <a:cs typeface="Arial" pitchFamily="34" charset="-120"/>
              </a:rPr>
              <a:t>Ad Soyad</a:t>
            </a:r>
            <a:endParaRPr lang="en-US" sz="1100" dirty="0"/>
          </a:p>
          <a:p>
            <a:pPr marL="0" indent="0" algn="l">
              <a:buNone/>
            </a:pPr>
            <a:r>
              <a:rPr lang="en-US" sz="1000" dirty="0">
                <a:solidFill>
                  <a:srgbClr val="6B7280"/>
                </a:solidFill>
                <a:latin typeface="Arial" pitchFamily="34" charset="0"/>
                <a:ea typeface="Arial" pitchFamily="34" charset="-122"/>
                <a:cs typeface="Arial" pitchFamily="34" charset="-120"/>
              </a:rPr>
              <a:t>Meslek</a:t>
            </a:r>
            <a:endParaRPr lang="en-US" sz="1100" dirty="0"/>
          </a:p>
        </p:txBody>
      </p:sp>
      <p:sp>
        <p:nvSpPr>
          <p:cNvPr id="20" name="Shape 18"/>
          <p:cNvSpPr/>
          <p:nvPr/>
        </p:nvSpPr>
        <p:spPr>
          <a:xfrm>
            <a:off x="10424160" y="4590288"/>
            <a:ext cx="228600" cy="228600"/>
          </a:xfrm>
          <a:prstGeom prst="ellipse">
            <a:avLst/>
          </a:prstGeom>
          <a:solidFill>
            <a:srgbClr val="22C55E"/>
          </a:solidFill>
          <a:ln w="12700">
            <a:solidFill>
              <a:srgbClr val="22C55E"/>
            </a:solidFill>
            <a:prstDash val="solid"/>
          </a:ln>
        </p:spPr>
      </p:sp>
      <p:sp>
        <p:nvSpPr>
          <p:cNvPr id="21" name="Text 19"/>
          <p:cNvSpPr txBox="1"/>
          <p:nvPr/>
        </p:nvSpPr>
        <p:spPr>
          <a:xfrm>
            <a:off x="7863840" y="5669280"/>
            <a:ext cx="3657600" cy="274320"/>
          </a:xfrm>
          <a:prstGeom prst="rect">
            <a:avLst/>
          </a:prstGeom>
          <a:noFill/>
          <a:ln/>
        </p:spPr>
        <p:txBody>
          <a:bodyPr wrap="square" lIns="0" tIns="0" rIns="0" bIns="0" rtlCol="0" anchor="ctr"/>
          <a:lstStyle/>
          <a:p>
            <a:pPr marL="0" indent="0" algn="ctr">
              <a:buNone/>
            </a:pPr>
            <a:r>
              <a:rPr lang="en-US" sz="1200" dirty="0">
                <a:solidFill>
                  <a:srgbClr val="6B7280"/>
                </a:solidFill>
                <a:latin typeface="Arial" pitchFamily="34" charset="0"/>
                <a:ea typeface="Arial" pitchFamily="34" charset="-122"/>
                <a:cs typeface="Arial" pitchFamily="34" charset="-120"/>
              </a:rPr>
              <a:t>Hedef ekran taslağı</a:t>
            </a:r>
            <a:endParaRPr lang="en-US" sz="12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Kontrol Soruları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React Native'de flexDirection varsayılanı nedir ve bu web'den nasıl ayrılır?</a:t>
            </a:r>
            <a:endParaRPr lang="en-US" sz="2200" dirty="0"/>
          </a:p>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justifyContent ile alignItems arasındaki fark nedir?</a:t>
            </a:r>
            <a:endParaRPr lang="en-US" sz="2200" dirty="0"/>
          </a:p>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Bir View'u ekranın tam ortasına koymak için hangi üç özellik gerekir?</a:t>
            </a:r>
            <a:endParaRPr lang="en-US" sz="2200" dirty="0"/>
          </a:p>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Neden güvenli alan boşlukları sabit sayıyla verilmez?</a:t>
            </a:r>
            <a:endParaRPr lang="en-US" sz="2200" dirty="0"/>
          </a:p>
        </p:txBody>
      </p:sp>
      <p:sp>
        <p:nvSpPr>
          <p:cNvPr id="5" name="Shape 3"/>
          <p:cNvSpPr/>
          <p:nvPr/>
        </p:nvSpPr>
        <p:spPr>
          <a:xfrm>
            <a:off x="7863840" y="1645920"/>
            <a:ext cx="3657600" cy="1597152"/>
          </a:xfrm>
          <a:prstGeom prst="roundRect">
            <a:avLst>
              <a:gd name="adj" fmla="val 5725"/>
            </a:avLst>
          </a:prstGeom>
          <a:solidFill>
            <a:srgbClr val="EFF6FF"/>
          </a:solidFill>
          <a:ln w="9525">
            <a:solidFill>
              <a:srgbClr val="EFF6FF"/>
            </a:solidFill>
            <a:prstDash val="solid"/>
          </a:ln>
        </p:spPr>
      </p:sp>
      <p:sp>
        <p:nvSpPr>
          <p:cNvPr id="6" name="Text 4"/>
          <p:cNvSpPr txBox="1"/>
          <p:nvPr/>
        </p:nvSpPr>
        <p:spPr>
          <a:xfrm>
            <a:off x="8065008" y="1773936"/>
            <a:ext cx="3255264" cy="13411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KONTROL SORUSU</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İçinde üç kutu bulunan bir View'da kutular alt alta görünüyor; hepsini yan yana, aralarında eşit boşlukla yerleştirmek için hangi iki özelliği eklersiniz?</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Özet ve Gelecek Hafta</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10972800" cy="46634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Bu hafta stilin StyleSheet ile yazıldığını ve CSS'ten farklı olduğunu öğrendik. Flexbox'ta yön, ana eksen ve çapraz eksen hizalaması ile oranlı alan paylaşımı düzenin temelidir. Ekran boyutu, güvenli alan ve platform farkları, uygulamanın her cihazda kullanılabilir kalmasını sağlar. Gelecek hafta bu ekranlara hayat vereceğiz: state ve etkileşim.</a:t>
            </a:r>
            <a:endParaRPr lang="en-US" sz="22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 xmlns:ma14="http://schemas.microsoft.com/office/mac/drawingml/2011/main"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35</a:t>
            </a:fld>
            <a:endParaRPr lang="en-US"/>
          </a:p>
        </p:txBody>
      </p:sp>
    </p:spTree>
  </p:cSld>
  <p:clrMapOvr>
    <a:masterClrMapping/>
  </p:clrMapOvr>
</p:sld>
</file>

<file path=ppt/theme/theme1.xml><?xml version="1.0" encoding="utf-8"?>
<a:theme xmlns:a="http://schemas.openxmlformats.org/drawingml/2006/main" name="Mobil Programlama A">
  <a:themeElements>
    <a:clrScheme name="Mobil Programlama A">
      <a:dk1>
        <a:srgbClr val="111827"/>
      </a:dk1>
      <a:lt1>
        <a:srgbClr val="FFFFFF"/>
      </a:lt1>
      <a:dk2>
        <a:srgbClr val="374151"/>
      </a:dk2>
      <a:lt2>
        <a:srgbClr val="F8FAFC"/>
      </a:lt2>
      <a:accent1>
        <a:srgbClr val="2563EB"/>
      </a:accent1>
      <a:accent2>
        <a:srgbClr val="B45309"/>
      </a:accent2>
      <a:accent3>
        <a:srgbClr val="B91C1C"/>
      </a:accent3>
      <a:accent4>
        <a:srgbClr val="0EA5E9"/>
      </a:accent4>
      <a:accent5>
        <a:srgbClr val="7C3AED"/>
      </a:accent5>
      <a:accent6>
        <a:srgbClr val="059669"/>
      </a:accent6>
      <a:hlink>
        <a:srgbClr val="2563EB"/>
      </a:hlink>
      <a:folHlink>
        <a:srgbClr val="7C3AED"/>
      </a:folHlink>
    </a:clrScheme>
    <a:fontScheme name="Mobil Programlama 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6929</Words>
  <Application>Microsoft Macintosh PowerPoint</Application>
  <PresentationFormat>Geniş ekran</PresentationFormat>
  <Paragraphs>558</Paragraphs>
  <Slides>35</Slides>
  <Notes>35</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35</vt:i4>
      </vt:variant>
    </vt:vector>
  </HeadingPairs>
  <TitlesOfParts>
    <vt:vector size="39" baseType="lpstr">
      <vt:lpstr>Arial</vt:lpstr>
      <vt:lpstr>Calibri</vt:lpstr>
      <vt:lpstr>Courier New</vt:lpstr>
      <vt:lpstr>Mobil Programlama A</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BGP 201 Mobil Programlama — Hafta 5</dc:title>
  <dc:subject>PptxGenJS Presentation</dc:subject>
  <dc:creator>BGP 201</dc:creator>
  <cp:lastModifiedBy>Microsoft Office User</cp:lastModifiedBy>
  <cp:revision>4</cp:revision>
  <dcterms:created xsi:type="dcterms:W3CDTF">2026-10-26T18:43:20Z</dcterms:created>
  <dcterms:modified xsi:type="dcterms:W3CDTF">2026-10-31T20:24:43Z</dcterms:modified>
</cp:coreProperties>
</file>