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92" r:id="rId10"/>
    <p:sldId id="294" r:id="rId11"/>
    <p:sldId id="295" r:id="rId12"/>
    <p:sldId id="296" r:id="rId13"/>
    <p:sldId id="297" r:id="rId14"/>
    <p:sldId id="298"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68615575-F0BD-6F66-96C3-3CB9ABA1DD26}">
          <p14:sldIdLst>
            <p14:sldId id="256"/>
            <p14:sldId id="257"/>
            <p14:sldId id="258"/>
          </p14:sldIdLst>
        </p14:section>
        <p14:section name="Bölüm 1: Neden State?" id="{7431EB57-4B2B-195F-B55C-38ED9F5BE9CC}">
          <p14:sldIdLst>
            <p14:sldId id="259"/>
            <p14:sldId id="260"/>
            <p14:sldId id="261"/>
            <p14:sldId id="262"/>
            <p14:sldId id="263"/>
            <p14:sldId id="292"/>
            <p14:sldId id="294"/>
            <p14:sldId id="295"/>
            <p14:sldId id="296"/>
            <p14:sldId id="297"/>
            <p14:sldId id="298"/>
            <p14:sldId id="264"/>
          </p14:sldIdLst>
        </p14:section>
        <p14:section name="Bölüm 2: Olay İşleme" id="{C0E4A5C4-A791-26C3-B1E6-9B5D0DF55743}">
          <p14:sldIdLst>
            <p14:sldId id="265"/>
            <p14:sldId id="266"/>
            <p14:sldId id="267"/>
            <p14:sldId id="268"/>
          </p14:sldIdLst>
        </p14:section>
        <p14:section name="Bölüm 3: Değişmezlik" id="{030C510C-5C81-B8FE-AD1B-6DE04FB3217A}">
          <p14:sldIdLst>
            <p14:sldId id="269"/>
            <p14:sldId id="270"/>
            <p14:sldId id="271"/>
            <p14:sldId id="272"/>
            <p14:sldId id="273"/>
            <p14:sldId id="274"/>
            <p14:sldId id="275"/>
            <p14:sldId id="276"/>
            <p14:sldId id="277"/>
          </p14:sldIdLst>
        </p14:section>
        <p14:section name="Bölüm 4: State'i Yukarı Taşımak" id="{F5D91EA6-24CB-E9A4-D4A0-B1C616733B3A}">
          <p14:sldIdLst>
            <p14:sldId id="278"/>
            <p14:sldId id="279"/>
            <p14:sldId id="280"/>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610"/>
  </p:normalViewPr>
  <p:slideViewPr>
    <p:cSldViewPr snapToGrid="0" snapToObjects="1">
      <p:cViewPr varScale="1">
        <p:scale>
          <a:sx n="109" d="100"/>
          <a:sy n="109" d="100"/>
        </p:scale>
        <p:origin x="6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5569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hafta uygulamaların canlanmasını sağlayan temel mekanizmayı öğreniyoruz. 4. haftada useState'i yalnızca tanıtmıştık; bu haftanın konusu onun tam anlatımıdır. Ö1 çıktısı, yani mobil uygulamanın temel prensiplerini açıklama, bu hafta kullanıcı etkileşimi ve yeniden çizim zinciriyle desteklenir. Öğrencilerin 5. haftadaki projesini yanlarında bulundurmalarını isteyin; uygulama saatinde aynı profil kartı etkileşimli hale gelecek. Anlatım önerisi: "Geçen hafta ekranlarımız güzeldi ama hareketsizdi. Bu hafta bir düğmeye basınca ekranın değişmesini öğreneceğiz." Dersin başında geçen haftaki projenin çalıştığını kontrol edin. Derse başlarken öğrencilerden geçen haftaki profil kartı ekranını emülatörde açmalarını isteyin; çalışmayanlara ders başında kısa bir süre tanıyın ve ofis saatini hatırlatın. Bu hafta yeni kütüphane kurulmayacak, yalnızca React'in kendi özelliklerini kullanacağız; bu nedenle ortam sorunu beklenmez. Derse başlarken öğrencilerden geçen haftaki profil kartı ekranını emülatörde açmalarını isteyin; çalışmayanlara ders başında kısa bir süre tanıyın ve ofis saatini hatırlatın. Bu hafta yeni kütüphane kurulmayacak, yalnızca React'in kendi özelliklerini kullanacağız; bu nedenle ortam sorunu beklenmez.</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Hedeflerin ortak noktası, ekranın bir fonksiyon olduğu fikridir: aynı veri aynı ekranı üretir. Bu bakış açısını bu hafta yerleştirirseniz sonraki konular, özellikle veri çekme ve listeler, çok daha kolay anlaşılır. Öğrencilere hafta sonunda kendi dönem projelerine etkileşimli bir parça ekleyebileceklerini söyleyin; bu motivasyonu artırır. Bu hafta yazı girişi yoktur: TextInput, Button ve Switch 9. haftada formlarla birlikte işlenecek, bu hafta dokunma için Pressable kullanacağız. Anlatım önerisi: "Bu üç hedef bugünün üç parçası: state'i anlamak, doğru güncellemek ve ortak veriyi yukarı taşımak. Yazı girişini ise 9. haftada formlarda göreceğiz." Her hedefi okurken bir örnek sorun: hangi uygulamada bir düğmeye basınca ekran değişir? Öğrencilerin kendi telefonlarındaki beğeni, sayaç ve sepet gibi örnekleri vermesi dersin geri kalanında kullanılacak ortak bir zemin oluşturur. Hedefleri defterlerine yazdırın ve hafta sonunda tekrar bakmalarını söyleyin. Her hedefi okurken bir örnek sorun: hangi uygulamada bir düğmeye basınca ekran değişir? Öğrencilerin kendi telefonlarındaki beğeni, sayaç ve sepet gibi örnekleri vermesi dersin geri kalanında kullanılacak ortak bir zemin oluşturur. Hedefleri defterlerine yazdırın ve hafta sonunda tekrar bakmalarını söyleyin.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dağılımı: state kavramı 30 dk, olay işleme 20 dk, değişmezlik 40 dk, state'i yukarı taşıma 25 dk, uygulama 60 dk. Değişmezlik bölümünü kısaltmayın: öğrenciler en çok bu konuda hata yapar ve hatanın belirtisi sessizdir, yani ekran güncellenmez ve hata mesajı yoktur. Her bölümün ardından kısa bir kod yazma görevi verin. Anlatım önerisi: "Bugünün kalbi üçüncü bölüm: değişmezlik. Orada hata mesajı almayacağız, ekran sadece güncellenmeyecek; bunu tanımayı öğreneceğiz." Mola zamanını bölüm geçişlerinde verin. Her bölümün sonunda kısa bir yazma görevi vereceğinizi önceden söyleyin: sayaç, beğen düğmesi, ekleme ve silme, ortak üst bileşen. Görevlerin her biri beş dakikayı geçmemeli. Süre yetmezse son bölümü uygulama saatine kaydırmak yerine değişmezlik bölümünü korumayı tercih edin; çünkü hata orada yapılır. Her bölümün sonunda kısa bir yazma görevi vereceğinizi önceden söyleyin: sayaç, beğen düğmesi, ekleme ve silme, ortak üst bileşen. Görevlerin her biri beş dakikayı geçmemeli. Süre yetmezse son bölümü uygulama saatine kaydırmak yerine değişmezlik bölümünü korumayı tercih edin; çünkü hata orada yapılır.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bölüm state kavramının neden gerektiğini bir hata üzerinden gösterir. Öğrencilerin önce sıradan bir değişkenle sayaç yazmayı denemesi, sonra neden çalışmadığını görmesi kalıcı öğrenme sağlar. Bölümün sonunda herkesin useState ile çalışan bir sayaç yazmış olması hedeflenir. Anlatım önerisi: "İlk bölümde bir sayaç yapacağız. Önce yanlış yoldan deneyeceğiz, çünkü doğru yolun neden var olduğunu ancak o zaman anlarsınız." Bölüme geçmeden önce öğrencilere bir düğmeye basınca ekranda sayının artması için ne gerektiğini sorun. Bu bölüm kısa tutulabilir ama atlanmamalıdır. Öğrencilerin sayaç örneğini kendi emülatörlerinde çalıştırması, sonraki bölümlerin zeminini oluşturur. Çalışmayan sayaç örneğinin ardından çalışan sürümü göstermek, 'neden böyle yazıyoruz' sorusunu baştan cevaplar ve öğrencilerin dikkatini canlı tutar. Bu bölüm kısa tutulabilir ama atlanmamalıdır. Öğrencilerin sayaç örneğini kendi emülatörlerinde çalıştırması, sonraki bölümlerin zeminini oluşturur. Çalışmayan sayaç örneğinin ardından çalışan sürümü göstermek, 'neden böyle yazıyoruz' sorusunu baştan cevaplar ve öğrencilerin dikkatini canlı tutar.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kodu önce öğrencilere gösterip ne olacağını tahmin ettirin; çoğu kişi sayının artacağını söyleyecektir. Sonra çalıştırıp hayal kırıklığını yaşatın. Bu deneyim, state'in neden gerekli olduğunu hissettirir. Fonksiyonun her çizimde baştan çalıştığını ve yerel değişkenlerin sıfırlandığını açıkça vurgulayın; bu, 2. haftadaki closure konusuyla da ilişkilidir. Anlatım önerisi: "Bu kodda sayı artacak mı? Elinizi kaldırın. Şimdi deneyelim." Sonucu gösterdikten sonra neden artmadığını sorun. Öğrencilerin Metro terminalini açık tutmasını ve Pressable'a basınca konsola count yazdırmasını isteyin: console.log ile değerin gerçekten arttığını, ama ekranın değişmediğini görmek, state ile ekran arasındaki bağı net biçimde gösterir. Bu bağ koptuğu için React'e haber vermemiz gerektiği sonucuna birlikte varın. Öğrencilerin Metro terminalini açık tutmasını ve Pressable'a basınca konsola count yazdırmasını isteyin: console.log ile değerin gerçekten arttığını, ama ekranın değişmediğini görmek, state ile ekran arasındaki bağı net biçimde gösterir. Bu bağ koptuğu için React'e haber vermemiz gerektiği sonucuna birlikte varın.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şemayı tahtada çizin ve dönem boyunca her etkileşim örneğinde tekrar edin; 1. haftadaki yönetmen ve oyuncular benzetmesine bağlayın: state, yönetmenin elindeki senaryodur ve değişince oyuncular yeniden sahneye çıkar. Yeniden çizimin tüm ekranı sıfırdan çizmek olmadığını, yalnızca farkı uyguladığını söyleyin. Anlatım önerisi: "Dört adım: kullanıcı dokunur, biz setState çağırırız, React fonksiyonu yeniden çalıştırır, ekran güncellenir. Ekranı biz değiştirmiyoruz, state'i değiştiriyoruz." Şemayı tahtaya çizdirin. Dört kutuyu soldan sağa okuyun ve her birinin yanına bir örnek yazın: dokunma, setCount çağrısı, fonksiyonun yeniden çalışması, güncel yazı. Öğrencilerin en çok takıldığı nokta, yeniden çizimin sayfayı yenilemek olmadığıdır; telefon ekranında yalnızca değişen yazının güncellendiğini emülatörde gözlemletin. Dört kutuyu soldan sağa okuyun ve her birinin yanına bir örnek yazın: dokunma, setCount çağrısı, fonksiyonun yeniden çalışması, güncel yazı. Öğrencilerin en çok takıldığı nokta, yeniden çizimin sayfayı yenilemek olmadığıdır; telefon ekranında yalnızca değişen yazının güncellendiğini emülatörde gözlemletin.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haftada destructuring, 3. haftada tuple olarak gördüğümüz yapıların burada buluştuğunu söyleyin; öğrencilerin tanıdık bir şeyle karşılaştığını görmesi önemlidir. Güncelleyici fonksiyonun adını setCount yerine örneğin updateCount yapıp çalıştığını gösterebilirsiniz; ad serbesttir. Bileşenin her çizimde baştan çalıştığını ve useState'in değeri hatırladığını tekrar vurgulayın. Anlatım önerisi: "Aynı sayaç, bu kez useState ile. Dizinin ilk elemanı değer, ikincisi güncelleyici." Öğrencilere kendi App.tsx dosyalarında yazdırın. İki satırı ayrı ayrı gösterin: önce useState çağrısını, sonra add fonksiyonunu. Öğrencilerden useState içindeki 0 değerini 10 yapıp sonucu görmelerini isteyin; ilk değerin yalnızca ilk çizimde kullanıldığını, sonraki çizimlerde React'in kayıtlı değeri verdiğini vurgulayın. Bu, sıfırlanma sorununun cevabıdır. İki satırı ayrı ayrı gösterin: önce useState çağrısını, sonra add fonksiyonunu. Öğrencilerden useState içindeki 0 değerini 10 yapıp sonucu görmelerini isteyin; ilk değerin yalnızca ilk çizimde kullanıldığını, sonraki çizimlerde React'in kayıtlı değeri verdiğini vurgulayın. Bu, sıfırlanma sorununun cevabıdır. Güncelleyici adını farklı yazıp çalıştığını da gösterin.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React'in state'i çağrı sırasına göre eşleştirdiğini sade biçimde anlatın: ilk useState birinci kutuya, ikincisi ikinci kutuya bakar. Sıra değişirse kutular karışır. Bunu bir örnekle göstermek için koşul içinde useState yazıp çıkan hatayı okuyun. Kuralları bir kontrol listesi olarak öğrencilerin defterine yazdırın; bu kuralları denetleyen bir lint kuralının şablonda hazır geldiğini de söyleyin. Anlatım önerisi: "useState'i hep bileşenin en üstünde çağırıyoruz, if ya da döngünün içinde asla. React kutuları sırayla sayar." Koşulun içinde çağırıp hatayı birlikte okuyun. Tablonun üç satırını üç ayrı hata örneğiyle eşleştirin ve öğrencilerden her birini bilerek üretmelerini isteyin. Hook çağrısını if içine taşıyınca çıkan mesajı okumak, kuralın nedenini sezdirir. Kuralların bir kısmını lint aracının otomatik yakaladığını söyleyip editördeki uyarıya dikkat çekin; öğrenciler uyarıları genellikle görmezden gelir. Tablonun üç satırını üç ayrı hata örneğiyle eşleştirin ve öğrencilerden her birini bilerek üretmelerini isteyin. Hook çağrısını if içine taşıyınca çıkan mesajı okumak, kuralın nedenini sezdirir. Kuralların bir kısmını lint aracının otomatik yakaladığını söyleyip editördeki uyarıya dikkat çekin; öğrenciler uyarıları genellikle görmezden gelir.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örnek, hata mesajının hemen göründüğü tek ihlaldir. Öğrencilere kodu yazdırıp kırmızı ekranı birlikte okuyun ve mesajdaki hook'ların yalnızca fonksiyon bileşeninin gövdesinde çağrılabileceği cümlesini bulmalarını isteyin. Hatanın nedenini sorun: React state'i hangi bileşene bağlayacak? Sonra düzeltme slaytına geçin. Anlatım önerisi: "Bu kod çalışacak mı? Neden çalışmayacağını tahmin edin." Öğrencilerin tahminlerini tahtaya yazın.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Düzeltmenin tek satırlık taşıma olduğunu vurgulayın; kural karmaşık değil, yerleşimle ilgilidir. Öğrencilere kendi App.tsx dosyalarında hatalı sürümü yazıp ardından düzeltmeyi uygulamalarını söyleyin. Hata mesajının kaybolduğunu görmek, kuralı pekiştirir. İsterseniz ikinci bir state ekleyip iki hook'un da gövdede olduğunu gösterin. Anlatım önerisi: "Aynı satırı fonksiyonun içine taşıdık ve hata gitti. Kural bu kadar basit."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ihlal en tuzaklı olanıdır, çünkü ilk açılışta çalışıyormuş gibi görünür. Öğrencilere dokunmadan önce kodun doğru çalışıp çalışmadığını sorun, sonra dokundurun. Çıkan hata mesajında Rendered more hooks than during the previous render ifadesini birlikte okuyun. Ardından React'in state'i kutulara sırayla yerleştirdiğini çizin: koşul içindeki hook sırayı kaydırır. Anlatım önerisi: "İlk açılışta çalışıyor ama dokununca çöküyor. Neden şimdi?" Bir öğrenciden dokunmasını isteyin.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Düzeltmenin özünü iki cümleyle özetleyin: hook sabit kalır, koşul değere uygulanır. Öğrencilere hatalı örneği bu biçime çevirtin ve dokunarak denetin. Koşullu çizim için daha önce gördükleri &amp;&amp; operatörünü hatırlatın; 0 tuzağına dikkat çekmek için burada show'un boolean olduğunu belirtin. Anlatım önerisi: "Üç hook her zaman çalışıyor. Koşul sadece ekrana ne çizeceğimizi belirliyor." Öğrencilerin dokunarak denemesini bekleyin.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ihlalin ders içindeki amacı, kuralın her zaman hata mesajıyla gelmediğini göstermektir. Editördeki uyarıyı ekranda gösterin ve öğrencilerin uyarıları okumasını teşvik edin. Kendi hook yazmanın bu haftanın kapsamı dışında olduğunu, ancak adlandırma kuralının şimdiden bilinmesi gerektiğini söyleyin. Öğrencilere, ESLint uyarı metnini defterlerine yazdırın. Anlatım önerisi: "Bu kod çalışıyor, ama editörde bir uyarı var. Uyarıyı kim görüyor?"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Adın değişmesiyle davranışın değişmediğini, yalnızca araçların bu fonksiyonu tanıdığını vurgulayın. Öğrencilere bu üç ihlal ve düzeltmeyi defterlerine bir tabloya yazdırın: ihlal, sonuç, düzeltme. Bu tablo, ara sınavda hook kuralları sorulduğunda hazırlık kaynağı olur. Dersi bitirirken hook kurallarının üç satıra sığdığını söyleyin. Anlatım önerisi: "Kural basit: bileşenin içinde, en üstte, use ile başlayan adla."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haftadaki generic ve null güvenliği konularının doğrudan uygulamasıdır. Dönem projelerinde en çok kullanılacak state kalıbı budur: veri henüz yok, sonra gelir. İlk değerden tipin çıkarıldığı durumlarda, örneğin useState(0), tip yazmaya gerek olmadığını hatırlatın. Anlatım önerisi: "Kullanıcı başta yok, sonra geliyor. Bunu User veya null diye yazıyoruz. Böylece kullanmadan önce kontrol etmemiz gerekiyor." Soru işareti ve ?? operatörünü 2. haftadan hatırlatın. Önce tip yazmadan useState(null) deneyin ve editörün ne dediğini gösterin; sonra tipi ekleyin. Kullanıcı verisinin sunucudan sonradan geleceği, bu nedenle başlangıçta boş olmasının doğal olduğu fikrini vurgulayın. Bu kalıp 10. haftada veri çekerken yeniden karşımıza çıkacak; şimdiden ilişki kurmak yararlıdır. Önce tip yazmadan useState(null) deneyin ve editörün ne dediğini gösterin; sonra tipi ekleyin. Kullanıcı verisinin sunucudan sonradan geleceği, bu nedenle başlangıçta boş olmasının doğal olduğu fikrini vurgulayın. Bu kalıp 10. haftada veri çekerken yeniden karşımıza çıkacak; şimdiden ilişki kurmak yararlıdır.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bölümde Pressable ile dokunma olaylarını state'e bağlıyoruz. Yazı girişi bilinçli olarak bu haftanın dışında bırakılmıştır: TextInput, Button ve Switch 9. haftada formlar konusunda ele alınacak. Öğrencilerden bu hafta bu bileşenleri kullanmamalarını, yalnızca Pressable ile çalışmalarını isteyin. Anlatım önerisi: "Bu bölümde kullanıcının dokunuşunu state'e bağlıyoruz. Yazı girişini bu hafta kullanmıyoruz, onu formlar konusunda ayrıntılı göreceğiz." Öğrencilerin dokunma olaylarını emülatörde denemesini isteyin. Bölümün başında Pressable'ın Button'dan neden farklı olduğunu tek cümleyle söyleyin: Button hazır ve sınırlı bir görünüme sahiptir, Pressable ise içine istediğimiz bileşenleri koyup istediğimiz gibi stillememize izin verir. Bu yüzden gerçek uygulamalar çoğunlukla Pressable ile yazılır ve biz de bu dersi ona dayandırıyoruz. Bölümün başında Pressable'ın Button'dan neden farklı olduğunu tek cümleyle söyleyin: Button hazır ve sınırlı bir görünüme sahiptir, Pressable ise içine istediğimiz bileşenleri koyup istediğimiz gibi stillememize izin verir. Bu yüzden gerçek uygulamalar çoğunlukla Pressable ile yazılır ve biz de bu dersi ona dayandırıyoruz.</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örnek, 4. haftadaki Pressable bilgisini state ile birleştirir. Basılı geri bildirimin mobil deneyimde neden önemli olduğunu anlatın: kullanıcı dokunduğunu görmezse tekrar dokunur. Emülatörde uzun basışı farenin sol tuşunu basılı tutarak denetin. Anlatım önerisi: "Pressable'ın üç işi var: kısa basış, uzun basış ve basılıyken görünümü değiştirmek. style'a fonksiyon verince pressed bilgisini alıyoruz." Düğmeyi basılı tutup soluklaşmayı gösterin. Basılı durum stilini gösterirken emülatörde farenin sol tuşunu basılı tutun. Öğrencilere kendi projelerindeki düğmelere bu soluklaşmayı eklemelerini önerin; küçük bir ayrıntı gibi görünse de uygulamanın profesyonel hissettirmesini sağlar. Gerçek cihazda basma geri bildiriminin ayrıca titreşimle de desteklenebildiğini kısaca belirtin. Basılı durum stilini gösterirken emülatörde farenin sol tuşunu basılı tutun. Öğrencilere kendi projelerindeki düğmelere bu soluklaşmayı eklemelerini önerin; küçük bir ayrıntı gibi görünse de uygulamanın profesyonel hissettirmesini sağlar. Gerçek cihazda basma geri bildiriminin ayrıca titreşimle de desteklenebildiğini kısaca belirtin. Uzun basışı denemeyen öğrenci kalmasın.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haftadaki callback ve 4. haftadaki Pressable bilgisini birleştiren bir slayttır. Too many re-renders hatasını bilerek üretin ve mesajı birlikte okuyun; bu, state konusundaki ilk tipik hata mesajıdır. Boolean state'i tersine çevirmenin bu biçimde yazılabileceğini, ancak güvenli yolun birazdan göreceğimiz fonksiyonel güncelleme olduğunu belirtin. Anlatım önerisi: "Beğen düğmesi: state bir boolean, her dokunuşta tersine dönüyor. onPress'e fonksiyonun kendisini veriyoruz, çağrısını değil." Parantezli yazımı deneyip hatayı gösterin. Tek satırlık ve çok satırlık işleyiciyi yan yana yazdırın ve hangisinin ne zaman okunabilir olduğunu sorun. Genel kural olarak bir işleyici iki satırı aşıyorsa isim verilmelidir. Beğeni örneğinin gerçek uygulamalarda sunucuya da yazılacağını, ama bugün yalnızca ekranın değiştiğini söyleyin; sunucu tarafı 10. haftadadır. Tek satırlık ve çok satırlık işleyiciyi yan yana yazdırın ve hangisinin ne zaman okunabilir olduğunu sorun. Genel kural olarak bir işleyici iki satırı aşıyorsa isim verilmelidir. Beğeni örneğinin gerçek uygulamalarda sunucuya da yazılacağını, ama bugün yalnızca ekranın değiştiğini söyleyin; sunucu tarafı 10. haftadadır.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haftadaki closure konusunu hatırlatın: her ok fonksiyonu kendi n değerini hatırlar. key kavramını burada kısaca tanıtın ama ayrıntıya girmeyin; liste konusunun sahibi 11. haftadır. Öğrencilere remove yerine kendi işlevlerini yazdırın ve her öğeye basınca ekranda bir mesaj göstermelerini isteyin. Anlatım önerisi: "Hangi öğeye bastığımızı bilmemiz gerekiyor. Bu yüzden onPress'in içine bir ok fonksiyonu koyup öğenin adını gönderiyoruz." Konsol çıktısını Metro terminalinde gösterin. Öğrencilere iki yazımı karşılaştırtın: onPress={() =&gt; remove(n)} ve onPress={remove(n)}. İkincisinin neden her çizimde çalıştığını, ilkinin ise yalnızca basınca çalıştığını konsolda gösterin. Bu fark, işleyici yazmanın en sık hatasıdır ve ilerleyen haftalarda form ve liste örneklerinde sürekli karşımıza çıkacaktır. Öğrencilere iki yazımı karşılaştırtın: onPress={() =&gt; remove(n)} ve onPress={remove(n)}. İkincisinin neden her çizimde çalıştığını, ilkinin ise yalnızca basınca çalıştığını konsolda gösterin. Bu fark, işleyici yazmanın en sık hatasıdır ve ilerleyen haftalarda form ve liste örneklerinde sürekli karşımıza çıkacaktır.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bölüm haftanın en önemli bölümüdür ve en çok vakit ayrılacak kısımdır. Öğrencilerin dizi ve nesne state'ini doğrudan değiştirme hatasını hem görmesi hem de tanıyabilmesi hedeflenir. Hatanın sessiz olduğunu baştan söyleyin; hata mesajı gelmeyecek, ekran güncellenmeyecek. Bölüm sonunda herkes ekleme, silme ve güncelleme desenlerini bir dizi üzerinde yazmış olmalıdır. Anlatım önerisi: "Şimdi en önemli bölüm. Burada hata mesajı almayacaksınız, sadece ekran güncellenmeyecek. O yüzden hatayı tanımayı öğreneceğiz." Mola vermeden önce bu bölümü bitirmeye çalışın. Bölümün başında sınıfa bir soru sorun: bir diziye eleman ekledim, ekran güncellenmedi, hata mesajı da yok; ne yaparsınız? Gelen cevapları tahtaya yazın ve bölümün sonunda tekrar dönüp hangi tahminlerin doğru çıktığına bakın. Bu, hata ayıklama alışkanlığını kazandırmanın iyi bir yoludur. Bölümün başında sınıfa bir soru sorun: bir diziye eleman ekledim, ekran güncellenmedi, hata mesajı da yok; ne yaparsınız? Gelen cevapları tahtaya yazın ve bölümün sonunda tekrar dönüp hangi tahminlerin doğru çıktığına bakın. Bu, hata ayıklama alışkanlığını kazandırmanın iyi bir yoludur.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haftada const dizinin içeriğinin değişebildiğini söylemiştik; burada bunun sonucunu görüyoruz. Bu hatanın sessiz olması sebebiyle öğrenciler saatlerce kodu inceleyebilir; bu yüzden belirtisini iyice tanıtın. Bu slaytı bir tuzak olarak sunun: önce kodu yazıp çalıştırın, sonra neden çalışmadığını sorun ve 16. slayttaki açıklamaya geçin. Anlatım önerisi: "Bu kod çalışacak mı? Dizi değişti, ama ekran değişmeyecek. Neden? Bir sonraki slaytta cevabı bulacağız." Öğrencilere tahmin yaptırın. Kodu çalıştırmadan önce Metro terminalinde list.length değerini yazdıran bir console.log ekletin: dizinin gerçekten uzadığını, ekranın ise değişmediğini görmek hatayı somutlaştırır. Bu aşamada hiçbir çözüm vermeyin; öğrencilerin kendi önerilerini söylemesi, 16. slaytın açıklamasını çok daha etkili kılar. Kodu çalıştırmadan önce Metro terminalinde list.length değerini yazdıran bir console.log ekletin: dizinin gerçekten uzadığını, ekranın ise değişmediğini görmek hatayı somutlaştırır. Bu aşamada hiçbir çözüm vermeyin; öğrencilerin kendi önerilerini söylemesi, 16. slaytın açıklamasını çok daha etkili kılar.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Bellek adresi benzetmesini kullanın: bir evin adresi aynı kaldıkça içindeki eşyaları değiştirseniz de adres aynıdır; React adrese bakar. Yeni bir kopya, yeni bir adrestir. Bu benzetme, öğrencilerin neden karmaşıklaştırıyoruz sorusuna iyi bir yanıt verir. 3. haftadaki readonly kavramına köprü kurun: değişmezlik, derleyiciyle de desteklenebilir. Anlatım önerisi: "React içeriğe değil adrese bakıyor. Aynı adres, aynı dizi, değişiklik yok. Yeni dizi verirseniz adres değişir ve ekran güncellenir." Ev adresi benzetmesini tahtaya çizin. Dört kutuyu bir hikâye olarak anlatın: aynı diziyi tekrar verdik, React adrese baktı, aynı buldu, çizmedi. Sonra aynı akışı yeni bir diziyle tekrarlayıp son kutunun nasıl değiştiğini gösterin. Öğrencilere bu fikri kendi cümleleriyle defterlerine yazdırın; değişmezlik, haftanın en önemli kavramıdır ve ara sınavda sorulabilir. Dört kutuyu bir hikâye olarak anlatın: aynı diziyi tekrar verdik, React adrese baktı, aynı buldu, çizmedi. Sonra aynı akışı yeni bir diziyle tekrarlayıp son kutunun nasıl değiştiğini gösterin. Öğrencilere bu fikri kendi cümleleriyle defterlerine yazdırın; değişmezlik, haftanın en önemli kavramıdır ve ara sınavda sorulabilir.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İç içe nesnelerde spread'in yüzeysel olduğunu, derin alanlarda her seviyenin kopyalanması gerektiğini yalnızca öğrenci sorarsa anlatın. Bu derste iç içe state yapısından kaçınmayı önerin; düz yapı daha kolay yönetilir. Formda yazı girişiyle alan güncellemek 9. haftada gelecek; bugün aynı deseni düğmeyle öğreniyoruz. Anlatım önerisi: "Nesnenin tamamını yeniden yazmıyoruz. Üç nokta ile eskisini kopyalıyor, değişen alanı üstüne yazıyoruz." Spread'i 2. haftadan hatırlatın. Öğrencilerden city yerine name alanını değiştirmelerini isteyin ve spread'in sırasını değiştirince ne olduğunu denetin: ...p sona yazılırsa eski değer yeni değerin üzerine yazar. Bu küçük deney, spread sırasının neden önemli olduğunu gösterir. Sonra aynı örneği iç içe bir nesneyle denemek isteyen öğrencilere çevrimdışı ek kaynak önerin. Öğrencilerden city yerine name alanını değiştirmelerini isteyin ve spread'in sırasını değiştirince ne olduğunu denetin: ...p sona yazılırsa eski değer yeni değerin üzerine yazar. Bu küçük deney, spread sırasının neden önemli olduğunu gösterir. Sonra aynı örneği iç içe bir nesneyle denemek isteyen öğrencilere çevrimdışı ek kaynak önerin.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Geçen haftaki dizi metotları konusunun doğrudan uygulamasıdır: map ve filter yeni dizi üretir, bu yüzden state ile uyumludur. Öğrencilere sıralama gerektiğinde önce kopya alıp sonra sort çağırmalarını söyleyin: [...list].sort(). Dizinin başına eleman eklemek için spread sırasını değiştirmenin yeterli olduğunu gösterin. Anlatım önerisi: "Ekleme için spread, silme için filter. İkisi de yeni bir dizi üretir; push ve splice ise eskisini bozar." Üç yöntemi tahtada bir tabloya yazdırın. Üç işlemi bir tabloda toplayın: ekleme, silme, güncelleme ve her biri için hangi yöntemin kullanıldığını yazdırın. Öğrencilere state'te kullanılmayacak yöntemlerin listesini de yazdırın: push, pop, splice, sort, reverse. Bu iki liste, haftanın ara sınavda en sık sorulacak içeriğidir ve defterlerinde kalmalıdır. Üç işlemi bir tabloda toplayın: ekleme, silme, güncelleme ve her biri için hangi yöntemin kullanıldığını yazdırın. Öğrencilere state'te kullanılmayacak yöntemlerin listesini de yazdırın: push, pop, splice, sort, reverse. Bu iki liste, haftanın ara sınavda en sık sorulacak içeriğidir ve defterlerinde kalmalıdır.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desenin üç parçası vardır: dolaş, eşleşeni kopyala-değiştir, diğerlerini aynen bırak. Öğrencilerin bunu ezberlemesi yerine, tahtada adım adım yazmasını sağlayın. Ödev olarak bir ürünün adedini artıran ve azaltan işlevi yazmalarını isteyin. Bu desenin aynısı sepet uygulamasında da karşımıza çıkacak. Anlatım önerisi: "Dolaşıyoruz, id eşleşirse kopyasını değiştiriyoruz, eşleşmezse olduğu gibi bırakıyoruz. Bu üç adımı aklınızda tutun." Map içinde ternary kullanımının ilk görüşte zor geldiğini kabul edin ve üç adımı yüksek sesle okuyun: dolaş, eşleşiyorsa kopyala ve değiştir, eşleşmiyorsa olduğu gibi bırak. Öğrencilerden aynı yapıyla bir ürünün adedini artıran fonksiyonu yazmalarını isteyin; sonraki mini uygulamada bu desen sepet adedi için kullanılacak. Map içinde ternary kullanımının ilk görüşte zor geldiğini kabul edin ve üç adımı yüksek sesle okuyun: dolaş, eşleşiyorsa kopyala ve değiştir, eşleşmiyorsa olduğu gibi bırak. Öğrencilerden aynı yapıyla bir ürünün adedini artıran fonksiyonu yazmalarını isteyin; sonraki mini uygulamada bu desen sepet adedi için kullanılacak. Haftanın en zor deseni budur; sabırlı olun.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2. haftadaki closure konusunun state'teki sonucudur: işleyici kendi çizimindeki count'u hatırlar. İki biçimi canlı karşılaştırın ve sonucu tahmin ettirin. Ardışık çağrıların toplu işlendiğini, yani React'in tek bir yeniden çizim yaptığını söyleyin. Güvenli alışkanlık olarak, değer eskisine bağlı olduğunda p gibi önceki değeri alan biçimi önerin. Anlatım önerisi: "İki kez ekliyoruz ama sayı bir artıyor. Çünkü ikisi de aynı eski sayıyı görüyor. Fonksiyonla yazınca her biri öncekinin sonucunu alıyor." Sonucu tahmin ettirmeden önce iki fonksiyonu da konsola count yazdıracak biçimde değiştirin: wrong içinde count iki satırda da aynı değeri gösterir. Bunu gördüklerinde fonksiyonel güncellemenin gerekçesi ezberlenmez, anlaşılır. Ardışık güncellemelerin gerçek uygulamalarda nadir olduğunu ama zaman uyumsuz işlerde önem kazandığını da ekleyin. Sonucu tahmin ettirmeden önce iki fonksiyonu da konsola count yazdıracak biçimde değiştirin: wrong içinde count iki satırda da aynı değeri gösterir. Bunu gördüklerinde fonksiyonel güncellemenin gerekçesi ezberlenmez, anlaşılır. Ardışık güncellemelerin gerçek uygulamalarda nadir olduğunu ama zaman uyumsuz işlerde önem kazandığını da ekleyin.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haftada truthy ve falsy değerler konusunu işlerken bu tuzağı önceden haber vermiştik; burada hatayı canlı gösterin. Web'de 0 ekrana basılırken mobilde uygulamanın çökmesi, ilginç bir fark olarak öğrencilerin hafızasında kalır. Çözüm olarak her zaman karşılaştırma operatörü veya Boolean kullanmayı kural koyun. Anlatım önerisi: "Koşulu hep karşılaştırarak yazın: count büyüktür sıfır. Sayının kendisini koşul yaparsanız sıfır olduğunda uygulama çöker." Hatayı canlı üretip kırmızı ekranı gösterin. Öğrencilere ekranda bir sayacı ve listenin boş olduğu durumu göstermek isteyen bir örnek verin ve &amp;&amp; ile üçlü operatör arasında hangisinin ne zaman daha okunur olduğunu tartıştırın. Genel öneri: bir şeyi göster veya gösterme için &amp;&amp;, iki seçenek arasında seçim için üçlü operatör. Kırmızı ekranı canlı üretmeyi unutmayın. Öğrencilere ekranda bir sayacı ve listenin boş olduğu durumu göstermek isteyen bir örnek verin ve &amp;&amp; ile üçlü operatör arasında hangisinin ne zaman daha okunur olduğunu tartıştırın. Genel öneri: bir şeyi göster veya gösterme için &amp;&amp;, iki seçenek arasında seçim için üçlü operatör. Kırmızı ekranı canlı üretmeyi unutmayın.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Başlangıç düzeyindeki öğrencilerin sıkça yaptığı hata, her değeri ayrı bir state'e koymaktır: ürün listesi, toplam, ürün sayısı. Bu, tutarsızlık hatalarının kaynağıdır. State'i mümkün olduğunca küçük tutmak ilkesini vurgulayın. Çok pahalı hesaplamalar için bellekleme araçları vardır ama bu derste kapsam dışıdır. Anlatım önerisi: "Hesaplanabilen şeyi state yapmıyoruz. Toplamı her çizimde yeniden hesaplamak hem basit hem güvenli." Öğrencilerden state olmaması gereken bir örnek bulmalarını isteyin. Sınıfa şu soruyu sorun: sepetteki ürün sayısını ayrı bir state'te tutsaydık ne olurdu? Gelen cevapları tutarsızlık senaryolarına bağlayın: biri güncellenir, diğeri unutulur. Sonra hesaplanan değerin her çizimde tekrar üretilmesinin neden güvenli olduğunu söyleyin. Gelecek haftalarda aynı ilke ekran parametrelerinde de geçerli olacak. Sınıfa şu soruyu sorun: sepetteki ürün sayısını ayrı bir state'te tutsaydık ne olurdu? Gelen cevapları tutarsızlık senaryolarına bağlayın: biri güncellenir, diğeri unutulur. Sonra hesaplanan değerin her çizimde tekrar üretilmesinin neden güvenli olduğunu söyleyin. Gelecek haftalarda aynı ilke ekran parametrelerinde de geçerli olacak.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bölümde iki bileşenin aynı veriyi göstermesi gerektiğinde state'in nerede tutulacağını öğreniyoruz. Bu desen, çok ekranlı uygulamalarda ve dönem projesinde en çok kullanılacak desendir. 4. haftadaki props bilgisi burada state ile birleşir: veri aşağı iner, değişiklik isteği yukarı çıkar. Bölüm sonunda öğrencilerin sepet rozeti örneğini kendi başlarına yazabilmesi hedeflenir. Anlatım önerisi: "Şimdi son bölüm: iki bileşen aynı veriyi göstermek istiyorsa state kimde olmalı? Bunu sepet rozeti örneğiyle göreceğiz." Öğrencilere bir alışveriş uygulamasında sepet rozetini hangi ekranların gösterdiğini sorun. Bölümü açarken öğrencilere iki bileşeni yan yana çizdirin ve aralarına bir soru işareti koydurun: bu ikisi aynı sayıyı nasıl gösterecek? Bu somut soruya cevap aramak, öğrencileri kodu okumaya hazırlar. Çözümün ortak bir üst bileşen olduğunu en son söyleyin; önce tahmin ettirin. Bölümü açarken öğrencilere iki bileşeni yan yana çizdirin ve aralarına bir soru işareti koydurun: bu ikisi aynı sayıyı nasıl gösterecek? Bu somut soruya cevap aramak, öğrencileri kodu okumaya hazırlar. Çözümün ortak bir üst bileşen olduğunu en son söyleyin; önce tahmin ettirin.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şirket benzetmesi kullanın: iki çalışan aynı belgeyi güncelleyecekse belge ikisinin müdüründe tutulur. Aksi hâlde her çalışanın kendi kopyası olur ve tutarsızlık doğar. Bu slayt 4. haftadaki veri yukarıdan aşağıya akar ilkesinin tamamlayıcısıdır: veri aşağı, değişiklik isteği yukarı gider. Sınıfta bir örnek tartıştırın: sepet toplamı ve ürün kartları. Anlatım önerisi: "Düğme ile rozet kardeş. İkisi birbirini göremez. Ortak üstleri sayıyı tutar, düğmeye olay verir, rozete değer verir." Sağdaki şemayı gösterin. Şemayı tahtaya çizerken okları iki renkle gösterin: aşağı inen oklar değeri, yukarı çıkan oklar olay isteğini taşısın. Öğrencilerden sepet örneğinde kimin üst, kimin çocuk olacağını kendi cümleleriyle anlatmalarını isteyin. Bu etkinlik, bir sonraki slayttaki kodu okumadan önce kavramsal zemini oluşturur ve yanlış anlamaları ortaya çıkarır. Şemayı tahtaya çizerken okları iki renkle gösterin: aşağı inen oklar değeri, yukarı çıkan oklar olay isteğini taşısın. Öğrencilerden sepet örneğinde kimin üst, kimin çocuk olacağını kendi cümleleriyle anlatmalarını isteyin. Bu etkinlik, bir sonraki slayttaki kodu okumadan önce kavramsal zemini oluşturur ve yanlış anlamaları ortaya çıkarır.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AddButton bileşenini öğrencilerle birlikte tahtada yazın: onAdd alan bir arayüz, içinde Pressable. Böylece 4. haftadaki tipli props bilgisi, bu haftanın state bilgisiyle birleşir. Bu desen, çok ekranlı uygulamalarda ve dönem projesinde en çok kullanacağınız desendir; öğrencilerin tam olarak anlamasını bekleyin. Anlatım önerisi: "State Parent'ta. Düğmeye bir fonksiyon, rozete bir sayı veriyoruz. Düğme basılınca fonksiyonu çağırır, Parent sayıyı artırır, rozet güncellenir." Kodu satır satır okuyun: önce state'in nerede tanımlandığını, sonra add fonksiyonunu, sonra çocuklara nasıl verildiğini gösterin. Öğrencilerden AddButton ve CartBadge bileşenlerini kendi kodlarında yazmalarını isteyin; ikisini yazdıktan sonra sayacın gerçekten senkron çalıştığını görmek bu deseni içselleştirmelerini sağlar. Kodu satır satır okuyun: önce state'in nerede tanımlandığını, sonra add fonksiyonunu, sonra çocuklara nasıl verildiğini gösterin. Öğrencilerden AddButton ve CartBadge bileşenlerini kendi kodlarında yazmalarını isteyin; ikisini yazdıktan sonra sayacın gerçekten senkron çalıştığını görmek bu deseni içselleştirmelerini sağlar. Önce kodu okuyun, sonra çalıştırın.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hafta boyunca öğrendiklerimizin özetidir ve React'in düşünme biçimini taşır. Uygulama büyüdükçe state'i birçok seviye aşağı geçirmek zahmetli olabilir; bu durumda daha ileri çözümlerin (context, durum yönetimi kütüphaneleri) var olduğunu, ancak MYO düzeyinde bunun kapsam dışı olduğunu söyleyin. Bu derste props ve yukarı taşıma yeterlidir. Anlatım önerisi: "Veri aşağı iner, istek yukarı çıkar. Kardeşler konuşamaz, ortak üstleri aracılık eder." Tabloyu defterlerine yazdırın. Tabloyu bir kontrol listesi gibi okutun ve her satır için bir örnek verdirin. Özellikle üçüncü satırda kardeşlerin doğrudan konuşamamasının bir kısıtlama değil, bilinçli bir tasarım kararı olduğunu söyleyin: veri akışı tek yönlü olduğu için hataların nereden geldiğini izlemek kolaydır. Bu, React'in temel ilkelerinden biridir. Tabloyu bir kontrol listesi gibi okutun ve her satır için bir örnek verdirin. Özellikle üçüncü satırda kardeşlerin doğrudan konuşamamasının bir kısıtlama değil, bilinçli bir tasarım kararı olduğunu söyleyin: veri akışı tek yönlü olduğu için hataların nereden geldiğini izlemek kolaydır. Bu, React'in temel ilkelerinden biridir.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kodu bir bileşenin içinde düşünün; yazı girişi olmadığı için ürün adları sabit bir diziden gelir ve Pressable ile eklenir. Öğrencilerin bu kodu kendi App.tsx dosyalarına taşıyıp tamamlamaları uygulama saatinin başlangıcıdır. 3. haftadaki Task modelini hatırlatın: aynı veri modeli şimdi state'e giriyor. Anlatım önerisi: "Sepet bir dizi, her satır bir ürün. Ekleyince yeni bir dizi üretiyoruz, eskisine dokunmuyoruz." Aynı ürüne iki kez basılırsa ne olacağını sorun; bir sonraki slayt cevabı verir. Öğrencilerin ekleme düğmesine arka arkaya bastığında aynı üründen birden çok satır oluştuğunu görmelerini bekleyin ve bunu bir sonraki slaytın motivasyonu yapın. Bu bir hata değil, ilk sürümün sınırlamasıdır; gerçek sepet aynı ürünü tek satırda tutar. Böylece adet alanının neden gerektiğini kendi deneyimleriyle bulurlar. Öğrencilerin ekleme düğmesine arka arkaya bastığında aynı üründen birden çok satır oluştuğunu görmelerini bekleyin ve bunu bir sonraki slaytın motivasyonu yapın. Bu bir hata değil, ilk sürümün sınırlamasıdır; gerçek sepet aynı ürünü tek satırda tutar. Böylece adet alanının neden gerektiğini kendi deneyimleriyle bulurlar.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haftanın bütün desenlerini tek yerde toplar: değişmez güncelleme, türetilmiş değer ve olay işleme. Öğrenciler bu yapıyı kendi projelerinde (ürün listesi, not listesi, alışveriş listesi) yeniden kullanabilir. change(id, 1) artırır, change(id, -1) azaltır; tek fonksiyonla iki işi görmesini vurgulayın. Anlatım önerisi: "Artırma ve azaltma aynı fonksiyon, sadece d değişiyor. Toplamı da state yapmadık, her seferinde hesaplıyoruz." Artırma ve azaltmayı iki ayrı fonksiyon yerine tek fonksiyonla yazmanın nedenini sorun: tekrar eden kodu azaltmak ve hata riskini düşürmek. Sıfıra inen satırın filter ile kaldırıldığını canlı gösterin. Öğrencilere aynı fonksiyonu kendi projelerinde miktar, puan ya da sayaç gibi değerler için kullanabileceklerini söyleyin. Artırma ve azaltmayı iki ayrı fonksiyon yerine tek fonksiyonla yazmanın nedenini sorun: tekrar eden kodu azaltmak ve hata riskini düşürmek. Sıfıra inen satırın filter ile kaldırıldığını canlı gösterin. Öğrencilere aynı fonksiyonu kendi projelerinde miktar, puan ya da sayaç gibi değerler için kullanabileceklerini söyleyin.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4. hafta ve 5. haftadaki tablolarla birlikte dönem boyunca kullanılacak bir başvuru kaynağıdır. Öğrencilerin kendi karşılaştıkları hataları ekleyebilecekleri bir ortak belge açın. Her hata için bilerek bozuk bir kod parçası hazırlayıp tablodan çözüm bulmalarını isteyin. console.log ile hata ayıklama alışkanlığını burada pekiştirin. Anlatım önerisi: "Beş hata, beş çözüm. Hata aldığınızda önce bu tabloya bakın." Bozuk kodları öğrencilere dağıtıp tablodan nedeni buldurun. Her satırı canlı olarak bozun ve çözümü tablodan buldurun: bunu üç kişilik gruplar halinde yaptırabilirsiniz. İlk gruba doğrudan değiştirme hatasını, ikinciye eski değer hatasını, üçüncüye çökme hatasını verin ve sonuçları sınıfla paylaşmalarını isteyin. Tabloyu dönem boyunca ortak belgede güncel tutun. Her satırı canlı olarak bozun ve çözümü tablodan buldurun: bunu üç kişilik gruplar halinde yaptırabilirsiniz. İlk gruba doğrudan değiştirme hatasını, ikinciye eski değer hatasını, üçüncüye çökme hatasını verin ve sonuçları sınıfla paylaşmalarını isteyin. Tabloyu dönem boyunca ortak belgede güncel tutun.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Öğrencilerden bu senaryodaki state'in nerede tutulacağını, hangi bileşenlerin hangi props'u alacağını tahtada çizmelerini isteyin. Bu etkinlik, bugünkü bütün kavramların gerçek bir tasarıma aktarımıdır ve dönem projesinde de benzer kararlar vereceklerdir. Sepet toplamının state değil, türetilmiş değer olduğunu mutlaka bulmalarını bekleyin. Kartın görünümünün 5. haftadaki stil bilgisiyle yapıldığını hatırlatın. Anlatım önerisi: "Aynı kartın üstüne artı ve eksi koyuyoruz. Adedi kart tutmuyor, üst bileşen tutuyor. Sepet çubuğu da aynı veriden toplamı hesaplıyor." Sağdaki şemayı kullanın. Öğrencilere kartın hangi parçasının state tuttuğunu sorun: kart, liste, sepet çubuğu. Doğru cevabın liste olduğunu ve kartın yalnızca gösterim yaptığını vurgulayın. Son olarak sepet çubuğundaki tutarın nasıl hesaplanacağını sorun; reduce ile her çizimde hesaplandığını söylemeleri beklenir. Bu, bugünkü kavramların hepsini tek bir senaryoda toplar. Öğrencilere kartın hangi parçasının state tuttuğunu sorun: kart, liste, sepet çubuğu. Doğru cevabın liste olduğunu ve kartın yalnızca gösterim yaptığını vurgulayın. Son olarak sepet çubuğundaki tutarın nasıl hesaplanacağını sorun; reduce ile her çizimde hesaplandığını söylemeleri beklenir. Bu, bugünkü kavramların hepsini tek bir senaryoda toplar.</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Uygulama, haftanın bütün kavramlarını ve 4. ile 5. haftaları birleştirir. Değerlendirme: state'in değişmez güncellenmesi, state'in yukarıda tutulması, türetilmiş değer ve 5. haftadaki stilin kullanılması. Hızlı bitirenler için Takip edilenleri temizle düğmesi isteğe bağlı görev olarak verilir. Beşinci madde dönem projesiyle bağ kurar; kendi projesi henüz belirlenmemiş öğrenciler profil kartı üzerinde çalışabilir. Tam föy ayrı bir Uygulama Rehberi olarak hazırlanabilir. Anlatım önerisi: "Profil kartlarına Takip et düğmesi ekliyoruz. State kartta değil App'te olacak. Son maddede aynı fikri kendi projenize uyguluyorsunuz." Sağdaki taslağı hedef olarak gösterin. Süreyi paylaştırın: ilk 15 dakika state ve props, sonraki 25 dakika düğme ve takip sayısı, son 20 dakika proje maddesi ve ekran görüntüsü. Beşinci maddeyi yapamayan öğrenciye dönem projesinde kullanabileceği bir etkileşim örneği önerin. Değerlendirmeyi kısa bir gösterimle yapın; her öğrenci ekranında basınca neyin değiştiğini göstersin. Süreyi paylaştırın: ilk 15 dakika state ve props, sonraki 25 dakika düğme ve takip sayısı, son 20 dakika proje maddesi ve ekran görüntüsü. Beşinci maddeyi yapamayan öğrenciye dönem projesinde kullanabileceği bir etkileşim örneği önerin. Değerlendirmeyi kısa bir gösterimle yapın; her öğrenci ekranında basınca neyin değiştiğini göstersin.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zincir kırılganlığını önler: önceki hafta eksik kalan öğrenci de aynı noktadan başlayabilir. İskeleti dağıtırken kartın görünümünü 5. haftadaki stillerle güzelleştirmelerini isteyin. Düğmeyi Text'in altına koymalarını söyleyin. Kodu ortak belgeye de koyabilirsiniz. Anlatım önerisi: "Geçen haftayı yetiştiremeyenler bu iskeletle başlayabilir. Yetiştirenler kendi kodlarıyla devam eder." Başlangıç kodunu sınıf paylaşım alanına koyun. İskeleti paylaştıktan sonra öğrencilerin ilk beş dakikada yalnızca kodu çalıştırıp ekranda Ece adını görmesini isteyin; çalışmayan olursa hemen yardım edin. Ardından TODO yorumunu bulup düğmeyi yazmalarını söyleyin. Hızlı ilerleyenlerden yanındakine yardım etmelerini isteyin; eşli çalışma, zincir kırılganlığını azaltan en etkili yöntemdir. İskeleti paylaştıktan sonra öğrencilerin ilk beş dakikada yalnızca kodu çalıştırıp ekranda Ece adını görmesini isteyin; çalışmayan olursa hemen yardım edin. Ardından TODO yorumunu bulup düğmeyi yazmalarını söyleyin. Hızlı ilerleyenlerden yanındakine yardım etmelerini isteyin; eşli çalışma, zincir kırılganlığını azaltan en etkili yöntemdir. İskeleti sınıf paylaşım alanına koyun.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sorular ara sınavda çıkabilecek türdendir; ara sınav 1–7. haftaları kapsar. Son soruda items.length 0 olduğunda 0 çizilmeye çalışılır ve uygulama hata verir; düzeltme items.length &gt; 0 yazmaktır. Soruları önce yazılı yanıtlatın, sonra tartışın. Zayıf kalan konuları ara sınav öncesi tekrar derste ele almayı planlayın. Anlatım önerisi: "Kendinizi sınayın. Cevapları önce kâğıda yazın, sonra eşinizle karşılaştırın." Yanlış cevaplarda ilgili slayda dönün. Soruları sırayla sorarken önce gönüllü cevap, sonra seçilen öğrenciyle cevap yöntemini deneyin. Üçüncü soruda sayının neden bir arttığını tahtada iki çizimle açıklatın. Son soruda düzeltmeyi öğrencilerin kendi cümleleriyle yazdırın; items.length &gt; 0 yazılması beklenir ve Boolean kullanımı da kabul edilir. Soruları sırayla sorarken önce gönüllü cevap, sonra seçilen öğrenciyle cevap yöntemini deneyin. Üçüncü soruda sayının neden bir arttığını tahtada iki çizimle açıklatın. Son soruda düzeltmeyi öğrencilerin kendi cümleleriyle yazdırın; items.length &gt; 0 yazılması beklenir ve Boolean kullanımı da kabul edilir.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Çıkış etkinliği olarak State'e koymamam gereken bir şey örneğini öğrencilerden isteyin: türetilmiş değerler, sabitler, formüller. Ara sınav hazırlığı için 1–7. haftaların özet çalışma listesini paylaşacağınızı duyurun. Gelecek hafta yeni bir kütüphane kurulacağı için ortamların çalışır durumda olduğunu kontrol etmelerini isteyin; kurulum sonrası yeniden derleme gerekecek. Dönem projesinin bu haftaki kontrol noktasını, yani etkileşimli bir parça eklemeyi hatırlatın. Anlatım önerisi: "Bugün ekranları canlandırdık: state, olay, değişmezlik ve yukarı taşıma. Gelecek hafta birden çok ekran arasında gezinmeyi öğreneceğiz." Çıkış etkinliği olarak bir state örneği ve bir state olmayan örnek isteyin. Özet cümlelerini birer birer okuyup her birine öğrencilerden bir örnek isteyin. Ara sınav hazırlığı için bu haftanın içeriğinin en çok değişmezlik, fonksiyonel güncelleme ve yukarı taşıma konularında soru getirebileceğini söyleyin. Gelecek hafta yeni bir kütüphane kurulacağından, bu haftaki projelerini yedeklemelerini ve ortamlarını denetlemelerini hatırlatın. Özet cümlelerini birer birer okuyup her birine öğrencilerden bir örnek isteyin. Ara sınav hazırlığı için bu haftanın içeriğinin en çok değişmezlik, fonksiyonel güncelleme ve yukarı taşıma konularında soru getirebileceğini söyleyin. Gelecek hafta yeni bir kütüphane kurulacağından, bu haftaki projelerini yedeklemelerini ve ortamlarını denetlemelerini hatırlatın.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rgbClr val="F8FAF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6400800"/>
            <a:ext cx="8229600" cy="274320"/>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BGP 201 Mobil Programlama · Hafta 6 · State ve Etkileşim</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554480"/>
            <a:ext cx="7315200" cy="365760"/>
          </a:xfrm>
          <a:prstGeom prst="rect">
            <a:avLst/>
          </a:prstGeom>
          <a:noFill/>
          <a:ln/>
        </p:spPr>
        <p:txBody>
          <a:bodyPr wrap="square" lIns="0" tIns="0" rIns="0" bIns="0" rtlCol="0" anchor="ctr"/>
          <a:lstStyle/>
          <a:p>
            <a:pPr marL="0" indent="0" algn="l">
              <a:buNone/>
            </a:pPr>
            <a:r>
              <a:rPr lang="en-US" sz="1600" b="1" kern="0" spc="200" dirty="0">
                <a:solidFill>
                  <a:srgbClr val="2563EB"/>
                </a:solidFill>
                <a:latin typeface="Arial" pitchFamily="34" charset="0"/>
                <a:ea typeface="Arial" pitchFamily="34" charset="-122"/>
                <a:cs typeface="Arial" pitchFamily="34" charset="-120"/>
              </a:rPr>
              <a:t>BGP 201 Mobil Programlama · Hafta 6</a:t>
            </a:r>
            <a:endParaRPr lang="en-US" sz="1600" dirty="0"/>
          </a:p>
        </p:txBody>
      </p:sp>
      <p:sp>
        <p:nvSpPr>
          <p:cNvPr id="3" name="Text 1"/>
          <p:cNvSpPr txBox="1"/>
          <p:nvPr/>
        </p:nvSpPr>
        <p:spPr>
          <a:xfrm>
            <a:off x="822960" y="2011680"/>
            <a:ext cx="10332720" cy="18288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State ve Etkileşim: Ekranı Veriye Bağlamak</a:t>
            </a:r>
            <a:endParaRPr lang="en-US" sz="4400" dirty="0"/>
          </a:p>
        </p:txBody>
      </p:sp>
      <p:sp>
        <p:nvSpPr>
          <p:cNvPr id="4" name="Text 2"/>
          <p:cNvSpPr txBox="1"/>
          <p:nvPr/>
        </p:nvSpPr>
        <p:spPr>
          <a:xfrm>
            <a:off x="822960" y="4023360"/>
            <a:ext cx="9601200" cy="64008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useState, olay işleme, değişmezlik ve state'i yukarı taşıma</a:t>
            </a:r>
            <a:endParaRPr lang="en-US" sz="2200" dirty="0"/>
          </a:p>
        </p:txBody>
      </p:sp>
      <p:pic>
        <p:nvPicPr>
          <p:cNvPr id="5" name="Image 0" descr="/tmp/claude-0/-home-claude/bb2dbc6e-f574-5e99-8510-889b704da121/scratchpad/decks/logos/react.png"/>
          <p:cNvPicPr>
            <a:picLocks noChangeAspect="1"/>
          </p:cNvPicPr>
          <p:nvPr/>
        </p:nvPicPr>
        <p:blipFill>
          <a:blip r:embed="rId3"/>
          <a:stretch>
            <a:fillRect/>
          </a:stretch>
        </p:blipFill>
        <p:spPr>
          <a:xfrm>
            <a:off x="822960" y="5394960"/>
            <a:ext cx="548640" cy="548640"/>
          </a:xfrm>
          <a:prstGeom prst="rect">
            <a:avLst/>
          </a:prstGeom>
        </p:spPr>
      </p:pic>
      <p:pic>
        <p:nvPicPr>
          <p:cNvPr id="6" name="Image 1" descr="/tmp/claude-0/-home-claude/bb2dbc6e-f574-5e99-8510-889b704da121/scratchpad/decks/logos/android.png"/>
          <p:cNvPicPr>
            <a:picLocks noChangeAspect="1"/>
          </p:cNvPicPr>
          <p:nvPr/>
        </p:nvPicPr>
        <p:blipFill>
          <a:blip r:embed="rId4"/>
          <a:stretch>
            <a:fillRect/>
          </a:stretch>
        </p:blipFill>
        <p:spPr>
          <a:xfrm>
            <a:off x="1828800" y="5394960"/>
            <a:ext cx="548640" cy="548640"/>
          </a:xfrm>
          <a:prstGeom prst="rect">
            <a:avLst/>
          </a:prstGeom>
        </p:spPr>
      </p:pic>
      <p:pic>
        <p:nvPicPr>
          <p:cNvPr id="7" name="Image 2" descr="/tmp/claude-0/-home-claude/bb2dbc6e-f574-5e99-8510-889b704da121/scratchpad/decks/logos/ios.png"/>
          <p:cNvPicPr>
            <a:picLocks noChangeAspect="1"/>
          </p:cNvPicPr>
          <p:nvPr/>
        </p:nvPicPr>
        <p:blipFill>
          <a:blip r:embed="rId5"/>
          <a:stretch>
            <a:fillRect/>
          </a:stretch>
        </p:blipFill>
        <p:spPr>
          <a:xfrm>
            <a:off x="2834640" y="5394960"/>
            <a:ext cx="548640" cy="548640"/>
          </a:xfrm>
          <a:prstGeom prst="rect">
            <a:avLst/>
          </a:prstGeom>
        </p:spPr>
      </p:pic>
      <p:pic>
        <p:nvPicPr>
          <p:cNvPr id="8" name="Image 3" descr="/tmp/claude-0/-home-claude/bb2dbc6e-f574-5e99-8510-889b704da121/scratchpad/decks/logos/play.png"/>
          <p:cNvPicPr>
            <a:picLocks noChangeAspect="1"/>
          </p:cNvPicPr>
          <p:nvPr/>
        </p:nvPicPr>
        <p:blipFill>
          <a:blip r:embed="rId6"/>
          <a:stretch>
            <a:fillRect/>
          </a:stretch>
        </p:blipFill>
        <p:spPr>
          <a:xfrm>
            <a:off x="3840480" y="5394960"/>
            <a:ext cx="548640" cy="548640"/>
          </a:xfrm>
          <a:prstGeom prst="rect">
            <a:avLst/>
          </a:prstGeom>
        </p:spPr>
      </p:pic>
      <p:pic>
        <p:nvPicPr>
          <p:cNvPr id="9" name="Image 4" descr="/tmp/claude-0/-home-claude/bb2dbc6e-f574-5e99-8510-889b704da121/scratchpad/decks/logos/appstore.png"/>
          <p:cNvPicPr>
            <a:picLocks noChangeAspect="1"/>
          </p:cNvPicPr>
          <p:nvPr/>
        </p:nvPicPr>
        <p:blipFill>
          <a:blip r:embed="rId7"/>
          <a:stretch>
            <a:fillRect/>
          </a:stretch>
        </p:blipFill>
        <p:spPr>
          <a:xfrm>
            <a:off x="4846320" y="5394960"/>
            <a:ext cx="548640" cy="548640"/>
          </a:xfrm>
          <a:prstGeom prst="rect">
            <a:avLst/>
          </a:prstGeom>
        </p:spPr>
      </p:pic>
      <p:pic>
        <p:nvPicPr>
          <p:cNvPr id="10" name="Image 5" descr="/tmp/claude-0/-home-claude/bb2dbc6e-f574-5e99-8510-889b704da121/scratchpad/decks/logos/kotlin.png"/>
          <p:cNvPicPr>
            <a:picLocks noChangeAspect="1"/>
          </p:cNvPicPr>
          <p:nvPr/>
        </p:nvPicPr>
        <p:blipFill>
          <a:blip r:embed="rId8"/>
          <a:stretch>
            <a:fillRect/>
          </a:stretch>
        </p:blipFill>
        <p:spPr>
          <a:xfrm>
            <a:off x="5852160" y="5394960"/>
            <a:ext cx="548640" cy="548640"/>
          </a:xfrm>
          <a:prstGeom prst="rect">
            <a:avLst/>
          </a:prstGeom>
        </p:spPr>
      </p:pic>
      <p:pic>
        <p:nvPicPr>
          <p:cNvPr id="11" name="Image 6" descr="/tmp/claude-0/-home-claude/bb2dbc6e-f574-5e99-8510-889b704da121/scratchpad/decks/logos/flutter.png"/>
          <p:cNvPicPr>
            <a:picLocks noChangeAspect="1"/>
          </p:cNvPicPr>
          <p:nvPr/>
        </p:nvPicPr>
        <p:blipFill>
          <a:blip r:embed="rId9"/>
          <a:stretch>
            <a:fillRect/>
          </a:stretch>
        </p:blipFill>
        <p:spPr>
          <a:xfrm>
            <a:off x="6858000" y="5394960"/>
            <a:ext cx="548640" cy="548640"/>
          </a:xfrm>
          <a:prstGeom prst="rect">
            <a:avLst/>
          </a:prstGeom>
        </p:spPr>
      </p:pic>
      <p:pic>
        <p:nvPicPr>
          <p:cNvPr id="12" name="Image 7" descr="/tmp/claude-0/-home-claude/bb2dbc6e-f574-5e99-8510-889b704da121/scratchpad/decks/logos/swift.png"/>
          <p:cNvPicPr>
            <a:picLocks noChangeAspect="1"/>
          </p:cNvPicPr>
          <p:nvPr/>
        </p:nvPicPr>
        <p:blipFill>
          <a:blip r:embed="rId10"/>
          <a:stretch>
            <a:fillRect/>
          </a:stretch>
        </p:blipFill>
        <p:spPr>
          <a:xfrm>
            <a:off x="7863840" y="539496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Bu Hafta Neyi Öğreneceğiz?</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828800"/>
            <a:ext cx="3474720" cy="3474720"/>
          </a:xfrm>
          <a:prstGeom prst="roundRect">
            <a:avLst>
              <a:gd name="adj" fmla="val 2632"/>
            </a:avLst>
          </a:prstGeom>
          <a:solidFill>
            <a:srgbClr val="EFF6FF"/>
          </a:solidFill>
          <a:ln w="9525">
            <a:solidFill>
              <a:srgbClr val="EFF6FF"/>
            </a:solidFill>
            <a:prstDash val="solid"/>
          </a:ln>
        </p:spPr>
      </p:sp>
      <p:sp>
        <p:nvSpPr>
          <p:cNvPr id="5" name="Text 3"/>
          <p:cNvSpPr txBox="1"/>
          <p:nvPr/>
        </p:nvSpPr>
        <p:spPr>
          <a:xfrm>
            <a:off x="100584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1</a:t>
            </a:r>
            <a:endParaRPr lang="en-US" sz="4800" dirty="0"/>
          </a:p>
        </p:txBody>
      </p:sp>
      <p:sp>
        <p:nvSpPr>
          <p:cNvPr id="6" name="Text 4"/>
          <p:cNvSpPr txBox="1"/>
          <p:nvPr/>
        </p:nvSpPr>
        <p:spPr>
          <a:xfrm>
            <a:off x="100584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Kullanıcı etkileşiminden ekranın güncellenmesine kadar olan zinciri açıklarsınız.</a:t>
            </a:r>
            <a:endParaRPr lang="en-US" sz="1900" dirty="0"/>
          </a:p>
        </p:txBody>
      </p:sp>
      <p:sp>
        <p:nvSpPr>
          <p:cNvPr id="7" name="Shape 5"/>
          <p:cNvSpPr/>
          <p:nvPr/>
        </p:nvSpPr>
        <p:spPr>
          <a:xfrm>
            <a:off x="4480560" y="1828800"/>
            <a:ext cx="3474720" cy="3474720"/>
          </a:xfrm>
          <a:prstGeom prst="roundRect">
            <a:avLst>
              <a:gd name="adj" fmla="val 2632"/>
            </a:avLst>
          </a:prstGeom>
          <a:solidFill>
            <a:srgbClr val="EFF6FF"/>
          </a:solidFill>
          <a:ln w="9525">
            <a:solidFill>
              <a:srgbClr val="EFF6FF"/>
            </a:solidFill>
            <a:prstDash val="solid"/>
          </a:ln>
        </p:spPr>
      </p:sp>
      <p:sp>
        <p:nvSpPr>
          <p:cNvPr id="8" name="Text 6"/>
          <p:cNvSpPr txBox="1"/>
          <p:nvPr/>
        </p:nvSpPr>
        <p:spPr>
          <a:xfrm>
            <a:off x="475488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2</a:t>
            </a:r>
            <a:endParaRPr lang="en-US" sz="4800" dirty="0"/>
          </a:p>
        </p:txBody>
      </p:sp>
      <p:sp>
        <p:nvSpPr>
          <p:cNvPr id="9" name="Text 7"/>
          <p:cNvSpPr txBox="1"/>
          <p:nvPr/>
        </p:nvSpPr>
        <p:spPr>
          <a:xfrm>
            <a:off x="475488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useState ile tipli state tanımlar, olay işleyicileriyle state'i güncellersiniz.</a:t>
            </a:r>
            <a:endParaRPr lang="en-US" sz="1900" dirty="0"/>
          </a:p>
        </p:txBody>
      </p:sp>
      <p:sp>
        <p:nvSpPr>
          <p:cNvPr id="10" name="Shape 8"/>
          <p:cNvSpPr/>
          <p:nvPr/>
        </p:nvSpPr>
        <p:spPr>
          <a:xfrm>
            <a:off x="8229600" y="1828800"/>
            <a:ext cx="3474720" cy="3474720"/>
          </a:xfrm>
          <a:prstGeom prst="roundRect">
            <a:avLst>
              <a:gd name="adj" fmla="val 2632"/>
            </a:avLst>
          </a:prstGeom>
          <a:solidFill>
            <a:srgbClr val="EFF6FF"/>
          </a:solidFill>
          <a:ln w="9525">
            <a:solidFill>
              <a:srgbClr val="EFF6FF"/>
            </a:solidFill>
            <a:prstDash val="solid"/>
          </a:ln>
        </p:spPr>
      </p:sp>
      <p:sp>
        <p:nvSpPr>
          <p:cNvPr id="11" name="Text 9"/>
          <p:cNvSpPr txBox="1"/>
          <p:nvPr/>
        </p:nvSpPr>
        <p:spPr>
          <a:xfrm>
            <a:off x="850392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3</a:t>
            </a:r>
            <a:endParaRPr lang="en-US" sz="4800" dirty="0"/>
          </a:p>
        </p:txBody>
      </p:sp>
      <p:sp>
        <p:nvSpPr>
          <p:cNvPr id="12" name="Text 10"/>
          <p:cNvSpPr txBox="1"/>
          <p:nvPr/>
        </p:nvSpPr>
        <p:spPr>
          <a:xfrm>
            <a:off x="850392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Dizi ve nesne state'ini kopyalayarak günceller, ortak state'i üst bileşene taşırsınız.</a:t>
            </a:r>
            <a:endParaRPr lang="en-US" sz="19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err="1">
                <a:solidFill>
                  <a:srgbClr val="111827"/>
                </a:solidFill>
                <a:latin typeface="Arial" pitchFamily="34" charset="0"/>
                <a:ea typeface="Arial" pitchFamily="34" charset="-122"/>
                <a:cs typeface="Arial" pitchFamily="34" charset="-120"/>
              </a:rPr>
              <a:t>Ders</a:t>
            </a:r>
            <a:r>
              <a:rPr lang="en-US" sz="3200" b="1" dirty="0">
                <a:solidFill>
                  <a:srgbClr val="111827"/>
                </a:solidFill>
                <a:latin typeface="Arial" pitchFamily="34" charset="0"/>
                <a:ea typeface="Arial" pitchFamily="34" charset="-122"/>
                <a:cs typeface="Arial" pitchFamily="34" charset="-120"/>
              </a:rPr>
              <a:t> Akışı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1989734"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Neden state?</a:t>
            </a:r>
            <a:endParaRPr lang="en-US" sz="1200" dirty="0"/>
          </a:p>
        </p:txBody>
      </p:sp>
      <p:sp>
        <p:nvSpPr>
          <p:cNvPr id="6" name="Text 4"/>
          <p:cNvSpPr txBox="1"/>
          <p:nvPr/>
        </p:nvSpPr>
        <p:spPr>
          <a:xfrm>
            <a:off x="27212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977286" y="1645920"/>
            <a:ext cx="1989734"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1144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Olay işleme</a:t>
            </a:r>
            <a:endParaRPr lang="en-US" sz="1200" dirty="0"/>
          </a:p>
        </p:txBody>
      </p:sp>
      <p:sp>
        <p:nvSpPr>
          <p:cNvPr id="9" name="Text 7"/>
          <p:cNvSpPr txBox="1"/>
          <p:nvPr/>
        </p:nvSpPr>
        <p:spPr>
          <a:xfrm>
            <a:off x="4967021"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5223053" y="1645920"/>
            <a:ext cx="1989734"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5360213"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Değişmezlik</a:t>
            </a:r>
            <a:endParaRPr lang="en-US" sz="1200" dirty="0"/>
          </a:p>
        </p:txBody>
      </p:sp>
      <p:sp>
        <p:nvSpPr>
          <p:cNvPr id="12" name="Text 10"/>
          <p:cNvSpPr txBox="1"/>
          <p:nvPr/>
        </p:nvSpPr>
        <p:spPr>
          <a:xfrm>
            <a:off x="7212787"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7468819" y="1645920"/>
            <a:ext cx="1989734" cy="1051560"/>
          </a:xfrm>
          <a:prstGeom prst="roundRect">
            <a:avLst>
              <a:gd name="adj" fmla="val 8696"/>
            </a:avLst>
          </a:prstGeom>
          <a:solidFill>
            <a:srgbClr val="EFF6FF"/>
          </a:solidFill>
          <a:ln w="9525">
            <a:solidFill>
              <a:srgbClr val="EFF6FF"/>
            </a:solidFill>
            <a:prstDash val="solid"/>
          </a:ln>
        </p:spPr>
      </p:sp>
      <p:sp>
        <p:nvSpPr>
          <p:cNvPr id="14" name="Text 12"/>
          <p:cNvSpPr txBox="1"/>
          <p:nvPr/>
        </p:nvSpPr>
        <p:spPr>
          <a:xfrm>
            <a:off x="7605979"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4</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State'i yukarı taşımak</a:t>
            </a:r>
            <a:endParaRPr lang="en-US" sz="1200" dirty="0"/>
          </a:p>
        </p:txBody>
      </p:sp>
      <p:sp>
        <p:nvSpPr>
          <p:cNvPr id="15" name="Text 13"/>
          <p:cNvSpPr txBox="1"/>
          <p:nvPr/>
        </p:nvSpPr>
        <p:spPr>
          <a:xfrm>
            <a:off x="94585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9714586" y="1645920"/>
            <a:ext cx="1989734" cy="1051560"/>
          </a:xfrm>
          <a:prstGeom prst="roundRect">
            <a:avLst>
              <a:gd name="adj" fmla="val 8696"/>
            </a:avLst>
          </a:prstGeom>
          <a:solidFill>
            <a:srgbClr val="2563EB"/>
          </a:solidFill>
          <a:ln w="9525">
            <a:solidFill>
              <a:srgbClr val="2563EB"/>
            </a:solidFill>
            <a:prstDash val="solid"/>
          </a:ln>
        </p:spPr>
      </p:sp>
      <p:sp>
        <p:nvSpPr>
          <p:cNvPr id="17" name="Text 15"/>
          <p:cNvSpPr txBox="1"/>
          <p:nvPr/>
        </p:nvSpPr>
        <p:spPr>
          <a:xfrm>
            <a:off x="98517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5</a:t>
            </a:r>
            <a:endParaRPr lang="en-US" sz="1200" dirty="0"/>
          </a:p>
          <a:p>
            <a:pPr marL="0" indent="0" algn="l">
              <a:buNone/>
            </a:pPr>
            <a:r>
              <a:rPr lang="en-US" sz="1400" b="1" dirty="0">
                <a:solidFill>
                  <a:srgbClr val="FFFFFF"/>
                </a:solidFill>
                <a:latin typeface="Arial" pitchFamily="34" charset="0"/>
                <a:ea typeface="Arial" pitchFamily="34" charset="-122"/>
                <a:cs typeface="Arial" pitchFamily="34" charset="-120"/>
              </a:rPr>
              <a:t>Uygulama</a:t>
            </a:r>
            <a:endParaRPr lang="en-US" sz="1200" dirty="0"/>
          </a:p>
        </p:txBody>
      </p:sp>
      <p:sp>
        <p:nvSpPr>
          <p:cNvPr id="18" name="Text 16"/>
          <p:cNvSpPr txBox="1"/>
          <p:nvPr/>
        </p:nvSpPr>
        <p:spPr>
          <a:xfrm>
            <a:off x="731520" y="3017520"/>
            <a:ext cx="10972800" cy="32918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İlk bölümde ekranın neden kendiliğinden güncellenmediğini görüyor ve useState'i öğreniyoruz. İkinci bölümde dokunma olaylarını state'e bağlıyoruz. Üçüncü bölüm bu haftanın en kritik kısmı: dizi ve nesne state'ini doğru güncellemek. Son bölümde birden çok bileşenin aynı veriyi paylaşmasını öğreniyoruz. Uygulama saatinde profil kartını etkileşimli yapacaksınız.</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1</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Neden State?</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Değişen veri ve yeniden çizim</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Sıradan Değişken Ekranı Güncellemez</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646274"/>
          </a:xfrm>
          <a:prstGeom prst="roundRect">
            <a:avLst>
              <a:gd name="adj" fmla="val 345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09763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Counter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let</a:t>
            </a:r>
            <a:r>
              <a:rPr lang="en-US" sz="1600" dirty="0">
                <a:solidFill>
                  <a:srgbClr val="111827"/>
                </a:solidFill>
                <a:latin typeface="Courier New" pitchFamily="34" charset="0"/>
                <a:ea typeface="Courier New" pitchFamily="34" charset="-122"/>
                <a:cs typeface="Courier New" pitchFamily="34" charset="-120"/>
              </a:rPr>
              <a:t> count =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YANLIŞ YAKLAŞIM</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 onPress={() =&gt; { count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&lt;Text&gt;Sayı: {count}&lt;/Text&gt;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42935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55737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Yazıya basılır ama ekranda "Sayı: 0" olarak kalır.</a:t>
            </a:r>
            <a:endParaRPr lang="en-US" sz="1100" dirty="0"/>
          </a:p>
        </p:txBody>
      </p:sp>
      <p:sp>
        <p:nvSpPr>
          <p:cNvPr id="9" name="Text 7"/>
          <p:cNvSpPr txBox="1"/>
          <p:nvPr/>
        </p:nvSpPr>
        <p:spPr>
          <a:xfrm>
            <a:off x="7772400" y="1645920"/>
            <a:ext cx="3931920" cy="3136392"/>
          </a:xfrm>
          <a:prstGeom prst="rect">
            <a:avLst/>
          </a:prstGeom>
          <a:noFill/>
          <a:ln/>
        </p:spPr>
        <p:txBody>
          <a:bodyPr wrap="square" lIns="0" tIns="0" rIns="0" bIns="0" rtlCol="0" anchor="t"/>
          <a:lstStyle/>
          <a:p>
            <a:pPr marL="0" indent="0" algn="l">
              <a:spcAft>
                <a:spcPts val="800"/>
              </a:spcAft>
              <a:buNone/>
            </a:pPr>
            <a:r>
              <a:rPr lang="en-US" sz="1500" dirty="0">
                <a:solidFill>
                  <a:srgbClr val="111827"/>
                </a:solidFill>
                <a:latin typeface="Arial" pitchFamily="34" charset="0"/>
                <a:ea typeface="Arial" pitchFamily="34" charset="-122"/>
                <a:cs typeface="Arial" pitchFamily="34" charset="-120"/>
              </a:rPr>
              <a:t>Amaç, state'e neden ihtiyaç duyulduğunu bir hata üzerinden görmektir.</a:t>
            </a:r>
            <a:endParaRPr lang="en-US" sz="1500" dirty="0"/>
          </a:p>
          <a:p>
            <a:pPr marL="0" indent="0" algn="l">
              <a:spcAft>
                <a:spcPts val="800"/>
              </a:spcAft>
              <a:buNone/>
            </a:pPr>
            <a:r>
              <a:rPr lang="en-US" sz="1500" b="1" dirty="0">
                <a:solidFill>
                  <a:srgbClr val="2563EB"/>
                </a:solidFill>
                <a:latin typeface="Arial" pitchFamily="34" charset="0"/>
                <a:ea typeface="Arial" pitchFamily="34" charset="-122"/>
                <a:cs typeface="Arial" pitchFamily="34" charset="-120"/>
              </a:rPr>
              <a:t>Kod mantığı: </a:t>
            </a:r>
            <a:r>
              <a:rPr lang="en-US" sz="1500" dirty="0">
                <a:solidFill>
                  <a:srgbClr val="111827"/>
                </a:solidFill>
                <a:latin typeface="Arial" pitchFamily="34" charset="0"/>
                <a:ea typeface="Arial" pitchFamily="34" charset="-122"/>
                <a:cs typeface="Arial" pitchFamily="34" charset="-120"/>
              </a:rPr>
              <a:t>Düğmeye basınca count değişir ama React bunu bilmez ve bileşeni yeniden çizmez. Bileşen yeniden çizilse bile fonksiyon baştan çalışır ve count yine 0 olur. Değişkenin ekranda görünmesi için React'e haber verecek bir mekanizma gerekir.</a:t>
            </a:r>
            <a:endParaRPr lang="en-US" sz="1500" dirty="0"/>
          </a:p>
          <a:p>
            <a:pPr marL="0" indent="0" algn="l">
              <a:spcAft>
                <a:spcPts val="800"/>
              </a:spcAft>
              <a:buNone/>
            </a:pPr>
            <a:r>
              <a:rPr lang="en-US" sz="1500" b="1" dirty="0">
                <a:solidFill>
                  <a:srgbClr val="2563EB"/>
                </a:solidFill>
                <a:latin typeface="Arial" pitchFamily="34" charset="0"/>
                <a:ea typeface="Arial" pitchFamily="34" charset="-122"/>
                <a:cs typeface="Arial" pitchFamily="34" charset="-120"/>
              </a:rPr>
              <a:t>Seçim mantığı: </a:t>
            </a:r>
            <a:r>
              <a:rPr lang="en-US" sz="1500" dirty="0">
                <a:solidFill>
                  <a:srgbClr val="111827"/>
                </a:solidFill>
                <a:latin typeface="Arial" pitchFamily="34" charset="0"/>
                <a:ea typeface="Arial" pitchFamily="34" charset="-122"/>
                <a:cs typeface="Arial" pitchFamily="34" charset="-120"/>
              </a:rPr>
              <a:t>Bu haftadan itibaren bileşenleri ok fonksiyonu olarak yazıyoruz; function biçimi de aynı işi görür. Önemli olan adın büyük harfle başlaması ve JSX döndürmesidir.</a:t>
            </a:r>
            <a:endParaRPr lang="en-US" sz="1500" dirty="0"/>
          </a:p>
        </p:txBody>
      </p:sp>
      <p:sp>
        <p:nvSpPr>
          <p:cNvPr id="10" name="Shape 8"/>
          <p:cNvSpPr/>
          <p:nvPr/>
        </p:nvSpPr>
        <p:spPr>
          <a:xfrm>
            <a:off x="7772400" y="491947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5047488"/>
            <a:ext cx="3529584" cy="91440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Web alışkanlığıyla değişkeni değiştirip ekranın kendiliğinden güncelleneceğini sanmak.</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State ve Render Döngüsü</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2551176"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Kullanıcı olayı</a:t>
            </a:r>
            <a:endParaRPr lang="en-US" sz="1200" dirty="0"/>
          </a:p>
        </p:txBody>
      </p:sp>
      <p:sp>
        <p:nvSpPr>
          <p:cNvPr id="6" name="Text 4"/>
          <p:cNvSpPr txBox="1"/>
          <p:nvPr/>
        </p:nvSpPr>
        <p:spPr>
          <a:xfrm>
            <a:off x="3282696"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3538728" y="1645920"/>
            <a:ext cx="2551176"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675888"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setState çağrısı</a:t>
            </a:r>
            <a:endParaRPr lang="en-US" sz="1200" dirty="0"/>
          </a:p>
        </p:txBody>
      </p:sp>
      <p:sp>
        <p:nvSpPr>
          <p:cNvPr id="9" name="Text 7"/>
          <p:cNvSpPr txBox="1"/>
          <p:nvPr/>
        </p:nvSpPr>
        <p:spPr>
          <a:xfrm>
            <a:off x="608990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6345936" y="1645920"/>
            <a:ext cx="2551176"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6483096"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React yeniden çizer</a:t>
            </a:r>
            <a:endParaRPr lang="en-US" sz="1200" dirty="0"/>
          </a:p>
        </p:txBody>
      </p:sp>
      <p:sp>
        <p:nvSpPr>
          <p:cNvPr id="12" name="Text 10"/>
          <p:cNvSpPr txBox="1"/>
          <p:nvPr/>
        </p:nvSpPr>
        <p:spPr>
          <a:xfrm>
            <a:off x="8897112"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9153144" y="1645920"/>
            <a:ext cx="2551176" cy="1051560"/>
          </a:xfrm>
          <a:prstGeom prst="roundRect">
            <a:avLst>
              <a:gd name="adj" fmla="val 8696"/>
            </a:avLst>
          </a:prstGeom>
          <a:solidFill>
            <a:srgbClr val="2563EB"/>
          </a:solidFill>
          <a:ln w="9525">
            <a:solidFill>
              <a:srgbClr val="2563EB"/>
            </a:solidFill>
            <a:prstDash val="solid"/>
          </a:ln>
        </p:spPr>
      </p:sp>
      <p:sp>
        <p:nvSpPr>
          <p:cNvPr id="14" name="Text 12"/>
          <p:cNvSpPr txBox="1"/>
          <p:nvPr/>
        </p:nvSpPr>
        <p:spPr>
          <a:xfrm>
            <a:off x="9290304"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4</a:t>
            </a:r>
            <a:endParaRPr lang="en-US" sz="1200" dirty="0"/>
          </a:p>
          <a:p>
            <a:pPr marL="0" indent="0" algn="l">
              <a:buNone/>
            </a:pPr>
            <a:r>
              <a:rPr lang="en-US" sz="1600" b="1" dirty="0">
                <a:solidFill>
                  <a:srgbClr val="FFFFFF"/>
                </a:solidFill>
                <a:latin typeface="Arial" pitchFamily="34" charset="0"/>
                <a:ea typeface="Arial" pitchFamily="34" charset="-122"/>
                <a:cs typeface="Arial" pitchFamily="34" charset="-120"/>
              </a:rPr>
              <a:t>Ekran güncellenir</a:t>
            </a:r>
            <a:endParaRPr lang="en-US" sz="1200" dirty="0"/>
          </a:p>
        </p:txBody>
      </p:sp>
      <p:sp>
        <p:nvSpPr>
          <p:cNvPr id="15" name="Text 13"/>
          <p:cNvSpPr txBox="1"/>
          <p:nvPr/>
        </p:nvSpPr>
        <p:spPr>
          <a:xfrm>
            <a:off x="731520" y="3017520"/>
            <a:ext cx="6766560" cy="32918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State, bileşenin zamanla değişen ve ekranı etkileyen verisidir. Bir olay state'i güncellediğinde React bileşen fonksiyonunu yeni değerle yeniden çalıştırır ve çıkan yeni ekran tarifini öncekiyle karşılaştırarak yalnızca değişen kısmı günceller. Yani ekran, state'in bir fonksiyonudur: aynı state her zaman aynı ekranı üretir. Bu yüzden ekranı elle değiştirmeyiz, state'i değiştiririz.</a:t>
            </a:r>
            <a:endParaRPr lang="en-US" sz="2200" dirty="0"/>
          </a:p>
        </p:txBody>
      </p:sp>
      <p:sp>
        <p:nvSpPr>
          <p:cNvPr id="16" name="Shape 14"/>
          <p:cNvSpPr/>
          <p:nvPr/>
        </p:nvSpPr>
        <p:spPr>
          <a:xfrm>
            <a:off x="7863840" y="3017520"/>
            <a:ext cx="3657600" cy="1383792"/>
          </a:xfrm>
          <a:prstGeom prst="roundRect">
            <a:avLst>
              <a:gd name="adj" fmla="val 6608"/>
            </a:avLst>
          </a:prstGeom>
          <a:solidFill>
            <a:srgbClr val="EFF6FF"/>
          </a:solidFill>
          <a:ln w="9525">
            <a:solidFill>
              <a:srgbClr val="EFF6FF"/>
            </a:solidFill>
            <a:prstDash val="solid"/>
          </a:ln>
        </p:spPr>
      </p:sp>
      <p:sp>
        <p:nvSpPr>
          <p:cNvPr id="17" name="Text 15"/>
          <p:cNvSpPr txBox="1"/>
          <p:nvPr/>
        </p:nvSpPr>
        <p:spPr>
          <a:xfrm>
            <a:off x="8065008" y="3145536"/>
            <a:ext cx="325526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State güncellemesi hemen değil, bir sonraki çizimde görünür; setCount çağırdıktan hemen sonra count'u okursanız eski değeri görürsünüz.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useState: Değer ve Güncelleyici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891333"/>
          </a:xfrm>
          <a:prstGeom prst="roundRect">
            <a:avLst>
              <a:gd name="adj" fmla="val 3163"/>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342693"/>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Counter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[count, setCount] = useState(</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add = () =&gt; setCount(count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 onPress={add}&gt;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&lt;Text&gt;Sayı: {count}&lt;/Text&gt;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674413"/>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802429"/>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Yazıya her basışta "Sayı: 1", "Sayı: 2" diye artar.</a:t>
            </a:r>
            <a:endParaRPr lang="en-US" sz="1100" dirty="0"/>
          </a:p>
        </p:txBody>
      </p:sp>
      <p:sp>
        <p:nvSpPr>
          <p:cNvPr id="9" name="Text 7"/>
          <p:cNvSpPr txBox="1"/>
          <p:nvPr/>
        </p:nvSpPr>
        <p:spPr>
          <a:xfrm>
            <a:off x="7772400" y="1645920"/>
            <a:ext cx="3931920" cy="37307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state tanımlamanın ve güncellemenin doğru yolunu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useState ilk değeri alır ve bir dizi döndürür: ilk eleman mevcut değer, ikinci eleman güncelleyici fonksiyondur. Destructuring ile bunlara ad veririz. setCount çağrıldığında React bileşeni yeni değerle yeniden çalıştırır.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Ad çiftini value ve setValue biçiminde yazmak bir gelenektir; okunabilirlik için bu kurala uyun.</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Hook Kuralları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799" cy="2450592"/>
        </p:xfrm>
        <a:graphic>
          <a:graphicData uri="http://schemas.openxmlformats.org/drawingml/2006/table">
            <a:tbl>
              <a:tblPr/>
              <a:tblGrid>
                <a:gridCol w="4137368">
                  <a:extLst>
                    <a:ext uri="{9D8B030D-6E8A-4147-A177-3AD203B41FA5}">
                      <a16:colId xmlns:a16="http://schemas.microsoft.com/office/drawing/2014/main" val="20000"/>
                    </a:ext>
                  </a:extLst>
                </a:gridCol>
                <a:gridCol w="3751619">
                  <a:extLst>
                    <a:ext uri="{9D8B030D-6E8A-4147-A177-3AD203B41FA5}">
                      <a16:colId xmlns:a16="http://schemas.microsoft.com/office/drawing/2014/main" val="20001"/>
                    </a:ext>
                  </a:extLst>
                </a:gridCol>
                <a:gridCol w="3083812">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2563EB"/>
                          </a:solidFill>
                        </a:rPr>
                        <a:t>Kural</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Neden?</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İhlalin sonucu</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749808">
                <a:tc>
                  <a:txBody>
                    <a:bodyPr/>
                    <a:lstStyle/>
                    <a:p>
                      <a:pPr marL="0" indent="0">
                        <a:buNone/>
                      </a:pPr>
                      <a:r>
                        <a:rPr lang="en-US" sz="1800" b="1" dirty="0">
                          <a:solidFill>
                            <a:srgbClr val="111827"/>
                          </a:solidFill>
                        </a:rPr>
                        <a:t>Yalnızca fonksiyon bileşeninin içinde çağır</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React hook'ları bileşene bağlar</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Invalid hook call hatası</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749808">
                <a:tc>
                  <a:txBody>
                    <a:bodyPr/>
                    <a:lstStyle/>
                    <a:p>
                      <a:pPr marL="0" indent="0">
                        <a:buNone/>
                      </a:pPr>
                      <a:r>
                        <a:rPr lang="en-US" sz="1800" b="1" dirty="0">
                          <a:solidFill>
                            <a:srgbClr val="111827"/>
                          </a:solidFill>
                        </a:rPr>
                        <a:t>Üst düzeyde çağır; if ve döngü içinde çağırma</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Çağrı sırası her çizimde aynı kalmalı</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State karışır, hata verir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800" b="1" dirty="0">
                          <a:solidFill>
                            <a:srgbClr val="111827"/>
                          </a:solidFill>
                        </a:rPr>
                        <a:t>Adı use ile başlasın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Araçlar kuralı denetleyebilsin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Denetim uyarıları kaçar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731520" y="4370832"/>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4498848"/>
            <a:ext cx="10570464" cy="7620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Koşullu çalışması gereken şey hook'un kendisi değil, hook'tan gelen değerin kullanımıdır; hook'u her zaman çağırıp sonucu koşulda kullanın.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Hook İhlali 1: Bileşenin Dışında Çağırmak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420978"/>
          </a:xfrm>
          <a:prstGeom prst="roundRect">
            <a:avLst>
              <a:gd name="adj" fmla="val 643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872338"/>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[count, setCount] = useState(</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YANLIŞ</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App = () =&gt; &lt;Text&gt;{count}&lt;/Text&gt;;</a:t>
            </a:r>
            <a:endParaRPr lang="en-US" sz="1600" dirty="0"/>
          </a:p>
        </p:txBody>
      </p:sp>
      <p:sp>
        <p:nvSpPr>
          <p:cNvPr id="7" name="Shape 5"/>
          <p:cNvSpPr/>
          <p:nvPr/>
        </p:nvSpPr>
        <p:spPr>
          <a:xfrm>
            <a:off x="731520" y="3204058"/>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3332074"/>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Uygulama açılırken kırmızı ekranda Invalid hook call hatası görünür.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hook'un bileşenin dışında çağrılınca nasıl hata verdiğini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useState, çağrıldığı bileşene bağlanır. Dosyanın en üstünde, yani hiçbir bileşenin içinde olmayan bir yerde çağrılırsa React bu state'i hangi bileşene bağlayacağını bilemez.</a:t>
            </a:r>
            <a:endParaRPr lang="en-US" sz="1800" dirty="0"/>
          </a:p>
        </p:txBody>
      </p:sp>
      <p:sp>
        <p:nvSpPr>
          <p:cNvPr id="10" name="Shape 8"/>
          <p:cNvSpPr/>
          <p:nvPr/>
        </p:nvSpPr>
        <p:spPr>
          <a:xfrm>
            <a:off x="7772400" y="441655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544568"/>
            <a:ext cx="3529584" cy="91440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State'i dosyanın üstünde sıradan bir değişken gibi tanımlamak; web'deki genel değişken alışkanlığından gelir.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Düzeltme 1: Bileşenin İçinde Çağırmak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666037"/>
          </a:xfrm>
          <a:prstGeom prst="roundRect">
            <a:avLst>
              <a:gd name="adj" fmla="val 548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1117397"/>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App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[count, setCount] = useState(</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&lt;Text&gt;{count}&lt;/Text&gt;;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3449117"/>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3577133"/>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Ekranda 0 görünür; hata yoktur.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hook'u bileşenin gövdesine taşıyarak hatayı gidermektir.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useState artık App fonksiyonunun içinde çağrılıyor. React bu çağrıyı App bileşenine bağlar ve değeri her çizimde hatırlar.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Hook'ları her zaman bileşenin gövdesinde, return ifadesinden önce çağırın.</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Hook İhlali 2: Koşul İçinde Çağırmak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626510"/>
          </a:xfrm>
          <a:prstGeom prst="roundRect">
            <a:avLst>
              <a:gd name="adj" fmla="val 252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3077870"/>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App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[show, setShow] = useState(</a:t>
            </a:r>
            <a:r>
              <a:rPr lang="en-US" sz="1600" b="1" dirty="0">
                <a:solidFill>
                  <a:srgbClr val="2563EB"/>
                </a:solidFill>
                <a:latin typeface="Courier New" pitchFamily="34" charset="0"/>
                <a:ea typeface="Courier New" pitchFamily="34" charset="-122"/>
                <a:cs typeface="Courier New" pitchFamily="34" charset="-120"/>
              </a:rPr>
              <a:t>false</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if</a:t>
            </a:r>
            <a:r>
              <a:rPr lang="en-US" sz="1600" dirty="0">
                <a:solidFill>
                  <a:srgbClr val="111827"/>
                </a:solidFill>
                <a:latin typeface="Courier New" pitchFamily="34" charset="0"/>
                <a:ea typeface="Courier New" pitchFamily="34" charset="-122"/>
                <a:cs typeface="Courier New" pitchFamily="34" charset="-120"/>
              </a:rPr>
              <a:t> (show)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 setA] = useState(</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YANLIŞ</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[b, setB] = useState(</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 onPress={() =&gt; setShow(!show)}&gt;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&lt;Text&gt;Değiştir: {b}&lt;/Text&gt;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5409590"/>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537606"/>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İlk açılışta çalışır; dokununca hata ekranı çıkar.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hook'u if içine koymanın neden sorun yarattığını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React state'i çağrı sırasına göre eşleştirir. İlk çizimde iki hook çalışır, show true olunca üç hook çalışır. Hook sayısı değiştiği için React kutuları eşleştiremez.</a:t>
            </a:r>
            <a:endParaRPr lang="en-US" sz="1800" dirty="0"/>
          </a:p>
        </p:txBody>
      </p:sp>
      <p:sp>
        <p:nvSpPr>
          <p:cNvPr id="10" name="Shape 8"/>
          <p:cNvSpPr/>
          <p:nvPr/>
        </p:nvSpPr>
        <p:spPr>
          <a:xfrm>
            <a:off x="7772400" y="4142232"/>
            <a:ext cx="3931920" cy="957072"/>
          </a:xfrm>
          <a:prstGeom prst="roundRect">
            <a:avLst>
              <a:gd name="adj" fmla="val 9554"/>
            </a:avLst>
          </a:prstGeom>
          <a:solidFill>
            <a:srgbClr val="EFF6FF"/>
          </a:solidFill>
          <a:ln w="9525">
            <a:solidFill>
              <a:srgbClr val="EFF6FF"/>
            </a:solidFill>
            <a:prstDash val="solid"/>
          </a:ln>
        </p:spPr>
      </p:sp>
      <p:sp>
        <p:nvSpPr>
          <p:cNvPr id="11" name="Text 9"/>
          <p:cNvSpPr txBox="1"/>
          <p:nvPr/>
        </p:nvSpPr>
        <p:spPr>
          <a:xfrm>
            <a:off x="7973568" y="4270248"/>
            <a:ext cx="3529584" cy="70104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Hata ilk açılışta görünmediği için kodun doğru olduğunu sanmak.</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Düzeltme 2: Hook Sabit, Koşul Değerde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479292"/>
          </a:xfrm>
          <a:prstGeom prst="roundRect">
            <a:avLst>
              <a:gd name="adj" fmla="val 262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930652"/>
          </a:xfrm>
          <a:prstGeom prst="rect">
            <a:avLst/>
          </a:prstGeom>
          <a:noFill/>
          <a:ln/>
        </p:spPr>
        <p:txBody>
          <a:bodyPr wrap="square" lIns="0" tIns="0" rIns="0" bIns="0" rtlCol="0" anchor="t"/>
          <a:lstStyle/>
          <a:p>
            <a:pPr marL="0" indent="0" algn="l">
              <a:buNone/>
            </a:pP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App = () =&gt;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[show, setShow] = useState(</a:t>
            </a:r>
            <a:r>
              <a:rPr lang="en-US" sz="1200" b="1" dirty="0">
                <a:solidFill>
                  <a:srgbClr val="2563EB"/>
                </a:solidFill>
                <a:latin typeface="Courier New" pitchFamily="34" charset="0"/>
                <a:ea typeface="Courier New" pitchFamily="34" charset="-122"/>
                <a:cs typeface="Courier New" pitchFamily="34" charset="-120"/>
              </a:rPr>
              <a:t>false</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[a, setA] = useState(</a:t>
            </a:r>
            <a:r>
              <a:rPr lang="en-US" sz="1200" dirty="0">
                <a:solidFill>
                  <a:srgbClr val="B45309"/>
                </a:solidFill>
                <a:latin typeface="Courier New" pitchFamily="34" charset="0"/>
                <a:ea typeface="Courier New" pitchFamily="34" charset="-122"/>
                <a:cs typeface="Courier New" pitchFamily="34" charset="-120"/>
              </a:rPr>
              <a:t>1</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[b, setB] = useState(</a:t>
            </a:r>
            <a:r>
              <a:rPr lang="en-US" sz="1200" dirty="0">
                <a:solidFill>
                  <a:srgbClr val="B45309"/>
                </a:solidFill>
                <a:latin typeface="Courier New" pitchFamily="34" charset="0"/>
                <a:ea typeface="Courier New" pitchFamily="34" charset="-122"/>
                <a:cs typeface="Courier New" pitchFamily="34" charset="-120"/>
              </a:rPr>
              <a:t>2</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return</a:t>
            </a: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&lt;View&gt;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&lt;Pressable onPress={() =&gt; setShow(!show)}&gt;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&lt;Text&gt;Değiştir: {b}&lt;/Text&gt;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&lt;/Pressable&gt;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{show &amp;&amp; &lt;Text&gt;a değeri: {a}&lt;/Text&gt;}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&lt;/View&gt;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731520" y="5262372"/>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390388"/>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Dokununca a değerini gösteren satır ekranda belirir ve kaybolur; hata çıkmaz.</a:t>
            </a:r>
            <a:endParaRPr lang="en-US" sz="1100" dirty="0"/>
          </a:p>
        </p:txBody>
      </p:sp>
      <p:sp>
        <p:nvSpPr>
          <p:cNvPr id="9" name="Text 7"/>
          <p:cNvSpPr txBox="1"/>
          <p:nvPr/>
        </p:nvSpPr>
        <p:spPr>
          <a:xfrm>
            <a:off x="7772400" y="1645920"/>
            <a:ext cx="3931920" cy="345643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hook'u her zaman çağırıp koşulu yalnızca değerin kullanımına uygulamaktır.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Üç useState çağrısı her çizimde aynı sırada ve aynı sayıda çalışır. Koşul yalnızca ekrana ne çizileceğini belirler. Hook sayısı değişmediği için React kutuları karıştırmaz.</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Koşula bağlı olan hook değil, hook'tan gelen değerin kullanımıdır.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2800" b="1" dirty="0">
                <a:solidFill>
                  <a:srgbClr val="111827"/>
                </a:solidFill>
                <a:latin typeface="Arial" pitchFamily="34" charset="0"/>
                <a:ea typeface="Arial" pitchFamily="34" charset="-122"/>
                <a:cs typeface="Arial" pitchFamily="34" charset="-120"/>
              </a:rPr>
              <a:t>Hook İhlali 3: Adı use ile Başlamayan Fonksiyon</a:t>
            </a:r>
            <a:endParaRPr lang="en-US" sz="28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626510"/>
          </a:xfrm>
          <a:prstGeom prst="roundRect">
            <a:avLst>
              <a:gd name="adj" fmla="val 252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3077870"/>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counter = () =&gt; {  </a:t>
            </a:r>
            <a:r>
              <a:rPr lang="en-US" sz="1600" i="1" dirty="0">
                <a:solidFill>
                  <a:srgbClr val="6B7280"/>
                </a:solidFill>
                <a:latin typeface="Courier New" pitchFamily="34" charset="0"/>
                <a:ea typeface="Courier New" pitchFamily="34" charset="-122"/>
                <a:cs typeface="Courier New" pitchFamily="34" charset="-120"/>
              </a:rPr>
              <a:t>// YANLIŞ</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[n, setN] = useState(</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 n, add: () =&gt; setN(n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App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 = counter();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 onPress={c.add}&gt;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&lt;Text&gt;Sayı: {c.n}&lt;/Text&gt;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5409590"/>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537606"/>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Uygulama çalışır ve sayı artar; editörde ESLint uyarısı görünür.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hata mesajı vermeyen bir kural ihlalini tanımaktır.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counter içinde useState çağrılıyor ama adı use ile başlamıyor. Kod çalışır; ama denetim araçları bu fonksiyonun bir hook olduğunu bilemez ve kural ihlallerini yakalayamaz.</a:t>
            </a:r>
            <a:endParaRPr lang="en-US" sz="1800" dirty="0"/>
          </a:p>
        </p:txBody>
      </p:sp>
      <p:sp>
        <p:nvSpPr>
          <p:cNvPr id="10" name="Shape 8"/>
          <p:cNvSpPr/>
          <p:nvPr/>
        </p:nvSpPr>
        <p:spPr>
          <a:xfrm>
            <a:off x="7772400" y="414223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270248"/>
            <a:ext cx="3529584" cy="91440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Hata mesajı çıkmadığı için ihlali önemsememek; araçlar sonraki ihlalleri bu yüzden kaçırır.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Düzeltme 3: Adı use ile Başlatmak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626510"/>
          </a:xfrm>
          <a:prstGeom prst="roundRect">
            <a:avLst>
              <a:gd name="adj" fmla="val 252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3077870"/>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useCounter = () =&gt; {  </a:t>
            </a:r>
            <a:r>
              <a:rPr lang="en-US" sz="1600" i="1" dirty="0">
                <a:solidFill>
                  <a:srgbClr val="6B7280"/>
                </a:solidFill>
                <a:latin typeface="Courier New" pitchFamily="34" charset="0"/>
                <a:ea typeface="Courier New" pitchFamily="34" charset="-122"/>
                <a:cs typeface="Courier New" pitchFamily="34" charset="-120"/>
              </a:rPr>
              <a:t>// DOĞRU</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[n, setN] = useState(</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 n, add: () =&gt; setN(n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App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 = useCounter();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 onPress={c.add}&gt;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&lt;Text&gt;Sayı: {c.n}&lt;/Text&gt;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5409590"/>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537606"/>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Davranış aynıdır; sayı artar ve editördeki uyarı kaybolur.</a:t>
            </a:r>
            <a:endParaRPr lang="en-US" sz="1100" dirty="0"/>
          </a:p>
        </p:txBody>
      </p:sp>
      <p:sp>
        <p:nvSpPr>
          <p:cNvPr id="9" name="Text 7"/>
          <p:cNvSpPr txBox="1"/>
          <p:nvPr/>
        </p:nvSpPr>
        <p:spPr>
          <a:xfrm>
            <a:off x="7772400" y="1645920"/>
            <a:ext cx="3931920" cy="40050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fonksiyonun adını değiştirerek denetim araçlarının kuralı uygulamasını sağlamaktır.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Adı use ile başlayan fonksiyon, React ve araçlar için bir hook sayılır. Artık bu fonksiyonu koşul içinde çağırırsanız ESLint bunu hemen işaretler. Çalışma biçimi aynı kalır, değişen yalnızca güvencedir.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Hook çağıran her fonksiyonun adını use ile başlatın; bu, kuralın denetlenebilmesini sağlar.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Tipli State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626510"/>
          </a:xfrm>
          <a:prstGeom prst="roundRect">
            <a:avLst>
              <a:gd name="adj" fmla="val 252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3077870"/>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interface User { name: string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Profile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[user, setUser]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useState&lt;User | </a:t>
            </a:r>
            <a:r>
              <a:rPr lang="en-US" sz="1600" b="1" dirty="0">
                <a:solidFill>
                  <a:srgbClr val="2563EB"/>
                </a:solidFill>
                <a:latin typeface="Courier New" pitchFamily="34" charset="0"/>
                <a:ea typeface="Courier New" pitchFamily="34" charset="-122"/>
                <a:cs typeface="Courier New" pitchFamily="34" charset="-120"/>
              </a:rPr>
              <a:t>null</a:t>
            </a:r>
            <a:r>
              <a:rPr lang="en-US" sz="1600" dirty="0">
                <a:solidFill>
                  <a:srgbClr val="111827"/>
                </a:solidFill>
                <a:latin typeface="Courier New" pitchFamily="34" charset="0"/>
                <a:ea typeface="Courier New" pitchFamily="34" charset="-122"/>
                <a:cs typeface="Courier New" pitchFamily="34" charset="-120"/>
              </a:rPr>
              <a:t>&gt;(</a:t>
            </a:r>
            <a:r>
              <a:rPr lang="en-US" sz="1600" b="1" dirty="0">
                <a:solidFill>
                  <a:srgbClr val="2563EB"/>
                </a:solidFill>
                <a:latin typeface="Courier New" pitchFamily="34" charset="0"/>
                <a:ea typeface="Courier New" pitchFamily="34" charset="-122"/>
                <a:cs typeface="Courier New" pitchFamily="34" charset="-120"/>
              </a:rPr>
              <a:t>null</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login = () =&gt; setUser({ name: </a:t>
            </a:r>
            <a:r>
              <a:rPr lang="en-US" sz="1600" dirty="0">
                <a:solidFill>
                  <a:srgbClr val="047857"/>
                </a:solidFill>
                <a:latin typeface="Courier New" pitchFamily="34" charset="0"/>
                <a:ea typeface="Courier New" pitchFamily="34" charset="-122"/>
                <a:cs typeface="Courier New" pitchFamily="34" charset="-120"/>
              </a:rPr>
              <a:t>‘Yusuf'</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title = user?.name ?? </a:t>
            </a:r>
            <a:r>
              <a:rPr lang="en-US" sz="1600" dirty="0">
                <a:solidFill>
                  <a:srgbClr val="047857"/>
                </a:solidFill>
                <a:latin typeface="Courier New" pitchFamily="34" charset="0"/>
                <a:ea typeface="Courier New" pitchFamily="34" charset="-122"/>
                <a:cs typeface="Courier New" pitchFamily="34" charset="-120"/>
              </a:rPr>
              <a:t>'Giriş yap'</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 onPress={login}&gt;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&lt;Text&gt;{title}&lt;/Text&gt;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5409590"/>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537606"/>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Başlangıçta "Giriş yap" görünür, yazıya </a:t>
            </a:r>
            <a:r>
              <a:rPr lang="en-US" sz="1500" dirty="0" err="1">
                <a:solidFill>
                  <a:srgbClr val="111827"/>
                </a:solidFill>
                <a:latin typeface="Arial" pitchFamily="34" charset="0"/>
                <a:ea typeface="Arial" pitchFamily="34" charset="-122"/>
                <a:cs typeface="Arial" pitchFamily="34" charset="-120"/>
              </a:rPr>
              <a:t>dokununca</a:t>
            </a:r>
            <a:r>
              <a:rPr lang="en-US" sz="1500" dirty="0">
                <a:solidFill>
                  <a:srgbClr val="111827"/>
                </a:solidFill>
                <a:latin typeface="Arial" pitchFamily="34" charset="0"/>
                <a:ea typeface="Arial" pitchFamily="34" charset="-122"/>
                <a:cs typeface="Arial" pitchFamily="34" charset="-120"/>
              </a:rPr>
              <a:t> ”Yusuf" yazar.</a:t>
            </a:r>
            <a:endParaRPr lang="en-US" sz="1100" dirty="0"/>
          </a:p>
        </p:txBody>
      </p:sp>
      <p:sp>
        <p:nvSpPr>
          <p:cNvPr id="9" name="Text 7"/>
          <p:cNvSpPr txBox="1"/>
          <p:nvPr/>
        </p:nvSpPr>
        <p:spPr>
          <a:xfrm>
            <a:off x="7772400" y="1645920"/>
            <a:ext cx="3931920" cy="3014472"/>
          </a:xfrm>
          <a:prstGeom prst="rect">
            <a:avLst/>
          </a:prstGeom>
          <a:noFill/>
          <a:ln/>
        </p:spPr>
        <p:txBody>
          <a:bodyPr wrap="square" lIns="0" tIns="0" rIns="0" bIns="0" rtlCol="0" anchor="t"/>
          <a:lstStyle/>
          <a:p>
            <a:pPr marL="0" indent="0" algn="l">
              <a:spcAft>
                <a:spcPts val="800"/>
              </a:spcAft>
              <a:buNone/>
            </a:pPr>
            <a:r>
              <a:rPr lang="en-US" sz="1700" dirty="0">
                <a:solidFill>
                  <a:srgbClr val="111827"/>
                </a:solidFill>
                <a:latin typeface="Arial" pitchFamily="34" charset="0"/>
                <a:ea typeface="Arial" pitchFamily="34" charset="-122"/>
                <a:cs typeface="Arial" pitchFamily="34" charset="-120"/>
              </a:rPr>
              <a:t>Amaç, useState'e tip vermek ve başlangıçta boş olan değeri güvenle modellemektir.</a:t>
            </a:r>
            <a:endParaRPr lang="en-US" sz="1700" dirty="0"/>
          </a:p>
          <a:p>
            <a:pPr marL="0" indent="0" algn="l">
              <a:spcAft>
                <a:spcPts val="800"/>
              </a:spcAft>
              <a:buNone/>
            </a:pPr>
            <a:r>
              <a:rPr lang="en-US" sz="1700" b="1" dirty="0">
                <a:solidFill>
                  <a:srgbClr val="2563EB"/>
                </a:solidFill>
                <a:latin typeface="Arial" pitchFamily="34" charset="0"/>
                <a:ea typeface="Arial" pitchFamily="34" charset="-122"/>
                <a:cs typeface="Arial" pitchFamily="34" charset="-120"/>
              </a:rPr>
              <a:t>Kod mantığı: </a:t>
            </a:r>
            <a:r>
              <a:rPr lang="en-US" sz="1700" dirty="0">
                <a:solidFill>
                  <a:srgbClr val="111827"/>
                </a:solidFill>
                <a:latin typeface="Arial" pitchFamily="34" charset="0"/>
                <a:ea typeface="Arial" pitchFamily="34" charset="-122"/>
                <a:cs typeface="Arial" pitchFamily="34" charset="-120"/>
              </a:rPr>
              <a:t>Köşeli parantez içindeki tip, 3. haftada gördüğümüz generic parametresidir. Başlangıçta kullanıcı yoksa null kullanırız ve tipi User | null olarak belirtiriz; böylece kullanırken null kontrolü yapmaya zorlanırız. Boş dizi başlatırken de useState&lt;string[]&gt;([]) biçiminde tip yazılır.</a:t>
            </a:r>
            <a:endParaRPr lang="en-US" sz="1700" dirty="0"/>
          </a:p>
        </p:txBody>
      </p:sp>
      <p:sp>
        <p:nvSpPr>
          <p:cNvPr id="10" name="Shape 8"/>
          <p:cNvSpPr/>
          <p:nvPr/>
        </p:nvSpPr>
        <p:spPr>
          <a:xfrm>
            <a:off x="7772400" y="479755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92556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useState([]) yazıp tip vermezseniz TypeScript elemanların tipini bilemez ve ileride eleman eklerken hata verir; boş başlangıç değerlerinde tipi her zaman yazın.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2</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Olay İşleme</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Dokunmayı state'e bağlamak</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Pressable ve Dokunma Olayları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694176"/>
          </a:xfrm>
          <a:prstGeom prst="roundRect">
            <a:avLst>
              <a:gd name="adj" fmla="val 247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3145536"/>
          </a:xfrm>
          <a:prstGeom prst="rect">
            <a:avLst/>
          </a:prstGeom>
          <a:noFill/>
          <a:ln/>
        </p:spPr>
        <p:txBody>
          <a:bodyPr wrap="square" lIns="0" tIns="0" rIns="0" bIns="0" rtlCol="0" anchor="t"/>
          <a:lstStyle/>
          <a:p>
            <a:pPr marL="0" indent="0" algn="l">
              <a:buNone/>
            </a:pP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Demo = () =&gt;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[log, setLog] = useState(</a:t>
            </a:r>
            <a:r>
              <a:rPr lang="en-US" sz="1200" dirty="0">
                <a:solidFill>
                  <a:srgbClr val="047857"/>
                </a:solidFill>
                <a:latin typeface="Courier New" pitchFamily="34" charset="0"/>
                <a:ea typeface="Courier New" pitchFamily="34" charset="-122"/>
                <a:cs typeface="Courier New" pitchFamily="34" charset="-120"/>
              </a:rPr>
              <a:t>'Henüz yok'</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return</a:t>
            </a: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&lt;Pressable</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onPress={() =&gt; setLog(</a:t>
            </a:r>
            <a:r>
              <a:rPr lang="en-US" sz="1200" dirty="0">
                <a:solidFill>
                  <a:srgbClr val="047857"/>
                </a:solidFill>
                <a:latin typeface="Courier New" pitchFamily="34" charset="0"/>
                <a:ea typeface="Courier New" pitchFamily="34" charset="-122"/>
                <a:cs typeface="Courier New" pitchFamily="34" charset="-120"/>
              </a:rPr>
              <a:t>'</a:t>
            </a:r>
            <a:r>
              <a:rPr lang="en-US" sz="1200" dirty="0" err="1">
                <a:solidFill>
                  <a:srgbClr val="047857"/>
                </a:solidFill>
                <a:latin typeface="Courier New" pitchFamily="34" charset="0"/>
                <a:ea typeface="Courier New" pitchFamily="34" charset="-122"/>
                <a:cs typeface="Courier New" pitchFamily="34" charset="-120"/>
              </a:rPr>
              <a:t>Kısa</a:t>
            </a:r>
            <a:r>
              <a:rPr lang="en-US" sz="1200" dirty="0">
                <a:solidFill>
                  <a:srgbClr val="047857"/>
                </a:solidFill>
                <a:latin typeface="Courier New" pitchFamily="34" charset="0"/>
                <a:ea typeface="Courier New" pitchFamily="34" charset="-122"/>
                <a:cs typeface="Courier New" pitchFamily="34" charset="-120"/>
              </a:rPr>
              <a:t> </a:t>
            </a:r>
            <a:r>
              <a:rPr lang="en-US" sz="1200" dirty="0" err="1">
                <a:solidFill>
                  <a:srgbClr val="047857"/>
                </a:solidFill>
                <a:latin typeface="Courier New" pitchFamily="34" charset="0"/>
                <a:ea typeface="Courier New" pitchFamily="34" charset="-122"/>
                <a:cs typeface="Courier New" pitchFamily="34" charset="-120"/>
              </a:rPr>
              <a:t>tıklama</a:t>
            </a:r>
            <a:r>
              <a:rPr lang="en-US" sz="1200" dirty="0">
                <a:solidFill>
                  <a:srgbClr val="047857"/>
                </a:solidFill>
                <a:latin typeface="Courier New" pitchFamily="34" charset="0"/>
                <a:ea typeface="Courier New" pitchFamily="34" charset="-122"/>
                <a:cs typeface="Courier New" pitchFamily="34" charset="-120"/>
              </a:rPr>
              <a:t>'</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onLongPress={() =&gt; setLog(</a:t>
            </a:r>
            <a:r>
              <a:rPr lang="en-US" sz="1200" dirty="0">
                <a:solidFill>
                  <a:srgbClr val="047857"/>
                </a:solidFill>
                <a:latin typeface="Courier New" pitchFamily="34" charset="0"/>
                <a:ea typeface="Courier New" pitchFamily="34" charset="-122"/>
                <a:cs typeface="Courier New" pitchFamily="34" charset="-120"/>
              </a:rPr>
              <a:t>'</a:t>
            </a:r>
            <a:r>
              <a:rPr lang="en-US" sz="1200" dirty="0" err="1">
                <a:solidFill>
                  <a:srgbClr val="047857"/>
                </a:solidFill>
                <a:latin typeface="Courier New" pitchFamily="34" charset="0"/>
                <a:ea typeface="Courier New" pitchFamily="34" charset="-122"/>
                <a:cs typeface="Courier New" pitchFamily="34" charset="-120"/>
              </a:rPr>
              <a:t>Uzun</a:t>
            </a:r>
            <a:r>
              <a:rPr lang="en-US" sz="1200" dirty="0">
                <a:solidFill>
                  <a:srgbClr val="047857"/>
                </a:solidFill>
                <a:latin typeface="Courier New" pitchFamily="34" charset="0"/>
                <a:ea typeface="Courier New" pitchFamily="34" charset="-122"/>
                <a:cs typeface="Courier New" pitchFamily="34" charset="-120"/>
              </a:rPr>
              <a:t> </a:t>
            </a:r>
            <a:r>
              <a:rPr lang="en-US" sz="1200" dirty="0" err="1">
                <a:solidFill>
                  <a:srgbClr val="047857"/>
                </a:solidFill>
                <a:latin typeface="Courier New" pitchFamily="34" charset="0"/>
                <a:ea typeface="Courier New" pitchFamily="34" charset="-122"/>
                <a:cs typeface="Courier New" pitchFamily="34" charset="-120"/>
              </a:rPr>
              <a:t>tıklama</a:t>
            </a:r>
            <a:r>
              <a:rPr lang="en-US" sz="1200" dirty="0">
                <a:solidFill>
                  <a:srgbClr val="047857"/>
                </a:solidFill>
                <a:latin typeface="Courier New" pitchFamily="34" charset="0"/>
                <a:ea typeface="Courier New" pitchFamily="34" charset="-122"/>
                <a:cs typeface="Courier New" pitchFamily="34" charset="-120"/>
              </a:rPr>
              <a:t>'</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style={({ pressed }) =&gt;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opacity: pressed ? </a:t>
            </a:r>
            <a:r>
              <a:rPr lang="en-US" sz="1200" dirty="0">
                <a:solidFill>
                  <a:srgbClr val="B45309"/>
                </a:solidFill>
                <a:latin typeface="Courier New" pitchFamily="34" charset="0"/>
                <a:ea typeface="Courier New" pitchFamily="34" charset="-122"/>
                <a:cs typeface="Courier New" pitchFamily="34" charset="-120"/>
              </a:rPr>
              <a:t>0.5</a:t>
            </a:r>
            <a:r>
              <a:rPr lang="en-US" sz="1200" dirty="0">
                <a:solidFill>
                  <a:srgbClr val="111827"/>
                </a:solidFill>
                <a:latin typeface="Courier New" pitchFamily="34" charset="0"/>
                <a:ea typeface="Courier New" pitchFamily="34" charset="-122"/>
                <a:cs typeface="Courier New" pitchFamily="34" charset="-120"/>
              </a:rPr>
              <a:t> : </a:t>
            </a:r>
            <a:r>
              <a:rPr lang="en-US" sz="1200" dirty="0">
                <a:solidFill>
                  <a:srgbClr val="B45309"/>
                </a:solidFill>
                <a:latin typeface="Courier New" pitchFamily="34" charset="0"/>
                <a:ea typeface="Courier New" pitchFamily="34" charset="-122"/>
                <a:cs typeface="Courier New" pitchFamily="34" charset="-120"/>
              </a:rPr>
              <a:t>1</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&lt;Text&gt;{log}&lt;/Text&gt;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&lt;/Pressable&gt;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731520" y="5477256"/>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605272"/>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Kısa ve </a:t>
            </a:r>
            <a:r>
              <a:rPr lang="en-US" sz="1500" dirty="0" err="1">
                <a:solidFill>
                  <a:srgbClr val="111827"/>
                </a:solidFill>
                <a:latin typeface="Arial" pitchFamily="34" charset="0"/>
                <a:ea typeface="Arial" pitchFamily="34" charset="-122"/>
                <a:cs typeface="Arial" pitchFamily="34" charset="-120"/>
              </a:rPr>
              <a:t>uzun</a:t>
            </a:r>
            <a:r>
              <a:rPr lang="en-US" sz="1500" dirty="0">
                <a:solidFill>
                  <a:srgbClr val="111827"/>
                </a:solidFill>
                <a:latin typeface="Arial" pitchFamily="34" charset="0"/>
                <a:ea typeface="Arial" pitchFamily="34" charset="-122"/>
                <a:cs typeface="Arial" pitchFamily="34" charset="-120"/>
              </a:rPr>
              <a:t> </a:t>
            </a:r>
            <a:r>
              <a:rPr lang="en-US" sz="1500" dirty="0" err="1">
                <a:solidFill>
                  <a:srgbClr val="111827"/>
                </a:solidFill>
                <a:latin typeface="Arial" pitchFamily="34" charset="0"/>
                <a:ea typeface="Arial" pitchFamily="34" charset="-122"/>
                <a:cs typeface="Arial" pitchFamily="34" charset="-120"/>
              </a:rPr>
              <a:t>tıklama</a:t>
            </a:r>
            <a:r>
              <a:rPr lang="en-US" sz="1500" dirty="0">
                <a:solidFill>
                  <a:srgbClr val="111827"/>
                </a:solidFill>
                <a:latin typeface="Arial" pitchFamily="34" charset="0"/>
                <a:ea typeface="Arial" pitchFamily="34" charset="-122"/>
                <a:cs typeface="Arial" pitchFamily="34" charset="-120"/>
              </a:rPr>
              <a:t> yazılır; basılıyken düğme soluklaşır.</a:t>
            </a:r>
            <a:endParaRPr lang="en-US" sz="1100" dirty="0"/>
          </a:p>
        </p:txBody>
      </p:sp>
      <p:sp>
        <p:nvSpPr>
          <p:cNvPr id="9" name="Text 7"/>
          <p:cNvSpPr txBox="1"/>
          <p:nvPr/>
        </p:nvSpPr>
        <p:spPr>
          <a:xfrm>
            <a:off x="7772400" y="1645920"/>
            <a:ext cx="3931920" cy="427939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Pressable'ın olaylarını state'e bağlamak ve basılı durumun stilini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onPress kısa dokunuşta, onLongPress uzun basışta çalışır. style özelliği bir fonksiyon da olabilir; bu fonksiyon pressed değerini alır ve basılı tutulurken farklı görünüm üretir. Her iki olay da state'i günceller ve Text yeniden çizilir.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Dokunma için onPress kullanılır. Metin girişi, doğrulama ve klavye yönetimi 9. haftada TextInput ile işlenecek.</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İşleyici Yazma Biçimleri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891333"/>
          </a:xfrm>
          <a:prstGeom prst="roundRect">
            <a:avLst>
              <a:gd name="adj" fmla="val 3163"/>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342693"/>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Like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[liked, setLiked] = useState(</a:t>
            </a:r>
            <a:r>
              <a:rPr lang="en-US" sz="1600" b="1" dirty="0">
                <a:solidFill>
                  <a:srgbClr val="2563EB"/>
                </a:solidFill>
                <a:latin typeface="Courier New" pitchFamily="34" charset="0"/>
                <a:ea typeface="Courier New" pitchFamily="34" charset="-122"/>
                <a:cs typeface="Courier New" pitchFamily="34" charset="-120"/>
              </a:rPr>
              <a:t>false</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toggle = () =&gt; setLiked(!liked);</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 onPress={toggle}&gt;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&lt;Text&gt;{liked ? </a:t>
            </a:r>
            <a:r>
              <a:rPr lang="en-US" sz="1600" dirty="0">
                <a:solidFill>
                  <a:srgbClr val="047857"/>
                </a:solidFill>
                <a:latin typeface="Courier New" pitchFamily="34" charset="0"/>
                <a:ea typeface="Courier New" pitchFamily="34" charset="-122"/>
                <a:cs typeface="Courier New" pitchFamily="34" charset="-120"/>
              </a:rPr>
              <a:t>'Beğenildi'</a:t>
            </a:r>
            <a:r>
              <a:rPr lang="en-US" sz="1600" dirty="0">
                <a:solidFill>
                  <a:srgbClr val="111827"/>
                </a:solidFill>
                <a:latin typeface="Courier New" pitchFamily="34" charset="0"/>
                <a:ea typeface="Courier New" pitchFamily="34" charset="-122"/>
                <a:cs typeface="Courier New" pitchFamily="34" charset="-120"/>
              </a:rPr>
              <a:t> : </a:t>
            </a:r>
            <a:r>
              <a:rPr lang="en-US" sz="1600" dirty="0">
                <a:solidFill>
                  <a:srgbClr val="047857"/>
                </a:solidFill>
                <a:latin typeface="Courier New" pitchFamily="34" charset="0"/>
                <a:ea typeface="Courier New" pitchFamily="34" charset="-122"/>
                <a:cs typeface="Courier New" pitchFamily="34" charset="-120"/>
              </a:rPr>
              <a:t>'Beğen'</a:t>
            </a:r>
            <a:r>
              <a:rPr lang="en-US" sz="1600" dirty="0">
                <a:solidFill>
                  <a:srgbClr val="111827"/>
                </a:solidFill>
                <a:latin typeface="Courier New" pitchFamily="34" charset="0"/>
                <a:ea typeface="Courier New" pitchFamily="34" charset="-122"/>
                <a:cs typeface="Courier New" pitchFamily="34" charset="-120"/>
              </a:rPr>
              <a:t>}&lt;/Text&gt;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674413"/>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802429"/>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Yazı her dokunuşta "Beğen" ve "Beğenildi" arasında geçiş yapar.</a:t>
            </a:r>
            <a:endParaRPr lang="en-US" sz="1100" dirty="0"/>
          </a:p>
        </p:txBody>
      </p:sp>
      <p:sp>
        <p:nvSpPr>
          <p:cNvPr id="9" name="Text 7"/>
          <p:cNvSpPr txBox="1"/>
          <p:nvPr/>
        </p:nvSpPr>
        <p:spPr>
          <a:xfrm>
            <a:off x="7772400" y="1645920"/>
            <a:ext cx="3931920" cy="3014472"/>
          </a:xfrm>
          <a:prstGeom prst="rect">
            <a:avLst/>
          </a:prstGeom>
          <a:noFill/>
          <a:ln/>
        </p:spPr>
        <p:txBody>
          <a:bodyPr wrap="square" lIns="0" tIns="0" rIns="0" bIns="0" rtlCol="0" anchor="t"/>
          <a:lstStyle/>
          <a:p>
            <a:pPr marL="0" indent="0" algn="l">
              <a:spcAft>
                <a:spcPts val="800"/>
              </a:spcAft>
              <a:buNone/>
            </a:pPr>
            <a:r>
              <a:rPr lang="en-US" sz="1700" dirty="0">
                <a:solidFill>
                  <a:srgbClr val="111827"/>
                </a:solidFill>
                <a:latin typeface="Arial" pitchFamily="34" charset="0"/>
                <a:ea typeface="Arial" pitchFamily="34" charset="-122"/>
                <a:cs typeface="Arial" pitchFamily="34" charset="-120"/>
              </a:rPr>
              <a:t>Amaç, olay işleyicisini satır içi veya adlandırılmış olarak yazmayı ayırt etmektir.</a:t>
            </a:r>
            <a:endParaRPr lang="en-US" sz="1700" dirty="0"/>
          </a:p>
          <a:p>
            <a:pPr marL="0" indent="0" algn="l">
              <a:spcAft>
                <a:spcPts val="800"/>
              </a:spcAft>
              <a:buNone/>
            </a:pPr>
            <a:r>
              <a:rPr lang="en-US" sz="1700" b="1" dirty="0">
                <a:solidFill>
                  <a:srgbClr val="2563EB"/>
                </a:solidFill>
                <a:latin typeface="Arial" pitchFamily="34" charset="0"/>
                <a:ea typeface="Arial" pitchFamily="34" charset="-122"/>
                <a:cs typeface="Arial" pitchFamily="34" charset="-120"/>
              </a:rPr>
              <a:t>Kod mantığı: </a:t>
            </a:r>
            <a:r>
              <a:rPr lang="en-US" sz="1700" dirty="0">
                <a:solidFill>
                  <a:srgbClr val="111827"/>
                </a:solidFill>
                <a:latin typeface="Arial" pitchFamily="34" charset="0"/>
                <a:ea typeface="Arial" pitchFamily="34" charset="-122"/>
                <a:cs typeface="Arial" pitchFamily="34" charset="-120"/>
              </a:rPr>
              <a:t>Küçük ve tek satırlık işler için ok fonksiyonu doğrudan özelliğe yazılabilir; birkaç satırı olan veya birden fazla yerde kullanılan işler adlandırılmış fonksiyona alınır. toggle burada olayı state değişimine çevirir; ekranda ne olacağı koşullu ifadeyle seçilir.</a:t>
            </a:r>
            <a:endParaRPr lang="en-US" sz="1700" dirty="0"/>
          </a:p>
        </p:txBody>
      </p:sp>
      <p:sp>
        <p:nvSpPr>
          <p:cNvPr id="10" name="Shape 8"/>
          <p:cNvSpPr/>
          <p:nvPr/>
        </p:nvSpPr>
        <p:spPr>
          <a:xfrm>
            <a:off x="7772400" y="479755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925568"/>
            <a:ext cx="3529584" cy="112776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onPress={toggle()} yazmak; fonksiyon çizim sırasında çalışır ve sonsuz döngüye yol açar. Doğrusu onPress={toggle} veya onPress={() =&gt; toggle()} biçimidir.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İşleyiciye Parametre Geçirmek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401214"/>
          </a:xfrm>
          <a:prstGeom prst="roundRect">
            <a:avLst>
              <a:gd name="adj" fmla="val 380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185257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items = [</a:t>
            </a:r>
            <a:r>
              <a:rPr lang="en-US" sz="1600" dirty="0">
                <a:solidFill>
                  <a:srgbClr val="047857"/>
                </a:solidFill>
                <a:latin typeface="Courier New" pitchFamily="34" charset="0"/>
                <a:ea typeface="Courier New" pitchFamily="34" charset="-122"/>
                <a:cs typeface="Courier New" pitchFamily="34" charset="-120"/>
              </a:rPr>
              <a:t>'Süt'</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'Ekmek'</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remove = (n: string) =&gt; console.log(n);</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list = items.map((n)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 key={n} onPress={() =&gt; remove(n)}&gt;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&lt;Text&gt;{n}&lt;/Text&gt;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18429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31231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Her öğeye basıldığında konsola o öğenin adı yazılır.</a:t>
            </a:r>
            <a:endParaRPr lang="en-US" sz="1100" dirty="0"/>
          </a:p>
        </p:txBody>
      </p:sp>
      <p:sp>
        <p:nvSpPr>
          <p:cNvPr id="9" name="Text 7"/>
          <p:cNvSpPr txBox="1"/>
          <p:nvPr/>
        </p:nvSpPr>
        <p:spPr>
          <a:xfrm>
            <a:off x="7772400" y="1645920"/>
            <a:ext cx="3931920" cy="290779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liste öğesine özel işlem yaptırmak için işleyiciye değer taşımaktır.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Hangi öğeye basıldığını bilmek için işleyiciyi bir ok fonksiyonuyla sarar ve içeriden remove(n) çağırırız. Böylece her öğenin kendi adı kapanıma (closure) alınır. key özelliği React'in öğeleri ayırt etmesini sağlar.</a:t>
            </a:r>
            <a:endParaRPr lang="en-US" sz="1800" dirty="0"/>
          </a:p>
        </p:txBody>
      </p:sp>
      <p:sp>
        <p:nvSpPr>
          <p:cNvPr id="10" name="Shape 8"/>
          <p:cNvSpPr/>
          <p:nvPr/>
        </p:nvSpPr>
        <p:spPr>
          <a:xfrm>
            <a:off x="7772400" y="469087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81888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Dizi dönüştürürken her öğeye benzersiz bir key vermek gerekir; yoksa React uyarı verir. Uzun listelerin doğru çizimi 11. haftada FlatList ile ele alınacak.</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3</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Değişmezlik</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Kopyalayarak güncellemek</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State'i Doğrudan Değiştirme Hatası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626510"/>
          </a:xfrm>
          <a:prstGeom prst="roundRect">
            <a:avLst>
              <a:gd name="adj" fmla="val 252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3077870"/>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Bad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[list, setList] = useState&lt;string[]&gt;([]);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add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list.push(</a:t>
            </a:r>
            <a:r>
              <a:rPr lang="en-US" sz="1600" dirty="0">
                <a:solidFill>
                  <a:srgbClr val="047857"/>
                </a:solidFill>
                <a:latin typeface="Courier New" pitchFamily="34" charset="0"/>
                <a:ea typeface="Courier New" pitchFamily="34" charset="-122"/>
                <a:cs typeface="Courier New" pitchFamily="34" charset="-120"/>
              </a:rPr>
              <a:t>'Yeni'</a:t>
            </a: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YANLIŞ</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setList(list);       </a:t>
            </a:r>
            <a:r>
              <a:rPr lang="en-US" sz="1600" i="1" dirty="0">
                <a:solidFill>
                  <a:srgbClr val="6B7280"/>
                </a:solidFill>
                <a:latin typeface="Courier New" pitchFamily="34" charset="0"/>
                <a:ea typeface="Courier New" pitchFamily="34" charset="-122"/>
                <a:cs typeface="Courier New" pitchFamily="34" charset="-120"/>
              </a:rPr>
              <a:t>// aynı dizi: çizim yok</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 onPress={add}&gt;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&lt;Text&gt;Ekle&lt;/Text&gt;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5409590"/>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537606"/>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Düğmeye basılır ama ekranda hiçbir şey olmaz; hata mesajı da yoktur.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bir hatanın sessiz biçimde nasıl oluştuğunu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push, mevcut diziyi yerinde değiştirir. setList'e aynı diziyi verdiğimizde React referansın aynı olduğunu görür ve state'in değişmediğini düşünerek yeniden çizmez. Veri değişmiş olsa bile ekran güncellenmez.</a:t>
            </a:r>
            <a:endParaRPr lang="en-US" sz="1800" dirty="0"/>
          </a:p>
        </p:txBody>
      </p:sp>
      <p:sp>
        <p:nvSpPr>
          <p:cNvPr id="10" name="Shape 8"/>
          <p:cNvSpPr/>
          <p:nvPr/>
        </p:nvSpPr>
        <p:spPr>
          <a:xfrm>
            <a:off x="7772400" y="441655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544568"/>
            <a:ext cx="3529584" cy="91440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Dizilerde push, splice, sort; nesnelerde doğrudan alan ataması yaparak state'i değiştirmek.</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Neden Yeniden Çizilmedi?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2551176"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setList(aynı dizi)</a:t>
            </a:r>
            <a:endParaRPr lang="en-US" sz="1200" dirty="0"/>
          </a:p>
        </p:txBody>
      </p:sp>
      <p:sp>
        <p:nvSpPr>
          <p:cNvPr id="6" name="Text 4"/>
          <p:cNvSpPr txBox="1"/>
          <p:nvPr/>
        </p:nvSpPr>
        <p:spPr>
          <a:xfrm>
            <a:off x="3282696"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3538728" y="1645920"/>
            <a:ext cx="2551176"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675888"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React referansı karşılaştırır</a:t>
            </a:r>
            <a:endParaRPr lang="en-US" sz="1200" dirty="0"/>
          </a:p>
        </p:txBody>
      </p:sp>
      <p:sp>
        <p:nvSpPr>
          <p:cNvPr id="9" name="Text 7"/>
          <p:cNvSpPr txBox="1"/>
          <p:nvPr/>
        </p:nvSpPr>
        <p:spPr>
          <a:xfrm>
            <a:off x="608990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6345936" y="1645920"/>
            <a:ext cx="2551176"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6483096"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600" b="1" dirty="0">
                <a:solidFill>
                  <a:srgbClr val="111827"/>
                </a:solidFill>
                <a:latin typeface="Arial" pitchFamily="34" charset="0"/>
                <a:ea typeface="Arial" pitchFamily="34" charset="-122"/>
                <a:cs typeface="Arial" pitchFamily="34" charset="-120"/>
              </a:rPr>
              <a:t>Aynı</a:t>
            </a:r>
            <a:endParaRPr lang="en-US" sz="1200" dirty="0"/>
          </a:p>
        </p:txBody>
      </p:sp>
      <p:sp>
        <p:nvSpPr>
          <p:cNvPr id="12" name="Text 10"/>
          <p:cNvSpPr txBox="1"/>
          <p:nvPr/>
        </p:nvSpPr>
        <p:spPr>
          <a:xfrm>
            <a:off x="8897112"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9153144" y="1645920"/>
            <a:ext cx="2551176" cy="1051560"/>
          </a:xfrm>
          <a:prstGeom prst="roundRect">
            <a:avLst>
              <a:gd name="adj" fmla="val 8696"/>
            </a:avLst>
          </a:prstGeom>
          <a:solidFill>
            <a:srgbClr val="2563EB"/>
          </a:solidFill>
          <a:ln w="9525">
            <a:solidFill>
              <a:srgbClr val="2563EB"/>
            </a:solidFill>
            <a:prstDash val="solid"/>
          </a:ln>
        </p:spPr>
      </p:sp>
      <p:sp>
        <p:nvSpPr>
          <p:cNvPr id="14" name="Text 12"/>
          <p:cNvSpPr txBox="1"/>
          <p:nvPr/>
        </p:nvSpPr>
        <p:spPr>
          <a:xfrm>
            <a:off x="9290304" y="1737360"/>
            <a:ext cx="2276856"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4</a:t>
            </a:r>
            <a:endParaRPr lang="en-US" sz="1200" dirty="0"/>
          </a:p>
          <a:p>
            <a:pPr marL="0" indent="0" algn="l">
              <a:buNone/>
            </a:pPr>
            <a:r>
              <a:rPr lang="en-US" sz="1600" b="1" dirty="0">
                <a:solidFill>
                  <a:srgbClr val="FFFFFF"/>
                </a:solidFill>
                <a:latin typeface="Arial" pitchFamily="34" charset="0"/>
                <a:ea typeface="Arial" pitchFamily="34" charset="-122"/>
                <a:cs typeface="Arial" pitchFamily="34" charset="-120"/>
              </a:rPr>
              <a:t>Yeniden çizim yok</a:t>
            </a:r>
            <a:endParaRPr lang="en-US" sz="1200" dirty="0"/>
          </a:p>
        </p:txBody>
      </p:sp>
      <p:sp>
        <p:nvSpPr>
          <p:cNvPr id="15" name="Text 13"/>
          <p:cNvSpPr txBox="1"/>
          <p:nvPr/>
        </p:nvSpPr>
        <p:spPr>
          <a:xfrm>
            <a:off x="731520" y="3017520"/>
            <a:ext cx="6766560" cy="32918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React, state'in değişip değişmediğini içeriğine değil referansına bakarak anlar. Yeni bir dizi veya nesne verdiğinizde referans farklıdır ve React çizimi tetikler. Bu yüzden state'i güncellemek için yerinde değiştirmek yerine değiştirilmiş bir kopya oluşturmak gerekir. Bu ilkeye değişmezlik (immutability) denir ve hem hataları azaltır hem de değişikliklerin takibini kolaylaştırır.</a:t>
            </a:r>
            <a:endParaRPr lang="en-US" sz="2200" dirty="0"/>
          </a:p>
        </p:txBody>
      </p:sp>
      <p:sp>
        <p:nvSpPr>
          <p:cNvPr id="16" name="Shape 14"/>
          <p:cNvSpPr/>
          <p:nvPr/>
        </p:nvSpPr>
        <p:spPr>
          <a:xfrm>
            <a:off x="7863840" y="3017520"/>
            <a:ext cx="3657600" cy="1170432"/>
          </a:xfrm>
          <a:prstGeom prst="roundRect">
            <a:avLst>
              <a:gd name="adj" fmla="val 7813"/>
            </a:avLst>
          </a:prstGeom>
          <a:solidFill>
            <a:srgbClr val="EFF6FF"/>
          </a:solidFill>
          <a:ln w="9525">
            <a:solidFill>
              <a:srgbClr val="EFF6FF"/>
            </a:solidFill>
            <a:prstDash val="solid"/>
          </a:ln>
        </p:spPr>
      </p:sp>
      <p:sp>
        <p:nvSpPr>
          <p:cNvPr id="17" name="Text 15"/>
          <p:cNvSpPr txBox="1"/>
          <p:nvPr/>
        </p:nvSpPr>
        <p:spPr>
          <a:xfrm>
            <a:off x="8065008" y="3145536"/>
            <a:ext cx="325526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Primitive değerlerde (sayı, metin, boolean) bu sorun yaşanmaz; sorun yalnızca dizi ve nesnelerde ortaya çıkar.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Nesne State'ini Güncellemek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136392"/>
          </a:xfrm>
          <a:prstGeom prst="roundRect">
            <a:avLst>
              <a:gd name="adj" fmla="val 291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587752"/>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init = { name: </a:t>
            </a:r>
            <a:r>
              <a:rPr lang="en-US" sz="1600" dirty="0">
                <a:solidFill>
                  <a:srgbClr val="047857"/>
                </a:solidFill>
                <a:latin typeface="Courier New" pitchFamily="34" charset="0"/>
                <a:ea typeface="Courier New" pitchFamily="34" charset="-122"/>
                <a:cs typeface="Courier New" pitchFamily="34" charset="-120"/>
              </a:rPr>
              <a:t>‘</a:t>
            </a:r>
            <a:r>
              <a:rPr lang="en-US" sz="1600" dirty="0" err="1">
                <a:solidFill>
                  <a:srgbClr val="047857"/>
                </a:solidFill>
                <a:latin typeface="Courier New" pitchFamily="34" charset="0"/>
                <a:ea typeface="Courier New" pitchFamily="34" charset="-122"/>
                <a:cs typeface="Courier New" pitchFamily="34" charset="-120"/>
              </a:rPr>
              <a:t>Emine</a:t>
            </a:r>
            <a:r>
              <a:rPr lang="en-US" sz="1600" dirty="0">
                <a:solidFill>
                  <a:srgbClr val="047857"/>
                </a:solidFill>
                <a:latin typeface="Courier New" pitchFamily="34" charset="0"/>
                <a:ea typeface="Courier New" pitchFamily="34" charset="-122"/>
                <a:cs typeface="Courier New" pitchFamily="34" charset="-120"/>
              </a:rPr>
              <a:t>'</a:t>
            </a:r>
            <a:r>
              <a:rPr lang="en-US" sz="1600" dirty="0">
                <a:solidFill>
                  <a:srgbClr val="111827"/>
                </a:solidFill>
                <a:latin typeface="Courier New" pitchFamily="34" charset="0"/>
                <a:ea typeface="Courier New" pitchFamily="34" charset="-122"/>
                <a:cs typeface="Courier New" pitchFamily="34" charset="-120"/>
              </a:rPr>
              <a:t>, city: </a:t>
            </a:r>
            <a:r>
              <a:rPr lang="en-US" sz="1600" dirty="0">
                <a:solidFill>
                  <a:srgbClr val="047857"/>
                </a:solidFill>
                <a:latin typeface="Courier New" pitchFamily="34" charset="0"/>
                <a:ea typeface="Courier New" pitchFamily="34" charset="-122"/>
                <a:cs typeface="Courier New" pitchFamily="34" charset="-120"/>
              </a:rPr>
              <a:t>‘Eskisehir'</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Form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[p, setP] = useState(init);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go = () =&gt; setP({ ...p, city: </a:t>
            </a:r>
            <a:r>
              <a:rPr lang="en-US" sz="1600" dirty="0">
                <a:solidFill>
                  <a:srgbClr val="047857"/>
                </a:solidFill>
                <a:latin typeface="Courier New" pitchFamily="34" charset="0"/>
                <a:ea typeface="Courier New" pitchFamily="34" charset="-122"/>
                <a:cs typeface="Courier New" pitchFamily="34" charset="-120"/>
              </a:rPr>
              <a:t>'Ankara'</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 onPress={go}&gt;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&lt;Text&gt;{p.name}, {p.city}&lt;/Text&gt;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&lt;/Pressable&gt;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919472"/>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047488"/>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Dokununca "</a:t>
            </a:r>
            <a:r>
              <a:rPr lang="en-US" sz="1500" dirty="0" err="1">
                <a:solidFill>
                  <a:srgbClr val="111827"/>
                </a:solidFill>
                <a:latin typeface="Arial" pitchFamily="34" charset="0"/>
                <a:ea typeface="Arial" pitchFamily="34" charset="-122"/>
                <a:cs typeface="Arial" pitchFamily="34" charset="-120"/>
              </a:rPr>
              <a:t>Emine</a:t>
            </a:r>
            <a:r>
              <a:rPr lang="en-US" sz="1500" dirty="0">
                <a:solidFill>
                  <a:srgbClr val="111827"/>
                </a:solidFill>
                <a:latin typeface="Arial" pitchFamily="34" charset="0"/>
                <a:ea typeface="Arial" pitchFamily="34" charset="-122"/>
                <a:cs typeface="Arial" pitchFamily="34" charset="-120"/>
              </a:rPr>
              <a:t>, İzmir" yazısı "</a:t>
            </a:r>
            <a:r>
              <a:rPr lang="en-US" sz="1500" dirty="0" err="1">
                <a:solidFill>
                  <a:srgbClr val="111827"/>
                </a:solidFill>
                <a:latin typeface="Arial" pitchFamily="34" charset="0"/>
                <a:ea typeface="Arial" pitchFamily="34" charset="-122"/>
                <a:cs typeface="Arial" pitchFamily="34" charset="-120"/>
              </a:rPr>
              <a:t>Emine</a:t>
            </a:r>
            <a:r>
              <a:rPr lang="en-US" sz="1500" dirty="0">
                <a:solidFill>
                  <a:srgbClr val="111827"/>
                </a:solidFill>
                <a:latin typeface="Arial" pitchFamily="34" charset="0"/>
                <a:ea typeface="Arial" pitchFamily="34" charset="-122"/>
                <a:cs typeface="Arial" pitchFamily="34" charset="-120"/>
              </a:rPr>
              <a:t>, Ankara" olur; name değeri değişmeden kalır.</a:t>
            </a:r>
            <a:endParaRPr lang="en-US" sz="1100" dirty="0"/>
          </a:p>
        </p:txBody>
      </p:sp>
      <p:sp>
        <p:nvSpPr>
          <p:cNvPr id="9" name="Text 7"/>
          <p:cNvSpPr txBox="1"/>
          <p:nvPr/>
        </p:nvSpPr>
        <p:spPr>
          <a:xfrm>
            <a:off x="7772400" y="1645920"/>
            <a:ext cx="3931920" cy="427939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nesnenin yalnızca bir alanını değiştirip yeni nesne oluşturmaktır.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Spread söz dizimi (2. hafta) burada kullanılır: ...p mevcut alanları kopyalar, sonradan yazılan city alanı eskisinin üzerine yazar. Böylece name korunur ve ortaya yepyeni bir nesne çıkar. Nesnenin tipi başlangıç değerinden çıkarılır.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İlgisiz alanları ayrı useState'lere ayırın; birlikte değişen alanları tek nesnede tutun ve spread ile güncelleyin.</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Dizi State'i: Ekleme ve Silme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646274"/>
          </a:xfrm>
          <a:prstGeom prst="roundRect">
            <a:avLst>
              <a:gd name="adj" fmla="val 345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09763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Shop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[list, setList] = useState&lt;string[]&gt;([]);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add = (name: string)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setList([...list, name]);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remove = (name: string)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setList(list.filter((i) =&gt; i !== name));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&lt;Text&gt;{list.length} öğe&lt;/Text&gt;;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429354"/>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4557370"/>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Ekleme sonrası liste yeni elemanla, silme sonrası ilgili eleman olmadan çizilir.</a:t>
            </a:r>
            <a:endParaRPr lang="en-US" sz="1100" dirty="0"/>
          </a:p>
        </p:txBody>
      </p:sp>
      <p:sp>
        <p:nvSpPr>
          <p:cNvPr id="9" name="Text 7"/>
          <p:cNvSpPr txBox="1"/>
          <p:nvPr/>
        </p:nvSpPr>
        <p:spPr>
          <a:xfrm>
            <a:off x="7772400" y="1645920"/>
            <a:ext cx="3931920" cy="427939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diziye eleman eklemeyi ve çıkarmayı yeni dizi üreterek yapmaktır.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Ekleme için mevcut elemanları spread ile açıp yenisini sona yazarız. Silme için filter, belirtilen elemanı dışarıda bırakan yeni bir dizi üretir. İkisi de orijinal diziyi bozmadığı için React değişikliği algılar.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Ekleme için spread, silme için filter, değiştirme için map kullanılır; push, splice ve sort gibi yerinde değiştiren yöntemler state'te kullanılmaz.</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Dizi State'i: Elemanı Güncellemek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381451"/>
          </a:xfrm>
          <a:prstGeom prst="roundRect">
            <a:avLst>
              <a:gd name="adj" fmla="val 2704"/>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832811"/>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interface Todo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id: number;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done: boolean;</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List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[todos, setTodos] = useState&lt;Todo[]&gt;([]);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toggle = (id: number)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setTodos(todos.map((t)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t.id === id ? { ...t, done: !t.done } : 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&lt;Text&gt;{todos.length} görev&lt;/Text&gt;;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5164531"/>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292547"/>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İlgili görevin done değeri değişir ve ekranda o görev tamamlandı olarak çizilir.</a:t>
            </a:r>
            <a:endParaRPr lang="en-US" sz="1100" dirty="0"/>
          </a:p>
        </p:txBody>
      </p:sp>
      <p:sp>
        <p:nvSpPr>
          <p:cNvPr id="9" name="Text 7"/>
          <p:cNvSpPr txBox="1"/>
          <p:nvPr/>
        </p:nvSpPr>
        <p:spPr>
          <a:xfrm>
            <a:off x="7772400" y="1645920"/>
            <a:ext cx="3931920" cy="290779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dizideki bir nesnenin tek alanını değiştirip diziyi yeniden üretmektir.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map tüm elemanları dolaşır; id eşleşiyorsa o nesnenin kopyasını done alanı tersine çevrilmiş olarak döndürür, eşleşmiyorsa eskisini aynen bırakır. Sonuç yeni bir dizi olduğu için React değişikliği fark eder.</a:t>
            </a:r>
            <a:endParaRPr lang="en-US" sz="1800" dirty="0"/>
          </a:p>
        </p:txBody>
      </p:sp>
      <p:sp>
        <p:nvSpPr>
          <p:cNvPr id="10" name="Shape 8"/>
          <p:cNvSpPr/>
          <p:nvPr/>
        </p:nvSpPr>
        <p:spPr>
          <a:xfrm>
            <a:off x="7772400" y="469087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81888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Dizide indeks yerine kalıcı bir id kullanmak, silme ve sıralama sonrası yanlış elemanın güncellenmesi riskini ortadan kaldırır.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Fonksiyonel Güncelleme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626510"/>
          </a:xfrm>
          <a:prstGeom prst="roundRect">
            <a:avLst>
              <a:gd name="adj" fmla="val 252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3077870"/>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Demo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[count, setCount] = useState(</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wrong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setCount(count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setCount(count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toplam +1</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right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setCount((p) =&gt; p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setCount((p) =&gt; p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toplam +2</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&lt;Text onPress={right}&gt;{count}&lt;/Text&gt;;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5409590"/>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537606"/>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wrong sayıyı yalnızca bir artırır; right iki artırır.</a:t>
            </a:r>
            <a:endParaRPr lang="en-US" sz="1100" dirty="0"/>
          </a:p>
        </p:txBody>
      </p:sp>
      <p:sp>
        <p:nvSpPr>
          <p:cNvPr id="9" name="Text 7"/>
          <p:cNvSpPr txBox="1"/>
          <p:nvPr/>
        </p:nvSpPr>
        <p:spPr>
          <a:xfrm>
            <a:off x="7772400" y="1645920"/>
            <a:ext cx="3931920" cy="40050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state'in en güncel değerine göre güvenle güncelleme yapmaktır.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count, o çizimin değeridir ve iki satırda da aynıdır; bu yüzden iki çağrı da aynı yeni değeri yazar. p kullanan biçimde ise her güncelleme bir öncekinin sonucundan başlar. React güncellemeleri toplu işlediği için ikinci biçim doğru sonucu verir.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Yeni değer eski değere bağlıysa fonksiyonel güncelleme, yeni değer bağımsızsa doğrudan değer kullanılır.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Koşullu Gösterim ve 0 Tuzağı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401214"/>
          </a:xfrm>
          <a:prstGeom prst="roundRect">
            <a:avLst>
              <a:gd name="adj" fmla="val 380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185257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Cart = ({ count }: { count: number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{count &gt;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 &amp;&amp; &lt;Text&gt;{count} ürün&lt;/Text&gt;}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{count ===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 ? &lt;Text&gt;Sepet boş&lt;/Text&gt; : </a:t>
            </a:r>
            <a:r>
              <a:rPr lang="en-US" sz="1600" b="1" dirty="0">
                <a:solidFill>
                  <a:srgbClr val="2563EB"/>
                </a:solidFill>
                <a:latin typeface="Courier New" pitchFamily="34" charset="0"/>
                <a:ea typeface="Courier New" pitchFamily="34" charset="-122"/>
                <a:cs typeface="Courier New" pitchFamily="34" charset="-120"/>
              </a:rPr>
              <a:t>null</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 count &amp;&amp; ... : HATA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18429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31231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Sepet boşken "Sepet boş", doluyken ürün adedi görünür.</a:t>
            </a:r>
            <a:endParaRPr lang="en-US" sz="1100" dirty="0"/>
          </a:p>
        </p:txBody>
      </p:sp>
      <p:sp>
        <p:nvSpPr>
          <p:cNvPr id="9" name="Text 7"/>
          <p:cNvSpPr txBox="1"/>
          <p:nvPr/>
        </p:nvSpPr>
        <p:spPr>
          <a:xfrm>
            <a:off x="7772400" y="1645920"/>
            <a:ext cx="3931920" cy="290779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duruma göre farklı arayüz göstermek ve yaygın bir tuzaktan kaçınmaktır.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JSX içinde if yazılamaz; bunun yerine &amp;&amp; veya üçlü operatör kullanılır. Koşul bir boolean olmalıdır: count &gt; 0 gibi. Sayının kendisini koşul yaparsanız 0 değeri false sayılsa da &amp;&amp; ifadesi 0'ı döndürür.</a:t>
            </a:r>
            <a:endParaRPr lang="en-US" sz="1800" dirty="0"/>
          </a:p>
        </p:txBody>
      </p:sp>
      <p:sp>
        <p:nvSpPr>
          <p:cNvPr id="10" name="Shape 8"/>
          <p:cNvSpPr/>
          <p:nvPr/>
        </p:nvSpPr>
        <p:spPr>
          <a:xfrm>
            <a:off x="7772400" y="469087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818888"/>
            <a:ext cx="3529584" cy="91440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{count &amp;&amp; &lt;Text&gt;...&lt;/Text&gt;} yazmak; count 0 olduğunda React Native 0'ı Text dışında çizmeye çalışır ve uygulama çöker.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Türetilmiş Değer: State'te Tutma</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136392"/>
          </a:xfrm>
          <a:prstGeom prst="roundRect">
            <a:avLst>
              <a:gd name="adj" fmla="val 291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587752"/>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interface Item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price: number;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qty: number;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Total = ({ items }: { items: Item[]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total = items.reduce(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(sum, i) =&gt; sum + i.price * i.qty,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&lt;Text&gt;Toplam: {total}&lt;/Text&gt;;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919472"/>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5047488"/>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Ürünler değiştikçe toplam her çizimde yeniden hesaplanır ve doğru görünür.</a:t>
            </a:r>
            <a:endParaRPr lang="en-US" sz="1100" dirty="0"/>
          </a:p>
        </p:txBody>
      </p:sp>
      <p:sp>
        <p:nvSpPr>
          <p:cNvPr id="9" name="Text 7"/>
          <p:cNvSpPr txBox="1"/>
          <p:nvPr/>
        </p:nvSpPr>
        <p:spPr>
          <a:xfrm>
            <a:off x="7772400" y="1645920"/>
            <a:ext cx="3931920" cy="37307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hesaplanabilen değeri ayrı state yapmak yerine her çizimde hesaplamaktır.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Toplam, items'tan her zaman hesaplanabilir; bunu ayrı bir state yaparsanız iki değeri senkron tutmak zorunda kalırsınız ve biri unutulursa tutarsızlık oluşur. 2. haftadaki reduce burada kullanılır.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Başka bir state veya props'tan hesaplanabilen her değeri state yapmayın; yalnızca gerçekten bağımsız bilgiyi state'te tutun.</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4</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State'i Yukarı Taşımak</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Bileşenler arasında veri paylaşımı</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Kardeş Bileşenler Veri Paylaşamaz</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Bir bileşenin state'i yalnızca o bileşene aittir. Yan yana duran iki bileşen, örneğin bir ekle düğmesi ve bir sepet rozeti, birbirlerinin state'ini göremez. Aynı veriye iki bileşenin ihtiyacı varsa state, onların ortak üst bileşenine taşınır ve oradan props ile aşağı dağıtılır. Bu desene state'i yukarı taşımak (lifting state up) denir.</a:t>
            </a:r>
            <a:endParaRPr lang="en-US" sz="2200" dirty="0"/>
          </a:p>
        </p:txBody>
      </p:sp>
      <p:sp>
        <p:nvSpPr>
          <p:cNvPr id="5" name="Shape 3"/>
          <p:cNvSpPr/>
          <p:nvPr/>
        </p:nvSpPr>
        <p:spPr>
          <a:xfrm>
            <a:off x="8412480" y="1645920"/>
            <a:ext cx="2560320" cy="868680"/>
          </a:xfrm>
          <a:prstGeom prst="roundRect">
            <a:avLst>
              <a:gd name="adj" fmla="val 10526"/>
            </a:avLst>
          </a:prstGeom>
          <a:solidFill>
            <a:srgbClr val="EFF6FF"/>
          </a:solidFill>
          <a:ln w="19050">
            <a:solidFill>
              <a:srgbClr val="2563EB"/>
            </a:solidFill>
            <a:prstDash val="solid"/>
          </a:ln>
        </p:spPr>
      </p:sp>
      <p:sp>
        <p:nvSpPr>
          <p:cNvPr id="6" name="Text 4"/>
          <p:cNvSpPr txBox="1"/>
          <p:nvPr/>
        </p:nvSpPr>
        <p:spPr>
          <a:xfrm>
            <a:off x="8412480" y="1645920"/>
            <a:ext cx="2560320" cy="86868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Parent</a:t>
            </a:r>
            <a:endParaRPr lang="en-US" sz="1400" dirty="0"/>
          </a:p>
          <a:p>
            <a:pPr marL="0" indent="0" algn="ctr">
              <a:buNone/>
            </a:pPr>
            <a:r>
              <a:rPr lang="en-US" sz="1200" dirty="0">
                <a:solidFill>
                  <a:srgbClr val="2563EB"/>
                </a:solidFill>
                <a:latin typeface="Arial" pitchFamily="34" charset="0"/>
                <a:ea typeface="Arial" pitchFamily="34" charset="-122"/>
                <a:cs typeface="Arial" pitchFamily="34" charset="-120"/>
              </a:rPr>
              <a:t>state: count</a:t>
            </a:r>
            <a:endParaRPr lang="en-US" sz="1400" dirty="0"/>
          </a:p>
        </p:txBody>
      </p:sp>
      <p:sp>
        <p:nvSpPr>
          <p:cNvPr id="7" name="Shape 5"/>
          <p:cNvSpPr/>
          <p:nvPr/>
        </p:nvSpPr>
        <p:spPr>
          <a:xfrm>
            <a:off x="7863840" y="3566160"/>
            <a:ext cx="1691640" cy="868680"/>
          </a:xfrm>
          <a:prstGeom prst="roundRect">
            <a:avLst>
              <a:gd name="adj" fmla="val 10526"/>
            </a:avLst>
          </a:prstGeom>
          <a:solidFill>
            <a:srgbClr val="FFFFFF"/>
          </a:solidFill>
          <a:ln w="19050">
            <a:solidFill>
              <a:srgbClr val="CBD5E1"/>
            </a:solidFill>
            <a:prstDash val="solid"/>
          </a:ln>
        </p:spPr>
      </p:sp>
      <p:sp>
        <p:nvSpPr>
          <p:cNvPr id="8" name="Text 6"/>
          <p:cNvSpPr txBox="1"/>
          <p:nvPr/>
        </p:nvSpPr>
        <p:spPr>
          <a:xfrm>
            <a:off x="7863840" y="3566160"/>
            <a:ext cx="1691640" cy="868680"/>
          </a:xfrm>
          <a:prstGeom prst="rect">
            <a:avLst/>
          </a:prstGeom>
          <a:noFill/>
          <a:ln/>
        </p:spPr>
        <p:txBody>
          <a:bodyPr wrap="square" lIns="0" tIns="0" rIns="0" bIns="0" rtlCol="0" anchor="ctr"/>
          <a:lstStyle/>
          <a:p>
            <a:pPr marL="0" indent="0" algn="ctr">
              <a:buNone/>
            </a:pPr>
            <a:r>
              <a:rPr lang="en-US" sz="1300" b="1" dirty="0">
                <a:solidFill>
                  <a:srgbClr val="111827"/>
                </a:solidFill>
                <a:latin typeface="Arial" pitchFamily="34" charset="0"/>
                <a:ea typeface="Arial" pitchFamily="34" charset="-122"/>
                <a:cs typeface="Arial" pitchFamily="34" charset="-120"/>
              </a:rPr>
              <a:t>AddButton</a:t>
            </a:r>
            <a:endParaRPr lang="en-US" sz="1300" dirty="0"/>
          </a:p>
          <a:p>
            <a:pPr marL="0" indent="0" algn="ctr">
              <a:buNone/>
            </a:pPr>
            <a:r>
              <a:rPr lang="en-US" sz="1100" dirty="0">
                <a:solidFill>
                  <a:srgbClr val="6B7280"/>
                </a:solidFill>
                <a:latin typeface="Arial" pitchFamily="34" charset="0"/>
                <a:ea typeface="Arial" pitchFamily="34" charset="-122"/>
                <a:cs typeface="Arial" pitchFamily="34" charset="-120"/>
              </a:rPr>
              <a:t>state yok</a:t>
            </a:r>
            <a:endParaRPr lang="en-US" sz="1300" dirty="0"/>
          </a:p>
        </p:txBody>
      </p:sp>
      <p:sp>
        <p:nvSpPr>
          <p:cNvPr id="9" name="Shape 7"/>
          <p:cNvSpPr/>
          <p:nvPr/>
        </p:nvSpPr>
        <p:spPr>
          <a:xfrm>
            <a:off x="9829800" y="3566160"/>
            <a:ext cx="1691640" cy="868680"/>
          </a:xfrm>
          <a:prstGeom prst="roundRect">
            <a:avLst>
              <a:gd name="adj" fmla="val 10526"/>
            </a:avLst>
          </a:prstGeom>
          <a:solidFill>
            <a:srgbClr val="FFFFFF"/>
          </a:solidFill>
          <a:ln w="19050">
            <a:solidFill>
              <a:srgbClr val="CBD5E1"/>
            </a:solidFill>
            <a:prstDash val="solid"/>
          </a:ln>
        </p:spPr>
      </p:sp>
      <p:sp>
        <p:nvSpPr>
          <p:cNvPr id="10" name="Text 8"/>
          <p:cNvSpPr txBox="1"/>
          <p:nvPr/>
        </p:nvSpPr>
        <p:spPr>
          <a:xfrm>
            <a:off x="9829800" y="3566160"/>
            <a:ext cx="1691640" cy="868680"/>
          </a:xfrm>
          <a:prstGeom prst="rect">
            <a:avLst/>
          </a:prstGeom>
          <a:noFill/>
          <a:ln/>
        </p:spPr>
        <p:txBody>
          <a:bodyPr wrap="square" lIns="0" tIns="0" rIns="0" bIns="0" rtlCol="0" anchor="ctr"/>
          <a:lstStyle/>
          <a:p>
            <a:pPr marL="0" indent="0" algn="ctr">
              <a:buNone/>
            </a:pPr>
            <a:r>
              <a:rPr lang="en-US" sz="1300" b="1" dirty="0">
                <a:solidFill>
                  <a:srgbClr val="111827"/>
                </a:solidFill>
                <a:latin typeface="Arial" pitchFamily="34" charset="0"/>
                <a:ea typeface="Arial" pitchFamily="34" charset="-122"/>
                <a:cs typeface="Arial" pitchFamily="34" charset="-120"/>
              </a:rPr>
              <a:t>CartBadge</a:t>
            </a:r>
            <a:endParaRPr lang="en-US" sz="1300" dirty="0"/>
          </a:p>
          <a:p>
            <a:pPr marL="0" indent="0" algn="ctr">
              <a:buNone/>
            </a:pPr>
            <a:r>
              <a:rPr lang="en-US" sz="1100" dirty="0">
                <a:solidFill>
                  <a:srgbClr val="6B7280"/>
                </a:solidFill>
                <a:latin typeface="Arial" pitchFamily="34" charset="0"/>
                <a:ea typeface="Arial" pitchFamily="34" charset="-122"/>
                <a:cs typeface="Arial" pitchFamily="34" charset="-120"/>
              </a:rPr>
              <a:t>state yok</a:t>
            </a:r>
            <a:endParaRPr lang="en-US" sz="1300" dirty="0"/>
          </a:p>
        </p:txBody>
      </p:sp>
      <p:sp>
        <p:nvSpPr>
          <p:cNvPr id="11" name="Text 9"/>
          <p:cNvSpPr txBox="1"/>
          <p:nvPr/>
        </p:nvSpPr>
        <p:spPr>
          <a:xfrm>
            <a:off x="7863840" y="2697480"/>
            <a:ext cx="1691640" cy="640080"/>
          </a:xfrm>
          <a:prstGeom prst="rect">
            <a:avLst/>
          </a:prstGeom>
          <a:noFill/>
          <a:ln/>
        </p:spPr>
        <p:txBody>
          <a:bodyPr wrap="square" lIns="0" tIns="0" rIns="0" bIns="0" rtlCol="0" anchor="ctr"/>
          <a:lstStyle/>
          <a:p>
            <a:pPr marL="0" indent="0" algn="ctr">
              <a:buNone/>
            </a:pPr>
            <a:r>
              <a:rPr lang="en-US" sz="1300" b="1" dirty="0">
                <a:solidFill>
                  <a:srgbClr val="B45309"/>
                </a:solidFill>
                <a:latin typeface="Arial" pitchFamily="34" charset="0"/>
                <a:ea typeface="Arial" pitchFamily="34" charset="-122"/>
                <a:cs typeface="Arial" pitchFamily="34" charset="-120"/>
              </a:rPr>
              <a:t>▲ onAdd</a:t>
            </a:r>
            <a:endParaRPr lang="en-US" sz="1300" dirty="0"/>
          </a:p>
        </p:txBody>
      </p:sp>
      <p:sp>
        <p:nvSpPr>
          <p:cNvPr id="12" name="Text 10"/>
          <p:cNvSpPr txBox="1"/>
          <p:nvPr/>
        </p:nvSpPr>
        <p:spPr>
          <a:xfrm>
            <a:off x="9829800" y="2697480"/>
            <a:ext cx="1691640" cy="640080"/>
          </a:xfrm>
          <a:prstGeom prst="rect">
            <a:avLst/>
          </a:prstGeom>
          <a:noFill/>
          <a:ln/>
        </p:spPr>
        <p:txBody>
          <a:bodyPr wrap="square" lIns="0" tIns="0" rIns="0" bIns="0" rtlCol="0" anchor="ctr"/>
          <a:lstStyle/>
          <a:p>
            <a:pPr marL="0" indent="0" algn="ctr">
              <a:buNone/>
            </a:pPr>
            <a:r>
              <a:rPr lang="en-US" sz="1300" b="1" dirty="0">
                <a:solidFill>
                  <a:srgbClr val="2563EB"/>
                </a:solidFill>
                <a:latin typeface="Arial" pitchFamily="34" charset="0"/>
                <a:ea typeface="Arial" pitchFamily="34" charset="-122"/>
                <a:cs typeface="Arial" pitchFamily="34" charset="-120"/>
              </a:rPr>
              <a:t>▼ count</a:t>
            </a:r>
            <a:endParaRPr lang="en-US" sz="1300" dirty="0"/>
          </a:p>
        </p:txBody>
      </p:sp>
      <p:sp>
        <p:nvSpPr>
          <p:cNvPr id="13" name="Text 11"/>
          <p:cNvSpPr txBox="1"/>
          <p:nvPr/>
        </p:nvSpPr>
        <p:spPr>
          <a:xfrm>
            <a:off x="7863840" y="4526280"/>
            <a:ext cx="3657600" cy="274320"/>
          </a:xfrm>
          <a:prstGeom prst="rect">
            <a:avLst/>
          </a:prstGeom>
          <a:noFill/>
          <a:ln/>
        </p:spPr>
        <p:txBody>
          <a:bodyPr wrap="square" lIns="0" tIns="0" rIns="0" bIns="0" rtlCol="0" anchor="ctr"/>
          <a:lstStyle/>
          <a:p>
            <a:pPr marL="0" indent="0" algn="ctr">
              <a:buNone/>
            </a:pPr>
            <a:r>
              <a:rPr lang="en-US" sz="1200" dirty="0">
                <a:solidFill>
                  <a:srgbClr val="6B7280"/>
                </a:solidFill>
                <a:latin typeface="Arial" pitchFamily="34" charset="0"/>
                <a:ea typeface="Arial" pitchFamily="34" charset="-122"/>
                <a:cs typeface="Arial" pitchFamily="34" charset="-120"/>
              </a:rPr>
              <a:t>Veri aşağı, olay yukarı</a:t>
            </a:r>
            <a:endParaRPr lang="en-US" sz="1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State'i Yukarı Taşımak: Kod</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136392"/>
          </a:xfrm>
          <a:prstGeom prst="roundRect">
            <a:avLst>
              <a:gd name="adj" fmla="val 291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587752"/>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Parent =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[count, setCount] = useState(</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add = () =&gt; setCount(count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&lt;AddButton onAdd={add}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&lt;CartBadge count={count}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&lt;/View&gt;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919472"/>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047488"/>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AddButton'a her dokunuşta CartBadge üzerindeki sayı anında artar.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ortak state'in üst bileşende tutulup çocuklara dağıtılmasını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State yalnızca Parent'ta bulunur. AddButton dokunulduğunda onAdd callback'ini çağırır; CartBadge aynı değeri props olarak okur. Böylece iki çocuk her zaman aynı veriyi gösterir.</a:t>
            </a:r>
            <a:endParaRPr lang="en-US" sz="1800" dirty="0"/>
          </a:p>
        </p:txBody>
      </p:sp>
      <p:sp>
        <p:nvSpPr>
          <p:cNvPr id="10" name="Shape 8"/>
          <p:cNvSpPr/>
          <p:nvPr/>
        </p:nvSpPr>
        <p:spPr>
          <a:xfrm>
            <a:off x="7772400" y="441655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54456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AddButton ve CartBadge, 4. haftadaki gibi tipli props ile yazılmış bileşenlerdir; burada yalnızca kullanım tarafını görüyoruz.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Veri Aşağı, Olay Yukarı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799" cy="1901952"/>
        </p:xfrm>
        <a:graphic>
          <a:graphicData uri="http://schemas.openxmlformats.org/drawingml/2006/table">
            <a:tbl>
              <a:tblPr/>
              <a:tblGrid>
                <a:gridCol w="2720656">
                  <a:extLst>
                    <a:ext uri="{9D8B030D-6E8A-4147-A177-3AD203B41FA5}">
                      <a16:colId xmlns:a16="http://schemas.microsoft.com/office/drawing/2014/main" val="20000"/>
                    </a:ext>
                  </a:extLst>
                </a:gridCol>
                <a:gridCol w="3759127">
                  <a:extLst>
                    <a:ext uri="{9D8B030D-6E8A-4147-A177-3AD203B41FA5}">
                      <a16:colId xmlns:a16="http://schemas.microsoft.com/office/drawing/2014/main" val="20001"/>
                    </a:ext>
                  </a:extLst>
                </a:gridCol>
                <a:gridCol w="4493016">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2563EB"/>
                          </a:solidFill>
                        </a:rPr>
                        <a:t>Yön</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Ne akar?</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Nasıl?</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475488">
                <a:tc>
                  <a:txBody>
                    <a:bodyPr/>
                    <a:lstStyle/>
                    <a:p>
                      <a:pPr marL="0" indent="0">
                        <a:buNone/>
                      </a:pPr>
                      <a:r>
                        <a:rPr lang="en-US" sz="1800" b="1" dirty="0">
                          <a:solidFill>
                            <a:srgbClr val="111827"/>
                          </a:solidFill>
                        </a:rPr>
                        <a:t>Aşağı</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Değer (state)</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props: count, name</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800" b="1" dirty="0">
                          <a:solidFill>
                            <a:srgbClr val="111827"/>
                          </a:solidFill>
                        </a:rPr>
                        <a:t>Yukarı</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Değişiklik isteği</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callback props: onAdd, onPress</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800" b="1" dirty="0">
                          <a:solidFill>
                            <a:srgbClr val="111827"/>
                          </a:solidFill>
                        </a:rPr>
                        <a:t>Aynı seviye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Doğrudan paylaşım yok</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Ortak üst bileşen üzerinden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731520" y="3822192"/>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3950208"/>
            <a:ext cx="10570464" cy="7620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State'i, onu kullanan bileşenlerin en yakın ortak üst bileşenine koyun; gereğinden yukarıda tutmak gereksiz yeniden çizimlere ve karmaşıklığa yol açar.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Mini Uygulama: Sepete Ekleme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479292"/>
          </a:xfrm>
          <a:prstGeom prst="roundRect">
            <a:avLst>
              <a:gd name="adj" fmla="val 262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2930652"/>
          </a:xfrm>
          <a:prstGeom prst="rect">
            <a:avLst/>
          </a:prstGeom>
          <a:noFill/>
          <a:ln/>
        </p:spPr>
        <p:txBody>
          <a:bodyPr wrap="square" lIns="0" tIns="0" rIns="0" bIns="0" rtlCol="0" anchor="t"/>
          <a:lstStyle/>
          <a:p>
            <a:pPr marL="0" indent="0" algn="l">
              <a:buNone/>
            </a:pPr>
            <a:r>
              <a:rPr lang="en-US" sz="1200" dirty="0">
                <a:solidFill>
                  <a:srgbClr val="111827"/>
                </a:solidFill>
                <a:latin typeface="Courier New" pitchFamily="34" charset="0"/>
                <a:ea typeface="Courier New" pitchFamily="34" charset="-122"/>
                <a:cs typeface="Courier New" pitchFamily="34" charset="-120"/>
              </a:rPr>
              <a:t>interface Line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id: number;</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name: string;</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qty: number;</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Shop = () =&gt;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[cart, setCart] = useState&lt;Line[]&gt;([]);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addNew = (name: string) =&gt;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line = { id: Date.now(), name, qty: </a:t>
            </a:r>
            <a:r>
              <a:rPr lang="en-US" sz="1200" dirty="0">
                <a:solidFill>
                  <a:srgbClr val="B45309"/>
                </a:solidFill>
                <a:latin typeface="Courier New" pitchFamily="34" charset="0"/>
                <a:ea typeface="Courier New" pitchFamily="34" charset="-122"/>
                <a:cs typeface="Courier New" pitchFamily="34" charset="-120"/>
              </a:rPr>
              <a:t>1</a:t>
            </a: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setCart([...cart, line]);</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a:t>
            </a:r>
            <a:r>
              <a:rPr lang="en-US" sz="1200" b="1" dirty="0">
                <a:solidFill>
                  <a:srgbClr val="2563EB"/>
                </a:solidFill>
                <a:latin typeface="Courier New" pitchFamily="34" charset="0"/>
                <a:ea typeface="Courier New" pitchFamily="34" charset="-122"/>
                <a:cs typeface="Courier New" pitchFamily="34" charset="-120"/>
              </a:rPr>
              <a:t>return</a:t>
            </a:r>
            <a:r>
              <a:rPr lang="en-US" sz="1200" dirty="0">
                <a:solidFill>
                  <a:srgbClr val="111827"/>
                </a:solidFill>
                <a:latin typeface="Courier New" pitchFamily="34" charset="0"/>
                <a:ea typeface="Courier New" pitchFamily="34" charset="-122"/>
                <a:cs typeface="Courier New" pitchFamily="34" charset="-120"/>
              </a:rPr>
              <a:t> &lt;Text&gt;{cart.length} çeşit ürün&lt;/Text&gt;;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731520" y="5262372"/>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390388"/>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Bir ürüne dokunulduğunda sepetteki çeşit sayısı bir artar.</a:t>
            </a:r>
            <a:endParaRPr lang="en-US" sz="1100" dirty="0"/>
          </a:p>
        </p:txBody>
      </p:sp>
      <p:sp>
        <p:nvSpPr>
          <p:cNvPr id="9" name="Text 7"/>
          <p:cNvSpPr txBox="1"/>
          <p:nvPr/>
        </p:nvSpPr>
        <p:spPr>
          <a:xfrm>
            <a:off x="7772400" y="1645920"/>
            <a:ext cx="3931920" cy="37307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öğrendiklerimizi bir sepetin veri tarafında birleştirmektir.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Sepet, id, ad ve adet alanlı satırlardan oluşan bir dizidir. addNew yeni satırı kopya dizinin sonuna ekler. id için Date.now bu derste yeterli basit bir yöntemdir. Veri modeli 3. haftadaki Task modeline benzer.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Gerçek projelerde benzersiz kimlikler için daha güvenli yöntemler kullanılır; bu örnekte basitlik için zaman damgası seçildi.</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Mini Uygulama: Adet ve Toplam</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401214"/>
          </a:xfrm>
          <a:prstGeom prst="roundRect">
            <a:avLst>
              <a:gd name="adj" fmla="val 380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1852574"/>
          </a:xfrm>
          <a:prstGeom prst="rect">
            <a:avLst/>
          </a:prstGeom>
          <a:noFill/>
          <a:ln/>
        </p:spPr>
        <p:txBody>
          <a:bodyPr wrap="square" lIns="0" tIns="0" rIns="0" bIns="0" rtlCol="0" anchor="t"/>
          <a:lstStyle/>
          <a:p>
            <a:pPr marL="0" indent="0" algn="l">
              <a:buNone/>
            </a:pPr>
            <a:r>
              <a:rPr lang="en-US" sz="1600" i="1" dirty="0">
                <a:solidFill>
                  <a:srgbClr val="6B7280"/>
                </a:solidFill>
                <a:latin typeface="Courier New" pitchFamily="34" charset="0"/>
                <a:ea typeface="Courier New" pitchFamily="34" charset="-122"/>
                <a:cs typeface="Courier New" pitchFamily="34" charset="-120"/>
              </a:rPr>
              <a:t>// Shop içinde; cart ve setCart tanımlı</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step = (l: Line, id: number, d: number)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l.id === id ? { ...l, qty: l.qty + d } : l;</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change = (id: number, d: number) =&gt;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setCart(cart.map((l) =&gt; step(l, id, d))</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.filter((l) =&gt; l.qty &gt;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total = cart.reduce((s, l) =&gt; s + l.qty,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184294"/>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4312310"/>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Artır düğmesi adedi çoğaltır, azalt düğmesi azaltır; adet sıfıra inince satır kaybolur ve toplam güncellenir.</a:t>
            </a:r>
            <a:endParaRPr lang="en-US" sz="1100" dirty="0"/>
          </a:p>
        </p:txBody>
      </p:sp>
      <p:sp>
        <p:nvSpPr>
          <p:cNvPr id="9" name="Text 7"/>
          <p:cNvSpPr txBox="1"/>
          <p:nvPr/>
        </p:nvSpPr>
        <p:spPr>
          <a:xfrm>
            <a:off x="7772400" y="1645920"/>
            <a:ext cx="3931920" cy="290779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sepetteki adedi artırıp azaltmak ve toplamı hesaplamaktır.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step, id eşleşen satırın adedini d kadar değiştiren yeni bir satır üretir. change önce map ile adedi günceller, sonra filter ile adedi sıfıra inen satırı siler. total ayrı bir state değil, cart'tan her çizimde hesaplanan türetilmiş bir değerdir.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Sık Karşılaşılan State Hataları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799" cy="3236976"/>
        </p:xfrm>
        <a:graphic>
          <a:graphicData uri="http://schemas.openxmlformats.org/drawingml/2006/table">
            <a:tbl>
              <a:tblPr/>
              <a:tblGrid>
                <a:gridCol w="3348896">
                  <a:extLst>
                    <a:ext uri="{9D8B030D-6E8A-4147-A177-3AD203B41FA5}">
                      <a16:colId xmlns:a16="http://schemas.microsoft.com/office/drawing/2014/main" val="20000"/>
                    </a:ext>
                  </a:extLst>
                </a:gridCol>
                <a:gridCol w="3406146">
                  <a:extLst>
                    <a:ext uri="{9D8B030D-6E8A-4147-A177-3AD203B41FA5}">
                      <a16:colId xmlns:a16="http://schemas.microsoft.com/office/drawing/2014/main" val="20001"/>
                    </a:ext>
                  </a:extLst>
                </a:gridCol>
                <a:gridCol w="4217757">
                  <a:extLst>
                    <a:ext uri="{9D8B030D-6E8A-4147-A177-3AD203B41FA5}">
                      <a16:colId xmlns:a16="http://schemas.microsoft.com/office/drawing/2014/main" val="20002"/>
                    </a:ext>
                  </a:extLst>
                </a:gridCol>
              </a:tblGrid>
              <a:tr h="402336">
                <a:tc>
                  <a:txBody>
                    <a:bodyPr/>
                    <a:lstStyle/>
                    <a:p>
                      <a:pPr marL="0" indent="0">
                        <a:buNone/>
                      </a:pPr>
                      <a:r>
                        <a:rPr lang="en-US" sz="1400" b="1" dirty="0">
                          <a:solidFill>
                            <a:srgbClr val="2563EB"/>
                          </a:solidFill>
                        </a:rPr>
                        <a:t>Belirti</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Olası neden</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Çözüm</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676656">
                <a:tc>
                  <a:txBody>
                    <a:bodyPr/>
                    <a:lstStyle/>
                    <a:p>
                      <a:pPr marL="0" indent="0">
                        <a:buNone/>
                      </a:pPr>
                      <a:r>
                        <a:rPr lang="en-US" sz="1800" b="1" dirty="0">
                          <a:solidFill>
                            <a:srgbClr val="111827"/>
                          </a:solidFill>
                        </a:rPr>
                        <a:t>Ekran güncellenmiyor</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State doğrudan değiştirilmiş</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Yeni dizi veya nesne ver (spread, map, filter)</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800" b="1" dirty="0">
                          <a:solidFill>
                            <a:srgbClr val="111827"/>
                          </a:solidFill>
                        </a:rPr>
                        <a:t>Sayı beklenenden az artıyor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Eski değer kullanılmış</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setX((p) =&gt; ...) kullan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676656">
                <a:tc>
                  <a:txBody>
                    <a:bodyPr/>
                    <a:lstStyle/>
                    <a:p>
                      <a:pPr marL="0" indent="0">
                        <a:buNone/>
                      </a:pPr>
                      <a:r>
                        <a:rPr lang="en-US" sz="1800" b="1" dirty="0">
                          <a:solidFill>
                            <a:srgbClr val="111827"/>
                          </a:solidFill>
                        </a:rPr>
                        <a:t>Too many re-renders</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onPress={setCount(1)} yazılmış</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onPress={() =&gt; setCount(1)} yaz</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676656">
                <a:tc>
                  <a:txBody>
                    <a:bodyPr/>
                    <a:lstStyle/>
                    <a:p>
                      <a:pPr marL="0" indent="0">
                        <a:buNone/>
                      </a:pPr>
                      <a:r>
                        <a:rPr lang="en-US" sz="1800" b="1" dirty="0">
                          <a:solidFill>
                            <a:srgbClr val="111827"/>
                          </a:solidFill>
                        </a:rPr>
                        <a:t>0 ekrana yazılıyor veya çökme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{count &amp;&amp; ...} kullanılmış</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{count &gt; 0 &amp;&amp; ...} kullan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800" b="1" dirty="0">
                          <a:solidFill>
                            <a:srgbClr val="111827"/>
                          </a:solidFill>
                        </a:rPr>
                        <a:t>Invalid hook call</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Hook yanlış yerde çağrılmış</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Bileşenin üst düzeyine taşı</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731520" y="5157216"/>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5285232"/>
            <a:ext cx="10570464" cy="7620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Hata ayıklarken önce state'in beklenen değeri alıp almadığını konsola yazdırarak kontrol edin; sorun state'te mi, yoksa state'in ekrana yansımasında mı olduğunu ayırmak çözümü yarıya indirir.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2800" b="1" dirty="0">
                <a:solidFill>
                  <a:srgbClr val="111827"/>
                </a:solidFill>
                <a:latin typeface="Arial" pitchFamily="34" charset="0"/>
                <a:ea typeface="Arial" pitchFamily="34" charset="-122"/>
                <a:cs typeface="Arial" pitchFamily="34" charset="-120"/>
              </a:rPr>
              <a:t>Gerçek Senaryo: Yemek Siparişi, Adet ve Sepet Toplamı</a:t>
            </a:r>
            <a:endParaRPr lang="en-US" sz="28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Geçen haftaki yemek kartı artık sipariş verebilir. Her kartta eksi ve artı düğmeleri ile adet görünür. Sipariş state'i kartların ortak üst bileşeninde tutulur: kart yalnızca adedi ve iki callback'i props olarak alır. Ekranın altındaki sepet çubuğu ise aynı state'ten toplam adedi ve tutarı türetir. Adet değiştikçe yeni bir dizi üretildiği için hem kart hem sepet çubuğu aynı anda güncellenir.</a:t>
            </a:r>
            <a:endParaRPr lang="en-US" sz="2200" dirty="0"/>
          </a:p>
        </p:txBody>
      </p:sp>
      <p:sp>
        <p:nvSpPr>
          <p:cNvPr id="5" name="Shape 3"/>
          <p:cNvSpPr/>
          <p:nvPr/>
        </p:nvSpPr>
        <p:spPr>
          <a:xfrm>
            <a:off x="7863840" y="1645920"/>
            <a:ext cx="3657600" cy="1600200"/>
          </a:xfrm>
          <a:prstGeom prst="roundRect">
            <a:avLst>
              <a:gd name="adj" fmla="val 5714"/>
            </a:avLst>
          </a:prstGeom>
          <a:solidFill>
            <a:srgbClr val="FFFFFF"/>
          </a:solidFill>
          <a:ln w="19050">
            <a:solidFill>
              <a:srgbClr val="CBD5E1"/>
            </a:solidFill>
            <a:prstDash val="solid"/>
          </a:ln>
        </p:spPr>
      </p:sp>
      <p:sp>
        <p:nvSpPr>
          <p:cNvPr id="6" name="Shape 4"/>
          <p:cNvSpPr/>
          <p:nvPr/>
        </p:nvSpPr>
        <p:spPr>
          <a:xfrm>
            <a:off x="8046720" y="1920240"/>
            <a:ext cx="822960" cy="822960"/>
          </a:xfrm>
          <a:prstGeom prst="roundRect">
            <a:avLst>
              <a:gd name="adj" fmla="val 11111"/>
            </a:avLst>
          </a:prstGeom>
          <a:solidFill>
            <a:srgbClr val="EFF6FF"/>
          </a:solidFill>
          <a:ln w="12700">
            <a:solidFill>
              <a:srgbClr val="2563EB"/>
            </a:solidFill>
            <a:prstDash val="solid"/>
          </a:ln>
        </p:spPr>
      </p:sp>
      <p:sp>
        <p:nvSpPr>
          <p:cNvPr id="7" name="Text 5"/>
          <p:cNvSpPr txBox="1"/>
          <p:nvPr/>
        </p:nvSpPr>
        <p:spPr>
          <a:xfrm>
            <a:off x="8046720" y="1920240"/>
            <a:ext cx="822960" cy="822960"/>
          </a:xfrm>
          <a:prstGeom prst="rect">
            <a:avLst/>
          </a:prstGeom>
          <a:noFill/>
          <a:ln/>
        </p:spPr>
        <p:txBody>
          <a:bodyPr wrap="square" lIns="0" tIns="0" rIns="0" bIns="0" rtlCol="0" anchor="ctr"/>
          <a:lstStyle/>
          <a:p>
            <a:pPr marL="0" indent="0" algn="ctr">
              <a:buNone/>
            </a:pPr>
            <a:r>
              <a:rPr lang="en-US" sz="1000" dirty="0">
                <a:solidFill>
                  <a:srgbClr val="2563EB"/>
                </a:solidFill>
                <a:latin typeface="Arial" pitchFamily="34" charset="0"/>
                <a:ea typeface="Arial" pitchFamily="34" charset="-122"/>
                <a:cs typeface="Arial" pitchFamily="34" charset="-120"/>
              </a:rPr>
              <a:t>Image</a:t>
            </a:r>
            <a:endParaRPr lang="en-US" sz="1000" dirty="0"/>
          </a:p>
        </p:txBody>
      </p:sp>
      <p:sp>
        <p:nvSpPr>
          <p:cNvPr id="8" name="Shape 6"/>
          <p:cNvSpPr/>
          <p:nvPr/>
        </p:nvSpPr>
        <p:spPr>
          <a:xfrm>
            <a:off x="9052560" y="1920240"/>
            <a:ext cx="2286000" cy="228600"/>
          </a:xfrm>
          <a:prstGeom prst="roundRect">
            <a:avLst>
              <a:gd name="adj" fmla="val 40000"/>
            </a:avLst>
          </a:prstGeom>
          <a:solidFill>
            <a:srgbClr val="EFF6FF"/>
          </a:solidFill>
          <a:ln w="9525">
            <a:solidFill>
              <a:srgbClr val="EFF6FF"/>
            </a:solidFill>
            <a:prstDash val="solid"/>
          </a:ln>
        </p:spPr>
      </p:sp>
      <p:sp>
        <p:nvSpPr>
          <p:cNvPr id="9" name="Shape 7"/>
          <p:cNvSpPr/>
          <p:nvPr/>
        </p:nvSpPr>
        <p:spPr>
          <a:xfrm>
            <a:off x="9052560" y="2286000"/>
            <a:ext cx="1554480" cy="228600"/>
          </a:xfrm>
          <a:prstGeom prst="roundRect">
            <a:avLst>
              <a:gd name="adj" fmla="val 40000"/>
            </a:avLst>
          </a:prstGeom>
          <a:solidFill>
            <a:srgbClr val="EFF6FF"/>
          </a:solidFill>
          <a:ln w="9525">
            <a:solidFill>
              <a:srgbClr val="EFF6FF"/>
            </a:solidFill>
            <a:prstDash val="solid"/>
          </a:ln>
        </p:spPr>
      </p:sp>
      <p:sp>
        <p:nvSpPr>
          <p:cNvPr id="10" name="Shape 8"/>
          <p:cNvSpPr/>
          <p:nvPr/>
        </p:nvSpPr>
        <p:spPr>
          <a:xfrm>
            <a:off x="9921240" y="2651760"/>
            <a:ext cx="411480" cy="365760"/>
          </a:xfrm>
          <a:prstGeom prst="roundRect">
            <a:avLst>
              <a:gd name="adj" fmla="val 25000"/>
            </a:avLst>
          </a:prstGeom>
          <a:solidFill>
            <a:srgbClr val="FFFFFF"/>
          </a:solidFill>
          <a:ln w="15875">
            <a:solidFill>
              <a:srgbClr val="2563EB"/>
            </a:solidFill>
            <a:prstDash val="solid"/>
          </a:ln>
        </p:spPr>
      </p:sp>
      <p:sp>
        <p:nvSpPr>
          <p:cNvPr id="11" name="Text 9"/>
          <p:cNvSpPr txBox="1"/>
          <p:nvPr/>
        </p:nvSpPr>
        <p:spPr>
          <a:xfrm>
            <a:off x="9921240" y="2651760"/>
            <a:ext cx="411480" cy="365760"/>
          </a:xfrm>
          <a:prstGeom prst="rect">
            <a:avLst/>
          </a:prstGeom>
          <a:noFill/>
          <a:ln/>
        </p:spPr>
        <p:txBody>
          <a:bodyPr wrap="square" lIns="0" tIns="0" rIns="0" bIns="0" rtlCol="0" anchor="ctr"/>
          <a:lstStyle/>
          <a:p>
            <a:pPr marL="0" indent="0" algn="ctr">
              <a:buNone/>
            </a:pPr>
            <a:r>
              <a:rPr lang="en-US" sz="1600" b="1" dirty="0">
                <a:solidFill>
                  <a:srgbClr val="2563EB"/>
                </a:solidFill>
                <a:latin typeface="Arial" pitchFamily="34" charset="0"/>
                <a:ea typeface="Arial" pitchFamily="34" charset="-122"/>
                <a:cs typeface="Arial" pitchFamily="34" charset="-120"/>
              </a:rPr>
              <a:t>−</a:t>
            </a:r>
            <a:endParaRPr lang="en-US" sz="1600" dirty="0"/>
          </a:p>
        </p:txBody>
      </p:sp>
      <p:sp>
        <p:nvSpPr>
          <p:cNvPr id="12" name="Text 10"/>
          <p:cNvSpPr txBox="1"/>
          <p:nvPr/>
        </p:nvSpPr>
        <p:spPr>
          <a:xfrm>
            <a:off x="10332720" y="2651760"/>
            <a:ext cx="411480" cy="36576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2</a:t>
            </a:r>
            <a:endParaRPr lang="en-US" sz="1400" dirty="0"/>
          </a:p>
        </p:txBody>
      </p:sp>
      <p:sp>
        <p:nvSpPr>
          <p:cNvPr id="13" name="Shape 11"/>
          <p:cNvSpPr/>
          <p:nvPr/>
        </p:nvSpPr>
        <p:spPr>
          <a:xfrm>
            <a:off x="10744200" y="2651760"/>
            <a:ext cx="411480" cy="365760"/>
          </a:xfrm>
          <a:prstGeom prst="roundRect">
            <a:avLst>
              <a:gd name="adj" fmla="val 25000"/>
            </a:avLst>
          </a:prstGeom>
          <a:solidFill>
            <a:srgbClr val="2563EB"/>
          </a:solidFill>
          <a:ln w="9525">
            <a:solidFill>
              <a:srgbClr val="2563EB"/>
            </a:solidFill>
            <a:prstDash val="solid"/>
          </a:ln>
        </p:spPr>
      </p:sp>
      <p:sp>
        <p:nvSpPr>
          <p:cNvPr id="14" name="Text 12"/>
          <p:cNvSpPr txBox="1"/>
          <p:nvPr/>
        </p:nvSpPr>
        <p:spPr>
          <a:xfrm>
            <a:off x="10744200" y="2651760"/>
            <a:ext cx="4114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5" name="Shape 13"/>
          <p:cNvSpPr/>
          <p:nvPr/>
        </p:nvSpPr>
        <p:spPr>
          <a:xfrm>
            <a:off x="7863840" y="3429000"/>
            <a:ext cx="3657600" cy="502920"/>
          </a:xfrm>
          <a:prstGeom prst="roundRect">
            <a:avLst>
              <a:gd name="adj" fmla="val 18182"/>
            </a:avLst>
          </a:prstGeom>
          <a:solidFill>
            <a:srgbClr val="2563EB"/>
          </a:solidFill>
          <a:ln w="9525">
            <a:solidFill>
              <a:srgbClr val="2563EB"/>
            </a:solidFill>
            <a:prstDash val="solid"/>
          </a:ln>
        </p:spPr>
      </p:sp>
      <p:sp>
        <p:nvSpPr>
          <p:cNvPr id="16" name="Text 14"/>
          <p:cNvSpPr txBox="1"/>
          <p:nvPr/>
        </p:nvSpPr>
        <p:spPr>
          <a:xfrm>
            <a:off x="7863840" y="3429000"/>
            <a:ext cx="36576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Sepet: 3 ürün · 285 TL</a:t>
            </a:r>
            <a:endParaRPr lang="en-US" sz="1300" dirty="0"/>
          </a:p>
        </p:txBody>
      </p:sp>
      <p:sp>
        <p:nvSpPr>
          <p:cNvPr id="17" name="Text 15"/>
          <p:cNvSpPr txBox="1"/>
          <p:nvPr/>
        </p:nvSpPr>
        <p:spPr>
          <a:xfrm>
            <a:off x="7863840" y="4023360"/>
            <a:ext cx="3657600" cy="274320"/>
          </a:xfrm>
          <a:prstGeom prst="rect">
            <a:avLst/>
          </a:prstGeom>
          <a:noFill/>
          <a:ln/>
        </p:spPr>
        <p:txBody>
          <a:bodyPr wrap="square" lIns="0" tIns="0" rIns="0" bIns="0" rtlCol="0" anchor="ctr"/>
          <a:lstStyle/>
          <a:p>
            <a:pPr marL="0" indent="0" algn="ctr">
              <a:buNone/>
            </a:pPr>
            <a:r>
              <a:rPr lang="en-US" sz="1100" dirty="0">
                <a:solidFill>
                  <a:srgbClr val="6B7280"/>
                </a:solidFill>
                <a:latin typeface="Arial" pitchFamily="34" charset="0"/>
                <a:ea typeface="Arial" pitchFamily="34" charset="-122"/>
                <a:cs typeface="Arial" pitchFamily="34" charset="-120"/>
              </a:rPr>
              <a:t>Adet ve sepet: ortak üst bileşenin state'inden</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2800" b="1" dirty="0">
                <a:solidFill>
                  <a:srgbClr val="111827"/>
                </a:solidFill>
                <a:latin typeface="Arial" pitchFamily="34" charset="0"/>
                <a:ea typeface="Arial" pitchFamily="34" charset="-122"/>
                <a:cs typeface="Arial" pitchFamily="34" charset="-120"/>
              </a:rPr>
              <a:t>Uygulama Saati: Profil Kartını Etkileşimli Yapmak</a:t>
            </a:r>
            <a:endParaRPr lang="en-US" sz="28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App içinde takip edilen id'leri tutan tipli state tanımlayın: useState&lt;number[]&gt;([]).</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ProfileCard'a following ve onToggle props'larını ve Pressable bir Takip et düğmesi ekleyin.</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Basınca id'yi diziye ekleyin ya da filter ile çıkarın; push kullanmayın.</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Düğme metnini following'e göre değiştirin; Takip edilen: N bilgisini dizi uzunluğundan türetin.</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Projene uygula: Kendi projenin ana ekranına bir etkileşimli parça ekleyin.</a:t>
            </a:r>
            <a:endParaRPr lang="en-US" sz="2200" dirty="0"/>
          </a:p>
        </p:txBody>
      </p:sp>
      <p:sp>
        <p:nvSpPr>
          <p:cNvPr id="5" name="Shape 3"/>
          <p:cNvSpPr/>
          <p:nvPr/>
        </p:nvSpPr>
        <p:spPr>
          <a:xfrm>
            <a:off x="8503920" y="1645920"/>
            <a:ext cx="2377440" cy="3931920"/>
          </a:xfrm>
          <a:prstGeom prst="roundRect">
            <a:avLst>
              <a:gd name="adj" fmla="val 3846"/>
            </a:avLst>
          </a:prstGeom>
          <a:solidFill>
            <a:srgbClr val="FFFFFF"/>
          </a:solidFill>
          <a:ln w="25400">
            <a:solidFill>
              <a:srgbClr val="CBD5E1"/>
            </a:solidFill>
            <a:prstDash val="solid"/>
          </a:ln>
        </p:spPr>
      </p:sp>
      <p:sp>
        <p:nvSpPr>
          <p:cNvPr id="6" name="Shape 4"/>
          <p:cNvSpPr/>
          <p:nvPr/>
        </p:nvSpPr>
        <p:spPr>
          <a:xfrm>
            <a:off x="8549640" y="1691640"/>
            <a:ext cx="2286000" cy="365760"/>
          </a:xfrm>
          <a:prstGeom prst="roundRect">
            <a:avLst>
              <a:gd name="adj" fmla="val 25000"/>
            </a:avLst>
          </a:prstGeom>
          <a:solidFill>
            <a:srgbClr val="FEF3C7"/>
          </a:solidFill>
          <a:ln w="9525">
            <a:solidFill>
              <a:srgbClr val="FEF3C7"/>
            </a:solidFill>
            <a:prstDash val="solid"/>
          </a:ln>
        </p:spPr>
      </p:sp>
      <p:sp>
        <p:nvSpPr>
          <p:cNvPr id="7" name="Text 5"/>
          <p:cNvSpPr txBox="1"/>
          <p:nvPr/>
        </p:nvSpPr>
        <p:spPr>
          <a:xfrm>
            <a:off x="8549640" y="1691640"/>
            <a:ext cx="2286000" cy="365760"/>
          </a:xfrm>
          <a:prstGeom prst="rect">
            <a:avLst/>
          </a:prstGeom>
          <a:noFill/>
          <a:ln/>
        </p:spPr>
        <p:txBody>
          <a:bodyPr wrap="square" lIns="0" tIns="0" rIns="0" bIns="0" rtlCol="0" anchor="ctr"/>
          <a:lstStyle/>
          <a:p>
            <a:pPr marL="0" indent="0" algn="ctr">
              <a:buNone/>
            </a:pPr>
            <a:r>
              <a:rPr lang="en-US" sz="900" dirty="0">
                <a:solidFill>
                  <a:srgbClr val="B45309"/>
                </a:solidFill>
                <a:latin typeface="Arial" pitchFamily="34" charset="0"/>
                <a:ea typeface="Arial" pitchFamily="34" charset="-122"/>
                <a:cs typeface="Arial" pitchFamily="34" charset="-120"/>
              </a:rPr>
              <a:t>güvenli alan</a:t>
            </a:r>
            <a:endParaRPr lang="en-US" sz="900" dirty="0"/>
          </a:p>
        </p:txBody>
      </p:sp>
      <p:sp>
        <p:nvSpPr>
          <p:cNvPr id="8" name="Text 6"/>
          <p:cNvSpPr txBox="1"/>
          <p:nvPr/>
        </p:nvSpPr>
        <p:spPr>
          <a:xfrm>
            <a:off x="8641080" y="2103120"/>
            <a:ext cx="2103120" cy="320040"/>
          </a:xfrm>
          <a:prstGeom prst="rect">
            <a:avLst/>
          </a:prstGeom>
          <a:noFill/>
          <a:ln/>
        </p:spPr>
        <p:txBody>
          <a:bodyPr wrap="square" lIns="0" tIns="0" rIns="0" bIns="0" rtlCol="0" anchor="ctr"/>
          <a:lstStyle/>
          <a:p>
            <a:pPr marL="0" indent="0" algn="l">
              <a:buNone/>
            </a:pPr>
            <a:r>
              <a:rPr lang="en-US" sz="1200" b="1" dirty="0">
                <a:solidFill>
                  <a:srgbClr val="111827"/>
                </a:solidFill>
                <a:latin typeface="Arial" pitchFamily="34" charset="0"/>
                <a:ea typeface="Arial" pitchFamily="34" charset="-122"/>
                <a:cs typeface="Arial" pitchFamily="34" charset="-120"/>
              </a:rPr>
              <a:t>Takip edilen: 1</a:t>
            </a:r>
            <a:endParaRPr lang="en-US" sz="1200" dirty="0"/>
          </a:p>
        </p:txBody>
      </p:sp>
      <p:sp>
        <p:nvSpPr>
          <p:cNvPr id="9" name="Shape 7"/>
          <p:cNvSpPr/>
          <p:nvPr/>
        </p:nvSpPr>
        <p:spPr>
          <a:xfrm>
            <a:off x="8641080" y="2514600"/>
            <a:ext cx="2103120" cy="868680"/>
          </a:xfrm>
          <a:prstGeom prst="roundRect">
            <a:avLst>
              <a:gd name="adj" fmla="val 10526"/>
            </a:avLst>
          </a:prstGeom>
          <a:solidFill>
            <a:srgbClr val="EFF6FF"/>
          </a:solidFill>
          <a:ln w="9525">
            <a:solidFill>
              <a:srgbClr val="EFF6FF"/>
            </a:solidFill>
            <a:prstDash val="solid"/>
          </a:ln>
        </p:spPr>
      </p:sp>
      <p:sp>
        <p:nvSpPr>
          <p:cNvPr id="10" name="Shape 8"/>
          <p:cNvSpPr/>
          <p:nvPr/>
        </p:nvSpPr>
        <p:spPr>
          <a:xfrm>
            <a:off x="8732520" y="2743200"/>
            <a:ext cx="411480" cy="411480"/>
          </a:xfrm>
          <a:prstGeom prst="ellipse">
            <a:avLst/>
          </a:prstGeom>
          <a:solidFill>
            <a:srgbClr val="2563EB"/>
          </a:solidFill>
          <a:ln w="12700">
            <a:solidFill>
              <a:srgbClr val="2563EB"/>
            </a:solidFill>
            <a:prstDash val="solid"/>
          </a:ln>
        </p:spPr>
      </p:sp>
      <p:sp>
        <p:nvSpPr>
          <p:cNvPr id="11" name="Text 9"/>
          <p:cNvSpPr txBox="1"/>
          <p:nvPr/>
        </p:nvSpPr>
        <p:spPr>
          <a:xfrm>
            <a:off x="9235440" y="2606040"/>
            <a:ext cx="731520" cy="365760"/>
          </a:xfrm>
          <a:prstGeom prst="rect">
            <a:avLst/>
          </a:prstGeom>
          <a:noFill/>
          <a:ln/>
        </p:spPr>
        <p:txBody>
          <a:bodyPr wrap="square" lIns="0" tIns="0" rIns="0" bIns="0" rtlCol="0" anchor="ctr"/>
          <a:lstStyle/>
          <a:p>
            <a:pPr marL="0" indent="0" algn="l">
              <a:buNone/>
            </a:pPr>
            <a:r>
              <a:rPr lang="en-US" sz="1000" b="1" dirty="0">
                <a:solidFill>
                  <a:srgbClr val="111827"/>
                </a:solidFill>
                <a:latin typeface="Arial" pitchFamily="34" charset="0"/>
                <a:ea typeface="Arial" pitchFamily="34" charset="-122"/>
                <a:cs typeface="Arial" pitchFamily="34" charset="-120"/>
              </a:rPr>
              <a:t>Ad Soyad</a:t>
            </a:r>
            <a:endParaRPr lang="en-US" sz="1000" dirty="0"/>
          </a:p>
          <a:p>
            <a:pPr marL="0" indent="0" algn="l">
              <a:buNone/>
            </a:pPr>
            <a:r>
              <a:rPr lang="en-US" sz="900" dirty="0">
                <a:solidFill>
                  <a:srgbClr val="6B7280"/>
                </a:solidFill>
                <a:latin typeface="Arial" pitchFamily="34" charset="0"/>
                <a:ea typeface="Arial" pitchFamily="34" charset="-122"/>
                <a:cs typeface="Arial" pitchFamily="34" charset="-120"/>
              </a:rPr>
              <a:t>Meslek</a:t>
            </a:r>
            <a:endParaRPr lang="en-US" sz="1000" dirty="0"/>
          </a:p>
        </p:txBody>
      </p:sp>
      <p:sp>
        <p:nvSpPr>
          <p:cNvPr id="12" name="Shape 10"/>
          <p:cNvSpPr/>
          <p:nvPr/>
        </p:nvSpPr>
        <p:spPr>
          <a:xfrm>
            <a:off x="9235440" y="3017520"/>
            <a:ext cx="1188720" cy="274320"/>
          </a:xfrm>
          <a:prstGeom prst="roundRect">
            <a:avLst>
              <a:gd name="adj" fmla="val 33333"/>
            </a:avLst>
          </a:prstGeom>
          <a:solidFill>
            <a:srgbClr val="2563EB"/>
          </a:solidFill>
          <a:ln w="12700">
            <a:solidFill>
              <a:srgbClr val="2563EB"/>
            </a:solidFill>
            <a:prstDash val="solid"/>
          </a:ln>
        </p:spPr>
      </p:sp>
      <p:sp>
        <p:nvSpPr>
          <p:cNvPr id="13" name="Text 11"/>
          <p:cNvSpPr txBox="1"/>
          <p:nvPr/>
        </p:nvSpPr>
        <p:spPr>
          <a:xfrm>
            <a:off x="9235440" y="3017520"/>
            <a:ext cx="11887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Takip ediliyor</a:t>
            </a:r>
            <a:endParaRPr lang="en-US" sz="900" dirty="0"/>
          </a:p>
        </p:txBody>
      </p:sp>
      <p:sp>
        <p:nvSpPr>
          <p:cNvPr id="14" name="Shape 12"/>
          <p:cNvSpPr/>
          <p:nvPr/>
        </p:nvSpPr>
        <p:spPr>
          <a:xfrm>
            <a:off x="8641080" y="3520440"/>
            <a:ext cx="2103120" cy="868680"/>
          </a:xfrm>
          <a:prstGeom prst="roundRect">
            <a:avLst>
              <a:gd name="adj" fmla="val 10526"/>
            </a:avLst>
          </a:prstGeom>
          <a:solidFill>
            <a:srgbClr val="EFF6FF"/>
          </a:solidFill>
          <a:ln w="9525">
            <a:solidFill>
              <a:srgbClr val="EFF6FF"/>
            </a:solidFill>
            <a:prstDash val="solid"/>
          </a:ln>
        </p:spPr>
      </p:sp>
      <p:sp>
        <p:nvSpPr>
          <p:cNvPr id="15" name="Shape 13"/>
          <p:cNvSpPr/>
          <p:nvPr/>
        </p:nvSpPr>
        <p:spPr>
          <a:xfrm>
            <a:off x="8732520" y="3749040"/>
            <a:ext cx="411480" cy="411480"/>
          </a:xfrm>
          <a:prstGeom prst="ellipse">
            <a:avLst/>
          </a:prstGeom>
          <a:solidFill>
            <a:srgbClr val="2563EB"/>
          </a:solidFill>
          <a:ln w="12700">
            <a:solidFill>
              <a:srgbClr val="2563EB"/>
            </a:solidFill>
            <a:prstDash val="solid"/>
          </a:ln>
        </p:spPr>
      </p:sp>
      <p:sp>
        <p:nvSpPr>
          <p:cNvPr id="16" name="Text 14"/>
          <p:cNvSpPr txBox="1"/>
          <p:nvPr/>
        </p:nvSpPr>
        <p:spPr>
          <a:xfrm>
            <a:off x="9235440" y="3611880"/>
            <a:ext cx="731520" cy="365760"/>
          </a:xfrm>
          <a:prstGeom prst="rect">
            <a:avLst/>
          </a:prstGeom>
          <a:noFill/>
          <a:ln/>
        </p:spPr>
        <p:txBody>
          <a:bodyPr wrap="square" lIns="0" tIns="0" rIns="0" bIns="0" rtlCol="0" anchor="ctr"/>
          <a:lstStyle/>
          <a:p>
            <a:pPr marL="0" indent="0" algn="l">
              <a:buNone/>
            </a:pPr>
            <a:r>
              <a:rPr lang="en-US" sz="1000" b="1" dirty="0">
                <a:solidFill>
                  <a:srgbClr val="111827"/>
                </a:solidFill>
                <a:latin typeface="Arial" pitchFamily="34" charset="0"/>
                <a:ea typeface="Arial" pitchFamily="34" charset="-122"/>
                <a:cs typeface="Arial" pitchFamily="34" charset="-120"/>
              </a:rPr>
              <a:t>Ad Soyad</a:t>
            </a:r>
            <a:endParaRPr lang="en-US" sz="1000" dirty="0"/>
          </a:p>
          <a:p>
            <a:pPr marL="0" indent="0" algn="l">
              <a:buNone/>
            </a:pPr>
            <a:r>
              <a:rPr lang="en-US" sz="900" dirty="0">
                <a:solidFill>
                  <a:srgbClr val="6B7280"/>
                </a:solidFill>
                <a:latin typeface="Arial" pitchFamily="34" charset="0"/>
                <a:ea typeface="Arial" pitchFamily="34" charset="-122"/>
                <a:cs typeface="Arial" pitchFamily="34" charset="-120"/>
              </a:rPr>
              <a:t>Meslek</a:t>
            </a:r>
            <a:endParaRPr lang="en-US" sz="1000" dirty="0"/>
          </a:p>
        </p:txBody>
      </p:sp>
      <p:sp>
        <p:nvSpPr>
          <p:cNvPr id="17" name="Shape 15"/>
          <p:cNvSpPr/>
          <p:nvPr/>
        </p:nvSpPr>
        <p:spPr>
          <a:xfrm>
            <a:off x="9235440" y="4023360"/>
            <a:ext cx="1188720" cy="274320"/>
          </a:xfrm>
          <a:prstGeom prst="roundRect">
            <a:avLst>
              <a:gd name="adj" fmla="val 33333"/>
            </a:avLst>
          </a:prstGeom>
          <a:solidFill>
            <a:srgbClr val="FFFFFF"/>
          </a:solidFill>
          <a:ln w="12700">
            <a:solidFill>
              <a:srgbClr val="2563EB"/>
            </a:solidFill>
            <a:prstDash val="solid"/>
          </a:ln>
        </p:spPr>
      </p:sp>
      <p:sp>
        <p:nvSpPr>
          <p:cNvPr id="18" name="Text 16"/>
          <p:cNvSpPr txBox="1"/>
          <p:nvPr/>
        </p:nvSpPr>
        <p:spPr>
          <a:xfrm>
            <a:off x="9235440" y="4023360"/>
            <a:ext cx="1188720" cy="274320"/>
          </a:xfrm>
          <a:prstGeom prst="rect">
            <a:avLst/>
          </a:prstGeom>
          <a:noFill/>
          <a:ln/>
        </p:spPr>
        <p:txBody>
          <a:bodyPr wrap="square" lIns="0" tIns="0" rIns="0" bIns="0" rtlCol="0" anchor="ctr"/>
          <a:lstStyle/>
          <a:p>
            <a:pPr marL="0" indent="0" algn="ctr">
              <a:buNone/>
            </a:pPr>
            <a:r>
              <a:rPr lang="en-US" sz="900" b="1" dirty="0">
                <a:solidFill>
                  <a:srgbClr val="2563EB"/>
                </a:solidFill>
                <a:latin typeface="Arial" pitchFamily="34" charset="0"/>
                <a:ea typeface="Arial" pitchFamily="34" charset="-122"/>
                <a:cs typeface="Arial" pitchFamily="34" charset="-120"/>
              </a:rPr>
              <a:t>Takip et</a:t>
            </a:r>
            <a:endParaRPr lang="en-US" sz="900" dirty="0"/>
          </a:p>
        </p:txBody>
      </p:sp>
      <p:sp>
        <p:nvSpPr>
          <p:cNvPr id="19" name="Shape 17"/>
          <p:cNvSpPr/>
          <p:nvPr/>
        </p:nvSpPr>
        <p:spPr>
          <a:xfrm>
            <a:off x="8641080" y="4526280"/>
            <a:ext cx="2103120" cy="868680"/>
          </a:xfrm>
          <a:prstGeom prst="roundRect">
            <a:avLst>
              <a:gd name="adj" fmla="val 10526"/>
            </a:avLst>
          </a:prstGeom>
          <a:solidFill>
            <a:srgbClr val="EFF6FF"/>
          </a:solidFill>
          <a:ln w="9525">
            <a:solidFill>
              <a:srgbClr val="EFF6FF"/>
            </a:solidFill>
            <a:prstDash val="solid"/>
          </a:ln>
        </p:spPr>
      </p:sp>
      <p:sp>
        <p:nvSpPr>
          <p:cNvPr id="20" name="Shape 18"/>
          <p:cNvSpPr/>
          <p:nvPr/>
        </p:nvSpPr>
        <p:spPr>
          <a:xfrm>
            <a:off x="8732520" y="4754880"/>
            <a:ext cx="411480" cy="411480"/>
          </a:xfrm>
          <a:prstGeom prst="ellipse">
            <a:avLst/>
          </a:prstGeom>
          <a:solidFill>
            <a:srgbClr val="2563EB"/>
          </a:solidFill>
          <a:ln w="12700">
            <a:solidFill>
              <a:srgbClr val="2563EB"/>
            </a:solidFill>
            <a:prstDash val="solid"/>
          </a:ln>
        </p:spPr>
      </p:sp>
      <p:sp>
        <p:nvSpPr>
          <p:cNvPr id="21" name="Text 19"/>
          <p:cNvSpPr txBox="1"/>
          <p:nvPr/>
        </p:nvSpPr>
        <p:spPr>
          <a:xfrm>
            <a:off x="9235440" y="4617720"/>
            <a:ext cx="731520" cy="365760"/>
          </a:xfrm>
          <a:prstGeom prst="rect">
            <a:avLst/>
          </a:prstGeom>
          <a:noFill/>
          <a:ln/>
        </p:spPr>
        <p:txBody>
          <a:bodyPr wrap="square" lIns="0" tIns="0" rIns="0" bIns="0" rtlCol="0" anchor="ctr"/>
          <a:lstStyle/>
          <a:p>
            <a:pPr marL="0" indent="0" algn="l">
              <a:buNone/>
            </a:pPr>
            <a:r>
              <a:rPr lang="en-US" sz="1000" b="1" dirty="0">
                <a:solidFill>
                  <a:srgbClr val="111827"/>
                </a:solidFill>
                <a:latin typeface="Arial" pitchFamily="34" charset="0"/>
                <a:ea typeface="Arial" pitchFamily="34" charset="-122"/>
                <a:cs typeface="Arial" pitchFamily="34" charset="-120"/>
              </a:rPr>
              <a:t>Ad Soyad</a:t>
            </a:r>
            <a:endParaRPr lang="en-US" sz="1000" dirty="0"/>
          </a:p>
          <a:p>
            <a:pPr marL="0" indent="0" algn="l">
              <a:buNone/>
            </a:pPr>
            <a:r>
              <a:rPr lang="en-US" sz="900" dirty="0">
                <a:solidFill>
                  <a:srgbClr val="6B7280"/>
                </a:solidFill>
                <a:latin typeface="Arial" pitchFamily="34" charset="0"/>
                <a:ea typeface="Arial" pitchFamily="34" charset="-122"/>
                <a:cs typeface="Arial" pitchFamily="34" charset="-120"/>
              </a:rPr>
              <a:t>Meslek</a:t>
            </a:r>
            <a:endParaRPr lang="en-US" sz="1000" dirty="0"/>
          </a:p>
        </p:txBody>
      </p:sp>
      <p:sp>
        <p:nvSpPr>
          <p:cNvPr id="22" name="Shape 20"/>
          <p:cNvSpPr/>
          <p:nvPr/>
        </p:nvSpPr>
        <p:spPr>
          <a:xfrm>
            <a:off x="9235440" y="5029200"/>
            <a:ext cx="1188720" cy="274320"/>
          </a:xfrm>
          <a:prstGeom prst="roundRect">
            <a:avLst>
              <a:gd name="adj" fmla="val 33333"/>
            </a:avLst>
          </a:prstGeom>
          <a:solidFill>
            <a:srgbClr val="FFFFFF"/>
          </a:solidFill>
          <a:ln w="12700">
            <a:solidFill>
              <a:srgbClr val="2563EB"/>
            </a:solidFill>
            <a:prstDash val="solid"/>
          </a:ln>
        </p:spPr>
      </p:sp>
      <p:sp>
        <p:nvSpPr>
          <p:cNvPr id="23" name="Text 21"/>
          <p:cNvSpPr txBox="1"/>
          <p:nvPr/>
        </p:nvSpPr>
        <p:spPr>
          <a:xfrm>
            <a:off x="9235440" y="5029200"/>
            <a:ext cx="1188720" cy="274320"/>
          </a:xfrm>
          <a:prstGeom prst="rect">
            <a:avLst/>
          </a:prstGeom>
          <a:noFill/>
          <a:ln/>
        </p:spPr>
        <p:txBody>
          <a:bodyPr wrap="square" lIns="0" tIns="0" rIns="0" bIns="0" rtlCol="0" anchor="ctr"/>
          <a:lstStyle/>
          <a:p>
            <a:pPr marL="0" indent="0" algn="ctr">
              <a:buNone/>
            </a:pPr>
            <a:r>
              <a:rPr lang="en-US" sz="900" b="1" dirty="0">
                <a:solidFill>
                  <a:srgbClr val="2563EB"/>
                </a:solidFill>
                <a:latin typeface="Arial" pitchFamily="34" charset="0"/>
                <a:ea typeface="Arial" pitchFamily="34" charset="-122"/>
                <a:cs typeface="Arial" pitchFamily="34" charset="-120"/>
              </a:rPr>
              <a:t>Takip et</a:t>
            </a:r>
            <a:endParaRPr lang="en-US" sz="900" dirty="0"/>
          </a:p>
        </p:txBody>
      </p:sp>
      <p:sp>
        <p:nvSpPr>
          <p:cNvPr id="24" name="Text 22"/>
          <p:cNvSpPr txBox="1"/>
          <p:nvPr/>
        </p:nvSpPr>
        <p:spPr>
          <a:xfrm>
            <a:off x="7863840" y="5669280"/>
            <a:ext cx="3657600" cy="274320"/>
          </a:xfrm>
          <a:prstGeom prst="rect">
            <a:avLst/>
          </a:prstGeom>
          <a:noFill/>
          <a:ln/>
        </p:spPr>
        <p:txBody>
          <a:bodyPr wrap="square" lIns="0" tIns="0" rIns="0" bIns="0" rtlCol="0" anchor="ctr"/>
          <a:lstStyle/>
          <a:p>
            <a:pPr marL="0" indent="0" algn="ctr">
              <a:buNone/>
            </a:pPr>
            <a:r>
              <a:rPr lang="en-US" sz="1200" dirty="0">
                <a:solidFill>
                  <a:srgbClr val="6B7280"/>
                </a:solidFill>
                <a:latin typeface="Arial" pitchFamily="34" charset="0"/>
                <a:ea typeface="Arial" pitchFamily="34" charset="-122"/>
                <a:cs typeface="Arial" pitchFamily="34" charset="-120"/>
              </a:rPr>
              <a:t>Hedef ekran taslağı</a:t>
            </a:r>
            <a:endParaRPr lang="en-US" sz="1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Uygulama Saati: Başlangıç Kodu</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694176"/>
          </a:xfrm>
          <a:prstGeom prst="roundRect">
            <a:avLst>
              <a:gd name="adj" fmla="val 247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TSX</a:t>
            </a:r>
            <a:endParaRPr lang="en-US" sz="1100" dirty="0"/>
          </a:p>
        </p:txBody>
      </p:sp>
      <p:sp>
        <p:nvSpPr>
          <p:cNvPr id="6" name="Text 4"/>
          <p:cNvSpPr txBox="1"/>
          <p:nvPr/>
        </p:nvSpPr>
        <p:spPr>
          <a:xfrm>
            <a:off x="960120" y="2103120"/>
            <a:ext cx="6309360" cy="3145536"/>
          </a:xfrm>
          <a:prstGeom prst="rect">
            <a:avLst/>
          </a:prstGeom>
          <a:noFill/>
          <a:ln/>
        </p:spPr>
        <p:txBody>
          <a:bodyPr wrap="square" lIns="0" tIns="0" rIns="0" bIns="0" rtlCol="0" anchor="t"/>
          <a:lstStyle/>
          <a:p>
            <a:pPr marL="0" indent="0" algn="l">
              <a:buNone/>
            </a:pPr>
            <a:r>
              <a:rPr lang="en-US" sz="1200" dirty="0">
                <a:solidFill>
                  <a:srgbClr val="111827"/>
                </a:solidFill>
                <a:latin typeface="Courier New" pitchFamily="34" charset="0"/>
                <a:ea typeface="Courier New" pitchFamily="34" charset="-122"/>
                <a:cs typeface="Courier New" pitchFamily="34" charset="-120"/>
              </a:rPr>
              <a:t>interface Props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name: string;</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following: boolean;</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onToggle: () =&gt; void;</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ProfileCard = (p: Props) =&gt;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&lt;View style={{ padding: </a:t>
            </a:r>
            <a:r>
              <a:rPr lang="en-US" sz="1200" dirty="0">
                <a:solidFill>
                  <a:srgbClr val="B45309"/>
                </a:solidFill>
                <a:latin typeface="Courier New" pitchFamily="34" charset="0"/>
                <a:ea typeface="Courier New" pitchFamily="34" charset="-122"/>
                <a:cs typeface="Courier New" pitchFamily="34" charset="-120"/>
              </a:rPr>
              <a:t>16</a:t>
            </a:r>
            <a:r>
              <a:rPr lang="en-US" sz="1200" dirty="0">
                <a:solidFill>
                  <a:srgbClr val="111827"/>
                </a:solidFill>
                <a:latin typeface="Courier New" pitchFamily="34" charset="0"/>
                <a:ea typeface="Courier New" pitchFamily="34" charset="-122"/>
                <a:cs typeface="Courier New" pitchFamily="34" charset="-120"/>
              </a:rPr>
              <a:t> }}&gt;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&lt;Text&gt;{p.name}&lt;/Text&gt;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&lt;/View&gt;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b="1" dirty="0">
                <a:solidFill>
                  <a:srgbClr val="2563EB"/>
                </a:solidFill>
                <a:latin typeface="Courier New" pitchFamily="34" charset="0"/>
                <a:ea typeface="Courier New" pitchFamily="34" charset="-122"/>
                <a:cs typeface="Courier New" pitchFamily="34" charset="-120"/>
              </a:rPr>
              <a:t>const</a:t>
            </a:r>
            <a:r>
              <a:rPr lang="en-US" sz="1200" dirty="0">
                <a:solidFill>
                  <a:srgbClr val="111827"/>
                </a:solidFill>
                <a:latin typeface="Courier New" pitchFamily="34" charset="0"/>
                <a:ea typeface="Courier New" pitchFamily="34" charset="-122"/>
                <a:cs typeface="Courier New" pitchFamily="34" charset="-120"/>
              </a:rPr>
              <a:t> App = () =&gt; (</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&lt;ProfileCard name=</a:t>
            </a:r>
            <a:r>
              <a:rPr lang="en-US" sz="1200" dirty="0">
                <a:solidFill>
                  <a:srgbClr val="047857"/>
                </a:solidFill>
                <a:latin typeface="Courier New" pitchFamily="34" charset="0"/>
                <a:ea typeface="Courier New" pitchFamily="34" charset="-122"/>
                <a:cs typeface="Courier New" pitchFamily="34" charset="-120"/>
              </a:rPr>
              <a:t>”</a:t>
            </a:r>
            <a:r>
              <a:rPr lang="en-US" sz="1200" dirty="0" err="1">
                <a:solidFill>
                  <a:srgbClr val="047857"/>
                </a:solidFill>
                <a:latin typeface="Courier New" pitchFamily="34" charset="0"/>
                <a:ea typeface="Courier New" pitchFamily="34" charset="-122"/>
                <a:cs typeface="Courier New" pitchFamily="34" charset="-120"/>
              </a:rPr>
              <a:t>Suna</a:t>
            </a:r>
            <a:r>
              <a:rPr lang="en-US" sz="1200" dirty="0">
                <a:solidFill>
                  <a:srgbClr val="047857"/>
                </a:solidFill>
                <a:latin typeface="Courier New" pitchFamily="34" charset="0"/>
                <a:ea typeface="Courier New" pitchFamily="34" charset="-122"/>
                <a:cs typeface="Courier New" pitchFamily="34" charset="-120"/>
              </a:rPr>
              <a:t>"</a:t>
            </a:r>
            <a:r>
              <a:rPr lang="en-US" sz="1200" dirty="0">
                <a:solidFill>
                  <a:srgbClr val="111827"/>
                </a:solidFill>
                <a:latin typeface="Courier New" pitchFamily="34" charset="0"/>
                <a:ea typeface="Courier New" pitchFamily="34" charset="-122"/>
                <a:cs typeface="Courier New" pitchFamily="34" charset="-120"/>
              </a:rPr>
              <a:t> following={</a:t>
            </a:r>
            <a:r>
              <a:rPr lang="en-US" sz="1200" b="1" dirty="0">
                <a:solidFill>
                  <a:srgbClr val="2563EB"/>
                </a:solidFill>
                <a:latin typeface="Courier New" pitchFamily="34" charset="0"/>
                <a:ea typeface="Courier New" pitchFamily="34" charset="-122"/>
                <a:cs typeface="Courier New" pitchFamily="34" charset="-120"/>
              </a:rPr>
              <a:t>false</a:t>
            </a: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    onToggle={() =&gt; {}} /&gt;</a:t>
            </a:r>
            <a:endParaRPr lang="en-US" sz="1200" dirty="0"/>
          </a:p>
          <a:p>
            <a:pPr marL="0" indent="0" algn="l">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731520" y="5477256"/>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605272"/>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Başlangıçta </a:t>
            </a:r>
            <a:r>
              <a:rPr lang="en-US" sz="1500" dirty="0" err="1">
                <a:solidFill>
                  <a:srgbClr val="111827"/>
                </a:solidFill>
                <a:latin typeface="Arial" pitchFamily="34" charset="0"/>
                <a:ea typeface="Arial" pitchFamily="34" charset="-122"/>
                <a:cs typeface="Arial" pitchFamily="34" charset="-120"/>
              </a:rPr>
              <a:t>yalnızca</a:t>
            </a:r>
            <a:r>
              <a:rPr lang="en-US" sz="1500" dirty="0">
                <a:solidFill>
                  <a:srgbClr val="111827"/>
                </a:solidFill>
                <a:latin typeface="Arial" pitchFamily="34" charset="0"/>
                <a:ea typeface="Arial" pitchFamily="34" charset="-122"/>
                <a:cs typeface="Arial" pitchFamily="34" charset="-120"/>
              </a:rPr>
              <a:t> ”</a:t>
            </a:r>
            <a:r>
              <a:rPr lang="en-US" sz="1500" dirty="0" err="1">
                <a:solidFill>
                  <a:srgbClr val="111827"/>
                </a:solidFill>
                <a:latin typeface="Arial" pitchFamily="34" charset="0"/>
                <a:ea typeface="Arial" pitchFamily="34" charset="-122"/>
                <a:cs typeface="Arial" pitchFamily="34" charset="-120"/>
              </a:rPr>
              <a:t>Suna</a:t>
            </a:r>
            <a:r>
              <a:rPr lang="en-US" sz="1500" dirty="0">
                <a:solidFill>
                  <a:srgbClr val="111827"/>
                </a:solidFill>
                <a:latin typeface="Arial" pitchFamily="34" charset="0"/>
                <a:ea typeface="Arial" pitchFamily="34" charset="-122"/>
                <a:cs typeface="Arial" pitchFamily="34" charset="-120"/>
              </a:rPr>
              <a:t>" adı görünür.</a:t>
            </a:r>
            <a:endParaRPr lang="en-US" sz="1100" dirty="0"/>
          </a:p>
        </p:txBody>
      </p:sp>
      <p:sp>
        <p:nvSpPr>
          <p:cNvPr id="9" name="Text 7"/>
          <p:cNvSpPr txBox="1"/>
          <p:nvPr/>
        </p:nvSpPr>
        <p:spPr>
          <a:xfrm>
            <a:off x="7772400" y="1645920"/>
            <a:ext cx="3931920" cy="40050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geçen haftayı tamamlamamış öğrencilerin de görevi hazır bir iskeletle başlatabilmesidir.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ProfileCard, tipli props ile dışarıdan ad, takip durumu ve bir callback alır. App şimdilik sabit değerler veriyor. Göreviniz App'e takip edilen id'leri tutan state'i eklemek, kartı birden fazla kişiyle çizmek ve düğmeyi bağlamaktır.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Kendi 5. hafta kodunuz çalışıyorsa onu kullanın; bu iskelet yalnızca zamandan tasarruf içindir.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Kontrol Soruları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Sıradan bir değişken ile state arasındaki fark nedir?</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Dizi state'ine eleman eklerken neden push kullanılmaz?</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setCount(count + 1) iki kez çağrıldığında neden yalnızca bir artış olur ve nasıl düzeltilir?</a:t>
            </a:r>
            <a:endParaRPr lang="en-US" sz="2200" dirty="0"/>
          </a:p>
          <a:p>
            <a:pPr marL="279400" indent="-279400" algn="l">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İki kardeş bileşen aynı veriyi göstermek istiyorsa state nerede tutulur?</a:t>
            </a:r>
            <a:endParaRPr lang="en-US" sz="2200" dirty="0"/>
          </a:p>
        </p:txBody>
      </p:sp>
      <p:sp>
        <p:nvSpPr>
          <p:cNvPr id="5" name="Shape 3"/>
          <p:cNvSpPr/>
          <p:nvPr/>
        </p:nvSpPr>
        <p:spPr>
          <a:xfrm>
            <a:off x="7863840" y="1645920"/>
            <a:ext cx="3657600" cy="1170432"/>
          </a:xfrm>
          <a:prstGeom prst="roundRect">
            <a:avLst>
              <a:gd name="adj" fmla="val 7813"/>
            </a:avLst>
          </a:prstGeom>
          <a:solidFill>
            <a:srgbClr val="EFF6FF"/>
          </a:solidFill>
          <a:ln w="9525">
            <a:solidFill>
              <a:srgbClr val="EFF6FF"/>
            </a:solidFill>
            <a:prstDash val="solid"/>
          </a:ln>
        </p:spPr>
      </p:sp>
      <p:sp>
        <p:nvSpPr>
          <p:cNvPr id="6" name="Text 4"/>
          <p:cNvSpPr txBox="1"/>
          <p:nvPr/>
        </p:nvSpPr>
        <p:spPr>
          <a:xfrm>
            <a:off x="8065008" y="1773936"/>
            <a:ext cx="3255264" cy="914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KONTROL SORUSU</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{items.length &amp;&amp; &lt;Text&gt;Liste dolu&lt;/Text&gt;} ifadesi liste boşken ne yapar ve nasıl düzeltilir?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Özet ve Gelecek Hafta</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1097280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State, bileşenin zamanla değişen verisidir; değişince React bileşeni yeniden çizer. State'i her zaman güncelleyici fonksiyonla ve yeni bir kopya vererek değiştirmek gerekir. Eski değere bağlı güncellemelerde fonksiyonel biçim güvenlidir. Ortak veri en yakın ortak üst bileşende tutulur. Yazı girişi 9. haftada formlarla gelecek. Gelecek hafta navigasyonla birden çok ekranlı uygulamalar yazacağız.</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40</a:t>
            </a:fld>
            <a:endParaRPr lang="en-US"/>
          </a:p>
        </p:txBody>
      </p:sp>
    </p:spTree>
  </p:cSld>
  <p:clrMapOvr>
    <a:masterClrMapping/>
  </p:clrMapOvr>
</p:sld>
</file>

<file path=ppt/theme/theme1.xml><?xml version="1.0" encoding="utf-8"?>
<a:theme xmlns:a="http://schemas.openxmlformats.org/drawingml/2006/main" name="Mobil Programlama A">
  <a:themeElements>
    <a:clrScheme name="Mobil Programlama A">
      <a:dk1>
        <a:srgbClr val="111827"/>
      </a:dk1>
      <a:lt1>
        <a:srgbClr val="FFFFFF"/>
      </a:lt1>
      <a:dk2>
        <a:srgbClr val="374151"/>
      </a:dk2>
      <a:lt2>
        <a:srgbClr val="F8FAFC"/>
      </a:lt2>
      <a:accent1>
        <a:srgbClr val="2563EB"/>
      </a:accent1>
      <a:accent2>
        <a:srgbClr val="B45309"/>
      </a:accent2>
      <a:accent3>
        <a:srgbClr val="B91C1C"/>
      </a:accent3>
      <a:accent4>
        <a:srgbClr val="0EA5E9"/>
      </a:accent4>
      <a:accent5>
        <a:srgbClr val="7C3AED"/>
      </a:accent5>
      <a:accent6>
        <a:srgbClr val="059669"/>
      </a:accent6>
      <a:hlink>
        <a:srgbClr val="2563EB"/>
      </a:hlink>
      <a:folHlink>
        <a:srgbClr val="7C3AED"/>
      </a:folHlink>
    </a:clrScheme>
    <a:fontScheme name="Mobil Programlama 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11363</Words>
  <Application>Microsoft Macintosh PowerPoint</Application>
  <PresentationFormat>Geniş ekran</PresentationFormat>
  <Paragraphs>681</Paragraphs>
  <Slides>40</Slides>
  <Notes>40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40</vt:i4>
      </vt:variant>
    </vt:vector>
  </HeadingPairs>
  <TitlesOfParts>
    <vt:vector size="44" baseType="lpstr">
      <vt:lpstr>Arial</vt:lpstr>
      <vt:lpstr>Calibri</vt:lpstr>
      <vt:lpstr>Courier New</vt:lpstr>
      <vt:lpstr>Mobil Programlama A</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BGP 201 Mobil Programlama — Hafta 6</dc:title>
  <dc:subject>PptxGenJS Presentation</dc:subject>
  <dc:creator>BGP 201</dc:creator>
  <cp:lastModifiedBy>Microsoft Office User</cp:lastModifiedBy>
  <cp:revision>9</cp:revision>
  <dcterms:created xsi:type="dcterms:W3CDTF">2026-10-26T19:13:40Z</dcterms:created>
  <dcterms:modified xsi:type="dcterms:W3CDTF">2026-10-31T22:05:18Z</dcterms:modified>
</cp:coreProperties>
</file>