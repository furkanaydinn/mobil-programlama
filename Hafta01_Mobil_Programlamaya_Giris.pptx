
<file path=[Content_Types].xml><?xml version="1.0" encoding="utf-8"?>
<Types xmlns="http://schemas.openxmlformats.org/package/2006/content-types">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94" r:id="rId10"/>
    <p:sldId id="264" r:id="rId11"/>
    <p:sldId id="265" r:id="rId12"/>
    <p:sldId id="266" r:id="rId13"/>
    <p:sldId id="267" r:id="rId14"/>
    <p:sldId id="268" r:id="rId15"/>
    <p:sldId id="269" r:id="rId16"/>
    <p:sldId id="295" r:id="rId17"/>
    <p:sldId id="270" r:id="rId18"/>
    <p:sldId id="271" r:id="rId19"/>
    <p:sldId id="272" r:id="rId20"/>
    <p:sldId id="273" r:id="rId21"/>
    <p:sldId id="274" r:id="rId22"/>
    <p:sldId id="275" r:id="rId23"/>
    <p:sldId id="276" r:id="rId24"/>
    <p:sldId id="277" r:id="rId25"/>
    <p:sldId id="278" r:id="rId26"/>
    <p:sldId id="279" r:id="rId27"/>
    <p:sldId id="280" r:id="rId28"/>
    <p:sldId id="282" r:id="rId29"/>
    <p:sldId id="283" r:id="rId30"/>
    <p:sldId id="284" r:id="rId31"/>
    <p:sldId id="285" r:id="rId32"/>
    <p:sldId id="287" r:id="rId33"/>
    <p:sldId id="288" r:id="rId34"/>
    <p:sldId id="290" r:id="rId35"/>
    <p:sldId id="291" r:id="rId36"/>
    <p:sldId id="292" r:id="rId37"/>
    <p:sldId id="289" r:id="rId3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iriş" id="{46862C55-7564-CBE1-CFD4-5F8544353024}">
          <p14:sldIdLst>
            <p14:sldId id="256"/>
            <p14:sldId id="257"/>
            <p14:sldId id="258"/>
          </p14:sldIdLst>
        </p14:section>
        <p14:section name="Bölüm 1: Mobil Dünya" id="{C425AEB1-17C4-E264-BB70-3F7AA6DA85FD}">
          <p14:sldIdLst>
            <p14:sldId id="259"/>
            <p14:sldId id="260"/>
            <p14:sldId id="261"/>
            <p14:sldId id="262"/>
            <p14:sldId id="263"/>
            <p14:sldId id="294"/>
            <p14:sldId id="264"/>
            <p14:sldId id="265"/>
            <p14:sldId id="266"/>
            <p14:sldId id="267"/>
            <p14:sldId id="268"/>
            <p14:sldId id="269"/>
            <p14:sldId id="295"/>
            <p14:sldId id="270"/>
            <p14:sldId id="271"/>
            <p14:sldId id="272"/>
            <p14:sldId id="273"/>
          </p14:sldIdLst>
        </p14:section>
        <p14:section name="Bölüm 2: Geliştirme Yaklaşımları" id="{B095DD5F-6045-D102-186E-7E2234DF6FC1}">
          <p14:sldIdLst>
            <p14:sldId id="274"/>
            <p14:sldId id="275"/>
            <p14:sldId id="276"/>
            <p14:sldId id="277"/>
            <p14:sldId id="278"/>
            <p14:sldId id="279"/>
            <p14:sldId id="280"/>
            <p14:sldId id="282"/>
            <p14:sldId id="283"/>
            <p14:sldId id="284"/>
          </p14:sldIdLst>
        </p14:section>
        <p14:section name="Bölüm 3: Bu Derste Neden React Native ve TypeScript?" id="{47EBF5A8-83E1-E454-10A8-1A6639B7322C}">
          <p14:sldIdLst>
            <p14:sldId id="285"/>
            <p14:sldId id="287"/>
            <p14:sldId id="288"/>
            <p14:sldId id="290"/>
            <p14:sldId id="291"/>
            <p14:sldId id="292"/>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4610"/>
  </p:normalViewPr>
  <p:slideViewPr>
    <p:cSldViewPr snapToGrid="0" snapToObjects="1">
      <p:cViewPr varScale="1">
        <p:scale>
          <a:sx n="109" d="100"/>
          <a:sy n="109" d="100"/>
        </p:scale>
        <p:origin x="68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94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Derse dönemin yol haritasını göstererek başlayın. Bu hafta kod yazılmaz; hedef, öğrencinin mobil dünyayı bir sistem olarak görmesi ve ileride seçeceği teknolojiyi gerekçelendirebilmesidir. Ö1 ve Ö3 bu hafta karşılanır. Anlatım önerisi: "Merhaba, bu dönem birlikte bir mobil uygulamayı baştan sona geliştirmeyi öğreneceğiz. Bugün hiç kod yazmayacağız. Önce telefonunuzdaki uygulamaların arkasında nasıl bir düzen olduğuna bakacağız, sonra bu uygulamaların hangi yöntemlerle yazıldığını konuşacağız. Ekranın altındaki logolar bugün adını duyacağınız teknolojilerdir: Android, iOS, iki mağaza ve geliştirme tarafında Kotlin, Swift, Flutter ve React Native. Hepsini bugün öğrenmenizi beklemiyorum, dönem sonunda bu haritanın içinde rahatça gezebilmenizi bekliyorum." Kapak ekranda dururken öğrencilerin yoklamasını alabilir ve ders izlencesinin nerede yayınlandığını söyleyebilirsiniz.</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Hedefleri okuyup geçmeyin; her hedefi bir soruya çevirin: "Bir uygulamayı telefonunuza ulaştıran zincir nedir?", "Neden aynı uygulama iOS'ta farklı görünür?", "Bankanız neden iki ayrı uygulama yazdırıyor olabilir?" Cevapları tahtaya yazın ve hafta sonunda geri dönün. Hedefleri sınıfa yüksek sesle okutmak, öğrencilerin derse niyetle girmesini sağlar. Hafta sonunda aynı üç hedefi tekrar gösterip kaçının karşılandığını el kaldırarak sorun; bu, kısa bir kapanış değerlendirmesi olarak da işe yarar. Anlatım önerisi: "Bu üç hedefe dersin sonunda tekrar döneceğiz. Birincisi, bir uygulamanın tek başına bir program olmadığını, cihaz, işletim sistemi, mağaza ve sunucudan oluşan bir zincirin parçası olduğunu göreceksiniz. İkincisi, Android ile iOS'un neden farklı davrandığını ve bunun size nasıl bir iş yükü getirdiğini karşılaştıracağız. Üçüncüsü, aynı uygulamayı yazmanın dört ayrı yolu olduğunu ve bunlar arasında nasıl gerekçeli bir seçim yapılacağını öğreneceksiniz." Her hedef için sınıfa tek cümlelik bir tahmin sordurun; cevapları tahtanın köşesine yazıp ders sonunda doğruluğunu birlikte kontrol edin.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Süre dağılımı: ekosistem ve platform 35 dk, yaklaşımlar 45 dk, seçim mantığı 20 dk, uygulama 60 dk. Aralarda iki kısa soru-cevap noktası vardır. Öğrencilere telefonlarını masada tutmalarını söyleyin; çünkü birkaç örnekte kendi cihazlarını inceleyeceğiz. Zaman çizelgesini ekranda tutmak, uygulama saatine yeterli süre kalmasını güvence altına alır. Tartışmalar uzarsa seçim mantığı bölümünü kısaltmayın, bunun yerine gerçek senaryo slaytlarını hızlı geçin. Mola zamanını da bu noktada duyurmanız yararlı olur. Anlatım önerisi: "Üç saatimizi dört parçaya bölüyoruz. İlk parçada mobil dünyanın aktörlerini tanıyacağız. İkinci parçada Android ve iOS arasındaki ekonomik ve teknik farklara bakacağız. Üçüncü parça dersin en yoğun kısmı: dört geliştirme yaklaşımını tek tek açıp karşılaştıracağız. Sonra bir saat boyunca kendi seçtiğiniz bir uygulamayı analiz edeceksiniz." Akışı gösterirken uygulama saatinin teoriden kısaltılmayacağını açıkça söyleyin. Öğrencilerin derse beklentisini yönetmek için, bugün kurulum yapılmayacağını ancak gelecek hafta için hazırlık yapmaları gerektiğini şimdiden belirtin.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Anlatım önerisi: "İlk bölümümüz mobil dünya. Ama önce size basit bir soru: telefonunuzda bir uygulama açtığınızda arka planda kaç farklı taraf çalışıyor?" Öğrencilerden birkaç tahmin alın; çoğu kişi bir ya da iki diyecektir. Bu bölümün sonunda gerçek sayının çok daha fazla olduğunu birlikte göreceksiniz. Bölüm geçiş slaytlarını kısa tutun, soruyu sorup hemen sonraki slayta geçmek yeterlidir.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Öğrencilere en çok kullandıkları üç uygulamayı sorun ve her birinin hangi sensör, hangi ağ hizmeti ve hangi mağaza kuralına bağlı olduğunu tartıştırın. Amaç, "uygulama = ekran" varsayımını kırmaktır. Tanımı verdikten sonra tahtaya dört kutu çizdirip öğrencilerle doldurun. Bir öğrenci uygulamanın çevrimdışı çalışıp çalışmadığını sorarsa, çevrimdışı bir not uygulamasıyla çevrimiçi bir sosyal ağ uygulamasını karşılaştırarak sunucu bağımlılığının derecesinin değiştiğini gösterin. Anlatım önerisi: "Mobil uygulamaya çoğumuz ekran olarak bakarız. Oysa ekran, uygulamanın yalnızca görünen yüzüdür. Bir uygulama telefonun işletim sistemi üzerinde çalışır, kamera, konum ve bildirim gibi donanım özelliklerine izinle erişir, mağazadan kurulur ve çoğu zaman uzaktaki bir sunucuyla sürekli konuşur. Sağdaki şemada ortada uygulamayı, çevresinde ona bağlı dört parçayı görüyorsunuz. Bu parçalardan biri eksik olursa uygulama ya yayınlanamaz, ya çalışmaz ya da veri getirmez." Öğrencilerden bir uygulamayı seçip her kutu için örnek vermelerini isteyin.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uygulamaları amaçlarına göre sınıflandırır; dört geliştirme yaklaşımı ise uygulamanın nasıl yazıldığını anlatır. İki sınıflandırmayı karıştırmamalarını sağlayın. Anlatım önerisi: "Telefonunuzdaki uygulamalara bakın. Birkaçı iletişim, birkaçı oyun, birkaçı alışveriş içindir. Her türün kendine özgü teknik ihtiyacı vardır. Oyun grafik performansı ister, finans uygulaması güvenlik ister, harita uygulaması konum ister. Bu ihtiyaçlar, hangi yaklaşımı seçeceğinizi doğrudan etkiler." Öğrencilere her tür için telefonlarından bir örnek bulmalarını söyleyin ve örneğin hangi donanım özelliğini kullandığını sorun. Tabloya yeni bir tür ekleyebileceklerini, listenin tam olmadığını belirtin. Dönem projesi fikrinin hangi türe girdiğini ve bu türün teknik ihtiyaçlarını yazmalarını isteyin; bu, proje önerisinin ilk adımı olur.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Tabloyu satır satır okumayın; öğrencilerden bir satırı seçip kendi deneyiminden örnek vermesini isteyin. Örneğin metroda bağlantı koptuğunda hangi uygulamanın nasıl davrandığını sorun. Tablodaki 'tasarım sonucu' sütunu asıl öğretim noktasıdır; çünkü öğrenci her teknik kısıtın bir tasarım kararına dönüştüğünü görür. İleride yükleniyor ekranı yazarken veya izin isterken bu slayta atıf yapacağınızı söyleyin. Anlatım önerisi: "Bir masaüstü programı ile mobil uygulama arasındaki farkı beş başlıkta özetleyelim. Ekran küçük ve her telefonda farklı. Girdi parmakla, o yüzden düğmeler büyük olmalı. Pil sınırlı, bu yüzden arka planda sürekli iş yapamayız. Bağlantı her an kopabilir, uygulama bunu zarif biçimde karşılamalı. Donanım erişimi güçlü ama izin ve gizlilik sorumluluğu getiriyor." Son sütunu özellikle vurgulayın: her teknik kısıt bir tasarım kararına dönüşür. Dönem ilerledikçe yazacağımız yükleniyor ekranı, hata mesajı ve izin penceresi bu beş maddeden doğar.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mobil arayüzde gezinmenin üç temel kalıbını görsel olarak tanıtır. Anlatım önerisi: "Masaüstünde menüler genellikle ekranın üstünde, geniş ve her zaman görünür. Telefonda yer dardır, bu yüzden üç kalıp yaygındır. Alt sekme çubuğu, birkaç ana bölüm arasında tek dokunuşla geçiş sağlar; başparmak alt kısma kolay ulaşır. Yan menü, soldan açılan ve çok sayıda ikincil bölümü saklayan menüdür; genellikle üç çizgili bir düğmeyle açılır. Yığın ise bir listeden bir ayrıntıya inmek gibi derinleşen akışı yönetir ve geri düğmesiyle çalışır." Öğrencilerden telefonlarındaki bir uygulamayı açıp hangi kalıbı kullandığını söylemelerini isteyin; çoğu uygulama sekme ve yığını birlikte kullanır. Bu kalıpları 7. haftada React Navigation ile kodlayacağımızı belirtin; şimdilik amaç adlarını ve ne zaman kullanıldıklarını tanımaktır. Menü seçiminin kullanıcının uygulamayı kolay öğrenmesini doğrudan etkilediğini vurgulayın.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mobil arayüzde gezinmenin üç temel kalıbını görsel olarak tanıtır. Anlatım önerisi: "Masaüstünde menüler genellikle ekranın üstünde, geniş ve her zaman görünür. Telefonda yer dardır, bu yüzden üç kalıp yaygındır. Alt sekme çubuğu, birkaç ana bölüm arasında tek dokunuşla geçiş sağlar; başparmak alt kısma kolay ulaşır. Yan menü, soldan açılan ve çok sayıda ikincil bölümü saklayan menüdür; genellikle üç çizgili bir düğmeyle açılır. Yığın ise bir listeden bir ayrıntıya inmek gibi derinleşen akışı yönetir ve geri düğmesiyle çalışır." Öğrencilerden telefonlarındaki bir uygulamayı açıp hangi kalıbı kullandığını söylemelerini isteyin; çoğu uygulama sekme ve yığını birlikte kullanır. Bu kalıpları 7. haftada React Navigation ile kodlayacağımızı belirtin; şimdilik amaç adlarını ve ne zaman kullanıldıklarını tanımaktır. Menü seçiminin kullanıcının uygulamayı kolay öğrenmesini doğrudan etkilediğini vurgulayın.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2897623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tablo, bir önceki slayttaki üç kalıba iki yapı daha ekler ve her birini ders sonunda kullanacağımız kütüphane karşılığıyla eşleştirir. Anlatım önerisi: "Tabloyu soldan sağa okuyun: önce yapı, sonra ne zaman seçildiği, sonra bildiğiniz bir örnek, en sağda ise 7. haftada kullanacağımız araç. Bir uygulama tek yapıdan oluşmaz. Örneğin bir alışveriş uygulamasında altta sekmeler vardır, her sekmenin içinde ürün listesinden ürün detayına giden bir yığın bulunur ve sepete ekleme bir modal ekranda açılabilir." Öğrencilere bir uygulama seçtirip ekran haritasını kâğıda çizdirin. Sekme sayısı sınırının bir kural değil yaygın bir tasarım önerisi olduğunu söyleyin. Ölçüt olarak kullanıcının en sık gittiği bölümlerin sekmeye, nadir gittiklerinin yan menüye konmasını ekleyin.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halka için bir örnek kural verin: mağaza gizlilik politikası ister, işletim sistemi arka plan işini sınırlar, sunucu istek sayısını kısıtlar. Bu zinciri dönem boyunca tekrar tekrar kullanacağız; özellikle 12. ve 14. haftalarda. Zincirin hangi halkasında sorun çıkarsa kullanıcının nasıl etkilendiğini sorgulayın: mağaza reddederse uygulama yayınlanmaz, sunucu çökerse uygulama açılır ama veri gelmez. Bu tür senaryolar, sistem düşüncesini somutlaştırır ve hata ayıklama haftalarına zemin hazırlar. Anlatım önerisi: "Şimdi zinciri baştan sona izleyelim. Geliştirici uygulamayı derler ve mağazaya yükler. Mağaza uygulamayı inceler, yayınlar ve ödemeyi yönetir. Kullanıcı uygulamayı kurar. İşletim sistemi uygulamayı diğerlerinden izole eder ve izinleri denetler. Uygulama çalışırken sunucudan veri alır. Fark ettiniz mi, zincirdeki her halkada kuralı koyan başka bir taraf var." Buradaki en önemli mesaj, uygulamanın neler yapabileceğine geliştiricinin değil platformun karar verdiğidir. Öğrencilere, hangi halkada sorun çıkarsa kullanıcının ne göreceğini sorarak sistem düşüncesini pekiştirin.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Pazar payı yüzdeleri ülkeye ve döneme göre çok değişir; sayı vermeyin, öğrencilere güncel bir istatistik sitesinden kendi ülkelerinin verisine bakmalarını ödev olarak önerin. Türkiye'de Android payının yüksek olduğunu söylemek yeterlidir; kesin oranı doğrulanmadan yazmayın. Tabloyu verirken Android'in çeşitliliğinin test yükünü, iOS'un tekdüzeliğinin ise Apple'ın kurallarına bağımlılığı getirdiğini söyleyin. Öğrencilere hangi platformun kendi çevrelerinde daha yaygın olduğunu sorun; gözlemsel cevaplar pazar kavramını canlandırır. Anlatım önerisi: "Android ve iOS'u üç eksende karşılaştıralım: kim üretiyor, hangi cihazlarda çalışıyor, hangi mağazadan dağıtılıyor. Android'i çok sayıda üretici kullandığı için cihaz çeşitliliği çok yüksektir; bu, size test yükü olarak döner. iOS'u tek bir üretici yapar, cihaz sayısı sınırlıdır ama kurallar Apple'a bağlıdır. En önemli pratik fark: iOS uygulaması geliştirmek için macOS gerekir. Bu yüzden bu dersin uygulamalarını Android üzerinde çalıştıracağız." Pazar payı gibi sayılara girmeyin, öğrencilerden güncel verileri kendi araştırmalarıyla bulmalarını isteyin.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tablo, önceki tablonun geliştirici tarafıdır; öğrencinin günlük işini etkileyen farklar burada toplanır. Anlatım önerisi: "Önceki slayt pazarı anlatıyordu, bu slayt sizin masanızı anlatıyor. Android'de Kotlin yazar, Android Studio kullanırsınız ve hangi bilgisayarla çalışırsanız çalışın uygulamanızı emülatörde açarsınız. iOS'ta Swift yazar, Xcode kullanırsınız ve bunun için macOS'a ihtiyaç duyarsınız. Bu yüzden derste yalnızca Android hedefliyoruz; iOS tarafını kavramsal olarak öğreneceksiniz." Öğrencilerden hangi bilgisayar işletim sistemini kullandıklarını el kaldırarak belirtmelerini isteyin; bu, Mac gereksinimini somutlaştırır. Çapraz platform araçlarının iOS tarafında yine Mac gerektirdiğini, yani bu kısıtın yalnızca native yaklaşıma özgü olmadığını ekleyin. Emülatör ve simülatör farkını da kısaca açıklayın: emülatör donanımı taklit eder, simülatör yalnızca yazılım ortamını.</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Genel çerçeve olarak Google Play'de tek seferlik, Apple'da yıllık bir geliştirici ücreti bulunduğunu ve komisyon oranlarının gelir düzeyine göre kademeli olduğunu söyleyin; ancak sayıları ders materyaline sabitlemeyin. 14. haftada release derlemesi ve yayın sürecini ayrıntılı yapacağız. Anlatım önerisi: "Bir uygulama yazmak işin yarısı, yayınlamak diğer yarısıdır. Önce geliştirici hesabı açılır, sonra uygulama imzalanır ve mağazaya yüklenir. Mağaza gizlilik politikası, ekran görüntüleri ve içerik derecelendirmesi ister. Ardından inceleme gelir; inceleme süresi ve sıkılığı mağazaya göre değişir. Yayından sonra da güncellemeler aynı yoldan geçer." Ücret ve komisyon rakamlarını söylemeyin, bu bilgiler değişir; öğrencilere resmi geliştirici sayfalarına bakmayı öğretin. Yayın sürecini 14. haftada uygulamalı yapacağınızı belirterek kaygıyı azaltın.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tablo yayın sürecinin iki mağazada nasıl farklılaştığını gösterir. Anlatım önerisi: "İki mağazanın amacı aynı, ama kapıdan giriş şekilleri farklı. Google tarafında Play Console'a bir kayıt ücretiyle girersiniz ve uygulamanızı AAB biçiminde yüklersiniz. Apple tarafında yıllık üyelik gerekir, uygulamanızı Xcode ile arşivlersiniz ve inceleme genellikle daha sıkı geçer. Testler için Google kendi test kanallarını, Apple ise TestFlight'ı sunar." Ücret ve komisyon rakamlarını bilerek slayta yazmadık; öğrencilere bu bilgileri resmî sayfalardan bulup not etmelerini ödev olarak verin. Yayın sürecini 14. haftada uygulamalı yapacağınızı ve bu tabloya o zaman geri döneceğinizi söyleyin. Tablodaki alternatif dağıtım satırının bölgesel mevzuata bağlı olarak değişebildiğini, bu nedenle kesin bir hüküm gibi okunmaması gerektiğini vurgulayın.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tablo, Android'in tek mağazaya bağlı olmadığını ve mağaza ekosisteminin zamanla değiştiğini gösterir. Anlatım önerisi: "Google Play ve App Store işin merkezinde, ama tek seçenek değiller. Telefon üreticileri kendi mağazalarını sunar: Samsung Galaxy Store ve Huawei AppGallery gibi. Huawei'de bu mağazanın önemi, cihazlarda Google hizmetlerinin bulunmaması nedeniyle büyüktür. Öte yandan bazı mağazalar kapanmıştır. Amazon, Android için Appstore'unu Ağustos 2025'te kapattı. BlackBerry World ve Windows Phone Store da kullanıcı kazanamayarak ya da platformla birlikte sona erdi." Bu tablodan çıkarılacak ders, platformun ve mağazanın bir iş kararı olduğu ve ömrünün sınırlı olabileceğidir. Öğrencilere eski bir telefonları varsa hangi mağazayı kullandığını sorun. Türkiye'de kullanıcıların büyük çoğunluğunun Google Play ve App Store'u kullandığını, ama Huawei cihazlı kullanıcılar için AppGallery'nin de düşünülebileceğini belirtin; oran vermeyin. Bilgilerin Wikipedia ve haber kaynaklarından derlendiğini, sınıfta göstermeden önce güncel durumu kontrol etmenizi öneririz.</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Öğrencilere sorun: "Hiç para ödemediğiniz bir uygulama size nasıl gelir sağlıyor?" Veri toplama ve reklam kimliği konusuna kısa bir dokunuş yapın; KVKK ve gizlilik konusu 13. haftada detaylanacak. Reklam gösteren bir uygulamanın kullanıcı verisi topladığını, bunun izin ve gizlilik yükümlülükleri doğurduğunu belirtin. Gelir modelinin yazılım mimarisini nasıl şekillendirdiğini vurgulamak, öğrencilerin teknik kararları iş bağlamıyla ilişkilendirmesine yardım eder. Anlatım önerisi: "Para ödemediğiniz bir uygulama size nasıl gelir sağlıyor? Beş temel modelimiz var: ücretli indirme, abonelik, uygulama içi satın alma, reklam ve hizmete bağlı gelir. Bu seçim yalnızca iş kararı değil, teknik bir karardır. Reklam gösteren uygulama ek kütüphaneler ve izinler ister. Abonelik uygulaması üyelik durumunu sunucuda kontrol etmek zorundadır." Gizlilik ve kişisel veri konusuna kısa değinin, ayrıntısı daha sonra gelecek. Öğrencilere kendi telefonlarından her modele bir örnek bulmalarını söyleyebilirsiniz.</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örneği ders boyunca referans olarak kullanacağız: yaklaşım seçerken "bu banka hangisini seçerdi, neden?" sorusunu soracağız. Öğrenciler kendi bankalarının uygulamasını düşünebilir. Öğrencilerden biyometrik doğrulamanın hangi yaklaşımla kolay, hangisiyle zor olduğunu tahmin etmelerini isteyin. Native'de doğrudan platform API'si çağrılırken çapraz platformda bir köprü eklenti gerektiğini söyleyerek yaklaşım haritası slaytına hazırlık yapın. Sonunda her ekibin kararının gerekçesini yazılı hale getirmeleri gerektiğini ekleyin. Anlatım önerisi: "Bir banka uygulamasını ele alalım. İlk bakışta bir dizi ekran gibi görünür. Aslında parmak izi için biyometrik donanıma, bildirimler için push altyapısına, hesap bilgileri için güvenli bir sunucuya ve iki ayrı mağazaya ihtiyacı vardır. Bu yüzden büyük bankalar bu uygulamaları ayrı ekiplerle ya da ortak bir kod tabanıyla yönetir." Öğrencilere bu örneğe dönem boyunca geri döneceğinizi söyleyin: her yeni yaklaşımı öğrendiğimizde bankanın hangisini seçeceğini sorgulayacağız. Böylece teknik bilgi tek bir gerçek senaryoya bağlanır.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Süreç doğrusal bir çizgi gibi görünse de gerçekte döngüseldir; yayından sonraki geri bildirim yeni bir analiz turunu başlatır. Anlatım önerisi: "Bir uygulama kodla başlamaz. Önce kimin hangi sorunu çözeceğini netleştiririz. Sonra ekranları kâğıt üzerinde ya da bir tasarım aracında çizeriz. Ancak ondan sonra kod yazmaya başlarız. Test aşamasında uygulamayı farklı ekran boyutlarında ve kopan bağlantıda deneriz. Yayında mağaza kurallarına uyarız. Yayından sonra iş bitmez; kullanıcı yorumları ve hata raporları bizi yeniden analize götürür." Dönem projesinin de bu aşamaları izleyeceğini söyleyin: fikir bu hafta, tasarım ve kod sonraki haftalarda, yayın hazırlığı 14. haftada. Öğrencilere çoğu proje hatasının aşırı büyük bir fikirden ve test edilmeden bırakılan ekranlardan çıktığını hatırlatın. Aşamalardan hangisinin kendileri için en zor olacağını sorarak kısa bir tartışma açın.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tablo dönem boyunca karşılaşacağınız sorunların haritasıdır ve her satır ileride bir haftayla eşleşir. Anlatım önerisi: "Mobil geliştirme masaüstünden daha zordur, çünkü kontrol edemediğiniz çok şey var. Kullanıcının telefonu, ekran boyutu, bağlantısı, pil durumu ve işletim sistemi sürümü sizin elinizde değil. Bu yüzden iyi bir mobil geliştirici her zaman en kötü durumu düşünür: bağlantı koparsa ne olur, izin verilmezse ne olur, ekran çok küçükse ne olur?" Bağlantı kesintisi için 9–11. haftaları, izin ve güvenlik için 13. haftayı, yerleşim için 5. haftayı, yayın kuralları için 14. haftayı örnek olarak gösterin. Öğrencilere kendi telefonlarında internet kapatıp bir uygulamayı denemelerini ve nasıl davrandığını gözlemlemelerini önerin. Zorlukların bir engel değil, tasarım kararlarının nedeni olduğunu vurgulayın.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Anlatım önerisi: "İkinci bölümde aynı uygulamanın dört farklı yolla nasıl yazılabileceğine bakıyoruz: native, web, hibrit ve çapraz platform. Burada amaç hangisinin en iyi olduğunu bulmak değil. Her yaklaşımın bir bedeli var ve doğru seçim ürünün ihtiyacına bağlı." Geçişi kısa tutun. İsterseniz öğrencilere şu soruyu bırakın: "Aynı uygulamayı hem Android hem iOS için yazmanız gerekse nasıl başlardınız?" Cevapları bölümün sonunda tekrar değerlendireceğinizi söyleyin.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Tahtaya bir eksen çizin: "platforma yakınlık" ve "kod paylaşımı". Dört yaklaşımı bu eksen üzerinde konumlandırın. Sonraki slaytlarda her birine tek tek dönerken öğrencilerden eksendeki yerini hatırlamalarını isteyin. Eksen çizimini tahtada bırakın ve her yaklaşımı tanıttıkça üzerinde işaretleyin. Öğrencilerin ödünleşim kavramını 'bedava öğle yemeği yoktur' ifadesiyle ilişkilendirmesi hatırlanabilirliği artırır. Sınıfta çoğu kişi 'en iyi' arıyorsa yönünü ölçüt tartışmasına çevirin. Anlatım önerisi: "Dört yaklaşımı bir eksen üzerine dizelim. Soldaki native, platformun kendi dilini ve araçlarını kullanır. Sağa gittikçe platforma yakınlık azalır, kod paylaşımı artar. Çapraz platform ortak kodu yerel arayüze çevirir. Hibrit bir web sayfasını uygulama kabuğunun içinde çalıştırır. Web uygulaması ise tamamen tarayıcıda çalışır ve mağaza gerektirmez." Altta gördüğünüz logolar her yaklaşımın tipik araçlarını temsil eder. Sınırların kesin olmadığını, bazı araçların iki kategori arasında yer aldığını mutlaka belirtin.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Native'in "daha iyi" olduğu mutlak bir iddia değildir; bazı ürünlerde fark kullanıcıya hissettirilmez. Ekip büyüklüğü, bütçe ve ürünün donanım ihtiyacı belirleyicidir. Öğrencilere "iki kat bakım" ifadesini somutlaştırın: her hata düzeltmesi iki yerde yapılır, iki yerde test edilir. Anlatım önerisi: "Native geliştirmede Android için Kotlin, iOS için Swift kullanırız. Her platform kendi araçlarını getirir: Android Studio ve Xcode. Uygulama doğrudan sistemin arayüz bileşenlerini ve API'lerini çağırır, bu yüzden en iyi performansı ve en geniş donanım erişimini alırız. Karşılığında iki ayrı kod tabanı, iki ayrı beceri ve iki kat bakım emeği ödeyiz." Şemada iki ayrı hattı görüyorsunuz: her dil kendi platformuna ve kendi mağazasına gider. Bir hatayı düzeltmenin iki yerde yapılması gerektiğini örnekle somutlaştırın.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tablo native geliştirmenin araç tarafını gösterir ve gelecek haftaların kurulum işlerine zemin hazırlar. Anlatım önerisi: "Android Studio ve Xcode, kendi platformlarının resmi geliştirme ortamlarıdır. İkisi de kod editörü, arayüz önizlemesi, derleyici ve sanal cihazı bir arada sunar. Fark şu: Android Studio üç işletim sisteminde çalışır, Xcode yalnızca Mac'te. React Native ile çalışırken kodu kendi editörümüzde yazarız, ama Android tarafında SDK, emülatör ve derleme araçları için Android Studio'ya ihtiyaç duyarız. iOS tarafında aynı rolü Xcode oynar." Gelecek hafta Android Studio kurulumunun tamamlanması gerektiğini tekrar edin. Gradle'ın Android projelerinin derlemesini yöneten araç olduğunu, ilk derlemede bağımlılıkları indirdiği için uzun sürebileceğini söyleyin. Sürüm ve bileşen gereksinimlerinin resmi belgelerden doğrulanması gerektiğini hatırlatın.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PWA'nın iOS ve Android'de desteklediği özellikler hızla değişir; özellik listesini ezberletmeyin, güncel tarayıcı uyumluluk tablosuna bakmayı öğretin. Öğrencilere bildiğiniz bir web sitesini telefonda ana ekrana ekletip farkı gözlemletebilirsiniz. Web yaklaşımının mağaza komisyonlarından bağımsız olduğunu da ekleyin; bazı ürünler bu nedenle önce web olarak çıkar. Öğrenciler sıklıkla PWA ile hibriti karıştırır; PWA'nın tarayıcıdan çalıştığını, hibridin ise mağazadan kurulan bir kabuk olduğunu açıkça ayırın. Anlatım önerisi: "Web uygulaması bir tarayıcıda çalışır. Kurulum yok, mağaza onayı yok, tek kod tabanı her cihazda açılır. PWA bunun üzerine ana ekrana ekleme, çevrimdışı önbellek ve sınırlı bildirim ekler. Ama platform API'lerine erişimi kısıtlıdır ve destek sistemden sisteme değişir." Bir haber sitesi gibi içerik ağırlıklı ürünlerde web yaklaşımının güçlü olduğunu, derin donanım gerektiren ürünlerde yetersiz kalacağını söyleyin. PWA ile hibriti karıştıran öğrenciler çıkacaktır: PWA tarayıcıdan çalışır, hibrit ise mağazadan kurulan bir kabuktur.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Hibritin zayıf noktasını gösterin: arayüz yerel bileşen değil web içeriği olduğu için kaydırma, geçiş animasyonu ve yoğun listeler yerel uygulamaya göre geride kalabilir. Güçlü yanı ise mevcut web ekibinin becerisini yeniden kullanmasıdır. Durumu "güncel mi?" diye mutlaka kontrol ettirin. WebView kavramını, uygulama içine gömülü bir mini tarayıcı penceresi olarak açıklayın. Capacitor ve Ionic'in aktif geliştirildiğini ancak bu derste kullanılmayacağını belirtin; öğrencilerin ilgisi varsa kendi merakları için resmî sitelerini önerin. Anlatım önerisi: "Hibrit yaklaşımda arayüzü HTML, CSS ve JavaScript ile yazarız, ama bu arayüz uygulamanın içine gömülü bir tarayıcı penceresinde, yani WebView'da gösterilir. Kamera gibi cihaz özelliklerine eklentilerle ulaşılır. Cordova ve PhoneGap bu yaklaşımın öncüleriydi. Bugün aynı fikri Ionic ile Capacitor sürdürüyor." Uyarıyı açıkça yapın: PhoneGap sonlandırıldı, Cordova durağan, yeni projede önermiyoruz. Hibritin zayıf noktasının kaydırma ve animasyon akıcılığı olduğunu, güçlü yanının mevcut web ekibinin becerisini kullanması olduğunu anlatın.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Xamarin'in desteğinin sona erdiğini ve .NET MAUI'ye geçildiğini hatırlatın. Her aracın yaygınlığı ve ekosistemi zamanla değiştiği için "en iyisi" tartışmasına girmeyin; amaç, React Native'in bu haritadaki yerini göstermektir. Flutter'ın arayüzü kendi motoruyla çizmesi ile React Native'in yerel bileşenleri kullanması arasındaki farkı vurgulayın; bu ayrım, platforma uyum ile görünüm tutarlılığı arasındaki ödünleşimi açıklar. Kotlin Multiplatform satırını 'bilmen iyi olur' olarak geçebilirsiniz. Anlatım önerisi: "Çapraz platform araçları tek kod tabanıyla iki mağazaya çıkmayı hedefler. React Native JavaScript ve TypeScript kullanır ve yerel arayüz bileşenlerini kullanır. Flutter Dart dilini kullanır ve ekranı kendi çizim motoruyla çizer. .NET MAUI C# ile çalışır ve Xamarin'in devamıdır. Kotlin Multiplatform ise ortak mantığı paylaşır, arayüzü seçmeye izin verir." Flutter ile React Native farkını vurgulayın: biri her şeyi kendisi çizer, diğeri sistemin bileşenlerini kullanır. Bu ayrım, platforma uyum ile görünüm tutarlılığı arasındaki seçimi anlatır. En iyisi tartışmasına girmeyin.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Hücreler genel eğilimleri gösterir, mutlak değerler değildir. Öğrencilerden bir satırı seçip karşı örnek bulmalarını isteyin; örneğin yüksek performanslı bir çapraz platform oyun var mıdır? Tartışma, "ölçüte göre karar" fikrini pekiştirir. Her sütun için bir tipik ürün örneği sorun: native için ağır oyun, çapraz için iş uygulaması, hibrit için kurumsal form uygulaması, web için içerik sitesi. Hücrelerin genel eğilim olduğunu, örneğin Flutter ve React Native'in performansının yeterli olduğunu belirtin. Anlatım önerisi: "Bu tabloyu bir puan listesi gibi okumayın, bir ödünleşim haritası gibi okuyun. Performans satırında native en önde. Kod paylaşımında web ve hibrit en önde. Donanım erişiminde native tam yetkili, web kısıtlı. Bakım maliyeti ise iki ayrı kod tabanı yüzünden native'de en yüksek." Hücrelerin genel eğilim olduğunu, her ürün için değişebileceğini söyleyin. Öğrencilerden bir hücreye karşı örnek bulmalarını isteyin; yüksek performanslı çapraz platform örneği bulmaya çalışmak tartışmayı canlandırır.</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Öğrencileri üçlü gruplara ayırıp 3 dakika tartıştırın. Doğru cevap tek değildir; gerekçenin ölçütlere dayanması beklenir. İyi bir yanıt çapraz platform önerir, ancak platforma özgü bir özelliğin geç kalma riskini belirtir. Anlatım önerisi: "Karar verirken şu sırayı izleyin. Önce ürünün donanım ihtiyacına bakın. Kamera akışı işleyen, sensör yoğun ürünler native'e yaklaşır. Sonra ekibin bildiği dil ve bütçe gelir. Sonra yayın hızı ve güncelleme sıklığı. Çoğu iş uygulamasında çapraz platform makul bir dengedir." Slayttaki kontrol sorusunu üçlü gruplara tartıştırın. Tek doğru cevap yok, gerekçe aranıyor. İyi bir cevap çapraz platform önerir ama platforma özgü özelliklerin gecikebileceği riskini de not eder. Gerekçesiz seçimleri geri çevirin.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öğrencilere kaynak değerlendirme alışkanlığı kazandırır. Durumların zamanla değişebileceğini, bu nedenle resmî duyurulara bakılması gerektiğini vurgulayın. Mobil dünyada bir teknolojinin ömrünün kısa olabileceğini, bu yüzden temel kavramların araçlardan önemli olduğunu söyleyin. Tablodaki 'ne yapmalı' sütununu öneri olarak sunun, kesin hüküm olarak değil. Öğrencilere bir teknolojiyi benimsemeden önce son sürüm tarihine, açık sorun sayısına ve topluluk desteğine bakmayı öğretin; bu üç kontrol, dönem projesinde kütüphane seçerken işe yarar. Anlatım önerisi: "Bu slayt bir teknoloji listesinden çok bir alışkanlık dersi. Xamarin'in desteği sona erdi ve yerini .NET MAUI aldı. PhoneGap sonlandırıldı. Cordova durağan. Adobe XD bakım modunda. Eski ders notları ve video eğitimler bu araçları hâlâ önerebilir." Öğrencilere bir kaynağı kullanmadan önce üç şeye bakmayı öğretin: son sürüm tarihi, açık sorun sayısı ve topluluk desteği. Bu alışkanlık dönem projesinde kütüphane seçerken çok işe yarayacak. Tablodaki önerilerin bugünkü duruma göre olduğunu, zamanla değişebileceğini belirtin.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Anlatım önerisi: "Son bölümde bu derste neden belirli bir yol seçtiğimizi açıklıyorum. Birçok yöntemi listeledik ama dönem boyunca yalnızca birini derinlemesine kullanacağız. Seçimimizin gerekçesini bilmeniz önemli, çünkü iş hayatında başka araçlarla karşılaştığınızda aynı sorgulamayı yapabilmelisiniz." Bu bölüm kısa tutulabilir, ancak sorulara açık olun. Expo ve Bare farkıyla ilgili soruların gelmesi doğaldır, bir sonraki slaytta cevaplanacağını söyleyin.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Ders izlencesindeki hafta numaralarını esas alın; ara sınav 8. haftadadır. Tablodan öğrenme çıktılarına bağlantı kurun: 1–3 Ö1 ve Ö3, 5 ve 9 Ö4, 7 ve 10 Ö5 ağırlıklıdır. Tabloyu gösterirken her bloğun bir önceki bloğa nasıl dayandığını anlatın: JavaScript ve TypeScript olmadan bileşen yazılmaz, bileşen olmadan navigasyon anlamsızdır. Projeyi geç başlatan öğrencilerin 12. ve 13. haftada yük altında kalacağı uyarısını yapın. Anlatım önerisi: "Dönemin haritası burada. Birinci ile üçüncü hafta arasında temelleri atıyoruz: ekosistem, JavaScript ve TypeScript. Dördüncü ile yedinci hafta arasında ilk uygulamamızı yazıyoruz. Sekizinci hafta ara sınav. Dokuzuncu ile on birinci hafta formlar, asenkron işlemler ve listeler. Sonra Firebase, kamera ve izinler. Son haftalar proje ve final." Her bloğun bir öncekine dayandığını açıklayın. JavaScript ve TypeScript olmadan bileşen yazılmaz, bileşen olmadan navigasyon anlamsızdır. Projeyi geç başlatanların son haftalarda yük altında kalacağını uyarı olarak söyleyin.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 fikirlerinin tam olarak şimdi kesinleşmesi gerekmez; öğrencilerin bir defter sayfasına üç fikir yazmasını isteyin. Gelecek haftalarda fikirlerin uygulanabilirliğini birlikte değerlendireceğiz. Akademik dürüstlük ve kaynak gösterme kurallarını kısaca hatırlatın. Proje ölçütlerinin dönem ortasında paylaşılacağını söyleyin. Öğrencilere sorular için ofis saatlerini ve iletişim kanalını bildirin. Proje fikrinin uygulanabilirliğini erken değerlendirmek için çok geniş fikirleri daraltma alışkanlığını hemen şimdi teşvik edin. Anlatım önerisi: "Değerlendirme proje, ara sınav ve finalden oluşuyor. Ağırlıkları slaytta görüyorsunuz. Proje dönem boyunca öğrendiklerinizi birleştiren bir mobil uygulama olacak ve on beşinci haftada sunulacak." Öğrencilerden bir defter sayfasına üç proje fikri yazmalarını isteyin. Fikirlerin hepsinin uygulanabilir olması gerekmez, ama hangi sensör veya sunucu hizmetine ihtiyaç duyduklarını düşünmeleri iyi bir ilk adımdır. Akademik dürüstlük ve kaynak gösterme kurallarını kısaca hatırlatın, ofis saatlerinizi ve iletişim kanalınızı duyurun.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Etkinlik 10 dakika sürer, iki grup sonuçlarını paylaşır. Uygulamanın hangi yaklaşımla yazıldığını tahmin etmek zordur; "ipucu" olarak kaydırma hissi, bileşenlerin sistemle uyumu ve boyutu işaret edin. Kesin cevap aranmaz, gerekçe aranır. Etkinlik sırasında dolaşarak gruplara ipucu sorular sorun: bu uygulama çevrimdışı çalışıyor mu, bildirim gönderiyor mu, konum istiyor mu? Cevaplar uygulamanın ekosistemdeki yerini görünür kılar. Sonuçları kısa bir tahta tablosunda toplayarak ortak desenleri öne çıkarın. Süre kalırsa bir grubun cevabını diğer grup eleştirsin. Anlatım önerisi: "İkişerli gruplar oluşturun. Telefonunuzdan bir uygulama seçin ve üç soruyu yanıtlayın. Bu uygulama hangi cihaz özelliklerini kullanıyor? Hangi yaklaşımla yazılmış olabilir ve bunu neden düşünüyorsunuz? Siz olsaydınız hangi yaklaşımı seçerdiniz?" Öğrencilere ipucu verin: kaydırma hissi, sistemle uyum ve uygulama boyutu fikir verebilir. Kesin cevap aramıyoruz, gerekçe arıyoruz. Gruplar arasında dolaşıp ek sorular sorun: bu uygulama çevrimdışı çalışıyor mu, bildirim gönderiyor mu, konum istiyor mu? Sonuçları tahtada toplayıp ortak desenleri gösterin.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Çıktı bir sayfalık analiz olacak ve ara sınav öncesi çalışma notu olarak kullanılacak. Değerlendirme: zincirin eksiksizliği, izin listesinin doğruluğu ve seçimin gerekçesi. Gecikenlere ev ödevi olarak verin. Tam föy ayrı bir Uygulama Rehberi olarak hazırlanabilir. Öğrencilere ekosistem şemasını elle çizmelerini önerin; dijital araç aramak zaman kaybettirir. İzin listesini telefon ayarlarından almak, gizlilik farkındalığını da artırır. İyi analizlerde mağaza kuralı veya gelir modeline dair somut bir gözlem yer alır; bunu geri bildirimde vurgulayın. Anlatım önerisi: "Şimdi bir saatlik uygulama zamanı. Gerçek bir uygulama seçin: banka, ulaşım ya da yemek siparişi olabilir. Önce ekosistem zincirini çizin: geliştirici, mağaza, cihaz, sunucu ve gelir modeli. Sonra uygulamanın istediği izinleri telefon ayarlarından listeleyin. Son olarak dört yaklaşım için birer artı ve eksi yazıp kendi gerekçeli seçiminizi sunun." Çıktının bir sayfalık analiz olacağını ve ara sınav hazırlığında kullanılacağını söyleyin. Öğrencilere zinciri elle çizmelerini önerin. İyi analizlerde mağaza kuralı veya gelir modeline dair somut bir gözlem bulunur.</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sorular ara sınavda kapsanacak türdendir. Soruları sırayla sorun, yanıtlar için gönüllü isteyin. Yanlış cevaplarda ilgili slayta dönün. Özellikle 4. sorunun yanıtı React Native'in çalışma mantığının anlaşıldığını gösterir. Sorulara tek cümlelik yanıtlar yetersizse neden-sonuç ilişkisi isteyin. Örneğin macOS gereksinimi sorusunda yalnızca 'Apple öyle istiyor' yerine, derleme araçlarının yalnızca macOS'ta çalıştığını ve bu nedenle derste Android hedeflendiğini söylemelerini bekleyin. Anlatım önerisi: "Dersi kontrol soruları ile kapatalım. Birinci soru ekosistem halkaları. İkinci soru, iOS geliştirmek için neden macOS gerektiği ve bunun bu ders için sonucu. Üçüncü soru hibrit ile çapraz platform farkı. Dördüncü soru, React Native'de ekrandaki düğmenin neden yerel sayıldığı." Gönüllü isteyin, tek cümlelik cevapları neden-sonuç ilişkisiyle genişletmelerini söyleyin. Yanlış cevaplarda ilgili slayta dönün. Bu soruların ara sınavda çıkabilecek türden olduğunu belirtin. Haber sitesi sorusunu çıkış sorusu olarak bırakabilirsiniz.</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Dersin en kritik hazırlığıdır. Sürüm numaralarını slayta yazmadım çünkü hızla değişir; sınıfta resmî sayfayı projeksiyonla gösterin. Kurulum yapamayan öğrenciler için laboratuvar bilgisayarlarının hazır olup olmadığını önceden kontrol edin. Kurulum konusunda sınıf içi dayanışmayı teşvik edin: deneyimli öğrencilerin yardım etmesi ve sorunların ortak bir belgede paylaşılması zaman kazandırır. Ayrıca ağ kısıtları ya da disk alanı gibi bireysel sorunlar için laboratuvar yöneticisiyle önceden iletişim kurulmasını önerin. Anlatım önerisi: "Gelecek hafta bilgisayarınızda geliştirme ortamının hazır olması gerekiyor. Bu hafta Node.js, JDK ve Android Studio kurulumuna başlayın. Sürüm gereksinimlerini ben size slaytta yazmıyorum, çünkü hızla değişir; resmi React Native belgesindeki ortam kurulumu sayfasına bakın." Kurulumun iki üç saat sürebileceğini ve büyük indirme gerektirdiğini hatırlatın. Windows kullananlara iOS derlemesinin mümkün olmadığını, dersin Android hedeflediğini tekrar edin. Kurulum yapamayanların hata ekran görüntüsünü getirmesini isteyin.</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PAK">
    <p:bg>
      <p:bgPr>
        <a:solidFill>
          <a:srgbClr val="F8FAFC"/>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CERIK">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6400800"/>
            <a:ext cx="8229600" cy="274320"/>
          </a:xfrm>
          <a:prstGeom prst="rect">
            <a:avLst/>
          </a:prstGeom>
          <a:noFill/>
          <a:ln/>
        </p:spPr>
        <p:txBody>
          <a:bodyPr wrap="square" lIns="0" tIns="0" rIns="0" bIns="0" rtlCol="0" anchor="ctr"/>
          <a:lstStyle/>
          <a:p>
            <a:pPr marL="0" indent="0">
              <a:buNone/>
            </a:pPr>
            <a:r>
              <a:rPr lang="en-US" sz="1100" dirty="0">
                <a:solidFill>
                  <a:srgbClr val="6B7280"/>
                </a:solidFill>
                <a:latin typeface="Arial" pitchFamily="34" charset="0"/>
                <a:ea typeface="Arial" pitchFamily="34" charset="-122"/>
                <a:cs typeface="Arial" pitchFamily="34" charset="-120"/>
              </a:rPr>
              <a:t>BGP 201 Mobil Programlama · Hafta 1 · Mobil Programlamaya Giriş</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6.png"/><Relationship Id="rId7"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1.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6.png"/><Relationship Id="rId7"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image" Target="../media/image13.webp"/><Relationship Id="rId5" Type="http://schemas.openxmlformats.org/officeDocument/2006/relationships/image" Target="../media/image6.png"/><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554480"/>
            <a:ext cx="7315200" cy="365760"/>
          </a:xfrm>
          <a:prstGeom prst="rect">
            <a:avLst/>
          </a:prstGeom>
          <a:noFill/>
          <a:ln/>
        </p:spPr>
        <p:txBody>
          <a:bodyPr wrap="square" lIns="0" tIns="0" rIns="0" bIns="0" rtlCol="0" anchor="ctr"/>
          <a:lstStyle/>
          <a:p>
            <a:pPr marL="0" indent="0">
              <a:buNone/>
            </a:pPr>
            <a:r>
              <a:rPr lang="en-US" sz="1600" b="1" kern="0" spc="200" dirty="0">
                <a:solidFill>
                  <a:srgbClr val="2563EB"/>
                </a:solidFill>
                <a:latin typeface="Arial" pitchFamily="34" charset="0"/>
                <a:ea typeface="Arial" pitchFamily="34" charset="-122"/>
                <a:cs typeface="Arial" pitchFamily="34" charset="-120"/>
              </a:rPr>
              <a:t>BGP 201 Mobil Programlama · Hafta 1</a:t>
            </a:r>
            <a:endParaRPr lang="en-US" sz="1600" dirty="0"/>
          </a:p>
        </p:txBody>
      </p:sp>
      <p:sp>
        <p:nvSpPr>
          <p:cNvPr id="3" name="Text 1"/>
          <p:cNvSpPr txBox="1"/>
          <p:nvPr/>
        </p:nvSpPr>
        <p:spPr>
          <a:xfrm>
            <a:off x="822960" y="2011680"/>
            <a:ext cx="10332720" cy="1828800"/>
          </a:xfrm>
          <a:prstGeom prst="rect">
            <a:avLst/>
          </a:prstGeom>
          <a:noFill/>
          <a:ln/>
        </p:spPr>
        <p:txBody>
          <a:bodyPr wrap="square" lIns="0" tIns="0" rIns="0" bIns="0" rtlCol="0" anchor="t"/>
          <a:lstStyle/>
          <a:p>
            <a:pPr marL="0" indent="0">
              <a:buNone/>
            </a:pPr>
            <a:r>
              <a:rPr lang="en-US" sz="4400" b="1" dirty="0">
                <a:solidFill>
                  <a:srgbClr val="111827"/>
                </a:solidFill>
                <a:latin typeface="Arial" pitchFamily="34" charset="0"/>
                <a:ea typeface="Arial" pitchFamily="34" charset="-122"/>
                <a:cs typeface="Arial" pitchFamily="34" charset="-120"/>
              </a:rPr>
              <a:t>Mobil Programlamaya Giriş: Ekosistem ve Platformlar</a:t>
            </a:r>
            <a:endParaRPr lang="en-US" sz="4400" dirty="0"/>
          </a:p>
        </p:txBody>
      </p:sp>
      <p:sp>
        <p:nvSpPr>
          <p:cNvPr id="4" name="Text 2"/>
          <p:cNvSpPr txBox="1"/>
          <p:nvPr/>
        </p:nvSpPr>
        <p:spPr>
          <a:xfrm>
            <a:off x="822960" y="4023360"/>
            <a:ext cx="9601200" cy="640080"/>
          </a:xfrm>
          <a:prstGeom prst="rect">
            <a:avLst/>
          </a:prstGeom>
          <a:noFill/>
          <a:ln/>
        </p:spPr>
        <p:txBody>
          <a:bodyPr wrap="square" lIns="0" tIns="0" rIns="0" bIns="0" rtlCol="0" anchor="ctr"/>
          <a:lstStyle/>
          <a:p>
            <a:pPr marL="0" indent="0">
              <a:buNone/>
            </a:pPr>
            <a:r>
              <a:rPr lang="en-US" sz="2200" dirty="0">
                <a:solidFill>
                  <a:srgbClr val="6B7280"/>
                </a:solidFill>
                <a:latin typeface="Arial" pitchFamily="34" charset="0"/>
                <a:ea typeface="Arial" pitchFamily="34" charset="-122"/>
                <a:cs typeface="Arial" pitchFamily="34" charset="-120"/>
              </a:rPr>
              <a:t>Mobil kavramlar, platform ekonomisi, geliştirme yaklaşımları</a:t>
            </a:r>
            <a:endParaRPr lang="en-US" sz="2200" dirty="0"/>
          </a:p>
        </p:txBody>
      </p:sp>
      <p:pic>
        <p:nvPicPr>
          <p:cNvPr id="5" name="Image 0" descr="/tmp/claude-0/-home-claude/bb2dbc6e-f574-5e99-8510-889b704da121/scratchpad/decks/logos/react.png"/>
          <p:cNvPicPr>
            <a:picLocks noChangeAspect="1"/>
          </p:cNvPicPr>
          <p:nvPr/>
        </p:nvPicPr>
        <p:blipFill>
          <a:blip r:embed="rId3"/>
          <a:stretch>
            <a:fillRect/>
          </a:stretch>
        </p:blipFill>
        <p:spPr>
          <a:xfrm>
            <a:off x="822960" y="5394960"/>
            <a:ext cx="548640" cy="548640"/>
          </a:xfrm>
          <a:prstGeom prst="rect">
            <a:avLst/>
          </a:prstGeom>
        </p:spPr>
      </p:pic>
      <p:pic>
        <p:nvPicPr>
          <p:cNvPr id="6" name="Image 1" descr="/tmp/claude-0/-home-claude/bb2dbc6e-f574-5e99-8510-889b704da121/scratchpad/decks/logos/android.png"/>
          <p:cNvPicPr>
            <a:picLocks noChangeAspect="1"/>
          </p:cNvPicPr>
          <p:nvPr/>
        </p:nvPicPr>
        <p:blipFill>
          <a:blip r:embed="rId4"/>
          <a:stretch>
            <a:fillRect/>
          </a:stretch>
        </p:blipFill>
        <p:spPr>
          <a:xfrm>
            <a:off x="1828800" y="5394960"/>
            <a:ext cx="548640" cy="548640"/>
          </a:xfrm>
          <a:prstGeom prst="rect">
            <a:avLst/>
          </a:prstGeom>
        </p:spPr>
      </p:pic>
      <p:pic>
        <p:nvPicPr>
          <p:cNvPr id="7" name="Image 2" descr="/tmp/claude-0/-home-claude/bb2dbc6e-f574-5e99-8510-889b704da121/scratchpad/decks/logos/ios.png"/>
          <p:cNvPicPr>
            <a:picLocks noChangeAspect="1"/>
          </p:cNvPicPr>
          <p:nvPr/>
        </p:nvPicPr>
        <p:blipFill>
          <a:blip r:embed="rId5"/>
          <a:stretch>
            <a:fillRect/>
          </a:stretch>
        </p:blipFill>
        <p:spPr>
          <a:xfrm>
            <a:off x="2834640" y="5394960"/>
            <a:ext cx="548640" cy="548640"/>
          </a:xfrm>
          <a:prstGeom prst="rect">
            <a:avLst/>
          </a:prstGeom>
        </p:spPr>
      </p:pic>
      <p:pic>
        <p:nvPicPr>
          <p:cNvPr id="8" name="Image 3" descr="/tmp/claude-0/-home-claude/bb2dbc6e-f574-5e99-8510-889b704da121/scratchpad/decks/logos/play.png"/>
          <p:cNvPicPr>
            <a:picLocks noChangeAspect="1"/>
          </p:cNvPicPr>
          <p:nvPr/>
        </p:nvPicPr>
        <p:blipFill>
          <a:blip r:embed="rId6"/>
          <a:stretch>
            <a:fillRect/>
          </a:stretch>
        </p:blipFill>
        <p:spPr>
          <a:xfrm>
            <a:off x="3840480" y="5394960"/>
            <a:ext cx="548640" cy="548640"/>
          </a:xfrm>
          <a:prstGeom prst="rect">
            <a:avLst/>
          </a:prstGeom>
        </p:spPr>
      </p:pic>
      <p:pic>
        <p:nvPicPr>
          <p:cNvPr id="9" name="Image 4" descr="/tmp/claude-0/-home-claude/bb2dbc6e-f574-5e99-8510-889b704da121/scratchpad/decks/logos/appstore.png"/>
          <p:cNvPicPr>
            <a:picLocks noChangeAspect="1"/>
          </p:cNvPicPr>
          <p:nvPr/>
        </p:nvPicPr>
        <p:blipFill>
          <a:blip r:embed="rId7"/>
          <a:stretch>
            <a:fillRect/>
          </a:stretch>
        </p:blipFill>
        <p:spPr>
          <a:xfrm>
            <a:off x="4846320" y="5394960"/>
            <a:ext cx="548640" cy="548640"/>
          </a:xfrm>
          <a:prstGeom prst="rect">
            <a:avLst/>
          </a:prstGeom>
        </p:spPr>
      </p:pic>
      <p:pic>
        <p:nvPicPr>
          <p:cNvPr id="10" name="Image 5" descr="/tmp/claude-0/-home-claude/bb2dbc6e-f574-5e99-8510-889b704da121/scratchpad/decks/logos/kotlin.png"/>
          <p:cNvPicPr>
            <a:picLocks noChangeAspect="1"/>
          </p:cNvPicPr>
          <p:nvPr/>
        </p:nvPicPr>
        <p:blipFill>
          <a:blip r:embed="rId8"/>
          <a:stretch>
            <a:fillRect/>
          </a:stretch>
        </p:blipFill>
        <p:spPr>
          <a:xfrm>
            <a:off x="5852160" y="5394960"/>
            <a:ext cx="548640" cy="548640"/>
          </a:xfrm>
          <a:prstGeom prst="rect">
            <a:avLst/>
          </a:prstGeom>
        </p:spPr>
      </p:pic>
      <p:pic>
        <p:nvPicPr>
          <p:cNvPr id="11" name="Image 6" descr="/tmp/claude-0/-home-claude/bb2dbc6e-f574-5e99-8510-889b704da121/scratchpad/decks/logos/flutter.png"/>
          <p:cNvPicPr>
            <a:picLocks noChangeAspect="1"/>
          </p:cNvPicPr>
          <p:nvPr/>
        </p:nvPicPr>
        <p:blipFill>
          <a:blip r:embed="rId9"/>
          <a:stretch>
            <a:fillRect/>
          </a:stretch>
        </p:blipFill>
        <p:spPr>
          <a:xfrm>
            <a:off x="6858000" y="5394960"/>
            <a:ext cx="548640" cy="548640"/>
          </a:xfrm>
          <a:prstGeom prst="rect">
            <a:avLst/>
          </a:prstGeom>
        </p:spPr>
      </p:pic>
      <p:pic>
        <p:nvPicPr>
          <p:cNvPr id="12" name="Image 7" descr="/tmp/claude-0/-home-claude/bb2dbc6e-f574-5e99-8510-889b704da121/scratchpad/decks/logos/swift.png"/>
          <p:cNvPicPr>
            <a:picLocks noChangeAspect="1"/>
          </p:cNvPicPr>
          <p:nvPr/>
        </p:nvPicPr>
        <p:blipFill>
          <a:blip r:embed="rId10"/>
          <a:stretch>
            <a:fillRect/>
          </a:stretch>
        </p:blipFill>
        <p:spPr>
          <a:xfrm>
            <a:off x="7863840" y="5394960"/>
            <a:ext cx="548640"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buNone/>
            </a:pPr>
            <a:r>
              <a:rPr lang="en-US" sz="3200" b="1" dirty="0">
                <a:solidFill>
                  <a:srgbClr val="111827"/>
                </a:solidFill>
                <a:latin typeface="Arial" pitchFamily="34" charset="0"/>
                <a:ea typeface="Arial" pitchFamily="34" charset="-122"/>
                <a:cs typeface="Arial" pitchFamily="34" charset="-120"/>
              </a:rPr>
              <a:t>Bu Hafta Neyi Öğreneceğiz?</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828800"/>
            <a:ext cx="3474720" cy="3474720"/>
          </a:xfrm>
          <a:prstGeom prst="roundRect">
            <a:avLst>
              <a:gd name="adj" fmla="val 2632"/>
            </a:avLst>
          </a:prstGeom>
          <a:solidFill>
            <a:srgbClr val="EFF6FF"/>
          </a:solidFill>
          <a:ln w="9525">
            <a:solidFill>
              <a:srgbClr val="EFF6FF"/>
            </a:solidFill>
            <a:prstDash val="solid"/>
          </a:ln>
        </p:spPr>
      </p:sp>
      <p:sp>
        <p:nvSpPr>
          <p:cNvPr id="5" name="Text 3"/>
          <p:cNvSpPr txBox="1"/>
          <p:nvPr/>
        </p:nvSpPr>
        <p:spPr>
          <a:xfrm>
            <a:off x="1005840" y="2057400"/>
            <a:ext cx="914400" cy="822960"/>
          </a:xfrm>
          <a:prstGeom prst="rect">
            <a:avLst/>
          </a:prstGeom>
          <a:noFill/>
          <a:ln/>
        </p:spPr>
        <p:txBody>
          <a:bodyPr wrap="square" lIns="0" tIns="0" rIns="0" bIns="0" rtlCol="0" anchor="ctr"/>
          <a:lstStyle/>
          <a:p>
            <a:pPr marL="0" indent="0">
              <a:buNone/>
            </a:pPr>
            <a:r>
              <a:rPr lang="en-US" sz="4800" b="1" dirty="0">
                <a:solidFill>
                  <a:srgbClr val="2563EB"/>
                </a:solidFill>
                <a:latin typeface="Arial" pitchFamily="34" charset="0"/>
                <a:ea typeface="Arial" pitchFamily="34" charset="-122"/>
                <a:cs typeface="Arial" pitchFamily="34" charset="-120"/>
              </a:rPr>
              <a:t>1</a:t>
            </a:r>
            <a:endParaRPr lang="en-US" sz="4800" dirty="0"/>
          </a:p>
        </p:txBody>
      </p:sp>
      <p:sp>
        <p:nvSpPr>
          <p:cNvPr id="6" name="Text 4"/>
          <p:cNvSpPr txBox="1"/>
          <p:nvPr/>
        </p:nvSpPr>
        <p:spPr>
          <a:xfrm>
            <a:off x="1005840" y="3017520"/>
            <a:ext cx="2926080" cy="2194560"/>
          </a:xfrm>
          <a:prstGeom prst="rect">
            <a:avLst/>
          </a:prstGeom>
          <a:noFill/>
          <a:ln/>
        </p:spPr>
        <p:txBody>
          <a:bodyPr wrap="square" lIns="0" tIns="0" rIns="0" bIns="0" rtlCol="0" anchor="t"/>
          <a:lstStyle/>
          <a:p>
            <a:pPr marL="0" indent="0">
              <a:buNone/>
            </a:pPr>
            <a:r>
              <a:rPr lang="en-US" sz="1900" dirty="0">
                <a:solidFill>
                  <a:srgbClr val="111827"/>
                </a:solidFill>
                <a:latin typeface="Arial" pitchFamily="34" charset="0"/>
                <a:ea typeface="Arial" pitchFamily="34" charset="-122"/>
                <a:cs typeface="Arial" pitchFamily="34" charset="-120"/>
              </a:rPr>
              <a:t>Mobil uygulamanın cihaz, işletim sistemi, </a:t>
            </a:r>
            <a:r>
              <a:rPr lang="en-US" sz="1900" dirty="0" err="1">
                <a:solidFill>
                  <a:srgbClr val="111827"/>
                </a:solidFill>
                <a:latin typeface="Arial" pitchFamily="34" charset="0"/>
                <a:ea typeface="Arial" pitchFamily="34" charset="-122"/>
                <a:cs typeface="Arial" pitchFamily="34" charset="-120"/>
              </a:rPr>
              <a:t>mağaza</a:t>
            </a:r>
            <a:r>
              <a:rPr lang="en-US" sz="1900" dirty="0">
                <a:solidFill>
                  <a:srgbClr val="111827"/>
                </a:solidFill>
                <a:latin typeface="Arial" pitchFamily="34" charset="0"/>
                <a:ea typeface="Arial" pitchFamily="34" charset="-122"/>
                <a:cs typeface="Arial" pitchFamily="34" charset="-120"/>
              </a:rPr>
              <a:t> ve </a:t>
            </a:r>
            <a:r>
              <a:rPr lang="en-US" sz="1900" dirty="0" err="1">
                <a:solidFill>
                  <a:srgbClr val="111827"/>
                </a:solidFill>
                <a:latin typeface="Arial" pitchFamily="34" charset="0"/>
                <a:ea typeface="Arial" pitchFamily="34" charset="-122"/>
                <a:cs typeface="Arial" pitchFamily="34" charset="-120"/>
              </a:rPr>
              <a:t>kullanıcıdan</a:t>
            </a:r>
            <a:r>
              <a:rPr lang="en-US" sz="1900" dirty="0">
                <a:solidFill>
                  <a:srgbClr val="111827"/>
                </a:solidFill>
                <a:latin typeface="Arial" pitchFamily="34" charset="0"/>
                <a:ea typeface="Arial" pitchFamily="34" charset="-122"/>
                <a:cs typeface="Arial" pitchFamily="34" charset="-120"/>
              </a:rPr>
              <a:t> </a:t>
            </a:r>
            <a:r>
              <a:rPr lang="en-US" sz="1900" dirty="0" err="1">
                <a:solidFill>
                  <a:srgbClr val="111827"/>
                </a:solidFill>
                <a:latin typeface="Arial" pitchFamily="34" charset="0"/>
                <a:ea typeface="Arial" pitchFamily="34" charset="-122"/>
                <a:cs typeface="Arial" pitchFamily="34" charset="-120"/>
              </a:rPr>
              <a:t>oluşan</a:t>
            </a:r>
            <a:r>
              <a:rPr lang="en-US" sz="1900" dirty="0">
                <a:solidFill>
                  <a:srgbClr val="111827"/>
                </a:solidFill>
                <a:latin typeface="Arial" pitchFamily="34" charset="0"/>
                <a:ea typeface="Arial" pitchFamily="34" charset="-122"/>
                <a:cs typeface="Arial" pitchFamily="34" charset="-120"/>
              </a:rPr>
              <a:t> </a:t>
            </a:r>
            <a:r>
              <a:rPr lang="en-US" sz="1900" dirty="0" err="1">
                <a:solidFill>
                  <a:srgbClr val="111827"/>
                </a:solidFill>
                <a:latin typeface="Arial" pitchFamily="34" charset="0"/>
                <a:ea typeface="Arial" pitchFamily="34" charset="-122"/>
                <a:cs typeface="Arial" pitchFamily="34" charset="-120"/>
              </a:rPr>
              <a:t>ekosistemini</a:t>
            </a:r>
            <a:r>
              <a:rPr lang="en-US" sz="1900" dirty="0">
                <a:solidFill>
                  <a:srgbClr val="111827"/>
                </a:solidFill>
                <a:latin typeface="Arial" pitchFamily="34" charset="0"/>
                <a:ea typeface="Arial" pitchFamily="34" charset="-122"/>
                <a:cs typeface="Arial" pitchFamily="34" charset="-120"/>
              </a:rPr>
              <a:t> </a:t>
            </a:r>
            <a:r>
              <a:rPr lang="en-US" sz="1900" dirty="0" err="1">
                <a:solidFill>
                  <a:srgbClr val="111827"/>
                </a:solidFill>
                <a:latin typeface="Arial" pitchFamily="34" charset="0"/>
                <a:ea typeface="Arial" pitchFamily="34" charset="-122"/>
                <a:cs typeface="Arial" pitchFamily="34" charset="-120"/>
              </a:rPr>
              <a:t>açıklarsınız</a:t>
            </a:r>
            <a:r>
              <a:rPr lang="en-US" sz="1900" dirty="0">
                <a:solidFill>
                  <a:srgbClr val="111827"/>
                </a:solidFill>
                <a:latin typeface="Arial" pitchFamily="34" charset="0"/>
                <a:ea typeface="Arial" pitchFamily="34" charset="-122"/>
                <a:cs typeface="Arial" pitchFamily="34" charset="-120"/>
              </a:rPr>
              <a:t>.</a:t>
            </a:r>
          </a:p>
        </p:txBody>
      </p:sp>
      <p:sp>
        <p:nvSpPr>
          <p:cNvPr id="7" name="Shape 5"/>
          <p:cNvSpPr/>
          <p:nvPr/>
        </p:nvSpPr>
        <p:spPr>
          <a:xfrm>
            <a:off x="4480560" y="1828800"/>
            <a:ext cx="3474720" cy="3474720"/>
          </a:xfrm>
          <a:prstGeom prst="roundRect">
            <a:avLst>
              <a:gd name="adj" fmla="val 2632"/>
            </a:avLst>
          </a:prstGeom>
          <a:solidFill>
            <a:srgbClr val="EFF6FF"/>
          </a:solidFill>
          <a:ln w="9525">
            <a:solidFill>
              <a:srgbClr val="EFF6FF"/>
            </a:solidFill>
            <a:prstDash val="solid"/>
          </a:ln>
        </p:spPr>
      </p:sp>
      <p:sp>
        <p:nvSpPr>
          <p:cNvPr id="8" name="Text 6"/>
          <p:cNvSpPr txBox="1"/>
          <p:nvPr/>
        </p:nvSpPr>
        <p:spPr>
          <a:xfrm>
            <a:off x="4754880" y="2057400"/>
            <a:ext cx="914400" cy="822960"/>
          </a:xfrm>
          <a:prstGeom prst="rect">
            <a:avLst/>
          </a:prstGeom>
          <a:noFill/>
          <a:ln/>
        </p:spPr>
        <p:txBody>
          <a:bodyPr wrap="square" lIns="0" tIns="0" rIns="0" bIns="0" rtlCol="0" anchor="ctr"/>
          <a:lstStyle/>
          <a:p>
            <a:pPr marL="0" indent="0">
              <a:buNone/>
            </a:pPr>
            <a:r>
              <a:rPr lang="en-US" sz="4800" b="1" dirty="0">
                <a:solidFill>
                  <a:srgbClr val="2563EB"/>
                </a:solidFill>
                <a:latin typeface="Arial" pitchFamily="34" charset="0"/>
                <a:ea typeface="Arial" pitchFamily="34" charset="-122"/>
                <a:cs typeface="Arial" pitchFamily="34" charset="-120"/>
              </a:rPr>
              <a:t>2</a:t>
            </a:r>
            <a:endParaRPr lang="en-US" sz="4800" dirty="0"/>
          </a:p>
        </p:txBody>
      </p:sp>
      <p:sp>
        <p:nvSpPr>
          <p:cNvPr id="9" name="Text 7"/>
          <p:cNvSpPr txBox="1"/>
          <p:nvPr/>
        </p:nvSpPr>
        <p:spPr>
          <a:xfrm>
            <a:off x="4754880" y="3017520"/>
            <a:ext cx="2926080" cy="2194560"/>
          </a:xfrm>
          <a:prstGeom prst="rect">
            <a:avLst/>
          </a:prstGeom>
          <a:noFill/>
          <a:ln/>
        </p:spPr>
        <p:txBody>
          <a:bodyPr wrap="square" lIns="0" tIns="0" rIns="0" bIns="0" rtlCol="0" anchor="t"/>
          <a:lstStyle/>
          <a:p>
            <a:pPr marL="0" indent="0">
              <a:buNone/>
            </a:pPr>
            <a:r>
              <a:rPr lang="en-US" sz="1900" dirty="0">
                <a:solidFill>
                  <a:srgbClr val="111827"/>
                </a:solidFill>
                <a:latin typeface="Arial" pitchFamily="34" charset="0"/>
                <a:ea typeface="Arial" pitchFamily="34" charset="-122"/>
                <a:cs typeface="Arial" pitchFamily="34" charset="-120"/>
              </a:rPr>
              <a:t>Android ve iOS platformlarının ekonomik ve teknik farklarını karşılaştırırsınız.</a:t>
            </a:r>
            <a:endParaRPr lang="en-US" sz="1900" dirty="0"/>
          </a:p>
        </p:txBody>
      </p:sp>
      <p:sp>
        <p:nvSpPr>
          <p:cNvPr id="10" name="Shape 8"/>
          <p:cNvSpPr/>
          <p:nvPr/>
        </p:nvSpPr>
        <p:spPr>
          <a:xfrm>
            <a:off x="8229600" y="1828800"/>
            <a:ext cx="3474720" cy="3474720"/>
          </a:xfrm>
          <a:prstGeom prst="roundRect">
            <a:avLst>
              <a:gd name="adj" fmla="val 2632"/>
            </a:avLst>
          </a:prstGeom>
          <a:solidFill>
            <a:srgbClr val="EFF6FF"/>
          </a:solidFill>
          <a:ln w="9525">
            <a:solidFill>
              <a:srgbClr val="EFF6FF"/>
            </a:solidFill>
            <a:prstDash val="solid"/>
          </a:ln>
        </p:spPr>
      </p:sp>
      <p:sp>
        <p:nvSpPr>
          <p:cNvPr id="11" name="Text 9"/>
          <p:cNvSpPr txBox="1"/>
          <p:nvPr/>
        </p:nvSpPr>
        <p:spPr>
          <a:xfrm>
            <a:off x="8503920" y="2057400"/>
            <a:ext cx="914400" cy="822960"/>
          </a:xfrm>
          <a:prstGeom prst="rect">
            <a:avLst/>
          </a:prstGeom>
          <a:noFill/>
          <a:ln/>
        </p:spPr>
        <p:txBody>
          <a:bodyPr wrap="square" lIns="0" tIns="0" rIns="0" bIns="0" rtlCol="0" anchor="ctr"/>
          <a:lstStyle/>
          <a:p>
            <a:pPr marL="0" indent="0">
              <a:buNone/>
            </a:pPr>
            <a:r>
              <a:rPr lang="en-US" sz="4800" b="1" dirty="0">
                <a:solidFill>
                  <a:srgbClr val="2563EB"/>
                </a:solidFill>
                <a:latin typeface="Arial" pitchFamily="34" charset="0"/>
                <a:ea typeface="Arial" pitchFamily="34" charset="-122"/>
                <a:cs typeface="Arial" pitchFamily="34" charset="-120"/>
              </a:rPr>
              <a:t>3</a:t>
            </a:r>
            <a:endParaRPr lang="en-US" sz="4800" dirty="0"/>
          </a:p>
        </p:txBody>
      </p:sp>
      <p:sp>
        <p:nvSpPr>
          <p:cNvPr id="12" name="Text 10"/>
          <p:cNvSpPr txBox="1"/>
          <p:nvPr/>
        </p:nvSpPr>
        <p:spPr>
          <a:xfrm>
            <a:off x="8503920" y="3017520"/>
            <a:ext cx="2926080" cy="2194560"/>
          </a:xfrm>
          <a:prstGeom prst="rect">
            <a:avLst/>
          </a:prstGeom>
          <a:noFill/>
          <a:ln/>
        </p:spPr>
        <p:txBody>
          <a:bodyPr wrap="square" lIns="0" tIns="0" rIns="0" bIns="0" rtlCol="0" anchor="t"/>
          <a:lstStyle/>
          <a:p>
            <a:pPr marL="0" indent="0">
              <a:buNone/>
            </a:pPr>
            <a:r>
              <a:rPr lang="en-US" sz="1900" dirty="0">
                <a:solidFill>
                  <a:srgbClr val="111827"/>
                </a:solidFill>
                <a:latin typeface="Arial" pitchFamily="34" charset="0"/>
                <a:ea typeface="Arial" pitchFamily="34" charset="-122"/>
                <a:cs typeface="Arial" pitchFamily="34" charset="-120"/>
              </a:rPr>
              <a:t>Native, web, hibrit ve </a:t>
            </a:r>
            <a:r>
              <a:rPr lang="en-US" sz="1900" dirty="0" err="1">
                <a:solidFill>
                  <a:srgbClr val="111827"/>
                </a:solidFill>
                <a:latin typeface="Arial" pitchFamily="34" charset="0"/>
                <a:ea typeface="Arial" pitchFamily="34" charset="-122"/>
                <a:cs typeface="Arial" pitchFamily="34" charset="-120"/>
              </a:rPr>
              <a:t>çapraz</a:t>
            </a:r>
            <a:r>
              <a:rPr lang="en-US" sz="1900" dirty="0">
                <a:solidFill>
                  <a:srgbClr val="111827"/>
                </a:solidFill>
                <a:latin typeface="Arial" pitchFamily="34" charset="0"/>
                <a:ea typeface="Arial" pitchFamily="34" charset="-122"/>
                <a:cs typeface="Arial" pitchFamily="34" charset="-120"/>
              </a:rPr>
              <a:t> platform </a:t>
            </a:r>
            <a:r>
              <a:rPr lang="en-US" sz="1900" dirty="0" err="1">
                <a:solidFill>
                  <a:srgbClr val="111827"/>
                </a:solidFill>
                <a:latin typeface="Arial" pitchFamily="34" charset="0"/>
                <a:ea typeface="Arial" pitchFamily="34" charset="-122"/>
                <a:cs typeface="Arial" pitchFamily="34" charset="-120"/>
              </a:rPr>
              <a:t>yaklaşımlarını</a:t>
            </a:r>
            <a:r>
              <a:rPr lang="en-US" sz="1900" dirty="0">
                <a:solidFill>
                  <a:srgbClr val="111827"/>
                </a:solidFill>
                <a:latin typeface="Arial" pitchFamily="34" charset="0"/>
                <a:ea typeface="Arial" pitchFamily="34" charset="-122"/>
                <a:cs typeface="Arial" pitchFamily="34" charset="-120"/>
              </a:rPr>
              <a:t> </a:t>
            </a:r>
            <a:r>
              <a:rPr lang="en-US" sz="1900" dirty="0" err="1">
                <a:solidFill>
                  <a:srgbClr val="111827"/>
                </a:solidFill>
                <a:latin typeface="Arial" pitchFamily="34" charset="0"/>
                <a:ea typeface="Arial" pitchFamily="34" charset="-122"/>
                <a:cs typeface="Arial" pitchFamily="34" charset="-120"/>
              </a:rPr>
              <a:t>ölçütlerle</a:t>
            </a:r>
            <a:r>
              <a:rPr lang="en-US" sz="1900" dirty="0">
                <a:solidFill>
                  <a:srgbClr val="111827"/>
                </a:solidFill>
                <a:latin typeface="Arial" pitchFamily="34" charset="0"/>
                <a:ea typeface="Arial" pitchFamily="34" charset="-122"/>
                <a:cs typeface="Arial" pitchFamily="34" charset="-120"/>
              </a:rPr>
              <a:t> </a:t>
            </a:r>
            <a:r>
              <a:rPr lang="en-US" sz="1900" dirty="0" err="1">
                <a:solidFill>
                  <a:srgbClr val="111827"/>
                </a:solidFill>
                <a:latin typeface="Arial" pitchFamily="34" charset="0"/>
                <a:ea typeface="Arial" pitchFamily="34" charset="-122"/>
                <a:cs typeface="Arial" pitchFamily="34" charset="-120"/>
              </a:rPr>
              <a:t>analiz</a:t>
            </a:r>
            <a:r>
              <a:rPr lang="en-US" sz="1900" dirty="0">
                <a:solidFill>
                  <a:srgbClr val="111827"/>
                </a:solidFill>
                <a:latin typeface="Arial" pitchFamily="34" charset="0"/>
                <a:ea typeface="Arial" pitchFamily="34" charset="-122"/>
                <a:cs typeface="Arial" pitchFamily="34" charset="-120"/>
              </a:rPr>
              <a:t> eder, bir proje için gerekçeli seçim yaparsınız.</a:t>
            </a:r>
            <a:endParaRPr lang="en-US" sz="19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buNone/>
            </a:pPr>
            <a:r>
              <a:rPr lang="en-US" sz="3200" b="1" dirty="0" err="1">
                <a:solidFill>
                  <a:srgbClr val="111827"/>
                </a:solidFill>
                <a:latin typeface="Arial" pitchFamily="34" charset="0"/>
                <a:ea typeface="Arial" pitchFamily="34" charset="-122"/>
                <a:cs typeface="Arial" pitchFamily="34" charset="-120"/>
              </a:rPr>
              <a:t>Ders</a:t>
            </a:r>
            <a:r>
              <a:rPr lang="en-US" sz="3200" b="1" dirty="0">
                <a:solidFill>
                  <a:srgbClr val="111827"/>
                </a:solidFill>
                <a:latin typeface="Arial" pitchFamily="34" charset="0"/>
                <a:ea typeface="Arial" pitchFamily="34" charset="-122"/>
                <a:cs typeface="Arial" pitchFamily="34" charset="-120"/>
              </a:rPr>
              <a:t> Akışı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1989734" cy="1051560"/>
          </a:xfrm>
          <a:prstGeom prst="roundRect">
            <a:avLst>
              <a:gd name="adj" fmla="val 8696"/>
            </a:avLst>
          </a:prstGeom>
          <a:solidFill>
            <a:srgbClr val="EFF6FF"/>
          </a:solidFill>
          <a:ln w="9525">
            <a:solidFill>
              <a:srgbClr val="EFF6FF"/>
            </a:solidFill>
            <a:prstDash val="solid"/>
          </a:ln>
        </p:spPr>
      </p:sp>
      <p:sp>
        <p:nvSpPr>
          <p:cNvPr id="5" name="Text 3"/>
          <p:cNvSpPr txBox="1"/>
          <p:nvPr/>
        </p:nvSpPr>
        <p:spPr>
          <a:xfrm>
            <a:off x="868680" y="1737360"/>
            <a:ext cx="1715414" cy="868680"/>
          </a:xfrm>
          <a:prstGeom prst="rect">
            <a:avLst/>
          </a:prstGeom>
          <a:noFill/>
          <a:ln/>
        </p:spPr>
        <p:txBody>
          <a:bodyPr wrap="square" lIns="0" tIns="0" rIns="0" bIns="0" rtlCol="0" anchor="ctr">
            <a:normAutofit/>
          </a:bodyPr>
          <a:lstStyle/>
          <a:p>
            <a:pPr marL="0" indent="0">
              <a:buNone/>
            </a:pPr>
            <a:r>
              <a:rPr lang="en-US" sz="1200" b="1" dirty="0">
                <a:solidFill>
                  <a:srgbClr val="2563EB"/>
                </a:solidFill>
                <a:latin typeface="Arial" pitchFamily="34" charset="0"/>
                <a:ea typeface="Arial" pitchFamily="34" charset="-122"/>
                <a:cs typeface="Arial" pitchFamily="34" charset="-120"/>
              </a:rPr>
              <a:t>1</a:t>
            </a:r>
            <a:endParaRPr lang="en-US" sz="1200" dirty="0"/>
          </a:p>
          <a:p>
            <a:pPr marL="0" indent="0">
              <a:buNone/>
            </a:pPr>
            <a:r>
              <a:rPr lang="en-US" sz="1400" b="1" dirty="0">
                <a:solidFill>
                  <a:srgbClr val="111827"/>
                </a:solidFill>
                <a:latin typeface="Arial" pitchFamily="34" charset="0"/>
                <a:ea typeface="Arial" pitchFamily="34" charset="-122"/>
                <a:cs typeface="Arial" pitchFamily="34" charset="-120"/>
              </a:rPr>
              <a:t>Mobil dünya</a:t>
            </a:r>
            <a:endParaRPr lang="en-US" sz="1200" dirty="0"/>
          </a:p>
        </p:txBody>
      </p:sp>
      <p:sp>
        <p:nvSpPr>
          <p:cNvPr id="6" name="Text 4"/>
          <p:cNvSpPr txBox="1"/>
          <p:nvPr/>
        </p:nvSpPr>
        <p:spPr>
          <a:xfrm>
            <a:off x="2721254"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7" name="Shape 5"/>
          <p:cNvSpPr/>
          <p:nvPr/>
        </p:nvSpPr>
        <p:spPr>
          <a:xfrm>
            <a:off x="2977286" y="1645920"/>
            <a:ext cx="1989734" cy="1051560"/>
          </a:xfrm>
          <a:prstGeom prst="roundRect">
            <a:avLst>
              <a:gd name="adj" fmla="val 8696"/>
            </a:avLst>
          </a:prstGeom>
          <a:solidFill>
            <a:srgbClr val="EFF6FF"/>
          </a:solidFill>
          <a:ln w="9525">
            <a:solidFill>
              <a:srgbClr val="EFF6FF"/>
            </a:solidFill>
            <a:prstDash val="solid"/>
          </a:ln>
        </p:spPr>
      </p:sp>
      <p:sp>
        <p:nvSpPr>
          <p:cNvPr id="8" name="Text 6"/>
          <p:cNvSpPr txBox="1"/>
          <p:nvPr/>
        </p:nvSpPr>
        <p:spPr>
          <a:xfrm>
            <a:off x="3114446" y="1737360"/>
            <a:ext cx="1715414" cy="868680"/>
          </a:xfrm>
          <a:prstGeom prst="rect">
            <a:avLst/>
          </a:prstGeom>
          <a:noFill/>
          <a:ln/>
        </p:spPr>
        <p:txBody>
          <a:bodyPr wrap="square" lIns="0" tIns="0" rIns="0" bIns="0" rtlCol="0" anchor="ctr">
            <a:normAutofit/>
          </a:bodyPr>
          <a:lstStyle/>
          <a:p>
            <a:pPr marL="0" indent="0">
              <a:buNone/>
            </a:pPr>
            <a:r>
              <a:rPr lang="en-US" sz="1200" b="1" dirty="0">
                <a:solidFill>
                  <a:srgbClr val="2563EB"/>
                </a:solidFill>
                <a:latin typeface="Arial" pitchFamily="34" charset="0"/>
                <a:ea typeface="Arial" pitchFamily="34" charset="-122"/>
                <a:cs typeface="Arial" pitchFamily="34" charset="-120"/>
              </a:rPr>
              <a:t>2</a:t>
            </a:r>
            <a:endParaRPr lang="en-US" sz="1200" dirty="0"/>
          </a:p>
          <a:p>
            <a:pPr marL="0" indent="0">
              <a:buNone/>
            </a:pPr>
            <a:r>
              <a:rPr lang="en-US" sz="1400" b="1" dirty="0">
                <a:solidFill>
                  <a:srgbClr val="111827"/>
                </a:solidFill>
                <a:latin typeface="Arial" pitchFamily="34" charset="0"/>
                <a:ea typeface="Arial" pitchFamily="34" charset="-122"/>
                <a:cs typeface="Arial" pitchFamily="34" charset="-120"/>
              </a:rPr>
              <a:t>Platform ekonomisi</a:t>
            </a:r>
            <a:endParaRPr lang="en-US" sz="1200" dirty="0"/>
          </a:p>
        </p:txBody>
      </p:sp>
      <p:sp>
        <p:nvSpPr>
          <p:cNvPr id="9" name="Text 7"/>
          <p:cNvSpPr txBox="1"/>
          <p:nvPr/>
        </p:nvSpPr>
        <p:spPr>
          <a:xfrm>
            <a:off x="4967021"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5223053" y="1645920"/>
            <a:ext cx="1989734" cy="1051560"/>
          </a:xfrm>
          <a:prstGeom prst="roundRect">
            <a:avLst>
              <a:gd name="adj" fmla="val 8696"/>
            </a:avLst>
          </a:prstGeom>
          <a:solidFill>
            <a:srgbClr val="EFF6FF"/>
          </a:solidFill>
          <a:ln w="9525">
            <a:solidFill>
              <a:srgbClr val="EFF6FF"/>
            </a:solidFill>
            <a:prstDash val="solid"/>
          </a:ln>
        </p:spPr>
      </p:sp>
      <p:sp>
        <p:nvSpPr>
          <p:cNvPr id="11" name="Text 9"/>
          <p:cNvSpPr txBox="1"/>
          <p:nvPr/>
        </p:nvSpPr>
        <p:spPr>
          <a:xfrm>
            <a:off x="5360213" y="1737360"/>
            <a:ext cx="1715414" cy="868680"/>
          </a:xfrm>
          <a:prstGeom prst="rect">
            <a:avLst/>
          </a:prstGeom>
          <a:noFill/>
          <a:ln/>
        </p:spPr>
        <p:txBody>
          <a:bodyPr wrap="square" lIns="0" tIns="0" rIns="0" bIns="0" rtlCol="0" anchor="ctr">
            <a:normAutofit/>
          </a:bodyPr>
          <a:lstStyle/>
          <a:p>
            <a:pPr marL="0" indent="0">
              <a:buNone/>
            </a:pPr>
            <a:r>
              <a:rPr lang="en-US" sz="1200" b="1" dirty="0">
                <a:solidFill>
                  <a:srgbClr val="2563EB"/>
                </a:solidFill>
                <a:latin typeface="Arial" pitchFamily="34" charset="0"/>
                <a:ea typeface="Arial" pitchFamily="34" charset="-122"/>
                <a:cs typeface="Arial" pitchFamily="34" charset="-120"/>
              </a:rPr>
              <a:t>3</a:t>
            </a:r>
            <a:endParaRPr lang="en-US" sz="1200" dirty="0"/>
          </a:p>
          <a:p>
            <a:pPr marL="0" indent="0">
              <a:buNone/>
            </a:pPr>
            <a:r>
              <a:rPr lang="en-US" sz="1400" b="1" dirty="0">
                <a:solidFill>
                  <a:srgbClr val="111827"/>
                </a:solidFill>
                <a:latin typeface="Arial" pitchFamily="34" charset="0"/>
                <a:ea typeface="Arial" pitchFamily="34" charset="-122"/>
                <a:cs typeface="Arial" pitchFamily="34" charset="-120"/>
              </a:rPr>
              <a:t>Geliştirme yaklaşımları</a:t>
            </a:r>
            <a:endParaRPr lang="en-US" sz="1200" dirty="0"/>
          </a:p>
        </p:txBody>
      </p:sp>
      <p:sp>
        <p:nvSpPr>
          <p:cNvPr id="12" name="Text 10"/>
          <p:cNvSpPr txBox="1"/>
          <p:nvPr/>
        </p:nvSpPr>
        <p:spPr>
          <a:xfrm>
            <a:off x="7212787"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3" name="Shape 11"/>
          <p:cNvSpPr/>
          <p:nvPr/>
        </p:nvSpPr>
        <p:spPr>
          <a:xfrm>
            <a:off x="7468819" y="1645920"/>
            <a:ext cx="1989734" cy="1051560"/>
          </a:xfrm>
          <a:prstGeom prst="roundRect">
            <a:avLst>
              <a:gd name="adj" fmla="val 8696"/>
            </a:avLst>
          </a:prstGeom>
          <a:solidFill>
            <a:srgbClr val="EFF6FF"/>
          </a:solidFill>
          <a:ln w="9525">
            <a:solidFill>
              <a:srgbClr val="EFF6FF"/>
            </a:solidFill>
            <a:prstDash val="solid"/>
          </a:ln>
        </p:spPr>
      </p:sp>
      <p:sp>
        <p:nvSpPr>
          <p:cNvPr id="14" name="Text 12"/>
          <p:cNvSpPr txBox="1"/>
          <p:nvPr/>
        </p:nvSpPr>
        <p:spPr>
          <a:xfrm>
            <a:off x="7605979" y="1737360"/>
            <a:ext cx="1715414" cy="868680"/>
          </a:xfrm>
          <a:prstGeom prst="rect">
            <a:avLst/>
          </a:prstGeom>
          <a:noFill/>
          <a:ln/>
        </p:spPr>
        <p:txBody>
          <a:bodyPr wrap="square" lIns="0" tIns="0" rIns="0" bIns="0" rtlCol="0" anchor="ctr">
            <a:normAutofit/>
          </a:bodyPr>
          <a:lstStyle/>
          <a:p>
            <a:pPr marL="0" indent="0">
              <a:buNone/>
            </a:pPr>
            <a:r>
              <a:rPr lang="en-US" sz="1200" b="1" dirty="0">
                <a:solidFill>
                  <a:srgbClr val="2563EB"/>
                </a:solidFill>
                <a:latin typeface="Arial" pitchFamily="34" charset="0"/>
                <a:ea typeface="Arial" pitchFamily="34" charset="-122"/>
                <a:cs typeface="Arial" pitchFamily="34" charset="-120"/>
              </a:rPr>
              <a:t>4</a:t>
            </a:r>
            <a:endParaRPr lang="en-US" sz="1200" dirty="0"/>
          </a:p>
          <a:p>
            <a:pPr marL="0" indent="0">
              <a:buNone/>
            </a:pPr>
            <a:r>
              <a:rPr lang="en-US" sz="1400" b="1" dirty="0">
                <a:solidFill>
                  <a:srgbClr val="111827"/>
                </a:solidFill>
                <a:latin typeface="Arial" pitchFamily="34" charset="0"/>
                <a:ea typeface="Arial" pitchFamily="34" charset="-122"/>
                <a:cs typeface="Arial" pitchFamily="34" charset="-120"/>
              </a:rPr>
              <a:t>Seçim mantığı</a:t>
            </a:r>
            <a:endParaRPr lang="en-US" sz="1200" dirty="0"/>
          </a:p>
        </p:txBody>
      </p:sp>
      <p:sp>
        <p:nvSpPr>
          <p:cNvPr id="15" name="Text 13"/>
          <p:cNvSpPr txBox="1"/>
          <p:nvPr/>
        </p:nvSpPr>
        <p:spPr>
          <a:xfrm>
            <a:off x="9458554"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6" name="Shape 14"/>
          <p:cNvSpPr/>
          <p:nvPr/>
        </p:nvSpPr>
        <p:spPr>
          <a:xfrm>
            <a:off x="9714586" y="1645920"/>
            <a:ext cx="1989734" cy="1051560"/>
          </a:xfrm>
          <a:prstGeom prst="roundRect">
            <a:avLst>
              <a:gd name="adj" fmla="val 8696"/>
            </a:avLst>
          </a:prstGeom>
          <a:solidFill>
            <a:srgbClr val="2563EB"/>
          </a:solidFill>
          <a:ln w="9525">
            <a:solidFill>
              <a:srgbClr val="2563EB"/>
            </a:solidFill>
            <a:prstDash val="solid"/>
          </a:ln>
        </p:spPr>
      </p:sp>
      <p:sp>
        <p:nvSpPr>
          <p:cNvPr id="17" name="Text 15"/>
          <p:cNvSpPr txBox="1"/>
          <p:nvPr/>
        </p:nvSpPr>
        <p:spPr>
          <a:xfrm>
            <a:off x="9851746" y="1737360"/>
            <a:ext cx="1715414" cy="868680"/>
          </a:xfrm>
          <a:prstGeom prst="rect">
            <a:avLst/>
          </a:prstGeom>
          <a:noFill/>
          <a:ln/>
        </p:spPr>
        <p:txBody>
          <a:bodyPr wrap="square" lIns="0" tIns="0" rIns="0" bIns="0" rtlCol="0" anchor="ctr">
            <a:normAutofit/>
          </a:bodyPr>
          <a:lstStyle/>
          <a:p>
            <a:pPr marL="0" indent="0">
              <a:buNone/>
            </a:pPr>
            <a:r>
              <a:rPr lang="en-US" sz="1200" b="1" dirty="0">
                <a:solidFill>
                  <a:srgbClr val="FFFFFF"/>
                </a:solidFill>
                <a:latin typeface="Arial" pitchFamily="34" charset="0"/>
                <a:ea typeface="Arial" pitchFamily="34" charset="-122"/>
                <a:cs typeface="Arial" pitchFamily="34" charset="-120"/>
              </a:rPr>
              <a:t>5</a:t>
            </a:r>
            <a:endParaRPr lang="en-US" sz="1200" dirty="0"/>
          </a:p>
          <a:p>
            <a:pPr marL="0" indent="0">
              <a:buNone/>
            </a:pPr>
            <a:r>
              <a:rPr lang="en-US" sz="1400" b="1" dirty="0">
                <a:solidFill>
                  <a:srgbClr val="FFFFFF"/>
                </a:solidFill>
                <a:latin typeface="Arial" pitchFamily="34" charset="0"/>
                <a:ea typeface="Arial" pitchFamily="34" charset="-122"/>
                <a:cs typeface="Arial" pitchFamily="34" charset="-120"/>
              </a:rPr>
              <a:t>Uygulama: ekosistem analizi</a:t>
            </a:r>
            <a:endParaRPr lang="en-US" sz="1200" dirty="0"/>
          </a:p>
        </p:txBody>
      </p:sp>
      <p:sp>
        <p:nvSpPr>
          <p:cNvPr id="18" name="Text 16"/>
          <p:cNvSpPr txBox="1"/>
          <p:nvPr/>
        </p:nvSpPr>
        <p:spPr>
          <a:xfrm>
            <a:off x="731520" y="3017520"/>
            <a:ext cx="10972800" cy="3291840"/>
          </a:xfrm>
          <a:prstGeom prst="rect">
            <a:avLst/>
          </a:prstGeom>
          <a:noFill/>
          <a:ln/>
        </p:spPr>
        <p:txBody>
          <a:bodyPr wrap="square" lIns="0" tIns="0" rIns="0" bIns="0" rtlCol="0" anchor="t"/>
          <a:lstStyle/>
          <a:p>
            <a:pPr marL="0" indent="0" algn="just">
              <a:spcAft>
                <a:spcPts val="800"/>
              </a:spcAft>
              <a:buNone/>
            </a:pPr>
            <a:r>
              <a:rPr lang="en-US" sz="2200" dirty="0">
                <a:solidFill>
                  <a:srgbClr val="111827"/>
                </a:solidFill>
                <a:latin typeface="Arial" pitchFamily="34" charset="0"/>
                <a:ea typeface="Arial" pitchFamily="34" charset="-122"/>
                <a:cs typeface="Arial" pitchFamily="34" charset="-120"/>
              </a:rPr>
              <a:t>Teoride önce ekosistemi, sonra platformları, ardından dört geliştirme yaklaşımını işleyeceğiz. Son bölümde bir karar çerçevesi kuracağız. Uygulama saatinde gerçek bir uygulamayı bu çerçeveye göre analiz edeceksiniz.</a:t>
            </a:r>
            <a:endParaRPr lang="en-US" sz="22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822960" y="2194560"/>
            <a:ext cx="7315200" cy="365760"/>
          </a:xfrm>
          <a:prstGeom prst="rect">
            <a:avLst/>
          </a:prstGeom>
          <a:noFill/>
          <a:ln/>
        </p:spPr>
        <p:txBody>
          <a:bodyPr wrap="square" lIns="0" tIns="0" rIns="0" bIns="0" rtlCol="0" anchor="ctr"/>
          <a:lstStyle/>
          <a:p>
            <a:pPr marL="0" indent="0">
              <a:buNone/>
            </a:pPr>
            <a:r>
              <a:rPr lang="en-US" sz="1600" b="1" kern="0" spc="400" dirty="0">
                <a:solidFill>
                  <a:srgbClr val="2563EB"/>
                </a:solidFill>
                <a:latin typeface="Arial" pitchFamily="34" charset="0"/>
                <a:ea typeface="Arial" pitchFamily="34" charset="-122"/>
                <a:cs typeface="Arial" pitchFamily="34" charset="-120"/>
              </a:rPr>
              <a:t>BÖLÜM 1</a:t>
            </a:r>
            <a:endParaRPr lang="en-US" sz="1600" dirty="0"/>
          </a:p>
        </p:txBody>
      </p:sp>
      <p:sp>
        <p:nvSpPr>
          <p:cNvPr id="3" name="Text 1"/>
          <p:cNvSpPr txBox="1"/>
          <p:nvPr/>
        </p:nvSpPr>
        <p:spPr>
          <a:xfrm>
            <a:off x="822960" y="2651760"/>
            <a:ext cx="10058400" cy="1371600"/>
          </a:xfrm>
          <a:prstGeom prst="rect">
            <a:avLst/>
          </a:prstGeom>
          <a:noFill/>
          <a:ln/>
        </p:spPr>
        <p:txBody>
          <a:bodyPr wrap="square" lIns="0" tIns="0" rIns="0" bIns="0" rtlCol="0" anchor="t"/>
          <a:lstStyle/>
          <a:p>
            <a:pPr marL="0" indent="0">
              <a:buNone/>
            </a:pPr>
            <a:r>
              <a:rPr lang="en-US" sz="4400" b="1" dirty="0">
                <a:solidFill>
                  <a:srgbClr val="111827"/>
                </a:solidFill>
                <a:latin typeface="Arial" pitchFamily="34" charset="0"/>
                <a:ea typeface="Arial" pitchFamily="34" charset="-122"/>
                <a:cs typeface="Arial" pitchFamily="34" charset="-120"/>
              </a:rPr>
              <a:t>Mobil Dünya</a:t>
            </a:r>
            <a:endParaRPr lang="en-US" sz="4400" dirty="0"/>
          </a:p>
        </p:txBody>
      </p:sp>
      <p:sp>
        <p:nvSpPr>
          <p:cNvPr id="4" name="Text 2"/>
          <p:cNvSpPr txBox="1"/>
          <p:nvPr/>
        </p:nvSpPr>
        <p:spPr>
          <a:xfrm>
            <a:off x="822960" y="4114800"/>
            <a:ext cx="9144000" cy="548640"/>
          </a:xfrm>
          <a:prstGeom prst="rect">
            <a:avLst/>
          </a:prstGeom>
          <a:noFill/>
          <a:ln/>
        </p:spPr>
        <p:txBody>
          <a:bodyPr wrap="square" lIns="0" tIns="0" rIns="0" bIns="0" rtlCol="0" anchor="ctr"/>
          <a:lstStyle/>
          <a:p>
            <a:pPr marL="0" indent="0">
              <a:buNone/>
            </a:pPr>
            <a:r>
              <a:rPr lang="en-US" sz="2200" dirty="0">
                <a:solidFill>
                  <a:srgbClr val="6B7280"/>
                </a:solidFill>
                <a:latin typeface="Arial" pitchFamily="34" charset="0"/>
                <a:ea typeface="Arial" pitchFamily="34" charset="-122"/>
                <a:cs typeface="Arial" pitchFamily="34" charset="-120"/>
              </a:rPr>
              <a:t>Cihazdan mağazaya ekosistem</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buNone/>
            </a:pPr>
            <a:r>
              <a:rPr lang="en-US" sz="3200" b="1" dirty="0">
                <a:solidFill>
                  <a:srgbClr val="111827"/>
                </a:solidFill>
                <a:latin typeface="Arial" pitchFamily="34" charset="0"/>
                <a:ea typeface="Arial" pitchFamily="34" charset="-122"/>
                <a:cs typeface="Arial" pitchFamily="34" charset="-120"/>
              </a:rPr>
              <a:t>Mobil Uygulama Nedir?</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6035040" cy="4663440"/>
          </a:xfrm>
          <a:prstGeom prst="rect">
            <a:avLst/>
          </a:prstGeom>
          <a:noFill/>
          <a:ln/>
        </p:spPr>
        <p:txBody>
          <a:bodyPr wrap="square" lIns="0" tIns="0" rIns="0" bIns="0" rtlCol="0" anchor="t"/>
          <a:lstStyle/>
          <a:p>
            <a:pPr marL="0" indent="0" algn="just">
              <a:spcAft>
                <a:spcPts val="800"/>
              </a:spcAft>
              <a:buNone/>
            </a:pPr>
            <a:r>
              <a:rPr lang="en-US" sz="2200" dirty="0">
                <a:solidFill>
                  <a:srgbClr val="111827"/>
                </a:solidFill>
                <a:latin typeface="Arial" pitchFamily="34" charset="0"/>
                <a:ea typeface="Arial" pitchFamily="34" charset="-122"/>
                <a:cs typeface="Arial" pitchFamily="34" charset="-120"/>
              </a:rPr>
              <a:t>Mobil uygulama, taşınabilir bir cihazın işletim sistemi üzerinde çalışan, cihazın sensörlerine, ağına ve bildirim sistemine erişebilen yazılımdır. </a:t>
            </a:r>
          </a:p>
          <a:p>
            <a:pPr marL="0" indent="0" algn="just">
              <a:spcAft>
                <a:spcPts val="800"/>
              </a:spcAft>
              <a:buNone/>
            </a:pPr>
            <a:r>
              <a:rPr lang="en-US" sz="2200" dirty="0" err="1">
                <a:solidFill>
                  <a:srgbClr val="111827"/>
                </a:solidFill>
                <a:latin typeface="Arial" pitchFamily="34" charset="0"/>
                <a:ea typeface="Arial" pitchFamily="34" charset="-122"/>
                <a:cs typeface="Arial" pitchFamily="34" charset="-120"/>
              </a:rPr>
              <a:t>Kullanıcı</a:t>
            </a:r>
            <a:r>
              <a:rPr lang="en-US" sz="2200" dirty="0">
                <a:solidFill>
                  <a:srgbClr val="111827"/>
                </a:solidFill>
                <a:latin typeface="Arial" pitchFamily="34" charset="0"/>
                <a:ea typeface="Arial" pitchFamily="34" charset="-122"/>
                <a:cs typeface="Arial" pitchFamily="34" charset="-120"/>
              </a:rPr>
              <a:t> onu bir mağazadan kurar; uygulama çoğu zaman uzak bir sunucuyla konuşarak çalışır. Dolayısıyla bir mobil uygulama tek başına bir program değil, cihaz, işletim sistemi, mağaza ve sunucudan oluşan bir sistemin parçasıdır.</a:t>
            </a:r>
            <a:endParaRPr lang="en-US" sz="2200" dirty="0"/>
          </a:p>
        </p:txBody>
      </p:sp>
      <p:sp>
        <p:nvSpPr>
          <p:cNvPr id="5" name="Shape 3"/>
          <p:cNvSpPr/>
          <p:nvPr/>
        </p:nvSpPr>
        <p:spPr>
          <a:xfrm>
            <a:off x="9372600" y="2560320"/>
            <a:ext cx="9144" cy="434340"/>
          </a:xfrm>
          <a:prstGeom prst="line">
            <a:avLst/>
          </a:prstGeom>
          <a:noFill/>
          <a:ln w="15875">
            <a:solidFill>
              <a:srgbClr val="9CA3AF"/>
            </a:solidFill>
            <a:prstDash val="solid"/>
          </a:ln>
        </p:spPr>
      </p:sp>
      <p:sp>
        <p:nvSpPr>
          <p:cNvPr id="6" name="Shape 4"/>
          <p:cNvSpPr/>
          <p:nvPr/>
        </p:nvSpPr>
        <p:spPr>
          <a:xfrm>
            <a:off x="10104120" y="3429000"/>
            <a:ext cx="137160" cy="9144"/>
          </a:xfrm>
          <a:prstGeom prst="line">
            <a:avLst/>
          </a:prstGeom>
          <a:noFill/>
          <a:ln w="15875">
            <a:solidFill>
              <a:srgbClr val="9CA3AF"/>
            </a:solidFill>
            <a:prstDash val="solid"/>
          </a:ln>
        </p:spPr>
      </p:sp>
      <p:sp>
        <p:nvSpPr>
          <p:cNvPr id="7" name="Shape 5"/>
          <p:cNvSpPr/>
          <p:nvPr/>
        </p:nvSpPr>
        <p:spPr>
          <a:xfrm>
            <a:off x="9372600" y="3863340"/>
            <a:ext cx="9144" cy="434340"/>
          </a:xfrm>
          <a:prstGeom prst="line">
            <a:avLst/>
          </a:prstGeom>
          <a:noFill/>
          <a:ln w="15875">
            <a:solidFill>
              <a:srgbClr val="9CA3AF"/>
            </a:solidFill>
            <a:prstDash val="solid"/>
          </a:ln>
        </p:spPr>
      </p:sp>
      <p:sp>
        <p:nvSpPr>
          <p:cNvPr id="8" name="Shape 6"/>
          <p:cNvSpPr/>
          <p:nvPr/>
        </p:nvSpPr>
        <p:spPr>
          <a:xfrm>
            <a:off x="8503920" y="3429000"/>
            <a:ext cx="137160" cy="9144"/>
          </a:xfrm>
          <a:prstGeom prst="line">
            <a:avLst/>
          </a:prstGeom>
          <a:noFill/>
          <a:ln w="15875">
            <a:solidFill>
              <a:srgbClr val="9CA3AF"/>
            </a:solidFill>
            <a:prstDash val="solid"/>
          </a:ln>
        </p:spPr>
      </p:sp>
      <p:sp>
        <p:nvSpPr>
          <p:cNvPr id="9" name="Shape 7"/>
          <p:cNvSpPr/>
          <p:nvPr/>
        </p:nvSpPr>
        <p:spPr>
          <a:xfrm>
            <a:off x="8641080" y="2994660"/>
            <a:ext cx="1463040" cy="868680"/>
          </a:xfrm>
          <a:prstGeom prst="roundRect">
            <a:avLst>
              <a:gd name="adj" fmla="val 10526"/>
            </a:avLst>
          </a:prstGeom>
          <a:solidFill>
            <a:srgbClr val="2563EB"/>
          </a:solidFill>
          <a:ln w="9525">
            <a:solidFill>
              <a:srgbClr val="2563EB"/>
            </a:solidFill>
            <a:prstDash val="solid"/>
          </a:ln>
        </p:spPr>
      </p:sp>
      <p:sp>
        <p:nvSpPr>
          <p:cNvPr id="10" name="Text 8"/>
          <p:cNvSpPr txBox="1"/>
          <p:nvPr/>
        </p:nvSpPr>
        <p:spPr>
          <a:xfrm>
            <a:off x="8641080" y="2994660"/>
            <a:ext cx="1463040" cy="86868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Mobil uygulama</a:t>
            </a:r>
            <a:endParaRPr lang="en-US" sz="1600" dirty="0"/>
          </a:p>
        </p:txBody>
      </p:sp>
      <p:sp>
        <p:nvSpPr>
          <p:cNvPr id="11" name="Shape 9"/>
          <p:cNvSpPr/>
          <p:nvPr/>
        </p:nvSpPr>
        <p:spPr>
          <a:xfrm>
            <a:off x="8686800" y="1645920"/>
            <a:ext cx="1371600" cy="914400"/>
          </a:xfrm>
          <a:prstGeom prst="roundRect">
            <a:avLst>
              <a:gd name="adj" fmla="val 10000"/>
            </a:avLst>
          </a:prstGeom>
          <a:solidFill>
            <a:srgbClr val="FFFFFF"/>
          </a:solidFill>
          <a:ln w="15875">
            <a:solidFill>
              <a:srgbClr val="CBD5E1"/>
            </a:solidFill>
            <a:prstDash val="solid"/>
          </a:ln>
        </p:spPr>
      </p:sp>
      <p:sp>
        <p:nvSpPr>
          <p:cNvPr id="12" name="Text 10"/>
          <p:cNvSpPr txBox="1"/>
          <p:nvPr/>
        </p:nvSpPr>
        <p:spPr>
          <a:xfrm>
            <a:off x="8759952" y="1645920"/>
            <a:ext cx="1225296" cy="914400"/>
          </a:xfrm>
          <a:prstGeom prst="rect">
            <a:avLst/>
          </a:prstGeom>
          <a:noFill/>
          <a:ln/>
        </p:spPr>
        <p:txBody>
          <a:bodyPr wrap="square" lIns="0" tIns="0" rIns="0" bIns="0" rtlCol="0" anchor="ctr"/>
          <a:lstStyle/>
          <a:p>
            <a:pPr marL="0" indent="0" algn="ctr">
              <a:buNone/>
            </a:pPr>
            <a:r>
              <a:rPr lang="en-US" sz="1400" b="1" dirty="0">
                <a:solidFill>
                  <a:srgbClr val="111827"/>
                </a:solidFill>
                <a:latin typeface="Arial" pitchFamily="34" charset="0"/>
                <a:ea typeface="Arial" pitchFamily="34" charset="-122"/>
                <a:cs typeface="Arial" pitchFamily="34" charset="-120"/>
              </a:rPr>
              <a:t>Cihaz (sensörler, ağ)</a:t>
            </a:r>
            <a:endParaRPr lang="en-US" sz="1400" dirty="0"/>
          </a:p>
        </p:txBody>
      </p:sp>
      <p:sp>
        <p:nvSpPr>
          <p:cNvPr id="13" name="Shape 11"/>
          <p:cNvSpPr/>
          <p:nvPr/>
        </p:nvSpPr>
        <p:spPr>
          <a:xfrm>
            <a:off x="10241280" y="2971800"/>
            <a:ext cx="1371600" cy="914400"/>
          </a:xfrm>
          <a:prstGeom prst="roundRect">
            <a:avLst>
              <a:gd name="adj" fmla="val 10000"/>
            </a:avLst>
          </a:prstGeom>
          <a:solidFill>
            <a:srgbClr val="FFFFFF"/>
          </a:solidFill>
          <a:ln w="15875">
            <a:solidFill>
              <a:srgbClr val="CBD5E1"/>
            </a:solidFill>
            <a:prstDash val="solid"/>
          </a:ln>
        </p:spPr>
      </p:sp>
      <p:sp>
        <p:nvSpPr>
          <p:cNvPr id="14" name="Text 12"/>
          <p:cNvSpPr txBox="1"/>
          <p:nvPr/>
        </p:nvSpPr>
        <p:spPr>
          <a:xfrm>
            <a:off x="10314432" y="2971800"/>
            <a:ext cx="1225296" cy="914400"/>
          </a:xfrm>
          <a:prstGeom prst="rect">
            <a:avLst/>
          </a:prstGeom>
          <a:noFill/>
          <a:ln/>
        </p:spPr>
        <p:txBody>
          <a:bodyPr wrap="square" lIns="0" tIns="0" rIns="0" bIns="0" rtlCol="0" anchor="ctr"/>
          <a:lstStyle/>
          <a:p>
            <a:pPr marL="0" indent="0" algn="ctr">
              <a:buNone/>
            </a:pPr>
            <a:r>
              <a:rPr lang="en-US" sz="1400" b="1" dirty="0">
                <a:solidFill>
                  <a:srgbClr val="111827"/>
                </a:solidFill>
                <a:latin typeface="Arial" pitchFamily="34" charset="0"/>
                <a:ea typeface="Arial" pitchFamily="34" charset="-122"/>
                <a:cs typeface="Arial" pitchFamily="34" charset="-120"/>
              </a:rPr>
              <a:t>İşletim sistemi</a:t>
            </a:r>
            <a:endParaRPr lang="en-US" sz="1400" dirty="0"/>
          </a:p>
        </p:txBody>
      </p:sp>
      <p:sp>
        <p:nvSpPr>
          <p:cNvPr id="15" name="Shape 13"/>
          <p:cNvSpPr/>
          <p:nvPr/>
        </p:nvSpPr>
        <p:spPr>
          <a:xfrm>
            <a:off x="8686800" y="4297680"/>
            <a:ext cx="1371600" cy="914400"/>
          </a:xfrm>
          <a:prstGeom prst="roundRect">
            <a:avLst>
              <a:gd name="adj" fmla="val 10000"/>
            </a:avLst>
          </a:prstGeom>
          <a:solidFill>
            <a:srgbClr val="FFFFFF"/>
          </a:solidFill>
          <a:ln w="15875">
            <a:solidFill>
              <a:srgbClr val="CBD5E1"/>
            </a:solidFill>
            <a:prstDash val="solid"/>
          </a:ln>
        </p:spPr>
      </p:sp>
      <p:sp>
        <p:nvSpPr>
          <p:cNvPr id="16" name="Text 14"/>
          <p:cNvSpPr txBox="1"/>
          <p:nvPr/>
        </p:nvSpPr>
        <p:spPr>
          <a:xfrm>
            <a:off x="8759952" y="4297680"/>
            <a:ext cx="1225296" cy="914400"/>
          </a:xfrm>
          <a:prstGeom prst="rect">
            <a:avLst/>
          </a:prstGeom>
          <a:noFill/>
          <a:ln/>
        </p:spPr>
        <p:txBody>
          <a:bodyPr wrap="square" lIns="0" tIns="0" rIns="0" bIns="0" rtlCol="0" anchor="ctr"/>
          <a:lstStyle/>
          <a:p>
            <a:pPr marL="0" indent="0" algn="ctr">
              <a:buNone/>
            </a:pPr>
            <a:r>
              <a:rPr lang="en-US" sz="1400" b="1" dirty="0">
                <a:solidFill>
                  <a:srgbClr val="111827"/>
                </a:solidFill>
                <a:latin typeface="Arial" pitchFamily="34" charset="0"/>
                <a:ea typeface="Arial" pitchFamily="34" charset="-122"/>
                <a:cs typeface="Arial" pitchFamily="34" charset="-120"/>
              </a:rPr>
              <a:t>Mağaza</a:t>
            </a:r>
            <a:endParaRPr lang="en-US" sz="1400" dirty="0"/>
          </a:p>
        </p:txBody>
      </p:sp>
      <p:sp>
        <p:nvSpPr>
          <p:cNvPr id="17" name="Shape 15"/>
          <p:cNvSpPr/>
          <p:nvPr/>
        </p:nvSpPr>
        <p:spPr>
          <a:xfrm>
            <a:off x="7132320" y="2971800"/>
            <a:ext cx="1371600" cy="914400"/>
          </a:xfrm>
          <a:prstGeom prst="roundRect">
            <a:avLst>
              <a:gd name="adj" fmla="val 10000"/>
            </a:avLst>
          </a:prstGeom>
          <a:solidFill>
            <a:srgbClr val="FFFFFF"/>
          </a:solidFill>
          <a:ln w="15875">
            <a:solidFill>
              <a:srgbClr val="CBD5E1"/>
            </a:solidFill>
            <a:prstDash val="solid"/>
          </a:ln>
        </p:spPr>
      </p:sp>
      <p:sp>
        <p:nvSpPr>
          <p:cNvPr id="18" name="Text 16"/>
          <p:cNvSpPr txBox="1"/>
          <p:nvPr/>
        </p:nvSpPr>
        <p:spPr>
          <a:xfrm>
            <a:off x="7205472" y="2971800"/>
            <a:ext cx="1225296" cy="914400"/>
          </a:xfrm>
          <a:prstGeom prst="rect">
            <a:avLst/>
          </a:prstGeom>
          <a:noFill/>
          <a:ln/>
        </p:spPr>
        <p:txBody>
          <a:bodyPr wrap="square" lIns="0" tIns="0" rIns="0" bIns="0" rtlCol="0" anchor="ctr"/>
          <a:lstStyle/>
          <a:p>
            <a:pPr marL="0" indent="0" algn="ctr">
              <a:buNone/>
            </a:pPr>
            <a:r>
              <a:rPr lang="en-US" sz="1400" b="1" dirty="0">
                <a:solidFill>
                  <a:srgbClr val="111827"/>
                </a:solidFill>
                <a:latin typeface="Arial" pitchFamily="34" charset="0"/>
                <a:ea typeface="Arial" pitchFamily="34" charset="-122"/>
                <a:cs typeface="Arial" pitchFamily="34" charset="-120"/>
              </a:rPr>
              <a:t>Sunucu</a:t>
            </a:r>
            <a:endParaRPr lang="en-US" sz="14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buNone/>
            </a:pPr>
            <a:r>
              <a:rPr lang="en-US" sz="3200" b="1" dirty="0">
                <a:solidFill>
                  <a:srgbClr val="111827"/>
                </a:solidFill>
                <a:latin typeface="Arial" pitchFamily="34" charset="0"/>
                <a:ea typeface="Arial" pitchFamily="34" charset="-122"/>
                <a:cs typeface="Arial" pitchFamily="34" charset="-120"/>
              </a:rPr>
              <a:t>Mobil Uygulama Türleri</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972800" cy="3096768"/>
        </p:xfrm>
        <a:graphic>
          <a:graphicData uri="http://schemas.openxmlformats.org/drawingml/2006/table">
            <a:tbl>
              <a:tblPr/>
              <a:tblGrid>
                <a:gridCol w="3066097">
                  <a:extLst>
                    <a:ext uri="{9D8B030D-6E8A-4147-A177-3AD203B41FA5}">
                      <a16:colId xmlns:a16="http://schemas.microsoft.com/office/drawing/2014/main" val="20000"/>
                    </a:ext>
                  </a:extLst>
                </a:gridCol>
                <a:gridCol w="3755187">
                  <a:extLst>
                    <a:ext uri="{9D8B030D-6E8A-4147-A177-3AD203B41FA5}">
                      <a16:colId xmlns:a16="http://schemas.microsoft.com/office/drawing/2014/main" val="20001"/>
                    </a:ext>
                  </a:extLst>
                </a:gridCol>
                <a:gridCol w="4151516">
                  <a:extLst>
                    <a:ext uri="{9D8B030D-6E8A-4147-A177-3AD203B41FA5}">
                      <a16:colId xmlns:a16="http://schemas.microsoft.com/office/drawing/2014/main" val="20002"/>
                    </a:ext>
                  </a:extLst>
                </a:gridCol>
              </a:tblGrid>
              <a:tr h="387096">
                <a:tc>
                  <a:txBody>
                    <a:bodyPr/>
                    <a:lstStyle/>
                    <a:p>
                      <a:pPr marL="0" indent="0">
                        <a:buNone/>
                      </a:pPr>
                      <a:r>
                        <a:rPr lang="en-US" sz="1400" b="1" dirty="0">
                          <a:solidFill>
                            <a:srgbClr val="2563EB"/>
                          </a:solidFill>
                        </a:rPr>
                        <a:t>Tür</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Ne sağlar?</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Teknik ihtiyaç</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extLst>
                  <a:ext uri="{0D108BD9-81ED-4DB2-BD59-A6C34878D82A}">
                    <a16:rowId xmlns:a16="http://schemas.microsoft.com/office/drawing/2014/main" val="10000"/>
                  </a:ext>
                </a:extLst>
              </a:tr>
              <a:tr h="387096">
                <a:tc>
                  <a:txBody>
                    <a:bodyPr/>
                    <a:lstStyle/>
                    <a:p>
                      <a:pPr marL="0" indent="0">
                        <a:buNone/>
                      </a:pPr>
                      <a:r>
                        <a:rPr lang="en-US" sz="1700" b="1" dirty="0">
                          <a:solidFill>
                            <a:srgbClr val="111827"/>
                          </a:solidFill>
                        </a:rPr>
                        <a:t>Sosyal ve iletişim</a:t>
                      </a:r>
                      <a:endParaRPr lang="en-US" sz="17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Mesajlaşma, paylaşım, takip</a:t>
                      </a:r>
                      <a:endParaRPr lang="en-US" sz="17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Anlık bildirim, kamera, sunucu</a:t>
                      </a:r>
                      <a:endParaRPr lang="en-US" sz="17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387096">
                <a:tc>
                  <a:txBody>
                    <a:bodyPr/>
                    <a:lstStyle/>
                    <a:p>
                      <a:pPr marL="0" indent="0">
                        <a:buNone/>
                      </a:pPr>
                      <a:r>
                        <a:rPr lang="en-US" sz="1700" b="1" dirty="0">
                          <a:solidFill>
                            <a:srgbClr val="111827"/>
                          </a:solidFill>
                        </a:rPr>
                        <a:t>Oyun</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Eğlence ve rekabet</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Yüksek grafik performansı</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387096">
                <a:tc>
                  <a:txBody>
                    <a:bodyPr/>
                    <a:lstStyle/>
                    <a:p>
                      <a:pPr marL="0" indent="0">
                        <a:buNone/>
                      </a:pPr>
                      <a:r>
                        <a:rPr lang="en-US" sz="1700" b="1" dirty="0">
                          <a:solidFill>
                            <a:srgbClr val="111827"/>
                          </a:solidFill>
                        </a:rPr>
                        <a:t>Alışveriş</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Ürün, sepet, ödeme</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Güvenli ödeme, hızlı listeler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387096">
                <a:tc>
                  <a:txBody>
                    <a:bodyPr/>
                    <a:lstStyle/>
                    <a:p>
                      <a:pPr marL="0" indent="0">
                        <a:buNone/>
                      </a:pPr>
                      <a:r>
                        <a:rPr lang="en-US" sz="1700" b="1" dirty="0">
                          <a:solidFill>
                            <a:srgbClr val="111827"/>
                          </a:solidFill>
                        </a:rPr>
                        <a:t>Finans</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Bankacılık, ödeme, yatırım</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Biyometri, güçlü güvenlik</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387096">
                <a:tc>
                  <a:txBody>
                    <a:bodyPr/>
                    <a:lstStyle/>
                    <a:p>
                      <a:pPr marL="0" indent="0">
                        <a:buNone/>
                      </a:pPr>
                      <a:r>
                        <a:rPr lang="en-US" sz="1700" b="1" dirty="0">
                          <a:solidFill>
                            <a:srgbClr val="111827"/>
                          </a:solidFill>
                        </a:rPr>
                        <a:t>Eğitim</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İçerik, ilerleme takibi</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Video, çevrimdışı erişim</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r h="387096">
                <a:tc>
                  <a:txBody>
                    <a:bodyPr/>
                    <a:lstStyle/>
                    <a:p>
                      <a:pPr marL="0" indent="0">
                        <a:buNone/>
                      </a:pPr>
                      <a:r>
                        <a:rPr lang="en-US" sz="1700" b="1" dirty="0">
                          <a:solidFill>
                            <a:srgbClr val="111827"/>
                          </a:solidFill>
                        </a:rPr>
                        <a:t>Sağlık ve spor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Takip ve öneri</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Sensörler, kişisel veri gizliliği</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6"/>
                  </a:ext>
                </a:extLst>
              </a:tr>
              <a:tr h="387096">
                <a:tc>
                  <a:txBody>
                    <a:bodyPr/>
                    <a:lstStyle/>
                    <a:p>
                      <a:pPr marL="0" indent="0">
                        <a:buNone/>
                      </a:pPr>
                      <a:r>
                        <a:rPr lang="en-US" sz="1700" b="1" dirty="0">
                          <a:solidFill>
                            <a:srgbClr val="111827"/>
                          </a:solidFill>
                        </a:rPr>
                        <a:t>Ulaşım ve harita</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Rota, konum, bilet</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GPS, arka planda konum</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Shape 2"/>
          <p:cNvSpPr/>
          <p:nvPr/>
        </p:nvSpPr>
        <p:spPr>
          <a:xfrm>
            <a:off x="731520" y="5017008"/>
            <a:ext cx="10972800" cy="1018032"/>
          </a:xfrm>
          <a:prstGeom prst="roundRect">
            <a:avLst>
              <a:gd name="adj" fmla="val 8982"/>
            </a:avLst>
          </a:prstGeom>
          <a:solidFill>
            <a:srgbClr val="EFF6FF"/>
          </a:solidFill>
          <a:ln w="9525">
            <a:solidFill>
              <a:srgbClr val="EFF6FF"/>
            </a:solidFill>
            <a:prstDash val="solid"/>
          </a:ln>
        </p:spPr>
      </p:sp>
      <p:sp>
        <p:nvSpPr>
          <p:cNvPr id="6" name="Text 3"/>
          <p:cNvSpPr txBox="1"/>
          <p:nvPr/>
        </p:nvSpPr>
        <p:spPr>
          <a:xfrm>
            <a:off x="932688" y="5145024"/>
            <a:ext cx="10570464" cy="762000"/>
          </a:xfrm>
          <a:prstGeom prst="rect">
            <a:avLst/>
          </a:prstGeom>
          <a:noFill/>
          <a:ln/>
        </p:spPr>
        <p:txBody>
          <a:bodyPr wrap="square" lIns="0" tIns="0" rIns="0" bIns="0" rtlCol="0" anchor="t"/>
          <a:lstStyle/>
          <a:p>
            <a:pPr marL="0" indent="0">
              <a:buNone/>
            </a:pPr>
            <a:r>
              <a:rPr lang="en-US" sz="1100" b="1" dirty="0">
                <a:solidFill>
                  <a:srgbClr val="2563EB"/>
                </a:solidFill>
                <a:latin typeface="Arial" pitchFamily="34" charset="0"/>
                <a:ea typeface="Arial" pitchFamily="34" charset="-122"/>
                <a:cs typeface="Arial" pitchFamily="34" charset="-120"/>
              </a:rPr>
              <a:t>SEÇIM MANTIĞI</a:t>
            </a:r>
            <a:endParaRPr lang="en-US" sz="1100" dirty="0"/>
          </a:p>
          <a:p>
            <a:pPr marL="0" indent="0">
              <a:buNone/>
            </a:pPr>
            <a:r>
              <a:rPr lang="en-US" sz="1600" dirty="0">
                <a:solidFill>
                  <a:srgbClr val="111827"/>
                </a:solidFill>
                <a:latin typeface="Arial" pitchFamily="34" charset="0"/>
                <a:ea typeface="Arial" pitchFamily="34" charset="-122"/>
                <a:cs typeface="Arial" pitchFamily="34" charset="-120"/>
              </a:rPr>
              <a:t>Uygulamanın türü, teknik ihtiyaçları belirler; teknik ihtiyaçlar da geliştirme yaklaşımının seçimini etkiler.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buNone/>
            </a:pPr>
            <a:r>
              <a:rPr lang="en-US" sz="3200" b="1" dirty="0">
                <a:solidFill>
                  <a:srgbClr val="111827"/>
                </a:solidFill>
                <a:latin typeface="Arial" pitchFamily="34" charset="0"/>
                <a:ea typeface="Arial" pitchFamily="34" charset="-122"/>
                <a:cs typeface="Arial" pitchFamily="34" charset="-120"/>
              </a:rPr>
              <a:t>Mobil Cihaz Masaüstünden Nasıl Farklıdır?</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972800" cy="2414016"/>
        </p:xfrm>
        <a:graphic>
          <a:graphicData uri="http://schemas.openxmlformats.org/drawingml/2006/table">
            <a:tbl>
              <a:tblPr/>
              <a:tblGrid>
                <a:gridCol w="2347824">
                  <a:extLst>
                    <a:ext uri="{9D8B030D-6E8A-4147-A177-3AD203B41FA5}">
                      <a16:colId xmlns:a16="http://schemas.microsoft.com/office/drawing/2014/main" val="20000"/>
                    </a:ext>
                  </a:extLst>
                </a:gridCol>
                <a:gridCol w="4392376">
                  <a:extLst>
                    <a:ext uri="{9D8B030D-6E8A-4147-A177-3AD203B41FA5}">
                      <a16:colId xmlns:a16="http://schemas.microsoft.com/office/drawing/2014/main" val="20001"/>
                    </a:ext>
                  </a:extLst>
                </a:gridCol>
                <a:gridCol w="4232600">
                  <a:extLst>
                    <a:ext uri="{9D8B030D-6E8A-4147-A177-3AD203B41FA5}">
                      <a16:colId xmlns:a16="http://schemas.microsoft.com/office/drawing/2014/main" val="20002"/>
                    </a:ext>
                  </a:extLst>
                </a:gridCol>
              </a:tblGrid>
              <a:tr h="402336">
                <a:tc>
                  <a:txBody>
                    <a:bodyPr/>
                    <a:lstStyle/>
                    <a:p>
                      <a:pPr marL="0" indent="0">
                        <a:buNone/>
                      </a:pPr>
                      <a:r>
                        <a:rPr lang="en-US" sz="1400" b="1" dirty="0">
                          <a:solidFill>
                            <a:srgbClr val="2563EB"/>
                          </a:solidFill>
                        </a:rPr>
                        <a:t>Boyut</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Mobil cihazda durum</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Tasarım sonucu</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extLst>
                  <a:ext uri="{0D108BD9-81ED-4DB2-BD59-A6C34878D82A}">
                    <a16:rowId xmlns:a16="http://schemas.microsoft.com/office/drawing/2014/main" val="10000"/>
                  </a:ext>
                </a:extLst>
              </a:tr>
              <a:tr h="402336">
                <a:tc>
                  <a:txBody>
                    <a:bodyPr/>
                    <a:lstStyle/>
                    <a:p>
                      <a:pPr marL="0" indent="0">
                        <a:buNone/>
                      </a:pPr>
                      <a:r>
                        <a:rPr lang="en-US" sz="1800" b="1" dirty="0">
                          <a:solidFill>
                            <a:srgbClr val="111827"/>
                          </a:solidFill>
                        </a:rPr>
                        <a:t>Ekran</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Küçük, çok farklı boyutlarda</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Esnek yerleşim gerekir</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800" b="1" dirty="0">
                          <a:solidFill>
                            <a:srgbClr val="111827"/>
                          </a:solidFill>
                        </a:rPr>
                        <a:t>Girdi</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Dokunma, jest, sesli komut</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Büyük dokunma hedefleri</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buNone/>
                      </a:pPr>
                      <a:r>
                        <a:rPr lang="en-US" sz="1800" b="1" dirty="0">
                          <a:solidFill>
                            <a:srgbClr val="111827"/>
                          </a:solidFill>
                        </a:rPr>
                        <a:t>Güç</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Pil sınırlı</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Arka plan işi azaltılır</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1800" b="1" dirty="0">
                          <a:solidFill>
                            <a:srgbClr val="111827"/>
                          </a:solidFill>
                        </a:rPr>
                        <a:t>Bağlantı</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Kopabilir, hız değişir</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Çevrimdışı durum düşünülür</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402336">
                <a:tc>
                  <a:txBody>
                    <a:bodyPr/>
                    <a:lstStyle/>
                    <a:p>
                      <a:pPr marL="0" indent="0">
                        <a:buNone/>
                      </a:pPr>
                      <a:r>
                        <a:rPr lang="en-US" sz="1800" b="1" dirty="0">
                          <a:solidFill>
                            <a:srgbClr val="111827"/>
                          </a:solidFill>
                        </a:rPr>
                        <a:t>Donanım</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Kamera, GPS, ivmeölçer</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İzin ve gizlilik gerekir</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2"/>
          <p:cNvSpPr/>
          <p:nvPr/>
        </p:nvSpPr>
        <p:spPr>
          <a:xfrm>
            <a:off x="731520" y="4334256"/>
            <a:ext cx="10972800" cy="1018032"/>
          </a:xfrm>
          <a:prstGeom prst="roundRect">
            <a:avLst>
              <a:gd name="adj" fmla="val 8982"/>
            </a:avLst>
          </a:prstGeom>
          <a:solidFill>
            <a:srgbClr val="EFF6FF"/>
          </a:solidFill>
          <a:ln w="9525">
            <a:solidFill>
              <a:srgbClr val="EFF6FF"/>
            </a:solidFill>
            <a:prstDash val="solid"/>
          </a:ln>
        </p:spPr>
      </p:sp>
      <p:sp>
        <p:nvSpPr>
          <p:cNvPr id="6" name="Text 3"/>
          <p:cNvSpPr txBox="1"/>
          <p:nvPr/>
        </p:nvSpPr>
        <p:spPr>
          <a:xfrm>
            <a:off x="932688" y="4462272"/>
            <a:ext cx="10570464" cy="762000"/>
          </a:xfrm>
          <a:prstGeom prst="rect">
            <a:avLst/>
          </a:prstGeom>
          <a:noFill/>
          <a:ln/>
        </p:spPr>
        <p:txBody>
          <a:bodyPr wrap="square" lIns="0" tIns="0" rIns="0" bIns="0" rtlCol="0" anchor="t"/>
          <a:lstStyle/>
          <a:p>
            <a:pPr marL="0" indent="0">
              <a:buNone/>
            </a:pPr>
            <a:r>
              <a:rPr lang="en-US" sz="1100" b="1" dirty="0">
                <a:solidFill>
                  <a:srgbClr val="2563EB"/>
                </a:solidFill>
                <a:latin typeface="Arial" pitchFamily="34" charset="0"/>
                <a:ea typeface="Arial" pitchFamily="34" charset="-122"/>
                <a:cs typeface="Arial" pitchFamily="34" charset="-120"/>
              </a:rPr>
              <a:t>SEÇIM MANTIĞI</a:t>
            </a:r>
            <a:endParaRPr lang="en-US" sz="1100" dirty="0"/>
          </a:p>
          <a:p>
            <a:pPr marL="0" indent="0">
              <a:buNone/>
            </a:pPr>
            <a:r>
              <a:rPr lang="en-US" sz="1600" dirty="0">
                <a:solidFill>
                  <a:srgbClr val="111827"/>
                </a:solidFill>
                <a:latin typeface="Arial" pitchFamily="34" charset="0"/>
                <a:ea typeface="Arial" pitchFamily="34" charset="-122"/>
                <a:cs typeface="Arial" pitchFamily="34" charset="-120"/>
              </a:rPr>
              <a:t>Bu beş fark, derste yazacağımız hemen her kodun arkasındaki gerekçedir; ileride "neden yükleniyor durumu?" ya da "neden izin soruyoruz?" diye sorduğunuzda buraya döneceğiz.</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buNone/>
            </a:pPr>
            <a:r>
              <a:rPr lang="en-US" sz="3200" b="1" dirty="0">
                <a:solidFill>
                  <a:srgbClr val="111827"/>
                </a:solidFill>
                <a:latin typeface="Arial" pitchFamily="34" charset="0"/>
                <a:ea typeface="Arial" pitchFamily="34" charset="-122"/>
                <a:cs typeface="Arial" pitchFamily="34" charset="-120"/>
              </a:rPr>
              <a:t>Mobil Uygulamalarda Menü Yapıları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1097280" y="1645920"/>
            <a:ext cx="2103120" cy="3291840"/>
          </a:xfrm>
          <a:prstGeom prst="roundRect">
            <a:avLst>
              <a:gd name="adj" fmla="val 4348"/>
            </a:avLst>
          </a:prstGeom>
          <a:solidFill>
            <a:srgbClr val="FFFFFF"/>
          </a:solidFill>
          <a:ln w="25400">
            <a:solidFill>
              <a:srgbClr val="9CA3AF"/>
            </a:solidFill>
            <a:prstDash val="solid"/>
          </a:ln>
        </p:spPr>
      </p:sp>
      <p:sp>
        <p:nvSpPr>
          <p:cNvPr id="5" name="Shape 3"/>
          <p:cNvSpPr/>
          <p:nvPr/>
        </p:nvSpPr>
        <p:spPr>
          <a:xfrm>
            <a:off x="1234440" y="2103120"/>
            <a:ext cx="1828800" cy="2377440"/>
          </a:xfrm>
          <a:prstGeom prst="rect">
            <a:avLst/>
          </a:prstGeom>
          <a:solidFill>
            <a:srgbClr val="F9FAFB"/>
          </a:solidFill>
          <a:ln w="6350">
            <a:solidFill>
              <a:srgbClr val="E5E7EB"/>
            </a:solidFill>
            <a:prstDash val="solid"/>
          </a:ln>
        </p:spPr>
      </p:sp>
      <p:sp>
        <p:nvSpPr>
          <p:cNvPr id="6" name="Shape 4"/>
          <p:cNvSpPr/>
          <p:nvPr/>
        </p:nvSpPr>
        <p:spPr>
          <a:xfrm>
            <a:off x="1234440" y="1783080"/>
            <a:ext cx="1828800" cy="320040"/>
          </a:xfrm>
          <a:prstGeom prst="roundRect">
            <a:avLst>
              <a:gd name="adj" fmla="val 28571"/>
            </a:avLst>
          </a:prstGeom>
          <a:solidFill>
            <a:srgbClr val="2563EB"/>
          </a:solidFill>
          <a:ln w="9525">
            <a:solidFill>
              <a:srgbClr val="2563EB"/>
            </a:solidFill>
            <a:prstDash val="solid"/>
          </a:ln>
        </p:spPr>
      </p:sp>
      <p:sp>
        <p:nvSpPr>
          <p:cNvPr id="7" name="Shape 5"/>
          <p:cNvSpPr/>
          <p:nvPr/>
        </p:nvSpPr>
        <p:spPr>
          <a:xfrm>
            <a:off x="1508760" y="4251960"/>
            <a:ext cx="256032" cy="256032"/>
          </a:xfrm>
          <a:prstGeom prst="ellipse">
            <a:avLst/>
          </a:prstGeom>
          <a:solidFill>
            <a:srgbClr val="2563EB"/>
          </a:solidFill>
          <a:ln w="12700">
            <a:solidFill>
              <a:srgbClr val="2563EB"/>
            </a:solidFill>
            <a:prstDash val="solid"/>
          </a:ln>
        </p:spPr>
      </p:sp>
      <p:sp>
        <p:nvSpPr>
          <p:cNvPr id="8" name="Shape 6"/>
          <p:cNvSpPr/>
          <p:nvPr/>
        </p:nvSpPr>
        <p:spPr>
          <a:xfrm>
            <a:off x="1965960" y="4251960"/>
            <a:ext cx="256032" cy="256032"/>
          </a:xfrm>
          <a:prstGeom prst="ellipse">
            <a:avLst/>
          </a:prstGeom>
          <a:solidFill>
            <a:srgbClr val="CBD5E1"/>
          </a:solidFill>
          <a:ln w="12700">
            <a:solidFill>
              <a:srgbClr val="CBD5E1"/>
            </a:solidFill>
            <a:prstDash val="solid"/>
          </a:ln>
        </p:spPr>
      </p:sp>
      <p:sp>
        <p:nvSpPr>
          <p:cNvPr id="9" name="Shape 7"/>
          <p:cNvSpPr/>
          <p:nvPr/>
        </p:nvSpPr>
        <p:spPr>
          <a:xfrm>
            <a:off x="2423160" y="4251960"/>
            <a:ext cx="256032" cy="256032"/>
          </a:xfrm>
          <a:prstGeom prst="ellipse">
            <a:avLst/>
          </a:prstGeom>
          <a:solidFill>
            <a:srgbClr val="CBD5E1"/>
          </a:solidFill>
          <a:ln w="12700">
            <a:solidFill>
              <a:srgbClr val="CBD5E1"/>
            </a:solidFill>
            <a:prstDash val="solid"/>
          </a:ln>
        </p:spPr>
      </p:sp>
      <p:sp>
        <p:nvSpPr>
          <p:cNvPr id="10" name="Shape 8"/>
          <p:cNvSpPr/>
          <p:nvPr/>
        </p:nvSpPr>
        <p:spPr>
          <a:xfrm>
            <a:off x="2880360" y="4251960"/>
            <a:ext cx="256032" cy="256032"/>
          </a:xfrm>
          <a:prstGeom prst="ellipse">
            <a:avLst/>
          </a:prstGeom>
          <a:solidFill>
            <a:srgbClr val="CBD5E1"/>
          </a:solidFill>
          <a:ln w="12700">
            <a:solidFill>
              <a:srgbClr val="CBD5E1"/>
            </a:solidFill>
            <a:prstDash val="solid"/>
          </a:ln>
        </p:spPr>
      </p:sp>
      <p:sp>
        <p:nvSpPr>
          <p:cNvPr id="11" name="Shape 9"/>
          <p:cNvSpPr/>
          <p:nvPr/>
        </p:nvSpPr>
        <p:spPr>
          <a:xfrm>
            <a:off x="1234440" y="4133088"/>
            <a:ext cx="1828800" cy="0"/>
          </a:xfrm>
          <a:prstGeom prst="line">
            <a:avLst/>
          </a:prstGeom>
          <a:noFill/>
          <a:ln w="12700">
            <a:solidFill>
              <a:srgbClr val="E5E7EB"/>
            </a:solidFill>
            <a:prstDash val="solid"/>
          </a:ln>
        </p:spPr>
      </p:sp>
      <p:sp>
        <p:nvSpPr>
          <p:cNvPr id="12" name="Shape 10"/>
          <p:cNvSpPr/>
          <p:nvPr/>
        </p:nvSpPr>
        <p:spPr>
          <a:xfrm>
            <a:off x="1371600" y="2286000"/>
            <a:ext cx="1554480" cy="457200"/>
          </a:xfrm>
          <a:prstGeom prst="roundRect">
            <a:avLst>
              <a:gd name="adj" fmla="val 20000"/>
            </a:avLst>
          </a:prstGeom>
          <a:solidFill>
            <a:srgbClr val="EFF6FF"/>
          </a:solidFill>
          <a:ln w="9525">
            <a:solidFill>
              <a:srgbClr val="EFF6FF"/>
            </a:solidFill>
            <a:prstDash val="solid"/>
          </a:ln>
        </p:spPr>
      </p:sp>
      <p:sp>
        <p:nvSpPr>
          <p:cNvPr id="13" name="Shape 11"/>
          <p:cNvSpPr/>
          <p:nvPr/>
        </p:nvSpPr>
        <p:spPr>
          <a:xfrm>
            <a:off x="1371600" y="2926080"/>
            <a:ext cx="1554480" cy="457200"/>
          </a:xfrm>
          <a:prstGeom prst="roundRect">
            <a:avLst>
              <a:gd name="adj" fmla="val 20000"/>
            </a:avLst>
          </a:prstGeom>
          <a:solidFill>
            <a:srgbClr val="EFF6FF"/>
          </a:solidFill>
          <a:ln w="9525">
            <a:solidFill>
              <a:srgbClr val="EFF6FF"/>
            </a:solidFill>
            <a:prstDash val="solid"/>
          </a:ln>
        </p:spPr>
      </p:sp>
      <p:sp>
        <p:nvSpPr>
          <p:cNvPr id="14" name="Shape 12"/>
          <p:cNvSpPr/>
          <p:nvPr/>
        </p:nvSpPr>
        <p:spPr>
          <a:xfrm>
            <a:off x="1371600" y="3566160"/>
            <a:ext cx="1554480" cy="457200"/>
          </a:xfrm>
          <a:prstGeom prst="roundRect">
            <a:avLst>
              <a:gd name="adj" fmla="val 20000"/>
            </a:avLst>
          </a:prstGeom>
          <a:solidFill>
            <a:srgbClr val="EFF6FF"/>
          </a:solidFill>
          <a:ln w="9525">
            <a:solidFill>
              <a:srgbClr val="EFF6FF"/>
            </a:solidFill>
            <a:prstDash val="solid"/>
          </a:ln>
        </p:spPr>
      </p:sp>
      <p:sp>
        <p:nvSpPr>
          <p:cNvPr id="15" name="Text 13"/>
          <p:cNvSpPr txBox="1"/>
          <p:nvPr/>
        </p:nvSpPr>
        <p:spPr>
          <a:xfrm>
            <a:off x="731520" y="5120640"/>
            <a:ext cx="2834640" cy="365760"/>
          </a:xfrm>
          <a:prstGeom prst="rect">
            <a:avLst/>
          </a:prstGeom>
          <a:noFill/>
          <a:ln/>
        </p:spPr>
        <p:txBody>
          <a:bodyPr wrap="square" lIns="0" tIns="0" rIns="0" bIns="0" rtlCol="0" anchor="ctr"/>
          <a:lstStyle/>
          <a:p>
            <a:pPr marL="0" indent="0" algn="ctr">
              <a:buNone/>
            </a:pPr>
            <a:r>
              <a:rPr lang="en-US" sz="1800" b="1" dirty="0">
                <a:solidFill>
                  <a:srgbClr val="111827"/>
                </a:solidFill>
                <a:latin typeface="Arial" pitchFamily="34" charset="0"/>
                <a:ea typeface="Arial" pitchFamily="34" charset="-122"/>
                <a:cs typeface="Arial" pitchFamily="34" charset="-120"/>
              </a:rPr>
              <a:t>Alt sekme çubuğu</a:t>
            </a:r>
            <a:endParaRPr lang="en-US" sz="1800" dirty="0"/>
          </a:p>
        </p:txBody>
      </p:sp>
      <p:sp>
        <p:nvSpPr>
          <p:cNvPr id="16" name="Text 14"/>
          <p:cNvSpPr txBox="1"/>
          <p:nvPr/>
        </p:nvSpPr>
        <p:spPr>
          <a:xfrm>
            <a:off x="731520" y="5504688"/>
            <a:ext cx="2834640" cy="822960"/>
          </a:xfrm>
          <a:prstGeom prst="rect">
            <a:avLst/>
          </a:prstGeom>
          <a:noFill/>
          <a:ln/>
        </p:spPr>
        <p:txBody>
          <a:bodyPr wrap="square" lIns="0" tIns="0" rIns="0" bIns="0" rtlCol="0" anchor="t"/>
          <a:lstStyle/>
          <a:p>
            <a:pPr marL="0" indent="0" algn="ctr">
              <a:buNone/>
            </a:pPr>
            <a:r>
              <a:rPr lang="en-US" sz="1400" dirty="0">
                <a:solidFill>
                  <a:srgbClr val="6B7280"/>
                </a:solidFill>
                <a:latin typeface="Arial" pitchFamily="34" charset="0"/>
                <a:ea typeface="Arial" pitchFamily="34" charset="-122"/>
                <a:cs typeface="Arial" pitchFamily="34" charset="-120"/>
              </a:rPr>
              <a:t>Birkaç ana bölüm arasında tek dokunuşla geçiş</a:t>
            </a:r>
            <a:endParaRPr lang="en-US" sz="1400" dirty="0"/>
          </a:p>
        </p:txBody>
      </p:sp>
      <p:sp>
        <p:nvSpPr>
          <p:cNvPr id="17" name="Shape 15"/>
          <p:cNvSpPr/>
          <p:nvPr/>
        </p:nvSpPr>
        <p:spPr>
          <a:xfrm>
            <a:off x="5029200" y="1645920"/>
            <a:ext cx="2103120" cy="3291840"/>
          </a:xfrm>
          <a:prstGeom prst="roundRect">
            <a:avLst>
              <a:gd name="adj" fmla="val 4348"/>
            </a:avLst>
          </a:prstGeom>
          <a:solidFill>
            <a:srgbClr val="FFFFFF"/>
          </a:solidFill>
          <a:ln w="25400">
            <a:solidFill>
              <a:srgbClr val="9CA3AF"/>
            </a:solidFill>
            <a:prstDash val="solid"/>
          </a:ln>
        </p:spPr>
      </p:sp>
      <p:sp>
        <p:nvSpPr>
          <p:cNvPr id="18" name="Shape 16"/>
          <p:cNvSpPr/>
          <p:nvPr/>
        </p:nvSpPr>
        <p:spPr>
          <a:xfrm>
            <a:off x="5166360" y="2103120"/>
            <a:ext cx="1828800" cy="2377440"/>
          </a:xfrm>
          <a:prstGeom prst="rect">
            <a:avLst/>
          </a:prstGeom>
          <a:solidFill>
            <a:srgbClr val="F9FAFB"/>
          </a:solidFill>
          <a:ln w="6350">
            <a:solidFill>
              <a:srgbClr val="E5E7EB"/>
            </a:solidFill>
            <a:prstDash val="solid"/>
          </a:ln>
        </p:spPr>
      </p:sp>
      <p:sp>
        <p:nvSpPr>
          <p:cNvPr id="19" name="Shape 17"/>
          <p:cNvSpPr/>
          <p:nvPr/>
        </p:nvSpPr>
        <p:spPr>
          <a:xfrm>
            <a:off x="5166360" y="1783080"/>
            <a:ext cx="1828800" cy="320040"/>
          </a:xfrm>
          <a:prstGeom prst="roundRect">
            <a:avLst>
              <a:gd name="adj" fmla="val 28571"/>
            </a:avLst>
          </a:prstGeom>
          <a:solidFill>
            <a:srgbClr val="2563EB"/>
          </a:solidFill>
          <a:ln w="9525">
            <a:solidFill>
              <a:srgbClr val="2563EB"/>
            </a:solidFill>
            <a:prstDash val="solid"/>
          </a:ln>
        </p:spPr>
      </p:sp>
      <p:sp>
        <p:nvSpPr>
          <p:cNvPr id="20" name="Shape 18"/>
          <p:cNvSpPr/>
          <p:nvPr/>
        </p:nvSpPr>
        <p:spPr>
          <a:xfrm>
            <a:off x="5166360" y="2103120"/>
            <a:ext cx="1280160" cy="2377440"/>
          </a:xfrm>
          <a:prstGeom prst="roundRect">
            <a:avLst>
              <a:gd name="adj" fmla="val 7143"/>
            </a:avLst>
          </a:prstGeom>
          <a:solidFill>
            <a:srgbClr val="EFF6FF"/>
          </a:solidFill>
          <a:ln w="9525">
            <a:solidFill>
              <a:srgbClr val="CBD5E1"/>
            </a:solidFill>
            <a:prstDash val="solid"/>
          </a:ln>
        </p:spPr>
      </p:sp>
      <p:sp>
        <p:nvSpPr>
          <p:cNvPr id="21" name="Shape 19"/>
          <p:cNvSpPr/>
          <p:nvPr/>
        </p:nvSpPr>
        <p:spPr>
          <a:xfrm>
            <a:off x="5303520" y="2377440"/>
            <a:ext cx="1005840" cy="137160"/>
          </a:xfrm>
          <a:prstGeom prst="rect">
            <a:avLst/>
          </a:prstGeom>
          <a:solidFill>
            <a:srgbClr val="2563EB"/>
          </a:solidFill>
          <a:ln w="12700">
            <a:solidFill>
              <a:srgbClr val="2563EB"/>
            </a:solidFill>
            <a:prstDash val="solid"/>
          </a:ln>
        </p:spPr>
      </p:sp>
      <p:sp>
        <p:nvSpPr>
          <p:cNvPr id="22" name="Shape 20"/>
          <p:cNvSpPr/>
          <p:nvPr/>
        </p:nvSpPr>
        <p:spPr>
          <a:xfrm>
            <a:off x="5303520" y="2834640"/>
            <a:ext cx="1005840" cy="137160"/>
          </a:xfrm>
          <a:prstGeom prst="rect">
            <a:avLst/>
          </a:prstGeom>
          <a:solidFill>
            <a:srgbClr val="9CA3AF"/>
          </a:solidFill>
          <a:ln w="12700">
            <a:solidFill>
              <a:srgbClr val="9CA3AF"/>
            </a:solidFill>
            <a:prstDash val="solid"/>
          </a:ln>
        </p:spPr>
      </p:sp>
      <p:sp>
        <p:nvSpPr>
          <p:cNvPr id="23" name="Shape 21"/>
          <p:cNvSpPr/>
          <p:nvPr/>
        </p:nvSpPr>
        <p:spPr>
          <a:xfrm>
            <a:off x="5303520" y="3291840"/>
            <a:ext cx="1005840" cy="137160"/>
          </a:xfrm>
          <a:prstGeom prst="rect">
            <a:avLst/>
          </a:prstGeom>
          <a:solidFill>
            <a:srgbClr val="9CA3AF"/>
          </a:solidFill>
          <a:ln w="12700">
            <a:solidFill>
              <a:srgbClr val="9CA3AF"/>
            </a:solidFill>
            <a:prstDash val="solid"/>
          </a:ln>
        </p:spPr>
      </p:sp>
      <p:sp>
        <p:nvSpPr>
          <p:cNvPr id="24" name="Shape 22"/>
          <p:cNvSpPr/>
          <p:nvPr/>
        </p:nvSpPr>
        <p:spPr>
          <a:xfrm>
            <a:off x="5303520" y="3749040"/>
            <a:ext cx="1005840" cy="137160"/>
          </a:xfrm>
          <a:prstGeom prst="rect">
            <a:avLst/>
          </a:prstGeom>
          <a:solidFill>
            <a:srgbClr val="9CA3AF"/>
          </a:solidFill>
          <a:ln w="12700">
            <a:solidFill>
              <a:srgbClr val="9CA3AF"/>
            </a:solidFill>
            <a:prstDash val="solid"/>
          </a:ln>
        </p:spPr>
      </p:sp>
      <p:sp>
        <p:nvSpPr>
          <p:cNvPr id="25" name="Text 23"/>
          <p:cNvSpPr txBox="1"/>
          <p:nvPr/>
        </p:nvSpPr>
        <p:spPr>
          <a:xfrm>
            <a:off x="5212080" y="1737360"/>
            <a:ext cx="365760" cy="36576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a:t>
            </a:r>
            <a:endParaRPr lang="en-US" sz="2000" dirty="0"/>
          </a:p>
        </p:txBody>
      </p:sp>
      <p:sp>
        <p:nvSpPr>
          <p:cNvPr id="26" name="Text 24"/>
          <p:cNvSpPr txBox="1"/>
          <p:nvPr/>
        </p:nvSpPr>
        <p:spPr>
          <a:xfrm>
            <a:off x="4663440" y="5120640"/>
            <a:ext cx="2834640" cy="365760"/>
          </a:xfrm>
          <a:prstGeom prst="rect">
            <a:avLst/>
          </a:prstGeom>
          <a:noFill/>
          <a:ln/>
        </p:spPr>
        <p:txBody>
          <a:bodyPr wrap="square" lIns="0" tIns="0" rIns="0" bIns="0" rtlCol="0" anchor="ctr"/>
          <a:lstStyle/>
          <a:p>
            <a:pPr marL="0" indent="0" algn="ctr">
              <a:buNone/>
            </a:pPr>
            <a:r>
              <a:rPr lang="en-US" sz="1800" b="1" dirty="0">
                <a:solidFill>
                  <a:srgbClr val="111827"/>
                </a:solidFill>
                <a:latin typeface="Arial" pitchFamily="34" charset="0"/>
                <a:ea typeface="Arial" pitchFamily="34" charset="-122"/>
                <a:cs typeface="Arial" pitchFamily="34" charset="-120"/>
              </a:rPr>
              <a:t>Yan menü</a:t>
            </a:r>
            <a:endParaRPr lang="en-US" sz="1800" dirty="0"/>
          </a:p>
        </p:txBody>
      </p:sp>
      <p:sp>
        <p:nvSpPr>
          <p:cNvPr id="27" name="Text 25"/>
          <p:cNvSpPr txBox="1"/>
          <p:nvPr/>
        </p:nvSpPr>
        <p:spPr>
          <a:xfrm>
            <a:off x="4663440" y="5504688"/>
            <a:ext cx="2834640" cy="822960"/>
          </a:xfrm>
          <a:prstGeom prst="rect">
            <a:avLst/>
          </a:prstGeom>
          <a:noFill/>
          <a:ln/>
        </p:spPr>
        <p:txBody>
          <a:bodyPr wrap="square" lIns="0" tIns="0" rIns="0" bIns="0" rtlCol="0" anchor="t"/>
          <a:lstStyle/>
          <a:p>
            <a:pPr marL="0" indent="0" algn="ctr">
              <a:buNone/>
            </a:pPr>
            <a:r>
              <a:rPr lang="en-US" sz="1400" dirty="0">
                <a:solidFill>
                  <a:srgbClr val="6B7280"/>
                </a:solidFill>
                <a:latin typeface="Arial" pitchFamily="34" charset="0"/>
                <a:ea typeface="Arial" pitchFamily="34" charset="-122"/>
                <a:cs typeface="Arial" pitchFamily="34" charset="-120"/>
              </a:rPr>
              <a:t>Soldan açılır; çok sayıda ikincil bölümü saklar</a:t>
            </a:r>
            <a:endParaRPr lang="en-US" sz="1400" dirty="0"/>
          </a:p>
        </p:txBody>
      </p:sp>
      <p:sp>
        <p:nvSpPr>
          <p:cNvPr id="28" name="Shape 26"/>
          <p:cNvSpPr/>
          <p:nvPr/>
        </p:nvSpPr>
        <p:spPr>
          <a:xfrm>
            <a:off x="8961120" y="1645920"/>
            <a:ext cx="2103120" cy="3291840"/>
          </a:xfrm>
          <a:prstGeom prst="roundRect">
            <a:avLst>
              <a:gd name="adj" fmla="val 4348"/>
            </a:avLst>
          </a:prstGeom>
          <a:solidFill>
            <a:srgbClr val="FFFFFF"/>
          </a:solidFill>
          <a:ln w="25400">
            <a:solidFill>
              <a:srgbClr val="9CA3AF"/>
            </a:solidFill>
            <a:prstDash val="solid"/>
          </a:ln>
        </p:spPr>
      </p:sp>
      <p:sp>
        <p:nvSpPr>
          <p:cNvPr id="29" name="Shape 27"/>
          <p:cNvSpPr/>
          <p:nvPr/>
        </p:nvSpPr>
        <p:spPr>
          <a:xfrm>
            <a:off x="9098280" y="2103120"/>
            <a:ext cx="1828800" cy="2377440"/>
          </a:xfrm>
          <a:prstGeom prst="rect">
            <a:avLst/>
          </a:prstGeom>
          <a:solidFill>
            <a:srgbClr val="F9FAFB"/>
          </a:solidFill>
          <a:ln w="6350">
            <a:solidFill>
              <a:srgbClr val="E5E7EB"/>
            </a:solidFill>
            <a:prstDash val="solid"/>
          </a:ln>
        </p:spPr>
      </p:sp>
      <p:sp>
        <p:nvSpPr>
          <p:cNvPr id="30" name="Shape 28"/>
          <p:cNvSpPr/>
          <p:nvPr/>
        </p:nvSpPr>
        <p:spPr>
          <a:xfrm>
            <a:off x="9098280" y="1783080"/>
            <a:ext cx="1828800" cy="320040"/>
          </a:xfrm>
          <a:prstGeom prst="roundRect">
            <a:avLst>
              <a:gd name="adj" fmla="val 28571"/>
            </a:avLst>
          </a:prstGeom>
          <a:solidFill>
            <a:srgbClr val="2563EB"/>
          </a:solidFill>
          <a:ln w="9525">
            <a:solidFill>
              <a:srgbClr val="2563EB"/>
            </a:solidFill>
            <a:prstDash val="solid"/>
          </a:ln>
        </p:spPr>
      </p:sp>
      <p:sp>
        <p:nvSpPr>
          <p:cNvPr id="31" name="Shape 29"/>
          <p:cNvSpPr/>
          <p:nvPr/>
        </p:nvSpPr>
        <p:spPr>
          <a:xfrm>
            <a:off x="9235440" y="2331720"/>
            <a:ext cx="1371600" cy="1920240"/>
          </a:xfrm>
          <a:prstGeom prst="roundRect">
            <a:avLst>
              <a:gd name="adj" fmla="val 6667"/>
            </a:avLst>
          </a:prstGeom>
          <a:solidFill>
            <a:srgbClr val="E5E7EB"/>
          </a:solidFill>
          <a:ln w="9525">
            <a:solidFill>
              <a:srgbClr val="CBD5E1"/>
            </a:solidFill>
            <a:prstDash val="solid"/>
          </a:ln>
        </p:spPr>
      </p:sp>
      <p:sp>
        <p:nvSpPr>
          <p:cNvPr id="32" name="Shape 30"/>
          <p:cNvSpPr/>
          <p:nvPr/>
        </p:nvSpPr>
        <p:spPr>
          <a:xfrm>
            <a:off x="9418320" y="2514600"/>
            <a:ext cx="1371600" cy="1920240"/>
          </a:xfrm>
          <a:prstGeom prst="roundRect">
            <a:avLst>
              <a:gd name="adj" fmla="val 6667"/>
            </a:avLst>
          </a:prstGeom>
          <a:solidFill>
            <a:srgbClr val="FFFFFF"/>
          </a:solidFill>
          <a:ln w="19050">
            <a:solidFill>
              <a:srgbClr val="2563EB"/>
            </a:solidFill>
            <a:prstDash val="solid"/>
          </a:ln>
        </p:spPr>
      </p:sp>
      <p:sp>
        <p:nvSpPr>
          <p:cNvPr id="33" name="Text 31"/>
          <p:cNvSpPr txBox="1"/>
          <p:nvPr/>
        </p:nvSpPr>
        <p:spPr>
          <a:xfrm>
            <a:off x="9144000" y="1737360"/>
            <a:ext cx="36576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34" name="Shape 32"/>
          <p:cNvSpPr/>
          <p:nvPr/>
        </p:nvSpPr>
        <p:spPr>
          <a:xfrm>
            <a:off x="9601200" y="2788920"/>
            <a:ext cx="1005840" cy="128016"/>
          </a:xfrm>
          <a:prstGeom prst="rect">
            <a:avLst/>
          </a:prstGeom>
          <a:solidFill>
            <a:srgbClr val="CBD5E1"/>
          </a:solidFill>
          <a:ln w="12700">
            <a:solidFill>
              <a:srgbClr val="CBD5E1"/>
            </a:solidFill>
            <a:prstDash val="solid"/>
          </a:ln>
        </p:spPr>
      </p:sp>
      <p:sp>
        <p:nvSpPr>
          <p:cNvPr id="35" name="Shape 33"/>
          <p:cNvSpPr/>
          <p:nvPr/>
        </p:nvSpPr>
        <p:spPr>
          <a:xfrm>
            <a:off x="9601200" y="3200400"/>
            <a:ext cx="1005840" cy="128016"/>
          </a:xfrm>
          <a:prstGeom prst="rect">
            <a:avLst/>
          </a:prstGeom>
          <a:solidFill>
            <a:srgbClr val="CBD5E1"/>
          </a:solidFill>
          <a:ln w="12700">
            <a:solidFill>
              <a:srgbClr val="CBD5E1"/>
            </a:solidFill>
            <a:prstDash val="solid"/>
          </a:ln>
        </p:spPr>
      </p:sp>
      <p:sp>
        <p:nvSpPr>
          <p:cNvPr id="36" name="Shape 34"/>
          <p:cNvSpPr/>
          <p:nvPr/>
        </p:nvSpPr>
        <p:spPr>
          <a:xfrm>
            <a:off x="9601200" y="3611880"/>
            <a:ext cx="1005840" cy="128016"/>
          </a:xfrm>
          <a:prstGeom prst="rect">
            <a:avLst/>
          </a:prstGeom>
          <a:solidFill>
            <a:srgbClr val="CBD5E1"/>
          </a:solidFill>
          <a:ln w="12700">
            <a:solidFill>
              <a:srgbClr val="CBD5E1"/>
            </a:solidFill>
            <a:prstDash val="solid"/>
          </a:ln>
        </p:spPr>
      </p:sp>
      <p:sp>
        <p:nvSpPr>
          <p:cNvPr id="37" name="Text 35"/>
          <p:cNvSpPr txBox="1"/>
          <p:nvPr/>
        </p:nvSpPr>
        <p:spPr>
          <a:xfrm>
            <a:off x="8595360" y="5120640"/>
            <a:ext cx="2834640" cy="365760"/>
          </a:xfrm>
          <a:prstGeom prst="rect">
            <a:avLst/>
          </a:prstGeom>
          <a:noFill/>
          <a:ln/>
        </p:spPr>
        <p:txBody>
          <a:bodyPr wrap="square" lIns="0" tIns="0" rIns="0" bIns="0" rtlCol="0" anchor="ctr"/>
          <a:lstStyle/>
          <a:p>
            <a:pPr marL="0" indent="0" algn="ctr">
              <a:buNone/>
            </a:pPr>
            <a:r>
              <a:rPr lang="en-US" sz="1800" b="1" dirty="0">
                <a:solidFill>
                  <a:srgbClr val="111827"/>
                </a:solidFill>
                <a:latin typeface="Arial" pitchFamily="34" charset="0"/>
                <a:ea typeface="Arial" pitchFamily="34" charset="-122"/>
                <a:cs typeface="Arial" pitchFamily="34" charset="-120"/>
              </a:rPr>
              <a:t>Yığın ve geri düğmesi</a:t>
            </a:r>
            <a:endParaRPr lang="en-US" sz="1800" dirty="0"/>
          </a:p>
        </p:txBody>
      </p:sp>
      <p:sp>
        <p:nvSpPr>
          <p:cNvPr id="38" name="Text 36"/>
          <p:cNvSpPr txBox="1"/>
          <p:nvPr/>
        </p:nvSpPr>
        <p:spPr>
          <a:xfrm>
            <a:off x="8595360" y="5504688"/>
            <a:ext cx="2834640" cy="822960"/>
          </a:xfrm>
          <a:prstGeom prst="rect">
            <a:avLst/>
          </a:prstGeom>
          <a:noFill/>
          <a:ln/>
        </p:spPr>
        <p:txBody>
          <a:bodyPr wrap="square" lIns="0" tIns="0" rIns="0" bIns="0" rtlCol="0" anchor="t"/>
          <a:lstStyle/>
          <a:p>
            <a:pPr marL="0" indent="0" algn="ctr">
              <a:buNone/>
            </a:pPr>
            <a:r>
              <a:rPr lang="en-US" sz="1400" dirty="0">
                <a:solidFill>
                  <a:srgbClr val="6B7280"/>
                </a:solidFill>
                <a:latin typeface="Arial" pitchFamily="34" charset="0"/>
                <a:ea typeface="Arial" pitchFamily="34" charset="-122"/>
                <a:cs typeface="Arial" pitchFamily="34" charset="-120"/>
              </a:rPr>
              <a:t>Listeden ayrıntıya derinleşen akış</a:t>
            </a:r>
            <a:endParaRPr lang="en-US" sz="1400" dirty="0"/>
          </a:p>
        </p:txBody>
      </p:sp>
      <p:sp>
        <p:nvSpPr>
          <p:cNvPr id="39"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buNone/>
            </a:pPr>
            <a:r>
              <a:rPr lang="en-US" sz="3200" b="1" dirty="0">
                <a:solidFill>
                  <a:srgbClr val="111827"/>
                </a:solidFill>
                <a:latin typeface="Arial" pitchFamily="34" charset="0"/>
                <a:ea typeface="Arial" pitchFamily="34" charset="-122"/>
                <a:cs typeface="Arial" pitchFamily="34" charset="-120"/>
              </a:rPr>
              <a:t>Mobil Uygulamalarda Menü Yapıları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39"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9</a:t>
            </a:fld>
            <a:endParaRPr lang="en-US"/>
          </a:p>
        </p:txBody>
      </p:sp>
      <p:pic>
        <p:nvPicPr>
          <p:cNvPr id="44" name="Resim 43">
            <a:extLst>
              <a:ext uri="{FF2B5EF4-FFF2-40B4-BE49-F238E27FC236}">
                <a16:creationId xmlns:a16="http://schemas.microsoft.com/office/drawing/2014/main" id="{0D1EDF52-5872-F11D-CEAD-78F2B2A4BB80}"/>
              </a:ext>
            </a:extLst>
          </p:cNvPr>
          <p:cNvPicPr>
            <a:picLocks noChangeAspect="1"/>
          </p:cNvPicPr>
          <p:nvPr/>
        </p:nvPicPr>
        <p:blipFill>
          <a:blip r:embed="rId3"/>
          <a:stretch>
            <a:fillRect/>
          </a:stretch>
        </p:blipFill>
        <p:spPr>
          <a:xfrm>
            <a:off x="3260773" y="1518876"/>
            <a:ext cx="5399439" cy="4354386"/>
          </a:xfrm>
          <a:prstGeom prst="rect">
            <a:avLst/>
          </a:prstGeom>
        </p:spPr>
      </p:pic>
    </p:spTree>
    <p:extLst>
      <p:ext uri="{BB962C8B-B14F-4D97-AF65-F5344CB8AC3E}">
        <p14:creationId xmlns:p14="http://schemas.microsoft.com/office/powerpoint/2010/main" val="1096287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buNone/>
            </a:pPr>
            <a:r>
              <a:rPr lang="en-US" sz="3200" b="1" dirty="0">
                <a:solidFill>
                  <a:srgbClr val="111827"/>
                </a:solidFill>
                <a:latin typeface="Arial" pitchFamily="34" charset="0"/>
                <a:ea typeface="Arial" pitchFamily="34" charset="-122"/>
                <a:cs typeface="Arial" pitchFamily="34" charset="-120"/>
              </a:rPr>
              <a:t>Menü Yapılarını Karşılaştırma</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972800" cy="2962656"/>
        </p:xfrm>
        <a:graphic>
          <a:graphicData uri="http://schemas.openxmlformats.org/drawingml/2006/table">
            <a:tbl>
              <a:tblPr/>
              <a:tblGrid>
                <a:gridCol w="1957064">
                  <a:extLst>
                    <a:ext uri="{9D8B030D-6E8A-4147-A177-3AD203B41FA5}">
                      <a16:colId xmlns:a16="http://schemas.microsoft.com/office/drawing/2014/main" val="20000"/>
                    </a:ext>
                  </a:extLst>
                </a:gridCol>
                <a:gridCol w="3589298">
                  <a:extLst>
                    <a:ext uri="{9D8B030D-6E8A-4147-A177-3AD203B41FA5}">
                      <a16:colId xmlns:a16="http://schemas.microsoft.com/office/drawing/2014/main" val="20001"/>
                    </a:ext>
                  </a:extLst>
                </a:gridCol>
                <a:gridCol w="3066130">
                  <a:extLst>
                    <a:ext uri="{9D8B030D-6E8A-4147-A177-3AD203B41FA5}">
                      <a16:colId xmlns:a16="http://schemas.microsoft.com/office/drawing/2014/main" val="20002"/>
                    </a:ext>
                  </a:extLst>
                </a:gridCol>
                <a:gridCol w="2360308">
                  <a:extLst>
                    <a:ext uri="{9D8B030D-6E8A-4147-A177-3AD203B41FA5}">
                      <a16:colId xmlns:a16="http://schemas.microsoft.com/office/drawing/2014/main" val="20003"/>
                    </a:ext>
                  </a:extLst>
                </a:gridCol>
              </a:tblGrid>
              <a:tr h="371856">
                <a:tc>
                  <a:txBody>
                    <a:bodyPr/>
                    <a:lstStyle/>
                    <a:p>
                      <a:pPr marL="0" indent="0">
                        <a:buNone/>
                      </a:pPr>
                      <a:r>
                        <a:rPr lang="en-US" sz="1400" b="1" dirty="0">
                          <a:solidFill>
                            <a:srgbClr val="2563EB"/>
                          </a:solidFill>
                        </a:rPr>
                        <a:t>Yapı</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Ne için kullanılır?</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Örnek</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React Navigation</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extLst>
                  <a:ext uri="{0D108BD9-81ED-4DB2-BD59-A6C34878D82A}">
                    <a16:rowId xmlns:a16="http://schemas.microsoft.com/office/drawing/2014/main" val="10000"/>
                  </a:ext>
                </a:extLst>
              </a:tr>
              <a:tr h="615696">
                <a:tc>
                  <a:txBody>
                    <a:bodyPr/>
                    <a:lstStyle/>
                    <a:p>
                      <a:pPr marL="0" indent="0">
                        <a:buNone/>
                      </a:pPr>
                      <a:r>
                        <a:rPr lang="en-US" sz="1600" b="1" dirty="0">
                          <a:solidFill>
                            <a:srgbClr val="111827"/>
                          </a:solidFill>
                        </a:rPr>
                        <a:t>Alt sekme</a:t>
                      </a:r>
                      <a:endParaRPr lang="en-US" sz="16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Birkaç ana bölüm arasında hızlı geçiş</a:t>
                      </a:r>
                      <a:endParaRPr lang="en-US" sz="16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Sosyal medya, bankacılık</a:t>
                      </a:r>
                      <a:endParaRPr lang="en-US" sz="16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Bottom Tabs</a:t>
                      </a:r>
                      <a:endParaRPr lang="en-US" sz="16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371856">
                <a:tc>
                  <a:txBody>
                    <a:bodyPr/>
                    <a:lstStyle/>
                    <a:p>
                      <a:pPr marL="0" indent="0">
                        <a:buNone/>
                      </a:pPr>
                      <a:r>
                        <a:rPr lang="en-US" sz="1600" b="1" dirty="0">
                          <a:solidFill>
                            <a:srgbClr val="111827"/>
                          </a:solidFill>
                        </a:rPr>
                        <a:t>Yan menü</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Çok sayıda ikincil bölüm</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Ayarlar, e-posta klasörleri</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Drawer</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615696">
                <a:tc>
                  <a:txBody>
                    <a:bodyPr/>
                    <a:lstStyle/>
                    <a:p>
                      <a:pPr marL="0" indent="0">
                        <a:buNone/>
                      </a:pPr>
                      <a:r>
                        <a:rPr lang="en-US" sz="1600" b="1" dirty="0">
                          <a:solidFill>
                            <a:srgbClr val="111827"/>
                          </a:solidFill>
                        </a:rPr>
                        <a:t>Yığın</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Liste → detay gibi derinleşen akış</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Ürün listesi → ürün detayı</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Native Stack</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371856">
                <a:tc>
                  <a:txBody>
                    <a:bodyPr/>
                    <a:lstStyle/>
                    <a:p>
                      <a:pPr marL="0" indent="0">
                        <a:buNone/>
                      </a:pPr>
                      <a:r>
                        <a:rPr lang="en-US" sz="1600" b="1" dirty="0">
                          <a:solidFill>
                            <a:srgbClr val="111827"/>
                          </a:solidFill>
                        </a:rPr>
                        <a:t>Üst çubuk</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Başlık, geri ve eylem düğmeleri</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Her ekran</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Yığın başlığı</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615696">
                <a:tc>
                  <a:txBody>
                    <a:bodyPr/>
                    <a:lstStyle/>
                    <a:p>
                      <a:pPr marL="0" indent="0">
                        <a:buNone/>
                      </a:pPr>
                      <a:r>
                        <a:rPr lang="en-US" sz="1600" b="1" dirty="0">
                          <a:solidFill>
                            <a:srgbClr val="111827"/>
                          </a:solidFill>
                        </a:rPr>
                        <a:t>Modal ekran</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Geçici görev: seçim, onay, paylaşma</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Filtrele, paylaş</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Modal ekranlar</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2"/>
          <p:cNvSpPr/>
          <p:nvPr/>
        </p:nvSpPr>
        <p:spPr>
          <a:xfrm>
            <a:off x="731520" y="4882896"/>
            <a:ext cx="10972800" cy="1018032"/>
          </a:xfrm>
          <a:prstGeom prst="roundRect">
            <a:avLst>
              <a:gd name="adj" fmla="val 8982"/>
            </a:avLst>
          </a:prstGeom>
          <a:solidFill>
            <a:srgbClr val="EFF6FF"/>
          </a:solidFill>
          <a:ln w="9525">
            <a:solidFill>
              <a:srgbClr val="EFF6FF"/>
            </a:solidFill>
            <a:prstDash val="solid"/>
          </a:ln>
        </p:spPr>
      </p:sp>
      <p:sp>
        <p:nvSpPr>
          <p:cNvPr id="6" name="Text 3"/>
          <p:cNvSpPr txBox="1"/>
          <p:nvPr/>
        </p:nvSpPr>
        <p:spPr>
          <a:xfrm>
            <a:off x="932688" y="5010912"/>
            <a:ext cx="10570464" cy="762000"/>
          </a:xfrm>
          <a:prstGeom prst="rect">
            <a:avLst/>
          </a:prstGeom>
          <a:noFill/>
          <a:ln/>
        </p:spPr>
        <p:txBody>
          <a:bodyPr wrap="square" lIns="0" tIns="0" rIns="0" bIns="0" rtlCol="0" anchor="t"/>
          <a:lstStyle/>
          <a:p>
            <a:pPr marL="0" indent="0">
              <a:buNone/>
            </a:pPr>
            <a:r>
              <a:rPr lang="en-US" sz="1100" b="1" dirty="0">
                <a:solidFill>
                  <a:srgbClr val="2563EB"/>
                </a:solidFill>
                <a:latin typeface="Arial" pitchFamily="34" charset="0"/>
                <a:ea typeface="Arial" pitchFamily="34" charset="-122"/>
                <a:cs typeface="Arial" pitchFamily="34" charset="-120"/>
              </a:rPr>
              <a:t>SEÇIM MANTIĞI</a:t>
            </a:r>
            <a:endParaRPr lang="en-US" sz="1100" dirty="0"/>
          </a:p>
          <a:p>
            <a:pPr marL="0" indent="0">
              <a:buNone/>
            </a:pPr>
            <a:r>
              <a:rPr lang="en-US" sz="1600" dirty="0">
                <a:solidFill>
                  <a:srgbClr val="111827"/>
                </a:solidFill>
                <a:latin typeface="Arial" pitchFamily="34" charset="0"/>
                <a:ea typeface="Arial" pitchFamily="34" charset="-122"/>
                <a:cs typeface="Arial" pitchFamily="34" charset="-120"/>
              </a:rPr>
              <a:t>Ana bölümleri alt sekmeye koyun, derinleşen akışı yığına bırakın; sekme sayısını genellikle 3–5 ile sınırlı tutun, daha fazlası için yan menü düşünün.</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buNone/>
            </a:pPr>
            <a:r>
              <a:rPr lang="en-US" sz="3200" b="1" dirty="0">
                <a:solidFill>
                  <a:srgbClr val="111827"/>
                </a:solidFill>
                <a:latin typeface="Arial" pitchFamily="34" charset="0"/>
                <a:ea typeface="Arial" pitchFamily="34" charset="-122"/>
                <a:cs typeface="Arial" pitchFamily="34" charset="-120"/>
              </a:rPr>
              <a:t>Mobil Ekosistemin Aktörleri</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1989734" cy="1051560"/>
          </a:xfrm>
          <a:prstGeom prst="roundRect">
            <a:avLst>
              <a:gd name="adj" fmla="val 8696"/>
            </a:avLst>
          </a:prstGeom>
          <a:solidFill>
            <a:srgbClr val="EFF6FF"/>
          </a:solidFill>
          <a:ln w="9525">
            <a:solidFill>
              <a:srgbClr val="EFF6FF"/>
            </a:solidFill>
            <a:prstDash val="solid"/>
          </a:ln>
        </p:spPr>
      </p:sp>
      <p:sp>
        <p:nvSpPr>
          <p:cNvPr id="5" name="Text 3"/>
          <p:cNvSpPr txBox="1"/>
          <p:nvPr/>
        </p:nvSpPr>
        <p:spPr>
          <a:xfrm>
            <a:off x="868680" y="1737360"/>
            <a:ext cx="1715414" cy="868680"/>
          </a:xfrm>
          <a:prstGeom prst="rect">
            <a:avLst/>
          </a:prstGeom>
          <a:noFill/>
          <a:ln/>
        </p:spPr>
        <p:txBody>
          <a:bodyPr wrap="square" lIns="0" tIns="0" rIns="0" bIns="0" rtlCol="0" anchor="ctr">
            <a:normAutofit/>
          </a:bodyPr>
          <a:lstStyle/>
          <a:p>
            <a:pPr marL="0" indent="0">
              <a:buNone/>
            </a:pPr>
            <a:r>
              <a:rPr lang="en-US" sz="1200" b="1" dirty="0">
                <a:solidFill>
                  <a:srgbClr val="2563EB"/>
                </a:solidFill>
                <a:latin typeface="Arial" pitchFamily="34" charset="0"/>
                <a:ea typeface="Arial" pitchFamily="34" charset="-122"/>
                <a:cs typeface="Arial" pitchFamily="34" charset="-120"/>
              </a:rPr>
              <a:t>1</a:t>
            </a:r>
            <a:endParaRPr lang="en-US" sz="1200" dirty="0"/>
          </a:p>
          <a:p>
            <a:pPr marL="0" indent="0">
              <a:buNone/>
            </a:pPr>
            <a:r>
              <a:rPr lang="en-US" sz="1400" b="1" dirty="0">
                <a:solidFill>
                  <a:srgbClr val="111827"/>
                </a:solidFill>
                <a:latin typeface="Arial" pitchFamily="34" charset="0"/>
                <a:ea typeface="Arial" pitchFamily="34" charset="-122"/>
                <a:cs typeface="Arial" pitchFamily="34" charset="-120"/>
              </a:rPr>
              <a:t>Geliştirici</a:t>
            </a:r>
            <a:endParaRPr lang="en-US" sz="1200" dirty="0"/>
          </a:p>
        </p:txBody>
      </p:sp>
      <p:sp>
        <p:nvSpPr>
          <p:cNvPr id="6" name="Text 4"/>
          <p:cNvSpPr txBox="1"/>
          <p:nvPr/>
        </p:nvSpPr>
        <p:spPr>
          <a:xfrm>
            <a:off x="2721254"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7" name="Shape 5"/>
          <p:cNvSpPr/>
          <p:nvPr/>
        </p:nvSpPr>
        <p:spPr>
          <a:xfrm>
            <a:off x="2977286" y="1645920"/>
            <a:ext cx="1989734" cy="1051560"/>
          </a:xfrm>
          <a:prstGeom prst="roundRect">
            <a:avLst>
              <a:gd name="adj" fmla="val 8696"/>
            </a:avLst>
          </a:prstGeom>
          <a:solidFill>
            <a:srgbClr val="EFF6FF"/>
          </a:solidFill>
          <a:ln w="9525">
            <a:solidFill>
              <a:srgbClr val="EFF6FF"/>
            </a:solidFill>
            <a:prstDash val="solid"/>
          </a:ln>
        </p:spPr>
      </p:sp>
      <p:sp>
        <p:nvSpPr>
          <p:cNvPr id="8" name="Text 6"/>
          <p:cNvSpPr txBox="1"/>
          <p:nvPr/>
        </p:nvSpPr>
        <p:spPr>
          <a:xfrm>
            <a:off x="3114446" y="1737360"/>
            <a:ext cx="1715414" cy="868680"/>
          </a:xfrm>
          <a:prstGeom prst="rect">
            <a:avLst/>
          </a:prstGeom>
          <a:noFill/>
          <a:ln/>
        </p:spPr>
        <p:txBody>
          <a:bodyPr wrap="square" lIns="0" tIns="0" rIns="0" bIns="0" rtlCol="0" anchor="ctr">
            <a:normAutofit/>
          </a:bodyPr>
          <a:lstStyle/>
          <a:p>
            <a:pPr marL="0" indent="0">
              <a:buNone/>
            </a:pPr>
            <a:r>
              <a:rPr lang="en-US" sz="1200" b="1" dirty="0">
                <a:solidFill>
                  <a:srgbClr val="2563EB"/>
                </a:solidFill>
                <a:latin typeface="Arial" pitchFamily="34" charset="0"/>
                <a:ea typeface="Arial" pitchFamily="34" charset="-122"/>
                <a:cs typeface="Arial" pitchFamily="34" charset="-120"/>
              </a:rPr>
              <a:t>2</a:t>
            </a:r>
            <a:endParaRPr lang="en-US" sz="1200" dirty="0"/>
          </a:p>
          <a:p>
            <a:pPr marL="0" indent="0">
              <a:buNone/>
            </a:pPr>
            <a:r>
              <a:rPr lang="en-US" sz="1400" b="1" dirty="0">
                <a:solidFill>
                  <a:srgbClr val="111827"/>
                </a:solidFill>
                <a:latin typeface="Arial" pitchFamily="34" charset="0"/>
                <a:ea typeface="Arial" pitchFamily="34" charset="-122"/>
                <a:cs typeface="Arial" pitchFamily="34" charset="-120"/>
              </a:rPr>
              <a:t>Mağaza</a:t>
            </a:r>
            <a:endParaRPr lang="en-US" sz="1200" dirty="0"/>
          </a:p>
        </p:txBody>
      </p:sp>
      <p:sp>
        <p:nvSpPr>
          <p:cNvPr id="9" name="Text 7"/>
          <p:cNvSpPr txBox="1"/>
          <p:nvPr/>
        </p:nvSpPr>
        <p:spPr>
          <a:xfrm>
            <a:off x="4967021"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5223053" y="1645920"/>
            <a:ext cx="1989734" cy="1051560"/>
          </a:xfrm>
          <a:prstGeom prst="roundRect">
            <a:avLst>
              <a:gd name="adj" fmla="val 8696"/>
            </a:avLst>
          </a:prstGeom>
          <a:solidFill>
            <a:srgbClr val="EFF6FF"/>
          </a:solidFill>
          <a:ln w="9525">
            <a:solidFill>
              <a:srgbClr val="EFF6FF"/>
            </a:solidFill>
            <a:prstDash val="solid"/>
          </a:ln>
        </p:spPr>
      </p:sp>
      <p:sp>
        <p:nvSpPr>
          <p:cNvPr id="11" name="Text 9"/>
          <p:cNvSpPr txBox="1"/>
          <p:nvPr/>
        </p:nvSpPr>
        <p:spPr>
          <a:xfrm>
            <a:off x="5360213" y="1737360"/>
            <a:ext cx="1715414" cy="868680"/>
          </a:xfrm>
          <a:prstGeom prst="rect">
            <a:avLst/>
          </a:prstGeom>
          <a:noFill/>
          <a:ln/>
        </p:spPr>
        <p:txBody>
          <a:bodyPr wrap="square" lIns="0" tIns="0" rIns="0" bIns="0" rtlCol="0" anchor="ctr">
            <a:normAutofit/>
          </a:bodyPr>
          <a:lstStyle/>
          <a:p>
            <a:pPr marL="0" indent="0">
              <a:buNone/>
            </a:pPr>
            <a:r>
              <a:rPr lang="en-US" sz="1200" b="1" dirty="0">
                <a:solidFill>
                  <a:srgbClr val="2563EB"/>
                </a:solidFill>
                <a:latin typeface="Arial" pitchFamily="34" charset="0"/>
                <a:ea typeface="Arial" pitchFamily="34" charset="-122"/>
                <a:cs typeface="Arial" pitchFamily="34" charset="-120"/>
              </a:rPr>
              <a:t>3</a:t>
            </a:r>
            <a:endParaRPr lang="en-US" sz="1200" dirty="0"/>
          </a:p>
          <a:p>
            <a:pPr marL="0" indent="0">
              <a:buNone/>
            </a:pPr>
            <a:r>
              <a:rPr lang="en-US" sz="1400" b="1" dirty="0">
                <a:solidFill>
                  <a:srgbClr val="111827"/>
                </a:solidFill>
                <a:latin typeface="Arial" pitchFamily="34" charset="0"/>
                <a:ea typeface="Arial" pitchFamily="34" charset="-122"/>
                <a:cs typeface="Arial" pitchFamily="34" charset="-120"/>
              </a:rPr>
              <a:t>Kullanıcı</a:t>
            </a:r>
            <a:endParaRPr lang="en-US" sz="1200" dirty="0"/>
          </a:p>
        </p:txBody>
      </p:sp>
      <p:sp>
        <p:nvSpPr>
          <p:cNvPr id="12" name="Text 10"/>
          <p:cNvSpPr txBox="1"/>
          <p:nvPr/>
        </p:nvSpPr>
        <p:spPr>
          <a:xfrm>
            <a:off x="7212787"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3" name="Shape 11"/>
          <p:cNvSpPr/>
          <p:nvPr/>
        </p:nvSpPr>
        <p:spPr>
          <a:xfrm>
            <a:off x="7468819" y="1645920"/>
            <a:ext cx="1989734" cy="1051560"/>
          </a:xfrm>
          <a:prstGeom prst="roundRect">
            <a:avLst>
              <a:gd name="adj" fmla="val 8696"/>
            </a:avLst>
          </a:prstGeom>
          <a:solidFill>
            <a:srgbClr val="EFF6FF"/>
          </a:solidFill>
          <a:ln w="9525">
            <a:solidFill>
              <a:srgbClr val="EFF6FF"/>
            </a:solidFill>
            <a:prstDash val="solid"/>
          </a:ln>
        </p:spPr>
      </p:sp>
      <p:sp>
        <p:nvSpPr>
          <p:cNvPr id="14" name="Text 12"/>
          <p:cNvSpPr txBox="1"/>
          <p:nvPr/>
        </p:nvSpPr>
        <p:spPr>
          <a:xfrm>
            <a:off x="7605979" y="1737360"/>
            <a:ext cx="1715414" cy="868680"/>
          </a:xfrm>
          <a:prstGeom prst="rect">
            <a:avLst/>
          </a:prstGeom>
          <a:noFill/>
          <a:ln/>
        </p:spPr>
        <p:txBody>
          <a:bodyPr wrap="square" lIns="0" tIns="0" rIns="0" bIns="0" rtlCol="0" anchor="ctr">
            <a:normAutofit/>
          </a:bodyPr>
          <a:lstStyle/>
          <a:p>
            <a:pPr marL="0" indent="0">
              <a:buNone/>
            </a:pPr>
            <a:r>
              <a:rPr lang="en-US" sz="1200" b="1" dirty="0">
                <a:solidFill>
                  <a:srgbClr val="2563EB"/>
                </a:solidFill>
                <a:latin typeface="Arial" pitchFamily="34" charset="0"/>
                <a:ea typeface="Arial" pitchFamily="34" charset="-122"/>
                <a:cs typeface="Arial" pitchFamily="34" charset="-120"/>
              </a:rPr>
              <a:t>4</a:t>
            </a:r>
            <a:endParaRPr lang="en-US" sz="1200" dirty="0"/>
          </a:p>
          <a:p>
            <a:pPr marL="0" indent="0">
              <a:buNone/>
            </a:pPr>
            <a:r>
              <a:rPr lang="en-US" sz="1400" b="1" dirty="0">
                <a:solidFill>
                  <a:srgbClr val="111827"/>
                </a:solidFill>
                <a:latin typeface="Arial" pitchFamily="34" charset="0"/>
                <a:ea typeface="Arial" pitchFamily="34" charset="-122"/>
                <a:cs typeface="Arial" pitchFamily="34" charset="-120"/>
              </a:rPr>
              <a:t>Cihaz ve İşletim Sistemi</a:t>
            </a:r>
            <a:endParaRPr lang="en-US" sz="1200" dirty="0"/>
          </a:p>
        </p:txBody>
      </p:sp>
      <p:sp>
        <p:nvSpPr>
          <p:cNvPr id="15" name="Text 13"/>
          <p:cNvSpPr txBox="1"/>
          <p:nvPr/>
        </p:nvSpPr>
        <p:spPr>
          <a:xfrm>
            <a:off x="9458554"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6" name="Shape 14"/>
          <p:cNvSpPr/>
          <p:nvPr/>
        </p:nvSpPr>
        <p:spPr>
          <a:xfrm>
            <a:off x="9714586" y="1645920"/>
            <a:ext cx="1989734" cy="1051560"/>
          </a:xfrm>
          <a:prstGeom prst="roundRect">
            <a:avLst>
              <a:gd name="adj" fmla="val 8696"/>
            </a:avLst>
          </a:prstGeom>
          <a:solidFill>
            <a:srgbClr val="2563EB"/>
          </a:solidFill>
          <a:ln w="9525">
            <a:solidFill>
              <a:srgbClr val="2563EB"/>
            </a:solidFill>
            <a:prstDash val="solid"/>
          </a:ln>
        </p:spPr>
      </p:sp>
      <p:sp>
        <p:nvSpPr>
          <p:cNvPr id="17" name="Text 15"/>
          <p:cNvSpPr txBox="1"/>
          <p:nvPr/>
        </p:nvSpPr>
        <p:spPr>
          <a:xfrm>
            <a:off x="9851746" y="1737360"/>
            <a:ext cx="1715414" cy="868680"/>
          </a:xfrm>
          <a:prstGeom prst="rect">
            <a:avLst/>
          </a:prstGeom>
          <a:noFill/>
          <a:ln/>
        </p:spPr>
        <p:txBody>
          <a:bodyPr wrap="square" lIns="0" tIns="0" rIns="0" bIns="0" rtlCol="0" anchor="ctr">
            <a:normAutofit/>
          </a:bodyPr>
          <a:lstStyle/>
          <a:p>
            <a:pPr marL="0" indent="0">
              <a:buNone/>
            </a:pPr>
            <a:r>
              <a:rPr lang="en-US" sz="1200" b="1" dirty="0">
                <a:solidFill>
                  <a:srgbClr val="FFFFFF"/>
                </a:solidFill>
                <a:latin typeface="Arial" pitchFamily="34" charset="0"/>
                <a:ea typeface="Arial" pitchFamily="34" charset="-122"/>
                <a:cs typeface="Arial" pitchFamily="34" charset="-120"/>
              </a:rPr>
              <a:t>5</a:t>
            </a:r>
            <a:endParaRPr lang="en-US" sz="1200" dirty="0"/>
          </a:p>
          <a:p>
            <a:pPr marL="0" indent="0">
              <a:buNone/>
            </a:pPr>
            <a:r>
              <a:rPr lang="en-US" sz="1400" b="1" dirty="0">
                <a:solidFill>
                  <a:srgbClr val="FFFFFF"/>
                </a:solidFill>
                <a:latin typeface="Arial" pitchFamily="34" charset="0"/>
                <a:ea typeface="Arial" pitchFamily="34" charset="-122"/>
                <a:cs typeface="Arial" pitchFamily="34" charset="-120"/>
              </a:rPr>
              <a:t>Sunucu</a:t>
            </a:r>
            <a:endParaRPr lang="en-US" sz="1200" dirty="0"/>
          </a:p>
        </p:txBody>
      </p:sp>
      <p:sp>
        <p:nvSpPr>
          <p:cNvPr id="18" name="Text 16"/>
          <p:cNvSpPr txBox="1"/>
          <p:nvPr/>
        </p:nvSpPr>
        <p:spPr>
          <a:xfrm>
            <a:off x="731520" y="3017520"/>
            <a:ext cx="6766560" cy="3291840"/>
          </a:xfrm>
          <a:prstGeom prst="rect">
            <a:avLst/>
          </a:prstGeom>
          <a:noFill/>
          <a:ln/>
        </p:spPr>
        <p:txBody>
          <a:bodyPr wrap="square" lIns="0" tIns="0" rIns="0" bIns="0" rtlCol="0" anchor="t"/>
          <a:lstStyle/>
          <a:p>
            <a:pPr marL="0" indent="0" algn="just">
              <a:spcAft>
                <a:spcPts val="800"/>
              </a:spcAft>
              <a:buNone/>
            </a:pPr>
            <a:r>
              <a:rPr lang="en-US" sz="2200" dirty="0">
                <a:solidFill>
                  <a:srgbClr val="111827"/>
                </a:solidFill>
                <a:latin typeface="Arial" pitchFamily="34" charset="0"/>
                <a:ea typeface="Arial" pitchFamily="34" charset="-122"/>
                <a:cs typeface="Arial" pitchFamily="34" charset="-120"/>
              </a:rPr>
              <a:t>Geliştirici uygulamayı derler ve mağazaya yükler. Mağaza inceler, yayınlar ve ödemeyi yönetir. Kullanıcı kurar; işletim sistemi uygulamayı izole eder ve izinleri denetler. Uygulama çalışırken sunucudan veri alır. Zincirin her halkasında kural koyan bir taraf vardır.</a:t>
            </a:r>
            <a:endParaRPr lang="en-US" sz="2200" dirty="0"/>
          </a:p>
        </p:txBody>
      </p:sp>
      <p:sp>
        <p:nvSpPr>
          <p:cNvPr id="19" name="Shape 17"/>
          <p:cNvSpPr/>
          <p:nvPr/>
        </p:nvSpPr>
        <p:spPr>
          <a:xfrm>
            <a:off x="7863840" y="3017520"/>
            <a:ext cx="3657600" cy="1383792"/>
          </a:xfrm>
          <a:prstGeom prst="roundRect">
            <a:avLst>
              <a:gd name="adj" fmla="val 6608"/>
            </a:avLst>
          </a:prstGeom>
          <a:solidFill>
            <a:srgbClr val="EFF6FF"/>
          </a:solidFill>
          <a:ln w="9525">
            <a:solidFill>
              <a:srgbClr val="EFF6FF"/>
            </a:solidFill>
            <a:prstDash val="solid"/>
          </a:ln>
        </p:spPr>
      </p:sp>
      <p:sp>
        <p:nvSpPr>
          <p:cNvPr id="20" name="Text 18"/>
          <p:cNvSpPr txBox="1"/>
          <p:nvPr/>
        </p:nvSpPr>
        <p:spPr>
          <a:xfrm>
            <a:off x="8065008" y="3145536"/>
            <a:ext cx="3255264" cy="1127760"/>
          </a:xfrm>
          <a:prstGeom prst="rect">
            <a:avLst/>
          </a:prstGeom>
          <a:noFill/>
          <a:ln/>
        </p:spPr>
        <p:txBody>
          <a:bodyPr wrap="square" lIns="0" tIns="0" rIns="0" bIns="0" rtlCol="0" anchor="t"/>
          <a:lstStyle/>
          <a:p>
            <a:pPr marL="0" indent="0">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buNone/>
            </a:pPr>
            <a:r>
              <a:rPr lang="en-US" sz="1400" dirty="0">
                <a:solidFill>
                  <a:srgbClr val="111827"/>
                </a:solidFill>
                <a:latin typeface="Arial" pitchFamily="34" charset="0"/>
                <a:ea typeface="Arial" pitchFamily="34" charset="-122"/>
                <a:cs typeface="Arial" pitchFamily="34" charset="-120"/>
              </a:rPr>
              <a:t>Kuralı koyan taraf geliştirici değildir; mağaza ve işletim sistemi politikaları uygulamanın neler yapabileceğini belirler.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buNone/>
            </a:pPr>
            <a:r>
              <a:rPr lang="en-US" sz="3200" b="1" dirty="0">
                <a:solidFill>
                  <a:srgbClr val="111827"/>
                </a:solidFill>
                <a:latin typeface="Arial" pitchFamily="34" charset="0"/>
                <a:ea typeface="Arial" pitchFamily="34" charset="-122"/>
                <a:cs typeface="Arial" pitchFamily="34" charset="-120"/>
              </a:rPr>
              <a:t>Android ve iOS: Platform Karşılaştırması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972800" cy="3227832"/>
        </p:xfrm>
        <a:graphic>
          <a:graphicData uri="http://schemas.openxmlformats.org/drawingml/2006/table">
            <a:tbl>
              <a:tblPr/>
              <a:tblGrid>
                <a:gridCol w="2463935">
                  <a:extLst>
                    <a:ext uri="{9D8B030D-6E8A-4147-A177-3AD203B41FA5}">
                      <a16:colId xmlns:a16="http://schemas.microsoft.com/office/drawing/2014/main" val="20000"/>
                    </a:ext>
                  </a:extLst>
                </a:gridCol>
                <a:gridCol w="3918673">
                  <a:extLst>
                    <a:ext uri="{9D8B030D-6E8A-4147-A177-3AD203B41FA5}">
                      <a16:colId xmlns:a16="http://schemas.microsoft.com/office/drawing/2014/main" val="20001"/>
                    </a:ext>
                  </a:extLst>
                </a:gridCol>
                <a:gridCol w="4590192">
                  <a:extLst>
                    <a:ext uri="{9D8B030D-6E8A-4147-A177-3AD203B41FA5}">
                      <a16:colId xmlns:a16="http://schemas.microsoft.com/office/drawing/2014/main" val="20002"/>
                    </a:ext>
                  </a:extLst>
                </a:gridCol>
              </a:tblGrid>
              <a:tr h="387096">
                <a:tc>
                  <a:txBody>
                    <a:bodyPr/>
                    <a:lstStyle/>
                    <a:p>
                      <a:pPr marL="0" indent="0">
                        <a:buNone/>
                      </a:pPr>
                      <a:r>
                        <a:rPr lang="en-US" sz="1400" b="1" dirty="0">
                          <a:solidFill>
                            <a:srgbClr val="2563EB"/>
                          </a:solidFill>
                        </a:rPr>
                        <a:t>Ölçüt</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Android</a:t>
                      </a:r>
                      <a:endParaRPr lang="en-US" sz="1400" dirty="0"/>
                    </a:p>
                  </a:txBody>
                  <a:tcPr marL="457200"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iOS</a:t>
                      </a:r>
                      <a:endParaRPr lang="en-US" sz="1400" dirty="0"/>
                    </a:p>
                  </a:txBody>
                  <a:tcPr marL="457200"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extLst>
                  <a:ext uri="{0D108BD9-81ED-4DB2-BD59-A6C34878D82A}">
                    <a16:rowId xmlns:a16="http://schemas.microsoft.com/office/drawing/2014/main" val="10000"/>
                  </a:ext>
                </a:extLst>
              </a:tr>
              <a:tr h="387096">
                <a:tc>
                  <a:txBody>
                    <a:bodyPr/>
                    <a:lstStyle/>
                    <a:p>
                      <a:pPr marL="0" indent="0">
                        <a:buNone/>
                      </a:pPr>
                      <a:r>
                        <a:rPr lang="en-US" sz="1700" b="1" dirty="0">
                          <a:solidFill>
                            <a:srgbClr val="111827"/>
                          </a:solidFill>
                        </a:rPr>
                        <a:t>Üretici</a:t>
                      </a:r>
                      <a:endParaRPr lang="en-US" sz="17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Çok sayıda üretici</a:t>
                      </a:r>
                      <a:endParaRPr lang="en-US" sz="17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Tek üretici (Apple)</a:t>
                      </a:r>
                      <a:endParaRPr lang="en-US" sz="17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387096">
                <a:tc>
                  <a:txBody>
                    <a:bodyPr/>
                    <a:lstStyle/>
                    <a:p>
                      <a:pPr marL="0" indent="0">
                        <a:buNone/>
                      </a:pPr>
                      <a:r>
                        <a:rPr lang="en-US" sz="1700" b="1" dirty="0">
                          <a:solidFill>
                            <a:srgbClr val="111827"/>
                          </a:solidFill>
                        </a:rPr>
                        <a:t>Cihaz çeşitliliği</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Çok yüksek</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Sınırlı model sayısı</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646176">
                <a:tc>
                  <a:txBody>
                    <a:bodyPr/>
                    <a:lstStyle/>
                    <a:p>
                      <a:pPr marL="0" indent="0">
                        <a:buNone/>
                      </a:pPr>
                      <a:r>
                        <a:rPr lang="en-US" sz="1700" b="1" dirty="0">
                          <a:solidFill>
                            <a:srgbClr val="111827"/>
                          </a:solidFill>
                        </a:rPr>
                        <a:t>Sürüm dağılımı</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Parçalı; eski sürümler uzun süre kullanılır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Kullanıcılar genelde hızlı günceller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387096">
                <a:tc>
                  <a:txBody>
                    <a:bodyPr/>
                    <a:lstStyle/>
                    <a:p>
                      <a:pPr marL="0" indent="0">
                        <a:buNone/>
                      </a:pPr>
                      <a:r>
                        <a:rPr lang="en-US" sz="1700" b="1" dirty="0">
                          <a:solidFill>
                            <a:srgbClr val="111827"/>
                          </a:solidFill>
                        </a:rPr>
                        <a:t>Mağaza</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Google Play ve alternatifler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App Store</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646176">
                <a:tc>
                  <a:txBody>
                    <a:bodyPr/>
                    <a:lstStyle/>
                    <a:p>
                      <a:pPr marL="0" indent="0">
                        <a:buNone/>
                      </a:pPr>
                      <a:r>
                        <a:rPr lang="en-US" sz="1700" b="1" dirty="0">
                          <a:solidFill>
                            <a:srgbClr val="111827"/>
                          </a:solidFill>
                        </a:rPr>
                        <a:t>Uygulama dağıtımı</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Yan yükleme mümkündür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Varsayılan olarak yalnızca App Store (bölgeye göre değişir)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r h="387096">
                <a:tc>
                  <a:txBody>
                    <a:bodyPr/>
                    <a:lstStyle/>
                    <a:p>
                      <a:pPr marL="0" indent="0">
                        <a:buNone/>
                      </a:pPr>
                      <a:r>
                        <a:rPr lang="en-US" sz="1700" b="1" dirty="0">
                          <a:solidFill>
                            <a:srgbClr val="111827"/>
                          </a:solidFill>
                        </a:rPr>
                        <a:t>Tasarım dili</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Material Design</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Human Interface Guidelines</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pic>
        <p:nvPicPr>
          <p:cNvPr id="5" name="Image 0" descr="/tmp/claude-0/-home-claude/bb2dbc6e-f574-5e99-8510-889b704da121/scratchpad/decks/logos/android.png"/>
          <p:cNvPicPr>
            <a:picLocks noChangeAspect="1"/>
          </p:cNvPicPr>
          <p:nvPr/>
        </p:nvPicPr>
        <p:blipFill>
          <a:blip r:embed="rId3"/>
          <a:stretch>
            <a:fillRect/>
          </a:stretch>
        </p:blipFill>
        <p:spPr>
          <a:xfrm>
            <a:off x="3268607" y="1684020"/>
            <a:ext cx="310896" cy="310896"/>
          </a:xfrm>
          <a:prstGeom prst="rect">
            <a:avLst/>
          </a:prstGeom>
        </p:spPr>
      </p:pic>
      <p:pic>
        <p:nvPicPr>
          <p:cNvPr id="6" name="Image 1" descr="/tmp/claude-0/-home-claude/bb2dbc6e-f574-5e99-8510-889b704da121/scratchpad/decks/logos/apple.png"/>
          <p:cNvPicPr>
            <a:picLocks noChangeAspect="1"/>
          </p:cNvPicPr>
          <p:nvPr/>
        </p:nvPicPr>
        <p:blipFill>
          <a:blip r:embed="rId4"/>
          <a:stretch>
            <a:fillRect/>
          </a:stretch>
        </p:blipFill>
        <p:spPr>
          <a:xfrm>
            <a:off x="7187280" y="1684020"/>
            <a:ext cx="310896" cy="310896"/>
          </a:xfrm>
          <a:prstGeom prst="rect">
            <a:avLst/>
          </a:prstGeom>
        </p:spPr>
      </p:pic>
      <p:sp>
        <p:nvSpPr>
          <p:cNvPr id="7" name="Shape 2"/>
          <p:cNvSpPr/>
          <p:nvPr/>
        </p:nvSpPr>
        <p:spPr>
          <a:xfrm>
            <a:off x="731520" y="5148072"/>
            <a:ext cx="10972800" cy="1018032"/>
          </a:xfrm>
          <a:prstGeom prst="roundRect">
            <a:avLst>
              <a:gd name="adj" fmla="val 8982"/>
            </a:avLst>
          </a:prstGeom>
          <a:solidFill>
            <a:srgbClr val="EFF6FF"/>
          </a:solidFill>
          <a:ln w="9525">
            <a:solidFill>
              <a:srgbClr val="EFF6FF"/>
            </a:solidFill>
            <a:prstDash val="solid"/>
          </a:ln>
        </p:spPr>
      </p:sp>
      <p:sp>
        <p:nvSpPr>
          <p:cNvPr id="8" name="Text 3"/>
          <p:cNvSpPr txBox="1"/>
          <p:nvPr/>
        </p:nvSpPr>
        <p:spPr>
          <a:xfrm>
            <a:off x="932688" y="5276088"/>
            <a:ext cx="10570464" cy="762000"/>
          </a:xfrm>
          <a:prstGeom prst="rect">
            <a:avLst/>
          </a:prstGeom>
          <a:noFill/>
          <a:ln/>
        </p:spPr>
        <p:txBody>
          <a:bodyPr wrap="square" lIns="0" tIns="0" rIns="0" bIns="0" rtlCol="0" anchor="t"/>
          <a:lstStyle/>
          <a:p>
            <a:pPr marL="0" indent="0">
              <a:buNone/>
            </a:pPr>
            <a:r>
              <a:rPr lang="en-US" sz="1100" b="1" dirty="0">
                <a:solidFill>
                  <a:srgbClr val="2563EB"/>
                </a:solidFill>
                <a:latin typeface="Arial" pitchFamily="34" charset="0"/>
                <a:ea typeface="Arial" pitchFamily="34" charset="-122"/>
                <a:cs typeface="Arial" pitchFamily="34" charset="-120"/>
              </a:rPr>
              <a:t>SEÇIM MANTIĞI</a:t>
            </a:r>
            <a:endParaRPr lang="en-US" sz="1100" dirty="0"/>
          </a:p>
          <a:p>
            <a:pPr marL="0" indent="0">
              <a:buNone/>
            </a:pPr>
            <a:r>
              <a:rPr lang="en-US" sz="1600" dirty="0">
                <a:solidFill>
                  <a:srgbClr val="111827"/>
                </a:solidFill>
                <a:latin typeface="Arial" pitchFamily="34" charset="0"/>
                <a:ea typeface="Arial" pitchFamily="34" charset="-122"/>
                <a:cs typeface="Arial" pitchFamily="34" charset="-120"/>
              </a:rPr>
              <a:t>Hedef kitleniz hangi platformdaysa önce orada başlarsınız; Android çeşitlilik, iOS ise tek üreticinin kurallarına bağımlılık getirir.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buNone/>
            </a:pPr>
            <a:r>
              <a:rPr lang="en-US" sz="3200" b="1" dirty="0">
                <a:solidFill>
                  <a:srgbClr val="111827"/>
                </a:solidFill>
                <a:latin typeface="Arial" pitchFamily="34" charset="0"/>
                <a:ea typeface="Arial" pitchFamily="34" charset="-122"/>
                <a:cs typeface="Arial" pitchFamily="34" charset="-120"/>
              </a:rPr>
              <a:t>Android ve iOS: Geliştirme Karşılaştırması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972801" cy="2709672"/>
        </p:xfrm>
        <a:graphic>
          <a:graphicData uri="http://schemas.openxmlformats.org/drawingml/2006/table">
            <a:tbl>
              <a:tblPr/>
              <a:tblGrid>
                <a:gridCol w="3036358">
                  <a:extLst>
                    <a:ext uri="{9D8B030D-6E8A-4147-A177-3AD203B41FA5}">
                      <a16:colId xmlns:a16="http://schemas.microsoft.com/office/drawing/2014/main" val="20000"/>
                    </a:ext>
                  </a:extLst>
                </a:gridCol>
                <a:gridCol w="4121072">
                  <a:extLst>
                    <a:ext uri="{9D8B030D-6E8A-4147-A177-3AD203B41FA5}">
                      <a16:colId xmlns:a16="http://schemas.microsoft.com/office/drawing/2014/main" val="20001"/>
                    </a:ext>
                  </a:extLst>
                </a:gridCol>
                <a:gridCol w="3815371">
                  <a:extLst>
                    <a:ext uri="{9D8B030D-6E8A-4147-A177-3AD203B41FA5}">
                      <a16:colId xmlns:a16="http://schemas.microsoft.com/office/drawing/2014/main" val="20002"/>
                    </a:ext>
                  </a:extLst>
                </a:gridCol>
              </a:tblGrid>
              <a:tr h="387096">
                <a:tc>
                  <a:txBody>
                    <a:bodyPr/>
                    <a:lstStyle/>
                    <a:p>
                      <a:pPr marL="0" indent="0">
                        <a:buNone/>
                      </a:pPr>
                      <a:r>
                        <a:rPr lang="en-US" sz="1400" b="1" dirty="0">
                          <a:solidFill>
                            <a:srgbClr val="2563EB"/>
                          </a:solidFill>
                        </a:rPr>
                        <a:t>Ölçüt</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Android</a:t>
                      </a:r>
                      <a:endParaRPr lang="en-US" sz="1400" dirty="0"/>
                    </a:p>
                  </a:txBody>
                  <a:tcPr marL="457200"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iOS</a:t>
                      </a:r>
                      <a:endParaRPr lang="en-US" sz="1400" dirty="0"/>
                    </a:p>
                  </a:txBody>
                  <a:tcPr marL="457200"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extLst>
                  <a:ext uri="{0D108BD9-81ED-4DB2-BD59-A6C34878D82A}">
                    <a16:rowId xmlns:a16="http://schemas.microsoft.com/office/drawing/2014/main" val="10000"/>
                  </a:ext>
                </a:extLst>
              </a:tr>
              <a:tr h="387096">
                <a:tc>
                  <a:txBody>
                    <a:bodyPr/>
                    <a:lstStyle/>
                    <a:p>
                      <a:pPr marL="0" indent="0">
                        <a:buNone/>
                      </a:pPr>
                      <a:r>
                        <a:rPr lang="en-US" sz="1700" b="1" dirty="0">
                          <a:solidFill>
                            <a:srgbClr val="111827"/>
                          </a:solidFill>
                        </a:rPr>
                        <a:t>Ana diller</a:t>
                      </a:r>
                      <a:endParaRPr lang="en-US" sz="17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Kotlin, Java</a:t>
                      </a:r>
                      <a:endParaRPr lang="en-US" sz="17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Swift, Objective-C</a:t>
                      </a:r>
                      <a:endParaRPr lang="en-US" sz="17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387096">
                <a:tc>
                  <a:txBody>
                    <a:bodyPr/>
                    <a:lstStyle/>
                    <a:p>
                      <a:pPr marL="0" indent="0">
                        <a:buNone/>
                      </a:pPr>
                      <a:r>
                        <a:rPr lang="en-US" sz="1700" b="1" dirty="0">
                          <a:solidFill>
                            <a:srgbClr val="111827"/>
                          </a:solidFill>
                        </a:rPr>
                        <a:t>Geliştirme ortamı</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Android Studio</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Xcode</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387096">
                <a:tc>
                  <a:txBody>
                    <a:bodyPr/>
                    <a:lstStyle/>
                    <a:p>
                      <a:pPr marL="0" indent="0">
                        <a:buNone/>
                      </a:pPr>
                      <a:r>
                        <a:rPr lang="en-US" sz="1700" b="1" dirty="0">
                          <a:solidFill>
                            <a:srgbClr val="111827"/>
                          </a:solidFill>
                        </a:rPr>
                        <a:t>Geliştirme makinesi</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Windows, macOS, Linux</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Yalnızca macOS</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387096">
                <a:tc>
                  <a:txBody>
                    <a:bodyPr/>
                    <a:lstStyle/>
                    <a:p>
                      <a:pPr marL="0" indent="0">
                        <a:buNone/>
                      </a:pPr>
                      <a:r>
                        <a:rPr lang="en-US" sz="1700" b="1" dirty="0">
                          <a:solidFill>
                            <a:srgbClr val="111827"/>
                          </a:solidFill>
                        </a:rPr>
                        <a:t>Sanal cihaz</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Android Emulator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iOS Simulator (yalnızca macOS)</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387096">
                <a:tc>
                  <a:txBody>
                    <a:bodyPr/>
                    <a:lstStyle/>
                    <a:p>
                      <a:pPr marL="0" indent="0">
                        <a:buNone/>
                      </a:pPr>
                      <a:r>
                        <a:rPr lang="en-US" sz="1700" b="1" dirty="0">
                          <a:solidFill>
                            <a:srgbClr val="111827"/>
                          </a:solidFill>
                        </a:rPr>
                        <a:t>Test yükü</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Çok sayıda cihaz ve sürüm</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Daha az cihaz</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r h="387096">
                <a:tc>
                  <a:txBody>
                    <a:bodyPr/>
                    <a:lstStyle/>
                    <a:p>
                      <a:pPr marL="0" indent="0">
                        <a:buNone/>
                      </a:pPr>
                      <a:r>
                        <a:rPr lang="en-US" sz="1700" b="1" dirty="0">
                          <a:solidFill>
                            <a:srgbClr val="111827"/>
                          </a:solidFill>
                        </a:rPr>
                        <a:t>Bu derste</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Uygulamalar Android'de çalıştırılır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Kavramsal olarak anlatılır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pic>
        <p:nvPicPr>
          <p:cNvPr id="5" name="Image 0" descr="/tmp/claude-0/-home-claude/bb2dbc6e-f574-5e99-8510-889b704da121/scratchpad/decks/logos/android.png"/>
          <p:cNvPicPr>
            <a:picLocks noChangeAspect="1"/>
          </p:cNvPicPr>
          <p:nvPr/>
        </p:nvPicPr>
        <p:blipFill>
          <a:blip r:embed="rId3"/>
          <a:stretch>
            <a:fillRect/>
          </a:stretch>
        </p:blipFill>
        <p:spPr>
          <a:xfrm>
            <a:off x="3841030" y="1684020"/>
            <a:ext cx="310896" cy="310896"/>
          </a:xfrm>
          <a:prstGeom prst="rect">
            <a:avLst/>
          </a:prstGeom>
        </p:spPr>
      </p:pic>
      <p:pic>
        <p:nvPicPr>
          <p:cNvPr id="6" name="Image 1" descr="/tmp/claude-0/-home-claude/bb2dbc6e-f574-5e99-8510-889b704da121/scratchpad/decks/logos/apple.png"/>
          <p:cNvPicPr>
            <a:picLocks noChangeAspect="1"/>
          </p:cNvPicPr>
          <p:nvPr/>
        </p:nvPicPr>
        <p:blipFill>
          <a:blip r:embed="rId4"/>
          <a:stretch>
            <a:fillRect/>
          </a:stretch>
        </p:blipFill>
        <p:spPr>
          <a:xfrm>
            <a:off x="7962101" y="1684020"/>
            <a:ext cx="310896" cy="310896"/>
          </a:xfrm>
          <a:prstGeom prst="rect">
            <a:avLst/>
          </a:prstGeom>
        </p:spPr>
      </p:pic>
      <p:sp>
        <p:nvSpPr>
          <p:cNvPr id="7" name="Shape 2"/>
          <p:cNvSpPr/>
          <p:nvPr/>
        </p:nvSpPr>
        <p:spPr>
          <a:xfrm>
            <a:off x="731520" y="4629912"/>
            <a:ext cx="10972800" cy="1018032"/>
          </a:xfrm>
          <a:prstGeom prst="roundRect">
            <a:avLst>
              <a:gd name="adj" fmla="val 8982"/>
            </a:avLst>
          </a:prstGeom>
          <a:solidFill>
            <a:srgbClr val="EFF6FF"/>
          </a:solidFill>
          <a:ln w="9525">
            <a:solidFill>
              <a:srgbClr val="EFF6FF"/>
            </a:solidFill>
            <a:prstDash val="solid"/>
          </a:ln>
        </p:spPr>
      </p:sp>
      <p:sp>
        <p:nvSpPr>
          <p:cNvPr id="8" name="Text 3"/>
          <p:cNvSpPr txBox="1"/>
          <p:nvPr/>
        </p:nvSpPr>
        <p:spPr>
          <a:xfrm>
            <a:off x="932688" y="4757928"/>
            <a:ext cx="10570464" cy="762000"/>
          </a:xfrm>
          <a:prstGeom prst="rect">
            <a:avLst/>
          </a:prstGeom>
          <a:noFill/>
          <a:ln/>
        </p:spPr>
        <p:txBody>
          <a:bodyPr wrap="square" lIns="0" tIns="0" rIns="0" bIns="0" rtlCol="0" anchor="t"/>
          <a:lstStyle/>
          <a:p>
            <a:pPr marL="0" indent="0">
              <a:buNone/>
            </a:pPr>
            <a:r>
              <a:rPr lang="en-US" sz="1100" b="1" dirty="0">
                <a:solidFill>
                  <a:srgbClr val="2563EB"/>
                </a:solidFill>
                <a:latin typeface="Arial" pitchFamily="34" charset="0"/>
                <a:ea typeface="Arial" pitchFamily="34" charset="-122"/>
                <a:cs typeface="Arial" pitchFamily="34" charset="-120"/>
              </a:rPr>
              <a:t>SEÇIM MANTIĞI</a:t>
            </a:r>
            <a:endParaRPr lang="en-US" sz="1100" dirty="0"/>
          </a:p>
          <a:p>
            <a:pPr marL="0" indent="0">
              <a:buNone/>
            </a:pPr>
            <a:r>
              <a:rPr lang="en-US" sz="1600" dirty="0">
                <a:solidFill>
                  <a:srgbClr val="111827"/>
                </a:solidFill>
                <a:latin typeface="Arial" pitchFamily="34" charset="0"/>
                <a:ea typeface="Arial" pitchFamily="34" charset="-122"/>
                <a:cs typeface="Arial" pitchFamily="34" charset="-120"/>
              </a:rPr>
              <a:t>Windows veya Linux kullanan bir öğrenci iOS derlemesi yapamaz; bu yüzden dönem boyunca tek hedef platform Android olacaktır.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buNone/>
            </a:pPr>
            <a:r>
              <a:rPr lang="en-US" sz="3200" b="1" dirty="0">
                <a:solidFill>
                  <a:srgbClr val="111827"/>
                </a:solidFill>
                <a:latin typeface="Arial" pitchFamily="34" charset="0"/>
                <a:ea typeface="Arial" pitchFamily="34" charset="-122"/>
                <a:cs typeface="Arial" pitchFamily="34" charset="-120"/>
              </a:rPr>
              <a:t>Mağazalar ve Yayın Süreci</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1615440" cy="1051560"/>
          </a:xfrm>
          <a:prstGeom prst="roundRect">
            <a:avLst>
              <a:gd name="adj" fmla="val 8696"/>
            </a:avLst>
          </a:prstGeom>
          <a:solidFill>
            <a:srgbClr val="EFF6FF"/>
          </a:solidFill>
          <a:ln w="9525">
            <a:solidFill>
              <a:srgbClr val="EFF6FF"/>
            </a:solidFill>
            <a:prstDash val="solid"/>
          </a:ln>
        </p:spPr>
      </p:sp>
      <p:sp>
        <p:nvSpPr>
          <p:cNvPr id="5" name="Text 3"/>
          <p:cNvSpPr txBox="1"/>
          <p:nvPr/>
        </p:nvSpPr>
        <p:spPr>
          <a:xfrm>
            <a:off x="868680" y="1737360"/>
            <a:ext cx="1341120" cy="868680"/>
          </a:xfrm>
          <a:prstGeom prst="rect">
            <a:avLst/>
          </a:prstGeom>
          <a:noFill/>
          <a:ln/>
        </p:spPr>
        <p:txBody>
          <a:bodyPr wrap="square" lIns="0" tIns="0" rIns="0" bIns="0" rtlCol="0" anchor="ctr">
            <a:normAutofit/>
          </a:bodyPr>
          <a:lstStyle/>
          <a:p>
            <a:pPr marL="0" indent="0">
              <a:buNone/>
            </a:pPr>
            <a:r>
              <a:rPr lang="en-US" sz="1200" b="1" dirty="0">
                <a:solidFill>
                  <a:srgbClr val="2563EB"/>
                </a:solidFill>
                <a:latin typeface="Arial" pitchFamily="34" charset="0"/>
                <a:ea typeface="Arial" pitchFamily="34" charset="-122"/>
                <a:cs typeface="Arial" pitchFamily="34" charset="-120"/>
              </a:rPr>
              <a:t>1</a:t>
            </a:r>
            <a:endParaRPr lang="en-US" sz="1200" dirty="0"/>
          </a:p>
          <a:p>
            <a:pPr marL="0" indent="0">
              <a:buNone/>
            </a:pPr>
            <a:r>
              <a:rPr lang="en-US" sz="1400" b="1" dirty="0">
                <a:solidFill>
                  <a:srgbClr val="111827"/>
                </a:solidFill>
                <a:latin typeface="Arial" pitchFamily="34" charset="0"/>
                <a:ea typeface="Arial" pitchFamily="34" charset="-122"/>
                <a:cs typeface="Arial" pitchFamily="34" charset="-120"/>
              </a:rPr>
              <a:t>Hesap açma</a:t>
            </a:r>
            <a:endParaRPr lang="en-US" sz="1200" dirty="0"/>
          </a:p>
        </p:txBody>
      </p:sp>
      <p:sp>
        <p:nvSpPr>
          <p:cNvPr id="6" name="Text 4"/>
          <p:cNvSpPr txBox="1"/>
          <p:nvPr/>
        </p:nvSpPr>
        <p:spPr>
          <a:xfrm>
            <a:off x="2346960"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7" name="Shape 5"/>
          <p:cNvSpPr/>
          <p:nvPr/>
        </p:nvSpPr>
        <p:spPr>
          <a:xfrm>
            <a:off x="2602992" y="1645920"/>
            <a:ext cx="1615440" cy="1051560"/>
          </a:xfrm>
          <a:prstGeom prst="roundRect">
            <a:avLst>
              <a:gd name="adj" fmla="val 8696"/>
            </a:avLst>
          </a:prstGeom>
          <a:solidFill>
            <a:srgbClr val="EFF6FF"/>
          </a:solidFill>
          <a:ln w="9525">
            <a:solidFill>
              <a:srgbClr val="EFF6FF"/>
            </a:solidFill>
            <a:prstDash val="solid"/>
          </a:ln>
        </p:spPr>
      </p:sp>
      <p:sp>
        <p:nvSpPr>
          <p:cNvPr id="8" name="Text 6"/>
          <p:cNvSpPr txBox="1"/>
          <p:nvPr/>
        </p:nvSpPr>
        <p:spPr>
          <a:xfrm>
            <a:off x="2740152" y="1737360"/>
            <a:ext cx="1341120" cy="868680"/>
          </a:xfrm>
          <a:prstGeom prst="rect">
            <a:avLst/>
          </a:prstGeom>
          <a:noFill/>
          <a:ln/>
        </p:spPr>
        <p:txBody>
          <a:bodyPr wrap="square" lIns="0" tIns="0" rIns="0" bIns="0" rtlCol="0" anchor="ctr">
            <a:normAutofit/>
          </a:bodyPr>
          <a:lstStyle/>
          <a:p>
            <a:pPr marL="0" indent="0">
              <a:buNone/>
            </a:pPr>
            <a:r>
              <a:rPr lang="en-US" sz="1200" b="1" dirty="0">
                <a:solidFill>
                  <a:srgbClr val="2563EB"/>
                </a:solidFill>
                <a:latin typeface="Arial" pitchFamily="34" charset="0"/>
                <a:ea typeface="Arial" pitchFamily="34" charset="-122"/>
                <a:cs typeface="Arial" pitchFamily="34" charset="-120"/>
              </a:rPr>
              <a:t>2</a:t>
            </a:r>
            <a:endParaRPr lang="en-US" sz="1200" dirty="0"/>
          </a:p>
          <a:p>
            <a:pPr marL="0" indent="0">
              <a:buNone/>
            </a:pPr>
            <a:r>
              <a:rPr lang="en-US" sz="1400" b="1" dirty="0">
                <a:solidFill>
                  <a:srgbClr val="111827"/>
                </a:solidFill>
                <a:latin typeface="Arial" pitchFamily="34" charset="0"/>
                <a:ea typeface="Arial" pitchFamily="34" charset="-122"/>
                <a:cs typeface="Arial" pitchFamily="34" charset="-120"/>
              </a:rPr>
              <a:t>Uygulamayı imzalama</a:t>
            </a:r>
            <a:endParaRPr lang="en-US" sz="1200" dirty="0"/>
          </a:p>
        </p:txBody>
      </p:sp>
      <p:sp>
        <p:nvSpPr>
          <p:cNvPr id="9" name="Text 7"/>
          <p:cNvSpPr txBox="1"/>
          <p:nvPr/>
        </p:nvSpPr>
        <p:spPr>
          <a:xfrm>
            <a:off x="4218432"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4474464" y="1645920"/>
            <a:ext cx="1615440" cy="1051560"/>
          </a:xfrm>
          <a:prstGeom prst="roundRect">
            <a:avLst>
              <a:gd name="adj" fmla="val 8696"/>
            </a:avLst>
          </a:prstGeom>
          <a:solidFill>
            <a:srgbClr val="EFF6FF"/>
          </a:solidFill>
          <a:ln w="9525">
            <a:solidFill>
              <a:srgbClr val="EFF6FF"/>
            </a:solidFill>
            <a:prstDash val="solid"/>
          </a:ln>
        </p:spPr>
      </p:sp>
      <p:sp>
        <p:nvSpPr>
          <p:cNvPr id="11" name="Text 9"/>
          <p:cNvSpPr txBox="1"/>
          <p:nvPr/>
        </p:nvSpPr>
        <p:spPr>
          <a:xfrm>
            <a:off x="4611624" y="1737360"/>
            <a:ext cx="1341120" cy="868680"/>
          </a:xfrm>
          <a:prstGeom prst="rect">
            <a:avLst/>
          </a:prstGeom>
          <a:noFill/>
          <a:ln/>
        </p:spPr>
        <p:txBody>
          <a:bodyPr wrap="square" lIns="0" tIns="0" rIns="0" bIns="0" rtlCol="0" anchor="ctr">
            <a:normAutofit/>
          </a:bodyPr>
          <a:lstStyle/>
          <a:p>
            <a:pPr marL="0" indent="0">
              <a:buNone/>
            </a:pPr>
            <a:r>
              <a:rPr lang="en-US" sz="1200" b="1" dirty="0">
                <a:solidFill>
                  <a:srgbClr val="2563EB"/>
                </a:solidFill>
                <a:latin typeface="Arial" pitchFamily="34" charset="0"/>
                <a:ea typeface="Arial" pitchFamily="34" charset="-122"/>
                <a:cs typeface="Arial" pitchFamily="34" charset="-120"/>
              </a:rPr>
              <a:t>3</a:t>
            </a:r>
            <a:endParaRPr lang="en-US" sz="1200" dirty="0"/>
          </a:p>
          <a:p>
            <a:pPr marL="0" indent="0">
              <a:buNone/>
            </a:pPr>
            <a:r>
              <a:rPr lang="en-US" sz="1400" b="1" dirty="0">
                <a:solidFill>
                  <a:srgbClr val="111827"/>
                </a:solidFill>
                <a:latin typeface="Arial" pitchFamily="34" charset="0"/>
                <a:ea typeface="Arial" pitchFamily="34" charset="-122"/>
                <a:cs typeface="Arial" pitchFamily="34" charset="-120"/>
              </a:rPr>
              <a:t>Yükleme</a:t>
            </a:r>
            <a:endParaRPr lang="en-US" sz="1200" dirty="0"/>
          </a:p>
        </p:txBody>
      </p:sp>
      <p:sp>
        <p:nvSpPr>
          <p:cNvPr id="12" name="Text 10"/>
          <p:cNvSpPr txBox="1"/>
          <p:nvPr/>
        </p:nvSpPr>
        <p:spPr>
          <a:xfrm>
            <a:off x="6089904"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3" name="Shape 11"/>
          <p:cNvSpPr/>
          <p:nvPr/>
        </p:nvSpPr>
        <p:spPr>
          <a:xfrm>
            <a:off x="6345936" y="1645920"/>
            <a:ext cx="1615440" cy="1051560"/>
          </a:xfrm>
          <a:prstGeom prst="roundRect">
            <a:avLst>
              <a:gd name="adj" fmla="val 8696"/>
            </a:avLst>
          </a:prstGeom>
          <a:solidFill>
            <a:srgbClr val="EFF6FF"/>
          </a:solidFill>
          <a:ln w="9525">
            <a:solidFill>
              <a:srgbClr val="EFF6FF"/>
            </a:solidFill>
            <a:prstDash val="solid"/>
          </a:ln>
        </p:spPr>
      </p:sp>
      <p:sp>
        <p:nvSpPr>
          <p:cNvPr id="14" name="Text 12"/>
          <p:cNvSpPr txBox="1"/>
          <p:nvPr/>
        </p:nvSpPr>
        <p:spPr>
          <a:xfrm>
            <a:off x="6483096" y="1737360"/>
            <a:ext cx="1341120" cy="868680"/>
          </a:xfrm>
          <a:prstGeom prst="rect">
            <a:avLst/>
          </a:prstGeom>
          <a:noFill/>
          <a:ln/>
        </p:spPr>
        <p:txBody>
          <a:bodyPr wrap="square" lIns="0" tIns="0" rIns="0" bIns="0" rtlCol="0" anchor="ctr">
            <a:normAutofit/>
          </a:bodyPr>
          <a:lstStyle/>
          <a:p>
            <a:pPr marL="0" indent="0">
              <a:buNone/>
            </a:pPr>
            <a:r>
              <a:rPr lang="en-US" sz="1200" b="1" dirty="0">
                <a:solidFill>
                  <a:srgbClr val="2563EB"/>
                </a:solidFill>
                <a:latin typeface="Arial" pitchFamily="34" charset="0"/>
                <a:ea typeface="Arial" pitchFamily="34" charset="-122"/>
                <a:cs typeface="Arial" pitchFamily="34" charset="-120"/>
              </a:rPr>
              <a:t>4</a:t>
            </a:r>
            <a:endParaRPr lang="en-US" sz="1200" dirty="0"/>
          </a:p>
          <a:p>
            <a:pPr marL="0" indent="0">
              <a:buNone/>
            </a:pPr>
            <a:r>
              <a:rPr lang="en-US" sz="1400" b="1" dirty="0">
                <a:solidFill>
                  <a:srgbClr val="111827"/>
                </a:solidFill>
                <a:latin typeface="Arial" pitchFamily="34" charset="0"/>
                <a:ea typeface="Arial" pitchFamily="34" charset="-122"/>
                <a:cs typeface="Arial" pitchFamily="34" charset="-120"/>
              </a:rPr>
              <a:t>İnceleme</a:t>
            </a:r>
            <a:endParaRPr lang="en-US" sz="1200" dirty="0"/>
          </a:p>
        </p:txBody>
      </p:sp>
      <p:sp>
        <p:nvSpPr>
          <p:cNvPr id="15" name="Text 13"/>
          <p:cNvSpPr txBox="1"/>
          <p:nvPr/>
        </p:nvSpPr>
        <p:spPr>
          <a:xfrm>
            <a:off x="7961376"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6" name="Shape 14"/>
          <p:cNvSpPr/>
          <p:nvPr/>
        </p:nvSpPr>
        <p:spPr>
          <a:xfrm>
            <a:off x="8217408" y="1645920"/>
            <a:ext cx="1615440" cy="1051560"/>
          </a:xfrm>
          <a:prstGeom prst="roundRect">
            <a:avLst>
              <a:gd name="adj" fmla="val 8696"/>
            </a:avLst>
          </a:prstGeom>
          <a:solidFill>
            <a:srgbClr val="EFF6FF"/>
          </a:solidFill>
          <a:ln w="9525">
            <a:solidFill>
              <a:srgbClr val="EFF6FF"/>
            </a:solidFill>
            <a:prstDash val="solid"/>
          </a:ln>
        </p:spPr>
      </p:sp>
      <p:sp>
        <p:nvSpPr>
          <p:cNvPr id="17" name="Text 15"/>
          <p:cNvSpPr txBox="1"/>
          <p:nvPr/>
        </p:nvSpPr>
        <p:spPr>
          <a:xfrm>
            <a:off x="8354568" y="1737360"/>
            <a:ext cx="1341120" cy="868680"/>
          </a:xfrm>
          <a:prstGeom prst="rect">
            <a:avLst/>
          </a:prstGeom>
          <a:noFill/>
          <a:ln/>
        </p:spPr>
        <p:txBody>
          <a:bodyPr wrap="square" lIns="0" tIns="0" rIns="0" bIns="0" rtlCol="0" anchor="ctr">
            <a:normAutofit/>
          </a:bodyPr>
          <a:lstStyle/>
          <a:p>
            <a:pPr marL="0" indent="0">
              <a:buNone/>
            </a:pPr>
            <a:r>
              <a:rPr lang="en-US" sz="1200" b="1" dirty="0">
                <a:solidFill>
                  <a:srgbClr val="2563EB"/>
                </a:solidFill>
                <a:latin typeface="Arial" pitchFamily="34" charset="0"/>
                <a:ea typeface="Arial" pitchFamily="34" charset="-122"/>
                <a:cs typeface="Arial" pitchFamily="34" charset="-120"/>
              </a:rPr>
              <a:t>5</a:t>
            </a:r>
            <a:endParaRPr lang="en-US" sz="1200" dirty="0"/>
          </a:p>
          <a:p>
            <a:pPr marL="0" indent="0">
              <a:buNone/>
            </a:pPr>
            <a:r>
              <a:rPr lang="en-US" sz="1400" b="1" dirty="0">
                <a:solidFill>
                  <a:srgbClr val="111827"/>
                </a:solidFill>
                <a:latin typeface="Arial" pitchFamily="34" charset="0"/>
                <a:ea typeface="Arial" pitchFamily="34" charset="-122"/>
                <a:cs typeface="Arial" pitchFamily="34" charset="-120"/>
              </a:rPr>
              <a:t>Yayın</a:t>
            </a:r>
            <a:endParaRPr lang="en-US" sz="1200" dirty="0"/>
          </a:p>
        </p:txBody>
      </p:sp>
      <p:sp>
        <p:nvSpPr>
          <p:cNvPr id="18" name="Text 16"/>
          <p:cNvSpPr txBox="1"/>
          <p:nvPr/>
        </p:nvSpPr>
        <p:spPr>
          <a:xfrm>
            <a:off x="9832848"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9" name="Shape 17"/>
          <p:cNvSpPr/>
          <p:nvPr/>
        </p:nvSpPr>
        <p:spPr>
          <a:xfrm>
            <a:off x="10088880" y="1645920"/>
            <a:ext cx="1615440" cy="1051560"/>
          </a:xfrm>
          <a:prstGeom prst="roundRect">
            <a:avLst>
              <a:gd name="adj" fmla="val 8696"/>
            </a:avLst>
          </a:prstGeom>
          <a:solidFill>
            <a:srgbClr val="2563EB"/>
          </a:solidFill>
          <a:ln w="9525">
            <a:solidFill>
              <a:srgbClr val="2563EB"/>
            </a:solidFill>
            <a:prstDash val="solid"/>
          </a:ln>
        </p:spPr>
      </p:sp>
      <p:sp>
        <p:nvSpPr>
          <p:cNvPr id="20" name="Text 18"/>
          <p:cNvSpPr txBox="1"/>
          <p:nvPr/>
        </p:nvSpPr>
        <p:spPr>
          <a:xfrm>
            <a:off x="10226040" y="1737360"/>
            <a:ext cx="1341120" cy="868680"/>
          </a:xfrm>
          <a:prstGeom prst="rect">
            <a:avLst/>
          </a:prstGeom>
          <a:noFill/>
          <a:ln/>
        </p:spPr>
        <p:txBody>
          <a:bodyPr wrap="square" lIns="0" tIns="0" rIns="0" bIns="0" rtlCol="0" anchor="ctr">
            <a:normAutofit/>
          </a:bodyPr>
          <a:lstStyle/>
          <a:p>
            <a:pPr marL="0" indent="0">
              <a:buNone/>
            </a:pPr>
            <a:r>
              <a:rPr lang="en-US" sz="1200" b="1" dirty="0">
                <a:solidFill>
                  <a:srgbClr val="FFFFFF"/>
                </a:solidFill>
                <a:latin typeface="Arial" pitchFamily="34" charset="0"/>
                <a:ea typeface="Arial" pitchFamily="34" charset="-122"/>
                <a:cs typeface="Arial" pitchFamily="34" charset="-120"/>
              </a:rPr>
              <a:t>6</a:t>
            </a:r>
            <a:endParaRPr lang="en-US" sz="1200" dirty="0"/>
          </a:p>
          <a:p>
            <a:pPr marL="0" indent="0">
              <a:buNone/>
            </a:pPr>
            <a:r>
              <a:rPr lang="en-US" sz="1400" b="1" dirty="0">
                <a:solidFill>
                  <a:srgbClr val="FFFFFF"/>
                </a:solidFill>
                <a:latin typeface="Arial" pitchFamily="34" charset="0"/>
                <a:ea typeface="Arial" pitchFamily="34" charset="-122"/>
                <a:cs typeface="Arial" pitchFamily="34" charset="-120"/>
              </a:rPr>
              <a:t>Güncelleme</a:t>
            </a:r>
            <a:endParaRPr lang="en-US" sz="1200" dirty="0"/>
          </a:p>
        </p:txBody>
      </p:sp>
      <p:sp>
        <p:nvSpPr>
          <p:cNvPr id="21" name="Text 19"/>
          <p:cNvSpPr txBox="1"/>
          <p:nvPr/>
        </p:nvSpPr>
        <p:spPr>
          <a:xfrm>
            <a:off x="731520" y="3017520"/>
            <a:ext cx="6766560" cy="3291840"/>
          </a:xfrm>
          <a:prstGeom prst="rect">
            <a:avLst/>
          </a:prstGeom>
          <a:noFill/>
          <a:ln/>
        </p:spPr>
        <p:txBody>
          <a:bodyPr wrap="square" lIns="0" tIns="0" rIns="0" bIns="0" rtlCol="0" anchor="t"/>
          <a:lstStyle/>
          <a:p>
            <a:pPr marL="0" indent="0" algn="just">
              <a:spcAft>
                <a:spcPts val="800"/>
              </a:spcAft>
              <a:buNone/>
            </a:pPr>
            <a:r>
              <a:rPr lang="en-US" sz="2200" dirty="0">
                <a:solidFill>
                  <a:srgbClr val="111827"/>
                </a:solidFill>
                <a:latin typeface="Arial" pitchFamily="34" charset="0"/>
                <a:ea typeface="Arial" pitchFamily="34" charset="-122"/>
                <a:cs typeface="Arial" pitchFamily="34" charset="-120"/>
              </a:rPr>
              <a:t>Google Play için Play Console, Apple için App Store Connect kullanılır. İki mağaza da geliştirici hesabı, gizlilik politikası, ekran görüntüleri ve içerik derecelendirmesi ister. Apple incelemesi genellikle daha katıdır; Google Play yeni hesaplarda test kullanıcısı şartı koyabilir. Kurallar sık değiştiği için yayın öncesi resmî rehberler okunmalıdır.</a:t>
            </a:r>
            <a:endParaRPr lang="en-US" sz="2200" dirty="0"/>
          </a:p>
        </p:txBody>
      </p:sp>
      <p:sp>
        <p:nvSpPr>
          <p:cNvPr id="22" name="Shape 20"/>
          <p:cNvSpPr/>
          <p:nvPr/>
        </p:nvSpPr>
        <p:spPr>
          <a:xfrm>
            <a:off x="7863840" y="3017520"/>
            <a:ext cx="3657600" cy="1371600"/>
          </a:xfrm>
          <a:prstGeom prst="roundRect">
            <a:avLst>
              <a:gd name="adj" fmla="val 6667"/>
            </a:avLst>
          </a:prstGeom>
          <a:solidFill>
            <a:srgbClr val="FFFFFF"/>
          </a:solidFill>
          <a:ln w="15875">
            <a:solidFill>
              <a:srgbClr val="CBD5E1"/>
            </a:solidFill>
            <a:prstDash val="solid"/>
          </a:ln>
        </p:spPr>
      </p:sp>
      <p:pic>
        <p:nvPicPr>
          <p:cNvPr id="23" name="Image 0" descr="/tmp/claude-0/-home-claude/bb2dbc6e-f574-5e99-8510-889b704da121/scratchpad/decks/logos/play.png"/>
          <p:cNvPicPr>
            <a:picLocks noChangeAspect="1"/>
          </p:cNvPicPr>
          <p:nvPr/>
        </p:nvPicPr>
        <p:blipFill>
          <a:blip r:embed="rId3"/>
          <a:stretch>
            <a:fillRect/>
          </a:stretch>
        </p:blipFill>
        <p:spPr>
          <a:xfrm>
            <a:off x="8092440" y="3246120"/>
            <a:ext cx="457200" cy="457200"/>
          </a:xfrm>
          <a:prstGeom prst="rect">
            <a:avLst/>
          </a:prstGeom>
        </p:spPr>
      </p:pic>
      <p:sp>
        <p:nvSpPr>
          <p:cNvPr id="24" name="Text 21"/>
          <p:cNvSpPr txBox="1"/>
          <p:nvPr/>
        </p:nvSpPr>
        <p:spPr>
          <a:xfrm>
            <a:off x="8732520" y="3246120"/>
            <a:ext cx="2651760" cy="457200"/>
          </a:xfrm>
          <a:prstGeom prst="rect">
            <a:avLst/>
          </a:prstGeom>
          <a:noFill/>
          <a:ln/>
        </p:spPr>
        <p:txBody>
          <a:bodyPr wrap="square" lIns="0" tIns="0" rIns="0" bIns="0" rtlCol="0" anchor="ctr"/>
          <a:lstStyle/>
          <a:p>
            <a:pPr marL="0" indent="0">
              <a:buNone/>
            </a:pPr>
            <a:r>
              <a:rPr lang="en-US" sz="1500" b="1" dirty="0">
                <a:solidFill>
                  <a:srgbClr val="111827"/>
                </a:solidFill>
                <a:latin typeface="Arial" pitchFamily="34" charset="0"/>
                <a:ea typeface="Arial" pitchFamily="34" charset="-122"/>
                <a:cs typeface="Arial" pitchFamily="34" charset="-120"/>
              </a:rPr>
              <a:t>Google Play Console</a:t>
            </a:r>
            <a:endParaRPr lang="en-US" sz="1500" dirty="0"/>
          </a:p>
        </p:txBody>
      </p:sp>
      <p:pic>
        <p:nvPicPr>
          <p:cNvPr id="25" name="Image 1" descr="/tmp/claude-0/-home-claude/bb2dbc6e-f574-5e99-8510-889b704da121/scratchpad/decks/logos/appstore.png"/>
          <p:cNvPicPr>
            <a:picLocks noChangeAspect="1"/>
          </p:cNvPicPr>
          <p:nvPr/>
        </p:nvPicPr>
        <p:blipFill>
          <a:blip r:embed="rId4"/>
          <a:stretch>
            <a:fillRect/>
          </a:stretch>
        </p:blipFill>
        <p:spPr>
          <a:xfrm>
            <a:off x="8092440" y="3794760"/>
            <a:ext cx="457200" cy="457200"/>
          </a:xfrm>
          <a:prstGeom prst="rect">
            <a:avLst/>
          </a:prstGeom>
        </p:spPr>
      </p:pic>
      <p:sp>
        <p:nvSpPr>
          <p:cNvPr id="26" name="Text 22"/>
          <p:cNvSpPr txBox="1"/>
          <p:nvPr/>
        </p:nvSpPr>
        <p:spPr>
          <a:xfrm>
            <a:off x="8732520" y="3794760"/>
            <a:ext cx="2651760" cy="457200"/>
          </a:xfrm>
          <a:prstGeom prst="rect">
            <a:avLst/>
          </a:prstGeom>
          <a:noFill/>
          <a:ln/>
        </p:spPr>
        <p:txBody>
          <a:bodyPr wrap="square" lIns="0" tIns="0" rIns="0" bIns="0" rtlCol="0" anchor="ctr"/>
          <a:lstStyle/>
          <a:p>
            <a:pPr marL="0" indent="0">
              <a:buNone/>
            </a:pPr>
            <a:r>
              <a:rPr lang="en-US" sz="1500" b="1" dirty="0">
                <a:solidFill>
                  <a:srgbClr val="111827"/>
                </a:solidFill>
                <a:latin typeface="Arial" pitchFamily="34" charset="0"/>
                <a:ea typeface="Arial" pitchFamily="34" charset="-122"/>
                <a:cs typeface="Arial" pitchFamily="34" charset="-120"/>
              </a:rPr>
              <a:t>App Store Connect</a:t>
            </a:r>
            <a:endParaRPr lang="en-US" sz="1500" dirty="0"/>
          </a:p>
        </p:txBody>
      </p:sp>
      <p:sp>
        <p:nvSpPr>
          <p:cNvPr id="27" name="Shape 23"/>
          <p:cNvSpPr/>
          <p:nvPr/>
        </p:nvSpPr>
        <p:spPr>
          <a:xfrm>
            <a:off x="7863840" y="4572000"/>
            <a:ext cx="3657600" cy="1383792"/>
          </a:xfrm>
          <a:prstGeom prst="roundRect">
            <a:avLst>
              <a:gd name="adj" fmla="val 6608"/>
            </a:avLst>
          </a:prstGeom>
          <a:solidFill>
            <a:srgbClr val="EFF6FF"/>
          </a:solidFill>
          <a:ln w="9525">
            <a:solidFill>
              <a:srgbClr val="EFF6FF"/>
            </a:solidFill>
            <a:prstDash val="solid"/>
          </a:ln>
        </p:spPr>
      </p:sp>
      <p:sp>
        <p:nvSpPr>
          <p:cNvPr id="28" name="Text 24"/>
          <p:cNvSpPr txBox="1"/>
          <p:nvPr/>
        </p:nvSpPr>
        <p:spPr>
          <a:xfrm>
            <a:off x="8065008" y="4700016"/>
            <a:ext cx="3255264" cy="1127760"/>
          </a:xfrm>
          <a:prstGeom prst="rect">
            <a:avLst/>
          </a:prstGeom>
          <a:noFill/>
          <a:ln/>
        </p:spPr>
        <p:txBody>
          <a:bodyPr wrap="square" lIns="0" tIns="0" rIns="0" bIns="0" rtlCol="0" anchor="t"/>
          <a:lstStyle/>
          <a:p>
            <a:pPr marL="0" indent="0">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buNone/>
            </a:pPr>
            <a:r>
              <a:rPr lang="en-US" sz="1400" dirty="0">
                <a:solidFill>
                  <a:srgbClr val="111827"/>
                </a:solidFill>
                <a:latin typeface="Arial" pitchFamily="34" charset="0"/>
                <a:ea typeface="Arial" pitchFamily="34" charset="-122"/>
                <a:cs typeface="Arial" pitchFamily="34" charset="-120"/>
              </a:rPr>
              <a:t>Hesap ücretleri ve komisyon oranları değişebilir; yayın planı yaparken Google ve Apple geliştirici sayfalarından güncel koşulları doğrulayın.</a:t>
            </a:r>
            <a:endParaRPr lang="en-US" sz="1100" dirty="0"/>
          </a:p>
        </p:txBody>
      </p:sp>
      <p:sp>
        <p:nvSpPr>
          <p:cNvPr id="29"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buNone/>
            </a:pPr>
            <a:r>
              <a:rPr lang="en-US" sz="2800" b="1" dirty="0">
                <a:solidFill>
                  <a:srgbClr val="111827"/>
                </a:solidFill>
                <a:latin typeface="Arial" pitchFamily="34" charset="0"/>
                <a:ea typeface="Arial" pitchFamily="34" charset="-122"/>
                <a:cs typeface="Arial" pitchFamily="34" charset="-120"/>
              </a:rPr>
              <a:t>Google Play ve App Store: Mağaza Karşılaştırması</a:t>
            </a:r>
            <a:endParaRPr lang="en-US" sz="28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972800" cy="3227832"/>
        </p:xfrm>
        <a:graphic>
          <a:graphicData uri="http://schemas.openxmlformats.org/drawingml/2006/table">
            <a:tbl>
              <a:tblPr/>
              <a:tblGrid>
                <a:gridCol w="2765130">
                  <a:extLst>
                    <a:ext uri="{9D8B030D-6E8A-4147-A177-3AD203B41FA5}">
                      <a16:colId xmlns:a16="http://schemas.microsoft.com/office/drawing/2014/main" val="20000"/>
                    </a:ext>
                  </a:extLst>
                </a:gridCol>
                <a:gridCol w="3858687">
                  <a:extLst>
                    <a:ext uri="{9D8B030D-6E8A-4147-A177-3AD203B41FA5}">
                      <a16:colId xmlns:a16="http://schemas.microsoft.com/office/drawing/2014/main" val="20001"/>
                    </a:ext>
                  </a:extLst>
                </a:gridCol>
                <a:gridCol w="4348983">
                  <a:extLst>
                    <a:ext uri="{9D8B030D-6E8A-4147-A177-3AD203B41FA5}">
                      <a16:colId xmlns:a16="http://schemas.microsoft.com/office/drawing/2014/main" val="20002"/>
                    </a:ext>
                  </a:extLst>
                </a:gridCol>
              </a:tblGrid>
              <a:tr h="387096">
                <a:tc>
                  <a:txBody>
                    <a:bodyPr/>
                    <a:lstStyle/>
                    <a:p>
                      <a:pPr marL="0" indent="0">
                        <a:buNone/>
                      </a:pPr>
                      <a:r>
                        <a:rPr lang="en-US" sz="1400" b="1" dirty="0">
                          <a:solidFill>
                            <a:srgbClr val="2563EB"/>
                          </a:solidFill>
                        </a:rPr>
                        <a:t>Ölçüt</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Google Play</a:t>
                      </a:r>
                      <a:endParaRPr lang="en-US" sz="1400" dirty="0"/>
                    </a:p>
                  </a:txBody>
                  <a:tcPr marL="457200"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App Store</a:t>
                      </a:r>
                      <a:endParaRPr lang="en-US" sz="1400" dirty="0"/>
                    </a:p>
                  </a:txBody>
                  <a:tcPr marL="457200"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extLst>
                  <a:ext uri="{0D108BD9-81ED-4DB2-BD59-A6C34878D82A}">
                    <a16:rowId xmlns:a16="http://schemas.microsoft.com/office/drawing/2014/main" val="10000"/>
                  </a:ext>
                </a:extLst>
              </a:tr>
              <a:tr h="387096">
                <a:tc>
                  <a:txBody>
                    <a:bodyPr/>
                    <a:lstStyle/>
                    <a:p>
                      <a:pPr marL="0" indent="0">
                        <a:buNone/>
                      </a:pPr>
                      <a:r>
                        <a:rPr lang="en-US" sz="1700" b="1" dirty="0">
                          <a:solidFill>
                            <a:srgbClr val="111827"/>
                          </a:solidFill>
                        </a:rPr>
                        <a:t>Geliştirici konsolu</a:t>
                      </a:r>
                      <a:endParaRPr lang="en-US" sz="17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Play Console</a:t>
                      </a:r>
                      <a:endParaRPr lang="en-US" sz="17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App Store Connect</a:t>
                      </a:r>
                      <a:endParaRPr lang="en-US" sz="17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387096">
                <a:tc>
                  <a:txBody>
                    <a:bodyPr/>
                    <a:lstStyle/>
                    <a:p>
                      <a:pPr marL="0" indent="0">
                        <a:buNone/>
                      </a:pPr>
                      <a:r>
                        <a:rPr lang="en-US" sz="1700" b="1" dirty="0">
                          <a:solidFill>
                            <a:srgbClr val="111827"/>
                          </a:solidFill>
                        </a:rPr>
                        <a:t>Geliştirici hesabı</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Tek seferlik kayıt ücreti</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Yıllık üyelik</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387096">
                <a:tc>
                  <a:txBody>
                    <a:bodyPr/>
                    <a:lstStyle/>
                    <a:p>
                      <a:pPr marL="0" indent="0">
                        <a:buNone/>
                      </a:pPr>
                      <a:r>
                        <a:rPr lang="en-US" sz="1700" b="1" dirty="0">
                          <a:solidFill>
                            <a:srgbClr val="111827"/>
                          </a:solidFill>
                        </a:rPr>
                        <a:t>Paket biçimi</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AAB (Android App Bundle)</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IPA (Xcode ile arşivlenir)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387096">
                <a:tc>
                  <a:txBody>
                    <a:bodyPr/>
                    <a:lstStyle/>
                    <a:p>
                      <a:pPr marL="0" indent="0">
                        <a:buNone/>
                      </a:pPr>
                      <a:r>
                        <a:rPr lang="en-US" sz="1700" b="1" dirty="0">
                          <a:solidFill>
                            <a:srgbClr val="111827"/>
                          </a:solidFill>
                        </a:rPr>
                        <a:t>İnceleme</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Otomatik ve manuel kontrol</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Manuel inceleme; daha katı kabul edilir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646176">
                <a:tc>
                  <a:txBody>
                    <a:bodyPr/>
                    <a:lstStyle/>
                    <a:p>
                      <a:pPr marL="0" indent="0">
                        <a:buNone/>
                      </a:pPr>
                      <a:r>
                        <a:rPr lang="en-US" sz="1700" b="1" dirty="0">
                          <a:solidFill>
                            <a:srgbClr val="111827"/>
                          </a:solidFill>
                        </a:rPr>
                        <a:t>Test dağıtımı</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Dahili, kapalı ve açık test kanalları</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TestFlight</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r h="646176">
                <a:tc>
                  <a:txBody>
                    <a:bodyPr/>
                    <a:lstStyle/>
                    <a:p>
                      <a:pPr marL="0" indent="0">
                        <a:buNone/>
                      </a:pPr>
                      <a:r>
                        <a:rPr lang="en-US" sz="1700" b="1" dirty="0">
                          <a:solidFill>
                            <a:srgbClr val="111827"/>
                          </a:solidFill>
                        </a:rPr>
                        <a:t>Alternatif dağıtım</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Yan yükleme ve alternatif mağazalar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Varsayılan olarak yok; bölgeye göre değişebilir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pic>
        <p:nvPicPr>
          <p:cNvPr id="5" name="Image 0" descr="/tmp/claude-0/-home-claude/bb2dbc6e-f574-5e99-8510-889b704da121/scratchpad/decks/logos/play.png"/>
          <p:cNvPicPr>
            <a:picLocks noChangeAspect="1"/>
          </p:cNvPicPr>
          <p:nvPr/>
        </p:nvPicPr>
        <p:blipFill>
          <a:blip r:embed="rId3"/>
          <a:stretch>
            <a:fillRect/>
          </a:stretch>
        </p:blipFill>
        <p:spPr>
          <a:xfrm>
            <a:off x="3569802" y="1684020"/>
            <a:ext cx="310896" cy="310896"/>
          </a:xfrm>
          <a:prstGeom prst="rect">
            <a:avLst/>
          </a:prstGeom>
        </p:spPr>
      </p:pic>
      <p:pic>
        <p:nvPicPr>
          <p:cNvPr id="6" name="Image 1" descr="/tmp/claude-0/-home-claude/bb2dbc6e-f574-5e99-8510-889b704da121/scratchpad/decks/logos/appstore.png"/>
          <p:cNvPicPr>
            <a:picLocks noChangeAspect="1"/>
          </p:cNvPicPr>
          <p:nvPr/>
        </p:nvPicPr>
        <p:blipFill>
          <a:blip r:embed="rId4"/>
          <a:stretch>
            <a:fillRect/>
          </a:stretch>
        </p:blipFill>
        <p:spPr>
          <a:xfrm>
            <a:off x="7428489" y="1684020"/>
            <a:ext cx="310896" cy="310896"/>
          </a:xfrm>
          <a:prstGeom prst="rect">
            <a:avLst/>
          </a:prstGeom>
        </p:spPr>
      </p:pic>
      <p:sp>
        <p:nvSpPr>
          <p:cNvPr id="7" name="Shape 2"/>
          <p:cNvSpPr/>
          <p:nvPr/>
        </p:nvSpPr>
        <p:spPr>
          <a:xfrm>
            <a:off x="731520" y="5148072"/>
            <a:ext cx="10972800" cy="1018032"/>
          </a:xfrm>
          <a:prstGeom prst="roundRect">
            <a:avLst>
              <a:gd name="adj" fmla="val 8982"/>
            </a:avLst>
          </a:prstGeom>
          <a:solidFill>
            <a:srgbClr val="EFF6FF"/>
          </a:solidFill>
          <a:ln w="9525">
            <a:solidFill>
              <a:srgbClr val="EFF6FF"/>
            </a:solidFill>
            <a:prstDash val="solid"/>
          </a:ln>
        </p:spPr>
      </p:sp>
      <p:sp>
        <p:nvSpPr>
          <p:cNvPr id="8" name="Text 3"/>
          <p:cNvSpPr txBox="1"/>
          <p:nvPr/>
        </p:nvSpPr>
        <p:spPr>
          <a:xfrm>
            <a:off x="932688" y="5276088"/>
            <a:ext cx="10570464" cy="762000"/>
          </a:xfrm>
          <a:prstGeom prst="rect">
            <a:avLst/>
          </a:prstGeom>
          <a:noFill/>
          <a:ln/>
        </p:spPr>
        <p:txBody>
          <a:bodyPr wrap="square" lIns="0" tIns="0" rIns="0" bIns="0" rtlCol="0" anchor="t"/>
          <a:lstStyle/>
          <a:p>
            <a:pPr marL="0" indent="0">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buNone/>
            </a:pPr>
            <a:r>
              <a:rPr lang="en-US" sz="1600" dirty="0">
                <a:solidFill>
                  <a:srgbClr val="111827"/>
                </a:solidFill>
                <a:latin typeface="Arial" pitchFamily="34" charset="0"/>
                <a:ea typeface="Arial" pitchFamily="34" charset="-122"/>
                <a:cs typeface="Arial" pitchFamily="34" charset="-120"/>
              </a:rPr>
              <a:t>Ücret, komisyon ve inceleme kuralları sık değişir; yayın öncesi Google ve Apple geliştirici sayfalarından doğrulayın.</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buNone/>
            </a:pPr>
            <a:r>
              <a:rPr lang="en-US" sz="3200" b="1" dirty="0">
                <a:solidFill>
                  <a:srgbClr val="111827"/>
                </a:solidFill>
                <a:latin typeface="Arial" pitchFamily="34" charset="0"/>
                <a:ea typeface="Arial" pitchFamily="34" charset="-122"/>
                <a:cs typeface="Arial" pitchFamily="34" charset="-120"/>
              </a:rPr>
              <a:t>Aktif ve Pasif Uygulama Mağazaları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graphicFrame>
        <p:nvGraphicFramePr>
          <p:cNvPr id="16" name="Table 0"/>
          <p:cNvGraphicFramePr>
            <a:graphicFrameLocks noGrp="1"/>
          </p:cNvGraphicFramePr>
          <p:nvPr/>
        </p:nvGraphicFramePr>
        <p:xfrm>
          <a:off x="731520" y="1645920"/>
          <a:ext cx="10972800" cy="3346704"/>
        </p:xfrm>
        <a:graphic>
          <a:graphicData uri="http://schemas.openxmlformats.org/drawingml/2006/table">
            <a:tbl>
              <a:tblPr/>
              <a:tblGrid>
                <a:gridCol w="3296453">
                  <a:extLst>
                    <a:ext uri="{9D8B030D-6E8A-4147-A177-3AD203B41FA5}">
                      <a16:colId xmlns:a16="http://schemas.microsoft.com/office/drawing/2014/main" val="20000"/>
                    </a:ext>
                  </a:extLst>
                </a:gridCol>
                <a:gridCol w="2084860">
                  <a:extLst>
                    <a:ext uri="{9D8B030D-6E8A-4147-A177-3AD203B41FA5}">
                      <a16:colId xmlns:a16="http://schemas.microsoft.com/office/drawing/2014/main" val="20001"/>
                    </a:ext>
                  </a:extLst>
                </a:gridCol>
                <a:gridCol w="1474219">
                  <a:extLst>
                    <a:ext uri="{9D8B030D-6E8A-4147-A177-3AD203B41FA5}">
                      <a16:colId xmlns:a16="http://schemas.microsoft.com/office/drawing/2014/main" val="20002"/>
                    </a:ext>
                  </a:extLst>
                </a:gridCol>
                <a:gridCol w="4117268">
                  <a:extLst>
                    <a:ext uri="{9D8B030D-6E8A-4147-A177-3AD203B41FA5}">
                      <a16:colId xmlns:a16="http://schemas.microsoft.com/office/drawing/2014/main" val="20003"/>
                    </a:ext>
                  </a:extLst>
                </a:gridCol>
              </a:tblGrid>
              <a:tr h="371856">
                <a:tc>
                  <a:txBody>
                    <a:bodyPr/>
                    <a:lstStyle/>
                    <a:p>
                      <a:pPr marL="0" indent="0">
                        <a:buNone/>
                      </a:pPr>
                      <a:r>
                        <a:rPr lang="en-US" sz="1400" b="1" dirty="0">
                          <a:solidFill>
                            <a:srgbClr val="2563EB"/>
                          </a:solidFill>
                        </a:rPr>
                        <a:t>Mağaza</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İşleten</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Durum</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Not</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extLst>
                  <a:ext uri="{0D108BD9-81ED-4DB2-BD59-A6C34878D82A}">
                    <a16:rowId xmlns:a16="http://schemas.microsoft.com/office/drawing/2014/main" val="10000"/>
                  </a:ext>
                </a:extLst>
              </a:tr>
              <a:tr h="371856">
                <a:tc>
                  <a:txBody>
                    <a:bodyPr/>
                    <a:lstStyle/>
                    <a:p>
                      <a:pPr marL="0" indent="0">
                        <a:buNone/>
                      </a:pPr>
                      <a:r>
                        <a:rPr lang="en-US" sz="1600" b="1" dirty="0">
                          <a:solidFill>
                            <a:srgbClr val="111827"/>
                          </a:solidFill>
                        </a:rPr>
                        <a:t>Google Play</a:t>
                      </a:r>
                      <a:endParaRPr lang="en-US" sz="16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Google</a:t>
                      </a:r>
                      <a:endParaRPr lang="en-US" sz="16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Aktif</a:t>
                      </a:r>
                      <a:endParaRPr lang="en-US" sz="16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Android'in ana mağazası</a:t>
                      </a:r>
                      <a:endParaRPr lang="en-US" sz="16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371856">
                <a:tc>
                  <a:txBody>
                    <a:bodyPr/>
                    <a:lstStyle/>
                    <a:p>
                      <a:pPr marL="0" indent="0">
                        <a:buNone/>
                      </a:pPr>
                      <a:r>
                        <a:rPr lang="en-US" sz="1600" b="1" dirty="0">
                          <a:solidFill>
                            <a:srgbClr val="111827"/>
                          </a:solidFill>
                        </a:rPr>
                        <a:t>App Store</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Apple</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Aktif</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iOS'ta varsayılan mağaza</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371856">
                <a:tc>
                  <a:txBody>
                    <a:bodyPr/>
                    <a:lstStyle/>
                    <a:p>
                      <a:pPr marL="0" indent="0">
                        <a:buNone/>
                      </a:pPr>
                      <a:r>
                        <a:rPr lang="en-US" sz="1600" b="1" dirty="0">
                          <a:solidFill>
                            <a:srgbClr val="111827"/>
                          </a:solidFill>
                        </a:rPr>
                        <a:t>Samsung Galaxy Store</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Samsung</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Aktif</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Samsung cihazlarda hazır gelir</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371856">
                <a:tc>
                  <a:txBody>
                    <a:bodyPr/>
                    <a:lstStyle/>
                    <a:p>
                      <a:pPr marL="0" indent="0">
                        <a:buNone/>
                      </a:pPr>
                      <a:r>
                        <a:rPr lang="en-US" sz="1600" b="1" dirty="0">
                          <a:solidFill>
                            <a:srgbClr val="111827"/>
                          </a:solidFill>
                        </a:rPr>
                        <a:t>Huawei AppGallery</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Huawei</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Aktif</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Huawei cihazlarda temel mağaza</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371856">
                <a:tc>
                  <a:txBody>
                    <a:bodyPr/>
                    <a:lstStyle/>
                    <a:p>
                      <a:pPr marL="0" indent="0">
                        <a:buNone/>
                      </a:pPr>
                      <a:r>
                        <a:rPr lang="en-US" sz="1600" b="1" dirty="0">
                          <a:solidFill>
                            <a:srgbClr val="111827"/>
                          </a:solidFill>
                        </a:rPr>
                        <a:t>F-Droid</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Topluluk</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Aktif</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Özgür yazılım odaklı</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r h="371856">
                <a:tc>
                  <a:txBody>
                    <a:bodyPr/>
                    <a:lstStyle/>
                    <a:p>
                      <a:pPr marL="0" indent="0">
                        <a:buNone/>
                      </a:pPr>
                      <a:r>
                        <a:rPr lang="en-US" sz="1600" b="1" dirty="0">
                          <a:solidFill>
                            <a:srgbClr val="111827"/>
                          </a:solidFill>
                        </a:rPr>
                        <a:t>Amazon Appstore (Android)</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Amazon</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Pasif</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Android'de Ağustos 2025'te kapandı</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6"/>
                  </a:ext>
                </a:extLst>
              </a:tr>
              <a:tr h="371856">
                <a:tc>
                  <a:txBody>
                    <a:bodyPr/>
                    <a:lstStyle/>
                    <a:p>
                      <a:pPr marL="0" indent="0">
                        <a:buNone/>
                      </a:pPr>
                      <a:r>
                        <a:rPr lang="en-US" sz="1600" b="1" dirty="0">
                          <a:solidFill>
                            <a:srgbClr val="111827"/>
                          </a:solidFill>
                        </a:rPr>
                        <a:t>BlackBerry World</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BlackBerry</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Pasif</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Ocak 2022'de kapandı</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7"/>
                  </a:ext>
                </a:extLst>
              </a:tr>
              <a:tr h="371856">
                <a:tc>
                  <a:txBody>
                    <a:bodyPr/>
                    <a:lstStyle/>
                    <a:p>
                      <a:pPr marL="0" indent="0">
                        <a:buNone/>
                      </a:pPr>
                      <a:r>
                        <a:rPr lang="en-US" sz="1600" b="1" dirty="0">
                          <a:solidFill>
                            <a:srgbClr val="111827"/>
                          </a:solidFill>
                        </a:rPr>
                        <a:t>Windows Phone Store</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Microsoft</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Pasif</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Windows 10 Mobile ile 2020'de sona erdi</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Shape 2"/>
          <p:cNvSpPr/>
          <p:nvPr/>
        </p:nvSpPr>
        <p:spPr>
          <a:xfrm>
            <a:off x="731520" y="5266944"/>
            <a:ext cx="10972800" cy="774192"/>
          </a:xfrm>
          <a:prstGeom prst="roundRect">
            <a:avLst>
              <a:gd name="adj" fmla="val 11811"/>
            </a:avLst>
          </a:prstGeom>
          <a:solidFill>
            <a:srgbClr val="EFF6FF"/>
          </a:solidFill>
          <a:ln w="9525">
            <a:solidFill>
              <a:srgbClr val="EFF6FF"/>
            </a:solidFill>
            <a:prstDash val="solid"/>
          </a:ln>
        </p:spPr>
      </p:sp>
      <p:sp>
        <p:nvSpPr>
          <p:cNvPr id="6" name="Text 3"/>
          <p:cNvSpPr txBox="1"/>
          <p:nvPr/>
        </p:nvSpPr>
        <p:spPr>
          <a:xfrm>
            <a:off x="932688" y="5394960"/>
            <a:ext cx="10570464" cy="518160"/>
          </a:xfrm>
          <a:prstGeom prst="rect">
            <a:avLst/>
          </a:prstGeom>
          <a:noFill/>
          <a:ln/>
        </p:spPr>
        <p:txBody>
          <a:bodyPr wrap="square" lIns="0" tIns="0" rIns="0" bIns="0" rtlCol="0" anchor="t"/>
          <a:lstStyle/>
          <a:p>
            <a:pPr marL="0" indent="0">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buNone/>
            </a:pPr>
            <a:r>
              <a:rPr lang="en-US" sz="1600" dirty="0">
                <a:solidFill>
                  <a:srgbClr val="111827"/>
                </a:solidFill>
                <a:latin typeface="Arial" pitchFamily="34" charset="0"/>
                <a:ea typeface="Arial" pitchFamily="34" charset="-122"/>
                <a:cs typeface="Arial" pitchFamily="34" charset="-120"/>
              </a:rPr>
              <a:t>Durumlar Ekim 2026'da açık kaynaklardan derlendi; resmî duyurularla doğrulayın.</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buNone/>
            </a:pPr>
            <a:r>
              <a:rPr lang="en-US" sz="3200" b="1" dirty="0">
                <a:solidFill>
                  <a:srgbClr val="111827"/>
                </a:solidFill>
                <a:latin typeface="Arial" pitchFamily="34" charset="0"/>
                <a:ea typeface="Arial" pitchFamily="34" charset="-122"/>
                <a:cs typeface="Arial" pitchFamily="34" charset="-120"/>
              </a:rPr>
              <a:t>Uygulamalar Nasıl Para Kazanır?</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972800" cy="2414016"/>
        </p:xfrm>
        <a:graphic>
          <a:graphicData uri="http://schemas.openxmlformats.org/drawingml/2006/table">
            <a:tbl>
              <a:tblPr/>
              <a:tblGrid>
                <a:gridCol w="3500019">
                  <a:extLst>
                    <a:ext uri="{9D8B030D-6E8A-4147-A177-3AD203B41FA5}">
                      <a16:colId xmlns:a16="http://schemas.microsoft.com/office/drawing/2014/main" val="20000"/>
                    </a:ext>
                  </a:extLst>
                </a:gridCol>
                <a:gridCol w="4128397">
                  <a:extLst>
                    <a:ext uri="{9D8B030D-6E8A-4147-A177-3AD203B41FA5}">
                      <a16:colId xmlns:a16="http://schemas.microsoft.com/office/drawing/2014/main" val="20001"/>
                    </a:ext>
                  </a:extLst>
                </a:gridCol>
                <a:gridCol w="3344384">
                  <a:extLst>
                    <a:ext uri="{9D8B030D-6E8A-4147-A177-3AD203B41FA5}">
                      <a16:colId xmlns:a16="http://schemas.microsoft.com/office/drawing/2014/main" val="20002"/>
                    </a:ext>
                  </a:extLst>
                </a:gridCol>
              </a:tblGrid>
              <a:tr h="402336">
                <a:tc>
                  <a:txBody>
                    <a:bodyPr/>
                    <a:lstStyle/>
                    <a:p>
                      <a:pPr marL="0" indent="0">
                        <a:buNone/>
                      </a:pPr>
                      <a:r>
                        <a:rPr lang="en-US" sz="1400" b="1" dirty="0">
                          <a:solidFill>
                            <a:srgbClr val="2563EB"/>
                          </a:solidFill>
                        </a:rPr>
                        <a:t>Model</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Nasıl çalışır</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Örnek tür</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extLst>
                  <a:ext uri="{0D108BD9-81ED-4DB2-BD59-A6C34878D82A}">
                    <a16:rowId xmlns:a16="http://schemas.microsoft.com/office/drawing/2014/main" val="10000"/>
                  </a:ext>
                </a:extLst>
              </a:tr>
              <a:tr h="402336">
                <a:tc>
                  <a:txBody>
                    <a:bodyPr/>
                    <a:lstStyle/>
                    <a:p>
                      <a:pPr marL="0" indent="0">
                        <a:buNone/>
                      </a:pPr>
                      <a:r>
                        <a:rPr lang="en-US" sz="1800" b="1" dirty="0">
                          <a:solidFill>
                            <a:srgbClr val="111827"/>
                          </a:solidFill>
                        </a:rPr>
                        <a:t>Ücretli indirme</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Kurulumdan önce ödeme</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Araç uygulamaları</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800" b="1" dirty="0">
                          <a:solidFill>
                            <a:srgbClr val="111827"/>
                          </a:solidFill>
                        </a:rPr>
                        <a:t>Abonelik</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Dönemsel ödeme</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Müzik, eğitim</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buNone/>
                      </a:pPr>
                      <a:r>
                        <a:rPr lang="en-US" sz="1800" b="1" dirty="0">
                          <a:solidFill>
                            <a:srgbClr val="111827"/>
                          </a:solidFill>
                        </a:rPr>
                        <a:t>Uygulama içi satın alma</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Ek içerik veya özellik</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Oyunlar</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1800" b="1" dirty="0">
                          <a:solidFill>
                            <a:srgbClr val="111827"/>
                          </a:solidFill>
                        </a:rPr>
                        <a:t>Reklam</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Ücretsiz kullanım, reklam geliri</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Haber, oyun</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402336">
                <a:tc>
                  <a:txBody>
                    <a:bodyPr/>
                    <a:lstStyle/>
                    <a:p>
                      <a:pPr marL="0" indent="0">
                        <a:buNone/>
                      </a:pPr>
                      <a:r>
                        <a:rPr lang="en-US" sz="1800" b="1" dirty="0">
                          <a:solidFill>
                            <a:srgbClr val="111827"/>
                          </a:solidFill>
                        </a:rPr>
                        <a:t>Hizmete bağlı</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Uygulama bir işin kanalıdır</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Bankacılık, alışveriş</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2"/>
          <p:cNvSpPr/>
          <p:nvPr/>
        </p:nvSpPr>
        <p:spPr>
          <a:xfrm>
            <a:off x="731520" y="4334256"/>
            <a:ext cx="10972800" cy="1018032"/>
          </a:xfrm>
          <a:prstGeom prst="roundRect">
            <a:avLst>
              <a:gd name="adj" fmla="val 8982"/>
            </a:avLst>
          </a:prstGeom>
          <a:solidFill>
            <a:srgbClr val="EFF6FF"/>
          </a:solidFill>
          <a:ln w="9525">
            <a:solidFill>
              <a:srgbClr val="EFF6FF"/>
            </a:solidFill>
            <a:prstDash val="solid"/>
          </a:ln>
        </p:spPr>
      </p:sp>
      <p:sp>
        <p:nvSpPr>
          <p:cNvPr id="6" name="Text 3"/>
          <p:cNvSpPr txBox="1"/>
          <p:nvPr/>
        </p:nvSpPr>
        <p:spPr>
          <a:xfrm>
            <a:off x="932688" y="4462272"/>
            <a:ext cx="10570464" cy="762000"/>
          </a:xfrm>
          <a:prstGeom prst="rect">
            <a:avLst/>
          </a:prstGeom>
          <a:noFill/>
          <a:ln/>
        </p:spPr>
        <p:txBody>
          <a:bodyPr wrap="square" lIns="0" tIns="0" rIns="0" bIns="0" rtlCol="0" anchor="t"/>
          <a:lstStyle/>
          <a:p>
            <a:pPr marL="0" indent="0">
              <a:buNone/>
            </a:pPr>
            <a:r>
              <a:rPr lang="en-US" sz="1100" b="1" dirty="0">
                <a:solidFill>
                  <a:srgbClr val="2563EB"/>
                </a:solidFill>
                <a:latin typeface="Arial" pitchFamily="34" charset="0"/>
                <a:ea typeface="Arial" pitchFamily="34" charset="-122"/>
                <a:cs typeface="Arial" pitchFamily="34" charset="-120"/>
              </a:rPr>
              <a:t>SEÇIM MANTIĞI</a:t>
            </a:r>
            <a:endParaRPr lang="en-US" sz="1100" dirty="0"/>
          </a:p>
          <a:p>
            <a:pPr marL="0" indent="0">
              <a:buNone/>
            </a:pPr>
            <a:r>
              <a:rPr lang="en-US" sz="1600" dirty="0">
                <a:solidFill>
                  <a:srgbClr val="111827"/>
                </a:solidFill>
                <a:latin typeface="Arial" pitchFamily="34" charset="0"/>
                <a:ea typeface="Arial" pitchFamily="34" charset="-122"/>
                <a:cs typeface="Arial" pitchFamily="34" charset="-120"/>
              </a:rPr>
              <a:t>Gelir modeli teknik kararları etkiler; reklam gösteren uygulama ek kütüphane ve izin ister, abonelik uygulaması ise sunucu tarafında üyelik kontrolü gerektirir.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buNone/>
            </a:pPr>
            <a:r>
              <a:rPr lang="en-US" sz="3200" b="1" dirty="0">
                <a:solidFill>
                  <a:srgbClr val="111827"/>
                </a:solidFill>
                <a:latin typeface="Arial" pitchFamily="34" charset="0"/>
                <a:ea typeface="Arial" pitchFamily="34" charset="-122"/>
                <a:cs typeface="Arial" pitchFamily="34" charset="-120"/>
              </a:rPr>
              <a:t>Gerçek Senaryo: Bir Bankacılık Uygulaması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6035040" cy="4663440"/>
          </a:xfrm>
          <a:prstGeom prst="rect">
            <a:avLst/>
          </a:prstGeom>
          <a:noFill/>
          <a:ln/>
        </p:spPr>
        <p:txBody>
          <a:bodyPr wrap="square" lIns="0" tIns="0" rIns="0" bIns="0" rtlCol="0" anchor="t"/>
          <a:lstStyle/>
          <a:p>
            <a:pPr marL="0" indent="0" algn="just">
              <a:spcAft>
                <a:spcPts val="800"/>
              </a:spcAft>
              <a:buNone/>
            </a:pPr>
            <a:r>
              <a:rPr lang="en-US" sz="2200" dirty="0">
                <a:solidFill>
                  <a:srgbClr val="111827"/>
                </a:solidFill>
                <a:latin typeface="Arial" pitchFamily="34" charset="0"/>
                <a:ea typeface="Arial" pitchFamily="34" charset="-122"/>
                <a:cs typeface="Arial" pitchFamily="34" charset="-120"/>
              </a:rPr>
              <a:t>Bir banka uygulaması yalnızca ekranlardan oluşmaz. Parmak izi için biyometrik donanım, bildirim için push altyapısı, hesap bilgileri için güvenli bir sunucu ve her iki mağaza için ayrı yayın süreci gerekir. Bu yüzden büyük bankalar uygulamayı çoğu zaman ayrı ekipler veya ortak bir çapraz platform kod tabanıyla geliştirir.</a:t>
            </a:r>
            <a:endParaRPr lang="en-US" sz="2200" dirty="0"/>
          </a:p>
        </p:txBody>
      </p:sp>
      <p:sp>
        <p:nvSpPr>
          <p:cNvPr id="5" name="Shape 3"/>
          <p:cNvSpPr/>
          <p:nvPr/>
        </p:nvSpPr>
        <p:spPr>
          <a:xfrm>
            <a:off x="9372600" y="2560320"/>
            <a:ext cx="9144" cy="434340"/>
          </a:xfrm>
          <a:prstGeom prst="line">
            <a:avLst/>
          </a:prstGeom>
          <a:noFill/>
          <a:ln w="15875">
            <a:solidFill>
              <a:srgbClr val="9CA3AF"/>
            </a:solidFill>
            <a:prstDash val="solid"/>
          </a:ln>
        </p:spPr>
      </p:sp>
      <p:sp>
        <p:nvSpPr>
          <p:cNvPr id="6" name="Shape 4"/>
          <p:cNvSpPr/>
          <p:nvPr/>
        </p:nvSpPr>
        <p:spPr>
          <a:xfrm>
            <a:off x="10104120" y="3429000"/>
            <a:ext cx="137160" cy="9144"/>
          </a:xfrm>
          <a:prstGeom prst="line">
            <a:avLst/>
          </a:prstGeom>
          <a:noFill/>
          <a:ln w="15875">
            <a:solidFill>
              <a:srgbClr val="9CA3AF"/>
            </a:solidFill>
            <a:prstDash val="solid"/>
          </a:ln>
        </p:spPr>
      </p:sp>
      <p:sp>
        <p:nvSpPr>
          <p:cNvPr id="7" name="Shape 5"/>
          <p:cNvSpPr/>
          <p:nvPr/>
        </p:nvSpPr>
        <p:spPr>
          <a:xfrm>
            <a:off x="9372600" y="3863340"/>
            <a:ext cx="9144" cy="434340"/>
          </a:xfrm>
          <a:prstGeom prst="line">
            <a:avLst/>
          </a:prstGeom>
          <a:noFill/>
          <a:ln w="15875">
            <a:solidFill>
              <a:srgbClr val="9CA3AF"/>
            </a:solidFill>
            <a:prstDash val="solid"/>
          </a:ln>
        </p:spPr>
      </p:sp>
      <p:sp>
        <p:nvSpPr>
          <p:cNvPr id="8" name="Shape 6"/>
          <p:cNvSpPr/>
          <p:nvPr/>
        </p:nvSpPr>
        <p:spPr>
          <a:xfrm>
            <a:off x="8503920" y="3429000"/>
            <a:ext cx="137160" cy="9144"/>
          </a:xfrm>
          <a:prstGeom prst="line">
            <a:avLst/>
          </a:prstGeom>
          <a:noFill/>
          <a:ln w="15875">
            <a:solidFill>
              <a:srgbClr val="9CA3AF"/>
            </a:solidFill>
            <a:prstDash val="solid"/>
          </a:ln>
        </p:spPr>
      </p:sp>
      <p:sp>
        <p:nvSpPr>
          <p:cNvPr id="9" name="Shape 7"/>
          <p:cNvSpPr/>
          <p:nvPr/>
        </p:nvSpPr>
        <p:spPr>
          <a:xfrm>
            <a:off x="8641080" y="2994660"/>
            <a:ext cx="1463040" cy="868680"/>
          </a:xfrm>
          <a:prstGeom prst="roundRect">
            <a:avLst>
              <a:gd name="adj" fmla="val 10526"/>
            </a:avLst>
          </a:prstGeom>
          <a:solidFill>
            <a:srgbClr val="2563EB"/>
          </a:solidFill>
          <a:ln w="9525">
            <a:solidFill>
              <a:srgbClr val="2563EB"/>
            </a:solidFill>
            <a:prstDash val="solid"/>
          </a:ln>
        </p:spPr>
      </p:sp>
      <p:sp>
        <p:nvSpPr>
          <p:cNvPr id="10" name="Text 8"/>
          <p:cNvSpPr txBox="1"/>
          <p:nvPr/>
        </p:nvSpPr>
        <p:spPr>
          <a:xfrm>
            <a:off x="8641080" y="2994660"/>
            <a:ext cx="1463040" cy="86868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Banka uygulaması</a:t>
            </a:r>
            <a:endParaRPr lang="en-US" sz="1600" dirty="0"/>
          </a:p>
        </p:txBody>
      </p:sp>
      <p:sp>
        <p:nvSpPr>
          <p:cNvPr id="11" name="Shape 9"/>
          <p:cNvSpPr/>
          <p:nvPr/>
        </p:nvSpPr>
        <p:spPr>
          <a:xfrm>
            <a:off x="8686800" y="1645920"/>
            <a:ext cx="1371600" cy="914400"/>
          </a:xfrm>
          <a:prstGeom prst="roundRect">
            <a:avLst>
              <a:gd name="adj" fmla="val 10000"/>
            </a:avLst>
          </a:prstGeom>
          <a:solidFill>
            <a:srgbClr val="FFFFFF"/>
          </a:solidFill>
          <a:ln w="15875">
            <a:solidFill>
              <a:srgbClr val="CBD5E1"/>
            </a:solidFill>
            <a:prstDash val="solid"/>
          </a:ln>
        </p:spPr>
      </p:sp>
      <p:sp>
        <p:nvSpPr>
          <p:cNvPr id="12" name="Text 10"/>
          <p:cNvSpPr txBox="1"/>
          <p:nvPr/>
        </p:nvSpPr>
        <p:spPr>
          <a:xfrm>
            <a:off x="8759952" y="1645920"/>
            <a:ext cx="1225296" cy="914400"/>
          </a:xfrm>
          <a:prstGeom prst="rect">
            <a:avLst/>
          </a:prstGeom>
          <a:noFill/>
          <a:ln/>
        </p:spPr>
        <p:txBody>
          <a:bodyPr wrap="square" lIns="0" tIns="0" rIns="0" bIns="0" rtlCol="0" anchor="ctr"/>
          <a:lstStyle/>
          <a:p>
            <a:pPr marL="0" indent="0" algn="ctr">
              <a:buNone/>
            </a:pPr>
            <a:r>
              <a:rPr lang="en-US" sz="1400" b="1" dirty="0">
                <a:solidFill>
                  <a:srgbClr val="111827"/>
                </a:solidFill>
                <a:latin typeface="Arial" pitchFamily="34" charset="0"/>
                <a:ea typeface="Arial" pitchFamily="34" charset="-122"/>
                <a:cs typeface="Arial" pitchFamily="34" charset="-120"/>
              </a:rPr>
              <a:t>Biyometri</a:t>
            </a:r>
            <a:endParaRPr lang="en-US" sz="1400" dirty="0"/>
          </a:p>
        </p:txBody>
      </p:sp>
      <p:sp>
        <p:nvSpPr>
          <p:cNvPr id="13" name="Shape 11"/>
          <p:cNvSpPr/>
          <p:nvPr/>
        </p:nvSpPr>
        <p:spPr>
          <a:xfrm>
            <a:off x="10241280" y="2971800"/>
            <a:ext cx="1371600" cy="914400"/>
          </a:xfrm>
          <a:prstGeom prst="roundRect">
            <a:avLst>
              <a:gd name="adj" fmla="val 10000"/>
            </a:avLst>
          </a:prstGeom>
          <a:solidFill>
            <a:srgbClr val="FFFFFF"/>
          </a:solidFill>
          <a:ln w="15875">
            <a:solidFill>
              <a:srgbClr val="CBD5E1"/>
            </a:solidFill>
            <a:prstDash val="solid"/>
          </a:ln>
        </p:spPr>
      </p:sp>
      <p:sp>
        <p:nvSpPr>
          <p:cNvPr id="14" name="Text 12"/>
          <p:cNvSpPr txBox="1"/>
          <p:nvPr/>
        </p:nvSpPr>
        <p:spPr>
          <a:xfrm>
            <a:off x="10314432" y="2971800"/>
            <a:ext cx="1225296" cy="914400"/>
          </a:xfrm>
          <a:prstGeom prst="rect">
            <a:avLst/>
          </a:prstGeom>
          <a:noFill/>
          <a:ln/>
        </p:spPr>
        <p:txBody>
          <a:bodyPr wrap="square" lIns="0" tIns="0" rIns="0" bIns="0" rtlCol="0" anchor="ctr"/>
          <a:lstStyle/>
          <a:p>
            <a:pPr marL="0" indent="0" algn="ctr">
              <a:buNone/>
            </a:pPr>
            <a:r>
              <a:rPr lang="en-US" sz="1400" b="1" dirty="0">
                <a:solidFill>
                  <a:srgbClr val="111827"/>
                </a:solidFill>
                <a:latin typeface="Arial" pitchFamily="34" charset="0"/>
                <a:ea typeface="Arial" pitchFamily="34" charset="-122"/>
                <a:cs typeface="Arial" pitchFamily="34" charset="-120"/>
              </a:rPr>
              <a:t>Push bildirim</a:t>
            </a:r>
            <a:endParaRPr lang="en-US" sz="1400" dirty="0"/>
          </a:p>
        </p:txBody>
      </p:sp>
      <p:sp>
        <p:nvSpPr>
          <p:cNvPr id="15" name="Shape 13"/>
          <p:cNvSpPr/>
          <p:nvPr/>
        </p:nvSpPr>
        <p:spPr>
          <a:xfrm>
            <a:off x="8686800" y="4297680"/>
            <a:ext cx="1371600" cy="914400"/>
          </a:xfrm>
          <a:prstGeom prst="roundRect">
            <a:avLst>
              <a:gd name="adj" fmla="val 10000"/>
            </a:avLst>
          </a:prstGeom>
          <a:solidFill>
            <a:srgbClr val="FFFFFF"/>
          </a:solidFill>
          <a:ln w="15875">
            <a:solidFill>
              <a:srgbClr val="CBD5E1"/>
            </a:solidFill>
            <a:prstDash val="solid"/>
          </a:ln>
        </p:spPr>
      </p:sp>
      <p:pic>
        <p:nvPicPr>
          <p:cNvPr id="16" name="Image 0" descr="/tmp/claude-0/-home-claude/bb2dbc6e-f574-5e99-8510-889b704da121/scratchpad/decks/logos/play.png"/>
          <p:cNvPicPr>
            <a:picLocks noChangeAspect="1"/>
          </p:cNvPicPr>
          <p:nvPr/>
        </p:nvPicPr>
        <p:blipFill>
          <a:blip r:embed="rId3"/>
          <a:stretch>
            <a:fillRect/>
          </a:stretch>
        </p:blipFill>
        <p:spPr>
          <a:xfrm>
            <a:off x="9052560" y="4389120"/>
            <a:ext cx="274320" cy="274320"/>
          </a:xfrm>
          <a:prstGeom prst="rect">
            <a:avLst/>
          </a:prstGeom>
        </p:spPr>
      </p:pic>
      <p:pic>
        <p:nvPicPr>
          <p:cNvPr id="17" name="Image 1" descr="/tmp/claude-0/-home-claude/bb2dbc6e-f574-5e99-8510-889b704da121/scratchpad/decks/logos/appstore.png"/>
          <p:cNvPicPr>
            <a:picLocks noChangeAspect="1"/>
          </p:cNvPicPr>
          <p:nvPr/>
        </p:nvPicPr>
        <p:blipFill>
          <a:blip r:embed="rId4"/>
          <a:stretch>
            <a:fillRect/>
          </a:stretch>
        </p:blipFill>
        <p:spPr>
          <a:xfrm>
            <a:off x="9418320" y="4389120"/>
            <a:ext cx="274320" cy="274320"/>
          </a:xfrm>
          <a:prstGeom prst="rect">
            <a:avLst/>
          </a:prstGeom>
        </p:spPr>
      </p:pic>
      <p:sp>
        <p:nvSpPr>
          <p:cNvPr id="18" name="Text 14"/>
          <p:cNvSpPr txBox="1"/>
          <p:nvPr/>
        </p:nvSpPr>
        <p:spPr>
          <a:xfrm>
            <a:off x="8759952" y="4480560"/>
            <a:ext cx="1225296" cy="731520"/>
          </a:xfrm>
          <a:prstGeom prst="rect">
            <a:avLst/>
          </a:prstGeom>
          <a:noFill/>
          <a:ln/>
        </p:spPr>
        <p:txBody>
          <a:bodyPr wrap="square" lIns="0" tIns="0" rIns="0" bIns="0" rtlCol="0" anchor="ctr"/>
          <a:lstStyle/>
          <a:p>
            <a:pPr marL="0" indent="0" algn="ctr">
              <a:buNone/>
            </a:pPr>
            <a:r>
              <a:rPr lang="en-US" sz="1400" b="1" dirty="0">
                <a:solidFill>
                  <a:srgbClr val="111827"/>
                </a:solidFill>
                <a:latin typeface="Arial" pitchFamily="34" charset="0"/>
                <a:ea typeface="Arial" pitchFamily="34" charset="-122"/>
                <a:cs typeface="Arial" pitchFamily="34" charset="-120"/>
              </a:rPr>
              <a:t>İki mağaza</a:t>
            </a:r>
            <a:endParaRPr lang="en-US" sz="1400" dirty="0"/>
          </a:p>
        </p:txBody>
      </p:sp>
      <p:sp>
        <p:nvSpPr>
          <p:cNvPr id="19" name="Shape 15"/>
          <p:cNvSpPr/>
          <p:nvPr/>
        </p:nvSpPr>
        <p:spPr>
          <a:xfrm>
            <a:off x="7132320" y="2971800"/>
            <a:ext cx="1371600" cy="914400"/>
          </a:xfrm>
          <a:prstGeom prst="roundRect">
            <a:avLst>
              <a:gd name="adj" fmla="val 10000"/>
            </a:avLst>
          </a:prstGeom>
          <a:solidFill>
            <a:srgbClr val="FFFFFF"/>
          </a:solidFill>
          <a:ln w="15875">
            <a:solidFill>
              <a:srgbClr val="CBD5E1"/>
            </a:solidFill>
            <a:prstDash val="solid"/>
          </a:ln>
        </p:spPr>
      </p:sp>
      <p:sp>
        <p:nvSpPr>
          <p:cNvPr id="20" name="Text 16"/>
          <p:cNvSpPr txBox="1"/>
          <p:nvPr/>
        </p:nvSpPr>
        <p:spPr>
          <a:xfrm>
            <a:off x="7205472" y="2971800"/>
            <a:ext cx="1225296" cy="914400"/>
          </a:xfrm>
          <a:prstGeom prst="rect">
            <a:avLst/>
          </a:prstGeom>
          <a:noFill/>
          <a:ln/>
        </p:spPr>
        <p:txBody>
          <a:bodyPr wrap="square" lIns="0" tIns="0" rIns="0" bIns="0" rtlCol="0" anchor="ctr"/>
          <a:lstStyle/>
          <a:p>
            <a:pPr marL="0" indent="0" algn="ctr">
              <a:buNone/>
            </a:pPr>
            <a:r>
              <a:rPr lang="en-US" sz="1400" b="1" dirty="0">
                <a:solidFill>
                  <a:srgbClr val="111827"/>
                </a:solidFill>
                <a:latin typeface="Arial" pitchFamily="34" charset="0"/>
                <a:ea typeface="Arial" pitchFamily="34" charset="-122"/>
                <a:cs typeface="Arial" pitchFamily="34" charset="-120"/>
              </a:rPr>
              <a:t>Güvenli sunucu</a:t>
            </a:r>
            <a:endParaRPr lang="en-US" sz="14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buNone/>
            </a:pPr>
            <a:r>
              <a:rPr lang="en-US" sz="3200" b="1" dirty="0">
                <a:solidFill>
                  <a:srgbClr val="111827"/>
                </a:solidFill>
                <a:latin typeface="Arial" pitchFamily="34" charset="0"/>
                <a:ea typeface="Arial" pitchFamily="34" charset="-122"/>
                <a:cs typeface="Arial" pitchFamily="34" charset="-120"/>
              </a:rPr>
              <a:t>Mobil Uygulama Geliştirme Süreci</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1615440" cy="1051560"/>
          </a:xfrm>
          <a:prstGeom prst="roundRect">
            <a:avLst>
              <a:gd name="adj" fmla="val 8696"/>
            </a:avLst>
          </a:prstGeom>
          <a:solidFill>
            <a:srgbClr val="EFF6FF"/>
          </a:solidFill>
          <a:ln w="9525">
            <a:solidFill>
              <a:srgbClr val="EFF6FF"/>
            </a:solidFill>
            <a:prstDash val="solid"/>
          </a:ln>
        </p:spPr>
      </p:sp>
      <p:sp>
        <p:nvSpPr>
          <p:cNvPr id="5" name="Text 3"/>
          <p:cNvSpPr txBox="1"/>
          <p:nvPr/>
        </p:nvSpPr>
        <p:spPr>
          <a:xfrm>
            <a:off x="868680" y="1737360"/>
            <a:ext cx="1341120" cy="868680"/>
          </a:xfrm>
          <a:prstGeom prst="rect">
            <a:avLst/>
          </a:prstGeom>
          <a:noFill/>
          <a:ln/>
        </p:spPr>
        <p:txBody>
          <a:bodyPr wrap="square" lIns="0" tIns="0" rIns="0" bIns="0" rtlCol="0" anchor="ctr">
            <a:normAutofit/>
          </a:bodyPr>
          <a:lstStyle/>
          <a:p>
            <a:pPr marL="0" indent="0">
              <a:buNone/>
            </a:pPr>
            <a:r>
              <a:rPr lang="en-US" sz="1200" b="1" dirty="0">
                <a:solidFill>
                  <a:srgbClr val="2563EB"/>
                </a:solidFill>
                <a:latin typeface="Arial" pitchFamily="34" charset="0"/>
                <a:ea typeface="Arial" pitchFamily="34" charset="-122"/>
                <a:cs typeface="Arial" pitchFamily="34" charset="-120"/>
              </a:rPr>
              <a:t>1</a:t>
            </a:r>
            <a:endParaRPr lang="en-US" sz="1200" dirty="0"/>
          </a:p>
          <a:p>
            <a:pPr marL="0" indent="0">
              <a:buNone/>
            </a:pPr>
            <a:r>
              <a:rPr lang="en-US" sz="1400" b="1" dirty="0">
                <a:solidFill>
                  <a:srgbClr val="111827"/>
                </a:solidFill>
                <a:latin typeface="Arial" pitchFamily="34" charset="0"/>
                <a:ea typeface="Arial" pitchFamily="34" charset="-122"/>
                <a:cs typeface="Arial" pitchFamily="34" charset="-120"/>
              </a:rPr>
              <a:t>Fikir ve analiz</a:t>
            </a:r>
            <a:endParaRPr lang="en-US" sz="1200" dirty="0"/>
          </a:p>
        </p:txBody>
      </p:sp>
      <p:sp>
        <p:nvSpPr>
          <p:cNvPr id="6" name="Text 4"/>
          <p:cNvSpPr txBox="1"/>
          <p:nvPr/>
        </p:nvSpPr>
        <p:spPr>
          <a:xfrm>
            <a:off x="2346960"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7" name="Shape 5"/>
          <p:cNvSpPr/>
          <p:nvPr/>
        </p:nvSpPr>
        <p:spPr>
          <a:xfrm>
            <a:off x="2602992" y="1645920"/>
            <a:ext cx="1615440" cy="1051560"/>
          </a:xfrm>
          <a:prstGeom prst="roundRect">
            <a:avLst>
              <a:gd name="adj" fmla="val 8696"/>
            </a:avLst>
          </a:prstGeom>
          <a:solidFill>
            <a:srgbClr val="EFF6FF"/>
          </a:solidFill>
          <a:ln w="9525">
            <a:solidFill>
              <a:srgbClr val="EFF6FF"/>
            </a:solidFill>
            <a:prstDash val="solid"/>
          </a:ln>
        </p:spPr>
      </p:sp>
      <p:sp>
        <p:nvSpPr>
          <p:cNvPr id="8" name="Text 6"/>
          <p:cNvSpPr txBox="1"/>
          <p:nvPr/>
        </p:nvSpPr>
        <p:spPr>
          <a:xfrm>
            <a:off x="2740152" y="1737360"/>
            <a:ext cx="1341120" cy="868680"/>
          </a:xfrm>
          <a:prstGeom prst="rect">
            <a:avLst/>
          </a:prstGeom>
          <a:noFill/>
          <a:ln/>
        </p:spPr>
        <p:txBody>
          <a:bodyPr wrap="square" lIns="0" tIns="0" rIns="0" bIns="0" rtlCol="0" anchor="ctr">
            <a:normAutofit/>
          </a:bodyPr>
          <a:lstStyle/>
          <a:p>
            <a:pPr marL="0" indent="0">
              <a:buNone/>
            </a:pPr>
            <a:r>
              <a:rPr lang="en-US" sz="1200" b="1" dirty="0">
                <a:solidFill>
                  <a:srgbClr val="2563EB"/>
                </a:solidFill>
                <a:latin typeface="Arial" pitchFamily="34" charset="0"/>
                <a:ea typeface="Arial" pitchFamily="34" charset="-122"/>
                <a:cs typeface="Arial" pitchFamily="34" charset="-120"/>
              </a:rPr>
              <a:t>2</a:t>
            </a:r>
            <a:endParaRPr lang="en-US" sz="1200" dirty="0"/>
          </a:p>
          <a:p>
            <a:pPr marL="0" indent="0">
              <a:buNone/>
            </a:pPr>
            <a:r>
              <a:rPr lang="en-US" sz="1400" b="1" dirty="0">
                <a:solidFill>
                  <a:srgbClr val="111827"/>
                </a:solidFill>
                <a:latin typeface="Arial" pitchFamily="34" charset="0"/>
                <a:ea typeface="Arial" pitchFamily="34" charset="-122"/>
                <a:cs typeface="Arial" pitchFamily="34" charset="-120"/>
              </a:rPr>
              <a:t>Tasarım</a:t>
            </a:r>
            <a:endParaRPr lang="en-US" sz="1200" dirty="0"/>
          </a:p>
        </p:txBody>
      </p:sp>
      <p:sp>
        <p:nvSpPr>
          <p:cNvPr id="9" name="Text 7"/>
          <p:cNvSpPr txBox="1"/>
          <p:nvPr/>
        </p:nvSpPr>
        <p:spPr>
          <a:xfrm>
            <a:off x="4218432"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4474464" y="1645920"/>
            <a:ext cx="1615440" cy="1051560"/>
          </a:xfrm>
          <a:prstGeom prst="roundRect">
            <a:avLst>
              <a:gd name="adj" fmla="val 8696"/>
            </a:avLst>
          </a:prstGeom>
          <a:solidFill>
            <a:srgbClr val="EFF6FF"/>
          </a:solidFill>
          <a:ln w="9525">
            <a:solidFill>
              <a:srgbClr val="EFF6FF"/>
            </a:solidFill>
            <a:prstDash val="solid"/>
          </a:ln>
        </p:spPr>
      </p:sp>
      <p:sp>
        <p:nvSpPr>
          <p:cNvPr id="11" name="Text 9"/>
          <p:cNvSpPr txBox="1"/>
          <p:nvPr/>
        </p:nvSpPr>
        <p:spPr>
          <a:xfrm>
            <a:off x="4611624" y="1737360"/>
            <a:ext cx="1341120" cy="868680"/>
          </a:xfrm>
          <a:prstGeom prst="rect">
            <a:avLst/>
          </a:prstGeom>
          <a:noFill/>
          <a:ln/>
        </p:spPr>
        <p:txBody>
          <a:bodyPr wrap="square" lIns="0" tIns="0" rIns="0" bIns="0" rtlCol="0" anchor="ctr">
            <a:normAutofit/>
          </a:bodyPr>
          <a:lstStyle/>
          <a:p>
            <a:pPr marL="0" indent="0">
              <a:buNone/>
            </a:pPr>
            <a:r>
              <a:rPr lang="en-US" sz="1200" b="1" dirty="0">
                <a:solidFill>
                  <a:srgbClr val="2563EB"/>
                </a:solidFill>
                <a:latin typeface="Arial" pitchFamily="34" charset="0"/>
                <a:ea typeface="Arial" pitchFamily="34" charset="-122"/>
                <a:cs typeface="Arial" pitchFamily="34" charset="-120"/>
              </a:rPr>
              <a:t>3</a:t>
            </a:r>
            <a:endParaRPr lang="en-US" sz="1200" dirty="0"/>
          </a:p>
          <a:p>
            <a:pPr marL="0" indent="0">
              <a:buNone/>
            </a:pPr>
            <a:r>
              <a:rPr lang="en-US" sz="1400" b="1" dirty="0">
                <a:solidFill>
                  <a:srgbClr val="111827"/>
                </a:solidFill>
                <a:latin typeface="Arial" pitchFamily="34" charset="0"/>
                <a:ea typeface="Arial" pitchFamily="34" charset="-122"/>
                <a:cs typeface="Arial" pitchFamily="34" charset="-120"/>
              </a:rPr>
              <a:t>Geliştirme</a:t>
            </a:r>
            <a:endParaRPr lang="en-US" sz="1200" dirty="0"/>
          </a:p>
        </p:txBody>
      </p:sp>
      <p:sp>
        <p:nvSpPr>
          <p:cNvPr id="12" name="Text 10"/>
          <p:cNvSpPr txBox="1"/>
          <p:nvPr/>
        </p:nvSpPr>
        <p:spPr>
          <a:xfrm>
            <a:off x="6089904"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3" name="Shape 11"/>
          <p:cNvSpPr/>
          <p:nvPr/>
        </p:nvSpPr>
        <p:spPr>
          <a:xfrm>
            <a:off x="6345936" y="1645920"/>
            <a:ext cx="1615440" cy="1051560"/>
          </a:xfrm>
          <a:prstGeom prst="roundRect">
            <a:avLst>
              <a:gd name="adj" fmla="val 8696"/>
            </a:avLst>
          </a:prstGeom>
          <a:solidFill>
            <a:srgbClr val="EFF6FF"/>
          </a:solidFill>
          <a:ln w="9525">
            <a:solidFill>
              <a:srgbClr val="EFF6FF"/>
            </a:solidFill>
            <a:prstDash val="solid"/>
          </a:ln>
        </p:spPr>
      </p:sp>
      <p:sp>
        <p:nvSpPr>
          <p:cNvPr id="14" name="Text 12"/>
          <p:cNvSpPr txBox="1"/>
          <p:nvPr/>
        </p:nvSpPr>
        <p:spPr>
          <a:xfrm>
            <a:off x="6483096" y="1737360"/>
            <a:ext cx="1341120" cy="868680"/>
          </a:xfrm>
          <a:prstGeom prst="rect">
            <a:avLst/>
          </a:prstGeom>
          <a:noFill/>
          <a:ln/>
        </p:spPr>
        <p:txBody>
          <a:bodyPr wrap="square" lIns="0" tIns="0" rIns="0" bIns="0" rtlCol="0" anchor="ctr">
            <a:normAutofit/>
          </a:bodyPr>
          <a:lstStyle/>
          <a:p>
            <a:pPr marL="0" indent="0">
              <a:buNone/>
            </a:pPr>
            <a:r>
              <a:rPr lang="en-US" sz="1200" b="1" dirty="0">
                <a:solidFill>
                  <a:srgbClr val="2563EB"/>
                </a:solidFill>
                <a:latin typeface="Arial" pitchFamily="34" charset="0"/>
                <a:ea typeface="Arial" pitchFamily="34" charset="-122"/>
                <a:cs typeface="Arial" pitchFamily="34" charset="-120"/>
              </a:rPr>
              <a:t>4</a:t>
            </a:r>
            <a:endParaRPr lang="en-US" sz="1200" dirty="0"/>
          </a:p>
          <a:p>
            <a:pPr marL="0" indent="0">
              <a:buNone/>
            </a:pPr>
            <a:r>
              <a:rPr lang="en-US" sz="1400" b="1" dirty="0">
                <a:solidFill>
                  <a:srgbClr val="111827"/>
                </a:solidFill>
                <a:latin typeface="Arial" pitchFamily="34" charset="0"/>
                <a:ea typeface="Arial" pitchFamily="34" charset="-122"/>
                <a:cs typeface="Arial" pitchFamily="34" charset="-120"/>
              </a:rPr>
              <a:t>Test</a:t>
            </a:r>
            <a:endParaRPr lang="en-US" sz="1200" dirty="0"/>
          </a:p>
        </p:txBody>
      </p:sp>
      <p:sp>
        <p:nvSpPr>
          <p:cNvPr id="15" name="Text 13"/>
          <p:cNvSpPr txBox="1"/>
          <p:nvPr/>
        </p:nvSpPr>
        <p:spPr>
          <a:xfrm>
            <a:off x="7961376"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6" name="Shape 14"/>
          <p:cNvSpPr/>
          <p:nvPr/>
        </p:nvSpPr>
        <p:spPr>
          <a:xfrm>
            <a:off x="8217408" y="1645920"/>
            <a:ext cx="1615440" cy="1051560"/>
          </a:xfrm>
          <a:prstGeom prst="roundRect">
            <a:avLst>
              <a:gd name="adj" fmla="val 8696"/>
            </a:avLst>
          </a:prstGeom>
          <a:solidFill>
            <a:srgbClr val="EFF6FF"/>
          </a:solidFill>
          <a:ln w="9525">
            <a:solidFill>
              <a:srgbClr val="EFF6FF"/>
            </a:solidFill>
            <a:prstDash val="solid"/>
          </a:ln>
        </p:spPr>
      </p:sp>
      <p:sp>
        <p:nvSpPr>
          <p:cNvPr id="17" name="Text 15"/>
          <p:cNvSpPr txBox="1"/>
          <p:nvPr/>
        </p:nvSpPr>
        <p:spPr>
          <a:xfrm>
            <a:off x="8354568" y="1737360"/>
            <a:ext cx="1341120" cy="868680"/>
          </a:xfrm>
          <a:prstGeom prst="rect">
            <a:avLst/>
          </a:prstGeom>
          <a:noFill/>
          <a:ln/>
        </p:spPr>
        <p:txBody>
          <a:bodyPr wrap="square" lIns="0" tIns="0" rIns="0" bIns="0" rtlCol="0" anchor="ctr">
            <a:normAutofit/>
          </a:bodyPr>
          <a:lstStyle/>
          <a:p>
            <a:pPr marL="0" indent="0">
              <a:buNone/>
            </a:pPr>
            <a:r>
              <a:rPr lang="en-US" sz="1200" b="1" dirty="0">
                <a:solidFill>
                  <a:srgbClr val="2563EB"/>
                </a:solidFill>
                <a:latin typeface="Arial" pitchFamily="34" charset="0"/>
                <a:ea typeface="Arial" pitchFamily="34" charset="-122"/>
                <a:cs typeface="Arial" pitchFamily="34" charset="-120"/>
              </a:rPr>
              <a:t>5</a:t>
            </a:r>
            <a:endParaRPr lang="en-US" sz="1200" dirty="0"/>
          </a:p>
          <a:p>
            <a:pPr marL="0" indent="0">
              <a:buNone/>
            </a:pPr>
            <a:r>
              <a:rPr lang="en-US" sz="1400" b="1" dirty="0">
                <a:solidFill>
                  <a:srgbClr val="111827"/>
                </a:solidFill>
                <a:latin typeface="Arial" pitchFamily="34" charset="0"/>
                <a:ea typeface="Arial" pitchFamily="34" charset="-122"/>
                <a:cs typeface="Arial" pitchFamily="34" charset="-120"/>
              </a:rPr>
              <a:t>Yayın</a:t>
            </a:r>
            <a:endParaRPr lang="en-US" sz="1200" dirty="0"/>
          </a:p>
        </p:txBody>
      </p:sp>
      <p:sp>
        <p:nvSpPr>
          <p:cNvPr id="18" name="Text 16"/>
          <p:cNvSpPr txBox="1"/>
          <p:nvPr/>
        </p:nvSpPr>
        <p:spPr>
          <a:xfrm>
            <a:off x="9832848"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9" name="Shape 17"/>
          <p:cNvSpPr/>
          <p:nvPr/>
        </p:nvSpPr>
        <p:spPr>
          <a:xfrm>
            <a:off x="10088880" y="1645920"/>
            <a:ext cx="1615440" cy="1051560"/>
          </a:xfrm>
          <a:prstGeom prst="roundRect">
            <a:avLst>
              <a:gd name="adj" fmla="val 8696"/>
            </a:avLst>
          </a:prstGeom>
          <a:solidFill>
            <a:srgbClr val="2563EB"/>
          </a:solidFill>
          <a:ln w="9525">
            <a:solidFill>
              <a:srgbClr val="2563EB"/>
            </a:solidFill>
            <a:prstDash val="solid"/>
          </a:ln>
        </p:spPr>
      </p:sp>
      <p:sp>
        <p:nvSpPr>
          <p:cNvPr id="20" name="Text 18"/>
          <p:cNvSpPr txBox="1"/>
          <p:nvPr/>
        </p:nvSpPr>
        <p:spPr>
          <a:xfrm>
            <a:off x="10226040" y="1737360"/>
            <a:ext cx="1341120" cy="868680"/>
          </a:xfrm>
          <a:prstGeom prst="rect">
            <a:avLst/>
          </a:prstGeom>
          <a:noFill/>
          <a:ln/>
        </p:spPr>
        <p:txBody>
          <a:bodyPr wrap="square" lIns="0" tIns="0" rIns="0" bIns="0" rtlCol="0" anchor="ctr">
            <a:normAutofit/>
          </a:bodyPr>
          <a:lstStyle/>
          <a:p>
            <a:pPr marL="0" indent="0">
              <a:buNone/>
            </a:pPr>
            <a:r>
              <a:rPr lang="en-US" sz="1200" b="1" dirty="0">
                <a:solidFill>
                  <a:srgbClr val="FFFFFF"/>
                </a:solidFill>
                <a:latin typeface="Arial" pitchFamily="34" charset="0"/>
                <a:ea typeface="Arial" pitchFamily="34" charset="-122"/>
                <a:cs typeface="Arial" pitchFamily="34" charset="-120"/>
              </a:rPr>
              <a:t>6</a:t>
            </a:r>
            <a:endParaRPr lang="en-US" sz="1200" dirty="0"/>
          </a:p>
          <a:p>
            <a:pPr marL="0" indent="0">
              <a:buNone/>
            </a:pPr>
            <a:r>
              <a:rPr lang="en-US" sz="1400" b="1" dirty="0">
                <a:solidFill>
                  <a:srgbClr val="FFFFFF"/>
                </a:solidFill>
                <a:latin typeface="Arial" pitchFamily="34" charset="0"/>
                <a:ea typeface="Arial" pitchFamily="34" charset="-122"/>
                <a:cs typeface="Arial" pitchFamily="34" charset="-120"/>
              </a:rPr>
              <a:t>Bakım</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731520" y="3017520"/>
          <a:ext cx="10972800" cy="2968752"/>
        </p:xfrm>
        <a:graphic>
          <a:graphicData uri="http://schemas.openxmlformats.org/drawingml/2006/table">
            <a:tbl>
              <a:tblPr/>
              <a:tblGrid>
                <a:gridCol w="2740670">
                  <a:extLst>
                    <a:ext uri="{9D8B030D-6E8A-4147-A177-3AD203B41FA5}">
                      <a16:colId xmlns:a16="http://schemas.microsoft.com/office/drawing/2014/main" val="20000"/>
                    </a:ext>
                  </a:extLst>
                </a:gridCol>
                <a:gridCol w="4693940">
                  <a:extLst>
                    <a:ext uri="{9D8B030D-6E8A-4147-A177-3AD203B41FA5}">
                      <a16:colId xmlns:a16="http://schemas.microsoft.com/office/drawing/2014/main" val="20001"/>
                    </a:ext>
                  </a:extLst>
                </a:gridCol>
                <a:gridCol w="3538190">
                  <a:extLst>
                    <a:ext uri="{9D8B030D-6E8A-4147-A177-3AD203B41FA5}">
                      <a16:colId xmlns:a16="http://schemas.microsoft.com/office/drawing/2014/main" val="20002"/>
                    </a:ext>
                  </a:extLst>
                </a:gridCol>
              </a:tblGrid>
              <a:tr h="387096">
                <a:tc>
                  <a:txBody>
                    <a:bodyPr/>
                    <a:lstStyle/>
                    <a:p>
                      <a:pPr marL="0" indent="0">
                        <a:buNone/>
                      </a:pPr>
                      <a:r>
                        <a:rPr lang="en-US" sz="1400" b="1" dirty="0">
                          <a:solidFill>
                            <a:srgbClr val="2563EB"/>
                          </a:solidFill>
                        </a:rPr>
                        <a:t>Aşama</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Ne yapılır?</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Çıktı</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extLst>
                  <a:ext uri="{0D108BD9-81ED-4DB2-BD59-A6C34878D82A}">
                    <a16:rowId xmlns:a16="http://schemas.microsoft.com/office/drawing/2014/main" val="10000"/>
                  </a:ext>
                </a:extLst>
              </a:tr>
              <a:tr h="387096">
                <a:tc>
                  <a:txBody>
                    <a:bodyPr/>
                    <a:lstStyle/>
                    <a:p>
                      <a:pPr marL="0" indent="0">
                        <a:buNone/>
                      </a:pPr>
                      <a:r>
                        <a:rPr lang="en-US" sz="1700" b="1" dirty="0">
                          <a:solidFill>
                            <a:srgbClr val="111827"/>
                          </a:solidFill>
                        </a:rPr>
                        <a:t>Fikir ve analiz</a:t>
                      </a:r>
                      <a:endParaRPr lang="en-US" sz="17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Kullanıcı ve ihtiyaç belirlenir</a:t>
                      </a:r>
                      <a:endParaRPr lang="en-US" sz="17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Gereksinim listesi</a:t>
                      </a:r>
                      <a:endParaRPr lang="en-US" sz="17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387096">
                <a:tc>
                  <a:txBody>
                    <a:bodyPr/>
                    <a:lstStyle/>
                    <a:p>
                      <a:pPr marL="0" indent="0">
                        <a:buNone/>
                      </a:pPr>
                      <a:r>
                        <a:rPr lang="en-US" sz="1700" b="1" dirty="0">
                          <a:solidFill>
                            <a:srgbClr val="111827"/>
                          </a:solidFill>
                        </a:rPr>
                        <a:t>Tasarım</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Ekran akışı ve arayüz çizilir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Taslak ve prototip</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387096">
                <a:tc>
                  <a:txBody>
                    <a:bodyPr/>
                    <a:lstStyle/>
                    <a:p>
                      <a:pPr marL="0" indent="0">
                        <a:buNone/>
                      </a:pPr>
                      <a:r>
                        <a:rPr lang="en-US" sz="1700" b="1" dirty="0">
                          <a:solidFill>
                            <a:srgbClr val="111827"/>
                          </a:solidFill>
                        </a:rPr>
                        <a:t>Geliştirme</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Kod yazılır, sunucuya bağlanılır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Çalışan sürüm</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646176">
                <a:tc>
                  <a:txBody>
                    <a:bodyPr/>
                    <a:lstStyle/>
                    <a:p>
                      <a:pPr marL="0" indent="0">
                        <a:buNone/>
                      </a:pPr>
                      <a:r>
                        <a:rPr lang="en-US" sz="1700" b="1" dirty="0">
                          <a:solidFill>
                            <a:srgbClr val="111827"/>
                          </a:solidFill>
                        </a:rPr>
                        <a:t>Test</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Cihazlarda hata ve kullanılabilirlik denenir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Hata listesi, düzeltmeler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387096">
                <a:tc>
                  <a:txBody>
                    <a:bodyPr/>
                    <a:lstStyle/>
                    <a:p>
                      <a:pPr marL="0" indent="0">
                        <a:buNone/>
                      </a:pPr>
                      <a:r>
                        <a:rPr lang="en-US" sz="1700" b="1" dirty="0">
                          <a:solidFill>
                            <a:srgbClr val="111827"/>
                          </a:solidFill>
                        </a:rPr>
                        <a:t>Yayın</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Mağazaya yüklenir, inceleme beklenir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Yayındaki uygulama</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r h="387096">
                <a:tc>
                  <a:txBody>
                    <a:bodyPr/>
                    <a:lstStyle/>
                    <a:p>
                      <a:pPr marL="0" indent="0">
                        <a:buNone/>
                      </a:pPr>
                      <a:r>
                        <a:rPr lang="en-US" sz="1700" b="1" dirty="0">
                          <a:solidFill>
                            <a:srgbClr val="111827"/>
                          </a:solidFill>
                        </a:rPr>
                        <a:t>Bakım</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Hata düzeltilir, yeni özellik eklenir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Güncelleme sürümleri</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buNone/>
            </a:pPr>
            <a:r>
              <a:rPr lang="en-US" sz="2800" b="1" dirty="0">
                <a:solidFill>
                  <a:srgbClr val="111827"/>
                </a:solidFill>
                <a:latin typeface="Arial" pitchFamily="34" charset="0"/>
                <a:ea typeface="Arial" pitchFamily="34" charset="-122"/>
                <a:cs typeface="Arial" pitchFamily="34" charset="-120"/>
              </a:rPr>
              <a:t>Mobil Uygulama Geliştirirken Karşılaşılan Zorluklar</a:t>
            </a:r>
            <a:endParaRPr lang="en-US" sz="28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972800" cy="3874008"/>
        </p:xfrm>
        <a:graphic>
          <a:graphicData uri="http://schemas.openxmlformats.org/drawingml/2006/table">
            <a:tbl>
              <a:tblPr/>
              <a:tblGrid>
                <a:gridCol w="3237044">
                  <a:extLst>
                    <a:ext uri="{9D8B030D-6E8A-4147-A177-3AD203B41FA5}">
                      <a16:colId xmlns:a16="http://schemas.microsoft.com/office/drawing/2014/main" val="20000"/>
                    </a:ext>
                  </a:extLst>
                </a:gridCol>
                <a:gridCol w="3477143">
                  <a:extLst>
                    <a:ext uri="{9D8B030D-6E8A-4147-A177-3AD203B41FA5}">
                      <a16:colId xmlns:a16="http://schemas.microsoft.com/office/drawing/2014/main" val="20001"/>
                    </a:ext>
                  </a:extLst>
                </a:gridCol>
                <a:gridCol w="4258613">
                  <a:extLst>
                    <a:ext uri="{9D8B030D-6E8A-4147-A177-3AD203B41FA5}">
                      <a16:colId xmlns:a16="http://schemas.microsoft.com/office/drawing/2014/main" val="20002"/>
                    </a:ext>
                  </a:extLst>
                </a:gridCol>
              </a:tblGrid>
              <a:tr h="387096">
                <a:tc>
                  <a:txBody>
                    <a:bodyPr/>
                    <a:lstStyle/>
                    <a:p>
                      <a:pPr marL="0" indent="0">
                        <a:buNone/>
                      </a:pPr>
                      <a:r>
                        <a:rPr lang="en-US" sz="1400" b="1" dirty="0">
                          <a:solidFill>
                            <a:srgbClr val="2563EB"/>
                          </a:solidFill>
                        </a:rPr>
                        <a:t>Zorluk</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Neden ortaya çıkar?</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Yaklaşım</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extLst>
                  <a:ext uri="{0D108BD9-81ED-4DB2-BD59-A6C34878D82A}">
                    <a16:rowId xmlns:a16="http://schemas.microsoft.com/office/drawing/2014/main" val="10000"/>
                  </a:ext>
                </a:extLst>
              </a:tr>
              <a:tr h="387096">
                <a:tc>
                  <a:txBody>
                    <a:bodyPr/>
                    <a:lstStyle/>
                    <a:p>
                      <a:pPr marL="0" indent="0">
                        <a:buNone/>
                      </a:pPr>
                      <a:r>
                        <a:rPr lang="en-US" sz="1700" b="1" dirty="0">
                          <a:solidFill>
                            <a:srgbClr val="111827"/>
                          </a:solidFill>
                        </a:rPr>
                        <a:t>Ekran ve cihaz çeşitliliği</a:t>
                      </a:r>
                      <a:endParaRPr lang="en-US" sz="17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Çok sayıda boyut ve çözünürlük</a:t>
                      </a:r>
                      <a:endParaRPr lang="en-US" sz="17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Esnek yerleşim, farklı cihazlarda test</a:t>
                      </a:r>
                      <a:endParaRPr lang="en-US" sz="17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646176">
                <a:tc>
                  <a:txBody>
                    <a:bodyPr/>
                    <a:lstStyle/>
                    <a:p>
                      <a:pPr marL="0" indent="0">
                        <a:buNone/>
                      </a:pPr>
                      <a:r>
                        <a:rPr lang="en-US" sz="1700" b="1" dirty="0">
                          <a:solidFill>
                            <a:srgbClr val="111827"/>
                          </a:solidFill>
                        </a:rPr>
                        <a:t>Performans ve pil</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Sınırlı işlemci ve pil</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Gereksiz işi azaltmak, arka planı sınırlamak</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387096">
                <a:tc>
                  <a:txBody>
                    <a:bodyPr/>
                    <a:lstStyle/>
                    <a:p>
                      <a:pPr marL="0" indent="0">
                        <a:buNone/>
                      </a:pPr>
                      <a:r>
                        <a:rPr lang="en-US" sz="1700" b="1" dirty="0">
                          <a:solidFill>
                            <a:srgbClr val="111827"/>
                          </a:solidFill>
                        </a:rPr>
                        <a:t>Bağlantı kesintisi</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Ağ kopar veya yavaşlar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Yükleniyor ve hata durumları, önbellek</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646176">
                <a:tc>
                  <a:txBody>
                    <a:bodyPr/>
                    <a:lstStyle/>
                    <a:p>
                      <a:pPr marL="0" indent="0">
                        <a:buNone/>
                      </a:pPr>
                      <a:r>
                        <a:rPr lang="en-US" sz="1700" b="1" dirty="0">
                          <a:solidFill>
                            <a:srgbClr val="111827"/>
                          </a:solidFill>
                        </a:rPr>
                        <a:t>Güvenlik ve gizlilik</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Hassas veri ve izinler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En az izin, şifreleme, anahtarı koda gömmemek</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387096">
                <a:tc>
                  <a:txBody>
                    <a:bodyPr/>
                    <a:lstStyle/>
                    <a:p>
                      <a:pPr marL="0" indent="0">
                        <a:buNone/>
                      </a:pPr>
                      <a:r>
                        <a:rPr lang="en-US" sz="1700" b="1" dirty="0">
                          <a:solidFill>
                            <a:srgbClr val="111827"/>
                          </a:solidFill>
                        </a:rPr>
                        <a:t>Platform farkları</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Android ve iOS farklı davranır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Her platformda ayrı test</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r h="646176">
                <a:tc>
                  <a:txBody>
                    <a:bodyPr/>
                    <a:lstStyle/>
                    <a:p>
                      <a:pPr marL="0" indent="0">
                        <a:buNone/>
                      </a:pPr>
                      <a:r>
                        <a:rPr lang="en-US" sz="1700" b="1" dirty="0">
                          <a:solidFill>
                            <a:srgbClr val="111827"/>
                          </a:solidFill>
                        </a:rPr>
                        <a:t>Sürüm ve bağımlılık</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Kütüphaneler hızla eskir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Sürümü sabitlemek, güncel belgeyi okumak</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6"/>
                  </a:ext>
                </a:extLst>
              </a:tr>
              <a:tr h="387096">
                <a:tc>
                  <a:txBody>
                    <a:bodyPr/>
                    <a:lstStyle/>
                    <a:p>
                      <a:pPr marL="0" indent="0">
                        <a:buNone/>
                      </a:pPr>
                      <a:r>
                        <a:rPr lang="en-US" sz="1700" b="1" dirty="0">
                          <a:solidFill>
                            <a:srgbClr val="111827"/>
                          </a:solidFill>
                        </a:rPr>
                        <a:t>Mağaza kuralları</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İnceleme ve politika şartları</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Kuralları erkenden okumak</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822960" y="2194560"/>
            <a:ext cx="7315200" cy="365760"/>
          </a:xfrm>
          <a:prstGeom prst="rect">
            <a:avLst/>
          </a:prstGeom>
          <a:noFill/>
          <a:ln/>
        </p:spPr>
        <p:txBody>
          <a:bodyPr wrap="square" lIns="0" tIns="0" rIns="0" bIns="0" rtlCol="0" anchor="ctr"/>
          <a:lstStyle/>
          <a:p>
            <a:pPr marL="0" indent="0">
              <a:buNone/>
            </a:pPr>
            <a:r>
              <a:rPr lang="en-US" sz="1600" b="1" kern="0" spc="400" dirty="0">
                <a:solidFill>
                  <a:srgbClr val="2563EB"/>
                </a:solidFill>
                <a:latin typeface="Arial" pitchFamily="34" charset="0"/>
                <a:ea typeface="Arial" pitchFamily="34" charset="-122"/>
                <a:cs typeface="Arial" pitchFamily="34" charset="-120"/>
              </a:rPr>
              <a:t>BÖLÜM 2</a:t>
            </a:r>
            <a:endParaRPr lang="en-US" sz="1600" dirty="0"/>
          </a:p>
        </p:txBody>
      </p:sp>
      <p:sp>
        <p:nvSpPr>
          <p:cNvPr id="3" name="Text 1"/>
          <p:cNvSpPr txBox="1"/>
          <p:nvPr/>
        </p:nvSpPr>
        <p:spPr>
          <a:xfrm>
            <a:off x="822960" y="2651760"/>
            <a:ext cx="10058400" cy="1371600"/>
          </a:xfrm>
          <a:prstGeom prst="rect">
            <a:avLst/>
          </a:prstGeom>
          <a:noFill/>
          <a:ln/>
        </p:spPr>
        <p:txBody>
          <a:bodyPr wrap="square" lIns="0" tIns="0" rIns="0" bIns="0" rtlCol="0" anchor="t"/>
          <a:lstStyle/>
          <a:p>
            <a:pPr marL="0" indent="0">
              <a:buNone/>
            </a:pPr>
            <a:r>
              <a:rPr lang="en-US" sz="4400" b="1" dirty="0">
                <a:solidFill>
                  <a:srgbClr val="111827"/>
                </a:solidFill>
                <a:latin typeface="Arial" pitchFamily="34" charset="0"/>
                <a:ea typeface="Arial" pitchFamily="34" charset="-122"/>
                <a:cs typeface="Arial" pitchFamily="34" charset="-120"/>
              </a:rPr>
              <a:t>Geliştirme Yaklaşımları</a:t>
            </a:r>
            <a:endParaRPr lang="en-US" sz="4400" dirty="0"/>
          </a:p>
        </p:txBody>
      </p:sp>
      <p:sp>
        <p:nvSpPr>
          <p:cNvPr id="4" name="Text 2"/>
          <p:cNvSpPr txBox="1"/>
          <p:nvPr/>
        </p:nvSpPr>
        <p:spPr>
          <a:xfrm>
            <a:off x="822960" y="4114800"/>
            <a:ext cx="9144000" cy="548640"/>
          </a:xfrm>
          <a:prstGeom prst="rect">
            <a:avLst/>
          </a:prstGeom>
          <a:noFill/>
          <a:ln/>
        </p:spPr>
        <p:txBody>
          <a:bodyPr wrap="square" lIns="0" tIns="0" rIns="0" bIns="0" rtlCol="0" anchor="ctr"/>
          <a:lstStyle/>
          <a:p>
            <a:pPr marL="0" indent="0">
              <a:buNone/>
            </a:pPr>
            <a:r>
              <a:rPr lang="en-US" sz="2200" dirty="0">
                <a:solidFill>
                  <a:srgbClr val="6B7280"/>
                </a:solidFill>
                <a:latin typeface="Arial" pitchFamily="34" charset="0"/>
                <a:ea typeface="Arial" pitchFamily="34" charset="-122"/>
                <a:cs typeface="Arial" pitchFamily="34" charset="-120"/>
              </a:rPr>
              <a:t>Native, web, hibrit, çapraz platform</a:t>
            </a:r>
            <a:endParaRPr 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buNone/>
            </a:pPr>
            <a:r>
              <a:rPr lang="en-US" sz="3200" b="1" dirty="0">
                <a:solidFill>
                  <a:srgbClr val="111827"/>
                </a:solidFill>
                <a:latin typeface="Arial" pitchFamily="34" charset="0"/>
                <a:ea typeface="Arial" pitchFamily="34" charset="-122"/>
                <a:cs typeface="Arial" pitchFamily="34" charset="-120"/>
              </a:rPr>
              <a:t>Dört Yaklaşıma Genel Bakış</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2551176" cy="1051560"/>
          </a:xfrm>
          <a:prstGeom prst="roundRect">
            <a:avLst>
              <a:gd name="adj" fmla="val 8696"/>
            </a:avLst>
          </a:prstGeom>
          <a:solidFill>
            <a:srgbClr val="EFF6FF"/>
          </a:solidFill>
          <a:ln w="9525">
            <a:solidFill>
              <a:srgbClr val="EFF6FF"/>
            </a:solidFill>
            <a:prstDash val="solid"/>
          </a:ln>
        </p:spPr>
      </p:sp>
      <p:sp>
        <p:nvSpPr>
          <p:cNvPr id="5" name="Text 3"/>
          <p:cNvSpPr txBox="1"/>
          <p:nvPr/>
        </p:nvSpPr>
        <p:spPr>
          <a:xfrm>
            <a:off x="868680" y="1737360"/>
            <a:ext cx="2276856" cy="868680"/>
          </a:xfrm>
          <a:prstGeom prst="rect">
            <a:avLst/>
          </a:prstGeom>
          <a:noFill/>
          <a:ln/>
        </p:spPr>
        <p:txBody>
          <a:bodyPr wrap="square" lIns="0" tIns="0" rIns="0" bIns="0" rtlCol="0" anchor="ctr">
            <a:normAutofit/>
          </a:bodyPr>
          <a:lstStyle/>
          <a:p>
            <a:pPr marL="0" indent="0">
              <a:buNone/>
            </a:pPr>
            <a:r>
              <a:rPr lang="en-US" sz="1200" b="1" dirty="0">
                <a:solidFill>
                  <a:srgbClr val="2563EB"/>
                </a:solidFill>
                <a:latin typeface="Arial" pitchFamily="34" charset="0"/>
                <a:ea typeface="Arial" pitchFamily="34" charset="-122"/>
                <a:cs typeface="Arial" pitchFamily="34" charset="-120"/>
              </a:rPr>
              <a:t>1</a:t>
            </a:r>
            <a:endParaRPr lang="en-US" sz="1200" dirty="0"/>
          </a:p>
          <a:p>
            <a:pPr marL="0" indent="0">
              <a:buNone/>
            </a:pPr>
            <a:r>
              <a:rPr lang="en-US" sz="1600" b="1" dirty="0">
                <a:solidFill>
                  <a:srgbClr val="111827"/>
                </a:solidFill>
                <a:latin typeface="Arial" pitchFamily="34" charset="0"/>
                <a:ea typeface="Arial" pitchFamily="34" charset="-122"/>
                <a:cs typeface="Arial" pitchFamily="34" charset="-120"/>
              </a:rPr>
              <a:t>Native</a:t>
            </a:r>
            <a:endParaRPr lang="en-US" sz="1200" dirty="0"/>
          </a:p>
        </p:txBody>
      </p:sp>
      <p:sp>
        <p:nvSpPr>
          <p:cNvPr id="6" name="Text 4"/>
          <p:cNvSpPr txBox="1"/>
          <p:nvPr/>
        </p:nvSpPr>
        <p:spPr>
          <a:xfrm>
            <a:off x="3282696"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7" name="Shape 5"/>
          <p:cNvSpPr/>
          <p:nvPr/>
        </p:nvSpPr>
        <p:spPr>
          <a:xfrm>
            <a:off x="3538728" y="1645920"/>
            <a:ext cx="2551176" cy="1051560"/>
          </a:xfrm>
          <a:prstGeom prst="roundRect">
            <a:avLst>
              <a:gd name="adj" fmla="val 8696"/>
            </a:avLst>
          </a:prstGeom>
          <a:solidFill>
            <a:srgbClr val="EFF6FF"/>
          </a:solidFill>
          <a:ln w="9525">
            <a:solidFill>
              <a:srgbClr val="EFF6FF"/>
            </a:solidFill>
            <a:prstDash val="solid"/>
          </a:ln>
        </p:spPr>
      </p:sp>
      <p:sp>
        <p:nvSpPr>
          <p:cNvPr id="8" name="Text 6"/>
          <p:cNvSpPr txBox="1"/>
          <p:nvPr/>
        </p:nvSpPr>
        <p:spPr>
          <a:xfrm>
            <a:off x="3675888" y="1737360"/>
            <a:ext cx="2276856" cy="868680"/>
          </a:xfrm>
          <a:prstGeom prst="rect">
            <a:avLst/>
          </a:prstGeom>
          <a:noFill/>
          <a:ln/>
        </p:spPr>
        <p:txBody>
          <a:bodyPr wrap="square" lIns="0" tIns="0" rIns="0" bIns="0" rtlCol="0" anchor="ctr">
            <a:normAutofit/>
          </a:bodyPr>
          <a:lstStyle/>
          <a:p>
            <a:pPr marL="0" indent="0">
              <a:buNone/>
            </a:pPr>
            <a:r>
              <a:rPr lang="en-US" sz="1200" b="1" dirty="0">
                <a:solidFill>
                  <a:srgbClr val="2563EB"/>
                </a:solidFill>
                <a:latin typeface="Arial" pitchFamily="34" charset="0"/>
                <a:ea typeface="Arial" pitchFamily="34" charset="-122"/>
                <a:cs typeface="Arial" pitchFamily="34" charset="-120"/>
              </a:rPr>
              <a:t>2</a:t>
            </a:r>
            <a:endParaRPr lang="en-US" sz="1200" dirty="0"/>
          </a:p>
          <a:p>
            <a:pPr marL="0" indent="0">
              <a:buNone/>
            </a:pPr>
            <a:r>
              <a:rPr lang="en-US" sz="1600" b="1" dirty="0">
                <a:solidFill>
                  <a:srgbClr val="111827"/>
                </a:solidFill>
                <a:latin typeface="Arial" pitchFamily="34" charset="0"/>
                <a:ea typeface="Arial" pitchFamily="34" charset="-122"/>
                <a:cs typeface="Arial" pitchFamily="34" charset="-120"/>
              </a:rPr>
              <a:t>Çapraz platform</a:t>
            </a:r>
            <a:endParaRPr lang="en-US" sz="1200" dirty="0"/>
          </a:p>
        </p:txBody>
      </p:sp>
      <p:sp>
        <p:nvSpPr>
          <p:cNvPr id="9" name="Text 7"/>
          <p:cNvSpPr txBox="1"/>
          <p:nvPr/>
        </p:nvSpPr>
        <p:spPr>
          <a:xfrm>
            <a:off x="6089904"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6345936" y="1645920"/>
            <a:ext cx="2551176" cy="1051560"/>
          </a:xfrm>
          <a:prstGeom prst="roundRect">
            <a:avLst>
              <a:gd name="adj" fmla="val 8696"/>
            </a:avLst>
          </a:prstGeom>
          <a:solidFill>
            <a:srgbClr val="EFF6FF"/>
          </a:solidFill>
          <a:ln w="9525">
            <a:solidFill>
              <a:srgbClr val="EFF6FF"/>
            </a:solidFill>
            <a:prstDash val="solid"/>
          </a:ln>
        </p:spPr>
      </p:sp>
      <p:sp>
        <p:nvSpPr>
          <p:cNvPr id="11" name="Text 9"/>
          <p:cNvSpPr txBox="1"/>
          <p:nvPr/>
        </p:nvSpPr>
        <p:spPr>
          <a:xfrm>
            <a:off x="6483096" y="1737360"/>
            <a:ext cx="2276856" cy="868680"/>
          </a:xfrm>
          <a:prstGeom prst="rect">
            <a:avLst/>
          </a:prstGeom>
          <a:noFill/>
          <a:ln/>
        </p:spPr>
        <p:txBody>
          <a:bodyPr wrap="square" lIns="0" tIns="0" rIns="0" bIns="0" rtlCol="0" anchor="ctr">
            <a:normAutofit/>
          </a:bodyPr>
          <a:lstStyle/>
          <a:p>
            <a:pPr marL="0" indent="0">
              <a:buNone/>
            </a:pPr>
            <a:r>
              <a:rPr lang="en-US" sz="1200" b="1" dirty="0">
                <a:solidFill>
                  <a:srgbClr val="2563EB"/>
                </a:solidFill>
                <a:latin typeface="Arial" pitchFamily="34" charset="0"/>
                <a:ea typeface="Arial" pitchFamily="34" charset="-122"/>
                <a:cs typeface="Arial" pitchFamily="34" charset="-120"/>
              </a:rPr>
              <a:t>3</a:t>
            </a:r>
            <a:endParaRPr lang="en-US" sz="1200" dirty="0"/>
          </a:p>
          <a:p>
            <a:pPr marL="0" indent="0">
              <a:buNone/>
            </a:pPr>
            <a:r>
              <a:rPr lang="en-US" sz="1600" b="1" dirty="0">
                <a:solidFill>
                  <a:srgbClr val="111827"/>
                </a:solidFill>
                <a:latin typeface="Arial" pitchFamily="34" charset="0"/>
                <a:ea typeface="Arial" pitchFamily="34" charset="-122"/>
                <a:cs typeface="Arial" pitchFamily="34" charset="-120"/>
              </a:rPr>
              <a:t>Hibrit</a:t>
            </a:r>
            <a:endParaRPr lang="en-US" sz="1200" dirty="0"/>
          </a:p>
        </p:txBody>
      </p:sp>
      <p:sp>
        <p:nvSpPr>
          <p:cNvPr id="12" name="Text 10"/>
          <p:cNvSpPr txBox="1"/>
          <p:nvPr/>
        </p:nvSpPr>
        <p:spPr>
          <a:xfrm>
            <a:off x="8897112"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3" name="Shape 11"/>
          <p:cNvSpPr/>
          <p:nvPr/>
        </p:nvSpPr>
        <p:spPr>
          <a:xfrm>
            <a:off x="9153144" y="1645920"/>
            <a:ext cx="2551176" cy="1051560"/>
          </a:xfrm>
          <a:prstGeom prst="roundRect">
            <a:avLst>
              <a:gd name="adj" fmla="val 8696"/>
            </a:avLst>
          </a:prstGeom>
          <a:solidFill>
            <a:srgbClr val="2563EB"/>
          </a:solidFill>
          <a:ln w="9525">
            <a:solidFill>
              <a:srgbClr val="2563EB"/>
            </a:solidFill>
            <a:prstDash val="solid"/>
          </a:ln>
        </p:spPr>
      </p:sp>
      <p:sp>
        <p:nvSpPr>
          <p:cNvPr id="14" name="Text 12"/>
          <p:cNvSpPr txBox="1"/>
          <p:nvPr/>
        </p:nvSpPr>
        <p:spPr>
          <a:xfrm>
            <a:off x="9290304" y="1737360"/>
            <a:ext cx="2276856" cy="868680"/>
          </a:xfrm>
          <a:prstGeom prst="rect">
            <a:avLst/>
          </a:prstGeom>
          <a:noFill/>
          <a:ln/>
        </p:spPr>
        <p:txBody>
          <a:bodyPr wrap="square" lIns="0" tIns="0" rIns="0" bIns="0" rtlCol="0" anchor="ctr">
            <a:normAutofit/>
          </a:bodyPr>
          <a:lstStyle/>
          <a:p>
            <a:pPr marL="0" indent="0">
              <a:buNone/>
            </a:pPr>
            <a:r>
              <a:rPr lang="en-US" sz="1200" b="1" dirty="0">
                <a:solidFill>
                  <a:srgbClr val="FFFFFF"/>
                </a:solidFill>
                <a:latin typeface="Arial" pitchFamily="34" charset="0"/>
                <a:ea typeface="Arial" pitchFamily="34" charset="-122"/>
                <a:cs typeface="Arial" pitchFamily="34" charset="-120"/>
              </a:rPr>
              <a:t>4</a:t>
            </a:r>
            <a:endParaRPr lang="en-US" sz="1200" dirty="0"/>
          </a:p>
          <a:p>
            <a:pPr marL="0" indent="0">
              <a:buNone/>
            </a:pPr>
            <a:r>
              <a:rPr lang="en-US" sz="1600" b="1" dirty="0">
                <a:solidFill>
                  <a:srgbClr val="FFFFFF"/>
                </a:solidFill>
                <a:latin typeface="Arial" pitchFamily="34" charset="0"/>
                <a:ea typeface="Arial" pitchFamily="34" charset="-122"/>
                <a:cs typeface="Arial" pitchFamily="34" charset="-120"/>
              </a:rPr>
              <a:t>Web</a:t>
            </a:r>
            <a:endParaRPr lang="en-US" sz="1200" dirty="0"/>
          </a:p>
        </p:txBody>
      </p:sp>
      <p:pic>
        <p:nvPicPr>
          <p:cNvPr id="15" name="Image 0" descr="/tmp/claude-0/-home-claude/bb2dbc6e-f574-5e99-8510-889b704da121/scratchpad/decks/logos/kotlin.png"/>
          <p:cNvPicPr>
            <a:picLocks noChangeAspect="1"/>
          </p:cNvPicPr>
          <p:nvPr/>
        </p:nvPicPr>
        <p:blipFill>
          <a:blip r:embed="rId3"/>
          <a:stretch>
            <a:fillRect/>
          </a:stretch>
        </p:blipFill>
        <p:spPr>
          <a:xfrm>
            <a:off x="1458468" y="2880360"/>
            <a:ext cx="457200" cy="457200"/>
          </a:xfrm>
          <a:prstGeom prst="rect">
            <a:avLst/>
          </a:prstGeom>
        </p:spPr>
      </p:pic>
      <p:pic>
        <p:nvPicPr>
          <p:cNvPr id="16" name="Image 1" descr="/tmp/claude-0/-home-claude/bb2dbc6e-f574-5e99-8510-889b704da121/scratchpad/decks/logos/swift.png"/>
          <p:cNvPicPr>
            <a:picLocks noChangeAspect="1"/>
          </p:cNvPicPr>
          <p:nvPr/>
        </p:nvPicPr>
        <p:blipFill>
          <a:blip r:embed="rId4"/>
          <a:stretch>
            <a:fillRect/>
          </a:stretch>
        </p:blipFill>
        <p:spPr>
          <a:xfrm>
            <a:off x="2098548" y="2880360"/>
            <a:ext cx="457200" cy="457200"/>
          </a:xfrm>
          <a:prstGeom prst="rect">
            <a:avLst/>
          </a:prstGeom>
        </p:spPr>
      </p:pic>
      <p:pic>
        <p:nvPicPr>
          <p:cNvPr id="17" name="Image 2" descr="/tmp/claude-0/-home-claude/bb2dbc6e-f574-5e99-8510-889b704da121/scratchpad/decks/logos/react.png"/>
          <p:cNvPicPr>
            <a:picLocks noChangeAspect="1"/>
          </p:cNvPicPr>
          <p:nvPr/>
        </p:nvPicPr>
        <p:blipFill>
          <a:blip r:embed="rId5"/>
          <a:stretch>
            <a:fillRect/>
          </a:stretch>
        </p:blipFill>
        <p:spPr>
          <a:xfrm>
            <a:off x="4265676" y="2880360"/>
            <a:ext cx="457200" cy="457200"/>
          </a:xfrm>
          <a:prstGeom prst="rect">
            <a:avLst/>
          </a:prstGeom>
        </p:spPr>
      </p:pic>
      <p:pic>
        <p:nvPicPr>
          <p:cNvPr id="18" name="Image 3" descr="/tmp/claude-0/-home-claude/bb2dbc6e-f574-5e99-8510-889b704da121/scratchpad/decks/logos/flutter.png"/>
          <p:cNvPicPr>
            <a:picLocks noChangeAspect="1"/>
          </p:cNvPicPr>
          <p:nvPr/>
        </p:nvPicPr>
        <p:blipFill>
          <a:blip r:embed="rId6"/>
          <a:stretch>
            <a:fillRect/>
          </a:stretch>
        </p:blipFill>
        <p:spPr>
          <a:xfrm>
            <a:off x="4905756" y="2880360"/>
            <a:ext cx="457200" cy="457200"/>
          </a:xfrm>
          <a:prstGeom prst="rect">
            <a:avLst/>
          </a:prstGeom>
        </p:spPr>
      </p:pic>
      <p:pic>
        <p:nvPicPr>
          <p:cNvPr id="19" name="Image 4" descr="/tmp/claude-0/-home-claude/bb2dbc6e-f574-5e99-8510-889b704da121/scratchpad/decks/logos/html.png"/>
          <p:cNvPicPr>
            <a:picLocks noChangeAspect="1"/>
          </p:cNvPicPr>
          <p:nvPr/>
        </p:nvPicPr>
        <p:blipFill>
          <a:blip r:embed="rId7"/>
          <a:stretch>
            <a:fillRect/>
          </a:stretch>
        </p:blipFill>
        <p:spPr>
          <a:xfrm>
            <a:off x="7392924" y="2880360"/>
            <a:ext cx="457200" cy="457200"/>
          </a:xfrm>
          <a:prstGeom prst="rect">
            <a:avLst/>
          </a:prstGeom>
        </p:spPr>
      </p:pic>
      <p:pic>
        <p:nvPicPr>
          <p:cNvPr id="20" name="Image 5" descr="/tmp/claude-0/-home-claude/bb2dbc6e-f574-5e99-8510-889b704da121/scratchpad/decks/logos/html.png"/>
          <p:cNvPicPr>
            <a:picLocks noChangeAspect="1"/>
          </p:cNvPicPr>
          <p:nvPr/>
        </p:nvPicPr>
        <p:blipFill>
          <a:blip r:embed="rId7"/>
          <a:stretch>
            <a:fillRect/>
          </a:stretch>
        </p:blipFill>
        <p:spPr>
          <a:xfrm>
            <a:off x="9880092" y="2880360"/>
            <a:ext cx="457200" cy="457200"/>
          </a:xfrm>
          <a:prstGeom prst="rect">
            <a:avLst/>
          </a:prstGeom>
        </p:spPr>
      </p:pic>
      <p:pic>
        <p:nvPicPr>
          <p:cNvPr id="21" name="Image 6" descr="/tmp/claude-0/-home-claude/bb2dbc6e-f574-5e99-8510-889b704da121/scratchpad/decks/logos/js.png"/>
          <p:cNvPicPr>
            <a:picLocks noChangeAspect="1"/>
          </p:cNvPicPr>
          <p:nvPr/>
        </p:nvPicPr>
        <p:blipFill>
          <a:blip r:embed="rId8"/>
          <a:stretch>
            <a:fillRect/>
          </a:stretch>
        </p:blipFill>
        <p:spPr>
          <a:xfrm>
            <a:off x="10520172" y="2880360"/>
            <a:ext cx="457200" cy="457200"/>
          </a:xfrm>
          <a:prstGeom prst="rect">
            <a:avLst/>
          </a:prstGeom>
        </p:spPr>
      </p:pic>
      <p:sp>
        <p:nvSpPr>
          <p:cNvPr id="22" name="Text 13"/>
          <p:cNvSpPr txBox="1"/>
          <p:nvPr/>
        </p:nvSpPr>
        <p:spPr>
          <a:xfrm>
            <a:off x="731520" y="3611880"/>
            <a:ext cx="6766560" cy="2697480"/>
          </a:xfrm>
          <a:prstGeom prst="rect">
            <a:avLst/>
          </a:prstGeom>
          <a:noFill/>
          <a:ln/>
        </p:spPr>
        <p:txBody>
          <a:bodyPr wrap="square" lIns="0" tIns="0" rIns="0" bIns="0" rtlCol="0" anchor="t"/>
          <a:lstStyle/>
          <a:p>
            <a:pPr marL="0" indent="0" algn="just">
              <a:spcAft>
                <a:spcPts val="800"/>
              </a:spcAft>
              <a:buNone/>
            </a:pPr>
            <a:r>
              <a:rPr lang="en-US" sz="2200" dirty="0">
                <a:solidFill>
                  <a:srgbClr val="111827"/>
                </a:solidFill>
                <a:latin typeface="Arial" pitchFamily="34" charset="0"/>
                <a:ea typeface="Arial" pitchFamily="34" charset="-122"/>
                <a:cs typeface="Arial" pitchFamily="34" charset="-120"/>
              </a:rPr>
              <a:t>Soldan sağa gidildikçe platforma yakınlık azalır, kod paylaşımı ve yayın kolaylığı artar. Native, platformun kendi dil ve araçlarını kullanır. Çapraz platform ortak kodu yerel arayüze çevirir. Hibrit, web sayfasını bir uygulama kabuğu içinde çalıştırır. Web uygulaması ise tarayıcıda çalışır, mağaza gerektirmez.</a:t>
            </a:r>
            <a:endParaRPr lang="en-US" sz="2200" dirty="0"/>
          </a:p>
        </p:txBody>
      </p:sp>
      <p:sp>
        <p:nvSpPr>
          <p:cNvPr id="23" name="Shape 14"/>
          <p:cNvSpPr/>
          <p:nvPr/>
        </p:nvSpPr>
        <p:spPr>
          <a:xfrm>
            <a:off x="7863840" y="3611880"/>
            <a:ext cx="3657600" cy="1383792"/>
          </a:xfrm>
          <a:prstGeom prst="roundRect">
            <a:avLst>
              <a:gd name="adj" fmla="val 6608"/>
            </a:avLst>
          </a:prstGeom>
          <a:solidFill>
            <a:srgbClr val="EFF6FF"/>
          </a:solidFill>
          <a:ln w="9525">
            <a:solidFill>
              <a:srgbClr val="EFF6FF"/>
            </a:solidFill>
            <a:prstDash val="solid"/>
          </a:ln>
        </p:spPr>
      </p:sp>
      <p:sp>
        <p:nvSpPr>
          <p:cNvPr id="24" name="Text 15"/>
          <p:cNvSpPr txBox="1"/>
          <p:nvPr/>
        </p:nvSpPr>
        <p:spPr>
          <a:xfrm>
            <a:off x="8065008" y="3739896"/>
            <a:ext cx="3255264" cy="1127760"/>
          </a:xfrm>
          <a:prstGeom prst="rect">
            <a:avLst/>
          </a:prstGeom>
          <a:noFill/>
          <a:ln/>
        </p:spPr>
        <p:txBody>
          <a:bodyPr wrap="square" lIns="0" tIns="0" rIns="0" bIns="0" rtlCol="0" anchor="t"/>
          <a:lstStyle/>
          <a:p>
            <a:pPr marL="0" indent="0">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buNone/>
            </a:pPr>
            <a:r>
              <a:rPr lang="en-US" sz="1400" dirty="0">
                <a:solidFill>
                  <a:srgbClr val="111827"/>
                </a:solidFill>
                <a:latin typeface="Arial" pitchFamily="34" charset="0"/>
                <a:ea typeface="Arial" pitchFamily="34" charset="-122"/>
                <a:cs typeface="Arial" pitchFamily="34" charset="-120"/>
              </a:rPr>
              <a:t>Sınırlar kesin değildir; bazı araçlar iki kategori arasında konumlanır. Sınıflandırmayı etiket için değil, ödünleşimleri anlamak için yapıyoruz.</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buNone/>
            </a:pPr>
            <a:r>
              <a:rPr lang="en-US" sz="3200" b="1" dirty="0">
                <a:solidFill>
                  <a:srgbClr val="111827"/>
                </a:solidFill>
                <a:latin typeface="Arial" pitchFamily="34" charset="0"/>
                <a:ea typeface="Arial" pitchFamily="34" charset="-122"/>
                <a:cs typeface="Arial" pitchFamily="34" charset="-120"/>
              </a:rPr>
              <a:t>Native Geliştirme</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6766560" cy="4663440"/>
          </a:xfrm>
          <a:prstGeom prst="rect">
            <a:avLst/>
          </a:prstGeom>
          <a:noFill/>
          <a:ln/>
        </p:spPr>
        <p:txBody>
          <a:bodyPr wrap="square" lIns="0" tIns="0" rIns="0" bIns="0" rtlCol="0" anchor="t"/>
          <a:lstStyle/>
          <a:p>
            <a:pPr marL="0" indent="0" algn="just">
              <a:spcAft>
                <a:spcPts val="800"/>
              </a:spcAft>
              <a:buNone/>
            </a:pPr>
            <a:r>
              <a:rPr lang="en-US" sz="2200" dirty="0">
                <a:solidFill>
                  <a:srgbClr val="111827"/>
                </a:solidFill>
                <a:latin typeface="Arial" pitchFamily="34" charset="0"/>
                <a:ea typeface="Arial" pitchFamily="34" charset="-122"/>
                <a:cs typeface="Arial" pitchFamily="34" charset="-120"/>
              </a:rPr>
              <a:t>Native geliştirmede Android için Kotlin ve Android Studio, iOS için Swift ve Xcode kullanılır. Uygulama doğrudan platformun arayüz bileşenlerini ve API'lerini çağırır; bu yüzden en iyi performans ve en geniş donanım erişimi sağlanır. Bedeli, iki ayrı kod tabanı, iki ayrı beceri seti ve iki kat bakım emeğidir.</a:t>
            </a:r>
            <a:endParaRPr lang="en-US" sz="2200" dirty="0"/>
          </a:p>
          <a:p>
            <a:pPr marL="0" indent="0">
              <a:spcAft>
                <a:spcPts val="800"/>
              </a:spcAft>
              <a:buNone/>
            </a:pPr>
            <a:r>
              <a:rPr lang="en-US" sz="2200" b="1" dirty="0">
                <a:solidFill>
                  <a:srgbClr val="2563EB"/>
                </a:solidFill>
                <a:latin typeface="Arial" pitchFamily="34" charset="0"/>
                <a:ea typeface="Arial" pitchFamily="34" charset="-122"/>
                <a:cs typeface="Arial" pitchFamily="34" charset="-120"/>
              </a:rPr>
              <a:t>Örnek: </a:t>
            </a:r>
            <a:r>
              <a:rPr lang="en-US" sz="2200" dirty="0">
                <a:solidFill>
                  <a:srgbClr val="111827"/>
                </a:solidFill>
                <a:latin typeface="Arial" pitchFamily="34" charset="0"/>
                <a:ea typeface="Arial" pitchFamily="34" charset="-122"/>
                <a:cs typeface="Arial" pitchFamily="34" charset="-120"/>
              </a:rPr>
              <a:t>Yüksek performanslı oyunlar, kamera ve gerçek zamanlı ses işleyen uygulamalar, yeni platform özelliklerine ilk gün erişmesi gereken ürünler.</a:t>
            </a:r>
            <a:endParaRPr lang="en-US" sz="2200" dirty="0"/>
          </a:p>
        </p:txBody>
      </p:sp>
      <p:sp>
        <p:nvSpPr>
          <p:cNvPr id="5" name="Shape 3"/>
          <p:cNvSpPr/>
          <p:nvPr/>
        </p:nvSpPr>
        <p:spPr>
          <a:xfrm>
            <a:off x="7772400" y="1645920"/>
            <a:ext cx="1051560" cy="1325880"/>
          </a:xfrm>
          <a:prstGeom prst="roundRect">
            <a:avLst>
              <a:gd name="adj" fmla="val 8696"/>
            </a:avLst>
          </a:prstGeom>
          <a:solidFill>
            <a:srgbClr val="FFFFFF"/>
          </a:solidFill>
          <a:ln w="15875">
            <a:solidFill>
              <a:srgbClr val="CBD5E1"/>
            </a:solidFill>
            <a:prstDash val="solid"/>
          </a:ln>
        </p:spPr>
      </p:sp>
      <p:pic>
        <p:nvPicPr>
          <p:cNvPr id="6" name="Image 0" descr="/tmp/claude-0/-home-claude/bb2dbc6e-f574-5e99-8510-889b704da121/scratchpad/decks/logos/kotlin.png"/>
          <p:cNvPicPr>
            <a:picLocks noChangeAspect="1"/>
          </p:cNvPicPr>
          <p:nvPr/>
        </p:nvPicPr>
        <p:blipFill>
          <a:blip r:embed="rId3"/>
          <a:stretch>
            <a:fillRect/>
          </a:stretch>
        </p:blipFill>
        <p:spPr>
          <a:xfrm>
            <a:off x="8046720" y="1810512"/>
            <a:ext cx="502920" cy="502920"/>
          </a:xfrm>
          <a:prstGeom prst="rect">
            <a:avLst/>
          </a:prstGeom>
        </p:spPr>
      </p:pic>
      <p:sp>
        <p:nvSpPr>
          <p:cNvPr id="7" name="Text 4"/>
          <p:cNvSpPr txBox="1"/>
          <p:nvPr/>
        </p:nvSpPr>
        <p:spPr>
          <a:xfrm>
            <a:off x="7772400" y="2423160"/>
            <a:ext cx="1051560" cy="457200"/>
          </a:xfrm>
          <a:prstGeom prst="rect">
            <a:avLst/>
          </a:prstGeom>
          <a:noFill/>
          <a:ln/>
        </p:spPr>
        <p:txBody>
          <a:bodyPr wrap="square" lIns="0" tIns="0" rIns="0" bIns="0" rtlCol="0" anchor="ctr"/>
          <a:lstStyle/>
          <a:p>
            <a:pPr marL="0" indent="0" algn="ctr">
              <a:buNone/>
            </a:pPr>
            <a:r>
              <a:rPr lang="en-US" sz="1200" b="1" dirty="0">
                <a:solidFill>
                  <a:srgbClr val="111827"/>
                </a:solidFill>
                <a:latin typeface="Arial" pitchFamily="34" charset="0"/>
                <a:ea typeface="Arial" pitchFamily="34" charset="-122"/>
                <a:cs typeface="Arial" pitchFamily="34" charset="-120"/>
              </a:rPr>
              <a:t>Kotlin</a:t>
            </a:r>
            <a:endParaRPr lang="en-US" sz="1200" dirty="0"/>
          </a:p>
        </p:txBody>
      </p:sp>
      <p:sp>
        <p:nvSpPr>
          <p:cNvPr id="8" name="Text 5"/>
          <p:cNvSpPr txBox="1"/>
          <p:nvPr/>
        </p:nvSpPr>
        <p:spPr>
          <a:xfrm>
            <a:off x="8823960" y="2057400"/>
            <a:ext cx="320040" cy="457200"/>
          </a:xfrm>
          <a:prstGeom prst="rect">
            <a:avLst/>
          </a:prstGeom>
          <a:noFill/>
          <a:ln/>
        </p:spPr>
        <p:txBody>
          <a:bodyPr wrap="square" lIns="0" tIns="0" rIns="0" bIns="0" rtlCol="0" anchor="ctr"/>
          <a:lstStyle/>
          <a:p>
            <a:pPr marL="0" indent="0" algn="ctr">
              <a:buNone/>
            </a:pPr>
            <a:r>
              <a:rPr lang="en-US" sz="2000" dirty="0">
                <a:solidFill>
                  <a:srgbClr val="6B7280"/>
                </a:solidFill>
                <a:latin typeface="Arial" pitchFamily="34" charset="0"/>
                <a:ea typeface="Arial" pitchFamily="34" charset="-122"/>
                <a:cs typeface="Arial" pitchFamily="34" charset="-120"/>
              </a:rPr>
              <a:t>→</a:t>
            </a:r>
            <a:endParaRPr lang="en-US" sz="2000" dirty="0"/>
          </a:p>
        </p:txBody>
      </p:sp>
      <p:sp>
        <p:nvSpPr>
          <p:cNvPr id="9" name="Shape 6"/>
          <p:cNvSpPr/>
          <p:nvPr/>
        </p:nvSpPr>
        <p:spPr>
          <a:xfrm>
            <a:off x="9144000" y="1645920"/>
            <a:ext cx="1051560" cy="1325880"/>
          </a:xfrm>
          <a:prstGeom prst="roundRect">
            <a:avLst>
              <a:gd name="adj" fmla="val 8696"/>
            </a:avLst>
          </a:prstGeom>
          <a:solidFill>
            <a:srgbClr val="FFFFFF"/>
          </a:solidFill>
          <a:ln w="15875">
            <a:solidFill>
              <a:srgbClr val="CBD5E1"/>
            </a:solidFill>
            <a:prstDash val="solid"/>
          </a:ln>
        </p:spPr>
      </p:sp>
      <p:pic>
        <p:nvPicPr>
          <p:cNvPr id="10" name="Image 1" descr="/tmp/claude-0/-home-claude/bb2dbc6e-f574-5e99-8510-889b704da121/scratchpad/decks/logos/android.png"/>
          <p:cNvPicPr>
            <a:picLocks noChangeAspect="1"/>
          </p:cNvPicPr>
          <p:nvPr/>
        </p:nvPicPr>
        <p:blipFill>
          <a:blip r:embed="rId4"/>
          <a:stretch>
            <a:fillRect/>
          </a:stretch>
        </p:blipFill>
        <p:spPr>
          <a:xfrm>
            <a:off x="9418320" y="1810512"/>
            <a:ext cx="502920" cy="502920"/>
          </a:xfrm>
          <a:prstGeom prst="rect">
            <a:avLst/>
          </a:prstGeom>
        </p:spPr>
      </p:pic>
      <p:sp>
        <p:nvSpPr>
          <p:cNvPr id="11" name="Text 7"/>
          <p:cNvSpPr txBox="1"/>
          <p:nvPr/>
        </p:nvSpPr>
        <p:spPr>
          <a:xfrm>
            <a:off x="9144000" y="2423160"/>
            <a:ext cx="1051560" cy="457200"/>
          </a:xfrm>
          <a:prstGeom prst="rect">
            <a:avLst/>
          </a:prstGeom>
          <a:noFill/>
          <a:ln/>
        </p:spPr>
        <p:txBody>
          <a:bodyPr wrap="square" lIns="0" tIns="0" rIns="0" bIns="0" rtlCol="0" anchor="ctr"/>
          <a:lstStyle/>
          <a:p>
            <a:pPr marL="0" indent="0" algn="ctr">
              <a:buNone/>
            </a:pPr>
            <a:r>
              <a:rPr lang="en-US" sz="1200" b="1" dirty="0">
                <a:solidFill>
                  <a:srgbClr val="111827"/>
                </a:solidFill>
                <a:latin typeface="Arial" pitchFamily="34" charset="0"/>
                <a:ea typeface="Arial" pitchFamily="34" charset="-122"/>
                <a:cs typeface="Arial" pitchFamily="34" charset="-120"/>
              </a:rPr>
              <a:t>Android</a:t>
            </a:r>
            <a:endParaRPr lang="en-US" sz="1200" dirty="0"/>
          </a:p>
        </p:txBody>
      </p:sp>
      <p:sp>
        <p:nvSpPr>
          <p:cNvPr id="12" name="Text 8"/>
          <p:cNvSpPr txBox="1"/>
          <p:nvPr/>
        </p:nvSpPr>
        <p:spPr>
          <a:xfrm>
            <a:off x="10195560" y="2057400"/>
            <a:ext cx="320040" cy="457200"/>
          </a:xfrm>
          <a:prstGeom prst="rect">
            <a:avLst/>
          </a:prstGeom>
          <a:noFill/>
          <a:ln/>
        </p:spPr>
        <p:txBody>
          <a:bodyPr wrap="square" lIns="0" tIns="0" rIns="0" bIns="0" rtlCol="0" anchor="ctr"/>
          <a:lstStyle/>
          <a:p>
            <a:pPr marL="0" indent="0" algn="ctr">
              <a:buNone/>
            </a:pPr>
            <a:r>
              <a:rPr lang="en-US" sz="2000" dirty="0">
                <a:solidFill>
                  <a:srgbClr val="6B7280"/>
                </a:solidFill>
                <a:latin typeface="Arial" pitchFamily="34" charset="0"/>
                <a:ea typeface="Arial" pitchFamily="34" charset="-122"/>
                <a:cs typeface="Arial" pitchFamily="34" charset="-120"/>
              </a:rPr>
              <a:t>→</a:t>
            </a:r>
            <a:endParaRPr lang="en-US" sz="2000" dirty="0"/>
          </a:p>
        </p:txBody>
      </p:sp>
      <p:sp>
        <p:nvSpPr>
          <p:cNvPr id="13" name="Shape 9"/>
          <p:cNvSpPr/>
          <p:nvPr/>
        </p:nvSpPr>
        <p:spPr>
          <a:xfrm>
            <a:off x="10515600" y="1645920"/>
            <a:ext cx="1051560" cy="1325880"/>
          </a:xfrm>
          <a:prstGeom prst="roundRect">
            <a:avLst>
              <a:gd name="adj" fmla="val 8696"/>
            </a:avLst>
          </a:prstGeom>
          <a:solidFill>
            <a:srgbClr val="FFFFFF"/>
          </a:solidFill>
          <a:ln w="15875">
            <a:solidFill>
              <a:srgbClr val="CBD5E1"/>
            </a:solidFill>
            <a:prstDash val="solid"/>
          </a:ln>
        </p:spPr>
      </p:sp>
      <p:pic>
        <p:nvPicPr>
          <p:cNvPr id="14" name="Image 2" descr="/tmp/claude-0/-home-claude/bb2dbc6e-f574-5e99-8510-889b704da121/scratchpad/decks/logos/play.png"/>
          <p:cNvPicPr>
            <a:picLocks noChangeAspect="1"/>
          </p:cNvPicPr>
          <p:nvPr/>
        </p:nvPicPr>
        <p:blipFill>
          <a:blip r:embed="rId5"/>
          <a:stretch>
            <a:fillRect/>
          </a:stretch>
        </p:blipFill>
        <p:spPr>
          <a:xfrm>
            <a:off x="10789920" y="1810512"/>
            <a:ext cx="502920" cy="502920"/>
          </a:xfrm>
          <a:prstGeom prst="rect">
            <a:avLst/>
          </a:prstGeom>
        </p:spPr>
      </p:pic>
      <p:sp>
        <p:nvSpPr>
          <p:cNvPr id="15" name="Text 10"/>
          <p:cNvSpPr txBox="1"/>
          <p:nvPr/>
        </p:nvSpPr>
        <p:spPr>
          <a:xfrm>
            <a:off x="10515600" y="2423160"/>
            <a:ext cx="1051560" cy="457200"/>
          </a:xfrm>
          <a:prstGeom prst="rect">
            <a:avLst/>
          </a:prstGeom>
          <a:noFill/>
          <a:ln/>
        </p:spPr>
        <p:txBody>
          <a:bodyPr wrap="square" lIns="0" tIns="0" rIns="0" bIns="0" rtlCol="0" anchor="ctr"/>
          <a:lstStyle/>
          <a:p>
            <a:pPr marL="0" indent="0" algn="ctr">
              <a:buNone/>
            </a:pPr>
            <a:r>
              <a:rPr lang="en-US" sz="1200" b="1" dirty="0">
                <a:solidFill>
                  <a:srgbClr val="111827"/>
                </a:solidFill>
                <a:latin typeface="Arial" pitchFamily="34" charset="0"/>
                <a:ea typeface="Arial" pitchFamily="34" charset="-122"/>
                <a:cs typeface="Arial" pitchFamily="34" charset="-120"/>
              </a:rPr>
              <a:t>Google Play</a:t>
            </a:r>
            <a:endParaRPr lang="en-US" sz="1200" dirty="0"/>
          </a:p>
        </p:txBody>
      </p:sp>
      <p:sp>
        <p:nvSpPr>
          <p:cNvPr id="16" name="Shape 11"/>
          <p:cNvSpPr/>
          <p:nvPr/>
        </p:nvSpPr>
        <p:spPr>
          <a:xfrm>
            <a:off x="7772400" y="3749040"/>
            <a:ext cx="1051560" cy="1325880"/>
          </a:xfrm>
          <a:prstGeom prst="roundRect">
            <a:avLst>
              <a:gd name="adj" fmla="val 8696"/>
            </a:avLst>
          </a:prstGeom>
          <a:solidFill>
            <a:srgbClr val="FFFFFF"/>
          </a:solidFill>
          <a:ln w="15875">
            <a:solidFill>
              <a:srgbClr val="CBD5E1"/>
            </a:solidFill>
            <a:prstDash val="solid"/>
          </a:ln>
        </p:spPr>
      </p:sp>
      <p:pic>
        <p:nvPicPr>
          <p:cNvPr id="17" name="Image 3" descr="/tmp/claude-0/-home-claude/bb2dbc6e-f574-5e99-8510-889b704da121/scratchpad/decks/logos/swift.png"/>
          <p:cNvPicPr>
            <a:picLocks noChangeAspect="1"/>
          </p:cNvPicPr>
          <p:nvPr/>
        </p:nvPicPr>
        <p:blipFill>
          <a:blip r:embed="rId6"/>
          <a:stretch>
            <a:fillRect/>
          </a:stretch>
        </p:blipFill>
        <p:spPr>
          <a:xfrm>
            <a:off x="8046720" y="3913632"/>
            <a:ext cx="502920" cy="502920"/>
          </a:xfrm>
          <a:prstGeom prst="rect">
            <a:avLst/>
          </a:prstGeom>
        </p:spPr>
      </p:pic>
      <p:sp>
        <p:nvSpPr>
          <p:cNvPr id="18" name="Text 12"/>
          <p:cNvSpPr txBox="1"/>
          <p:nvPr/>
        </p:nvSpPr>
        <p:spPr>
          <a:xfrm>
            <a:off x="7772400" y="4526280"/>
            <a:ext cx="1051560" cy="457200"/>
          </a:xfrm>
          <a:prstGeom prst="rect">
            <a:avLst/>
          </a:prstGeom>
          <a:noFill/>
          <a:ln/>
        </p:spPr>
        <p:txBody>
          <a:bodyPr wrap="square" lIns="0" tIns="0" rIns="0" bIns="0" rtlCol="0" anchor="ctr"/>
          <a:lstStyle/>
          <a:p>
            <a:pPr marL="0" indent="0" algn="ctr">
              <a:buNone/>
            </a:pPr>
            <a:r>
              <a:rPr lang="en-US" sz="1200" b="1" dirty="0">
                <a:solidFill>
                  <a:srgbClr val="111827"/>
                </a:solidFill>
                <a:latin typeface="Arial" pitchFamily="34" charset="0"/>
                <a:ea typeface="Arial" pitchFamily="34" charset="-122"/>
                <a:cs typeface="Arial" pitchFamily="34" charset="-120"/>
              </a:rPr>
              <a:t>Swift</a:t>
            </a:r>
            <a:endParaRPr lang="en-US" sz="1200" dirty="0"/>
          </a:p>
        </p:txBody>
      </p:sp>
      <p:sp>
        <p:nvSpPr>
          <p:cNvPr id="19" name="Text 13"/>
          <p:cNvSpPr txBox="1"/>
          <p:nvPr/>
        </p:nvSpPr>
        <p:spPr>
          <a:xfrm>
            <a:off x="8823960" y="4160520"/>
            <a:ext cx="320040" cy="457200"/>
          </a:xfrm>
          <a:prstGeom prst="rect">
            <a:avLst/>
          </a:prstGeom>
          <a:noFill/>
          <a:ln/>
        </p:spPr>
        <p:txBody>
          <a:bodyPr wrap="square" lIns="0" tIns="0" rIns="0" bIns="0" rtlCol="0" anchor="ctr"/>
          <a:lstStyle/>
          <a:p>
            <a:pPr marL="0" indent="0" algn="ctr">
              <a:buNone/>
            </a:pPr>
            <a:r>
              <a:rPr lang="en-US" sz="2000" dirty="0">
                <a:solidFill>
                  <a:srgbClr val="6B7280"/>
                </a:solidFill>
                <a:latin typeface="Arial" pitchFamily="34" charset="0"/>
                <a:ea typeface="Arial" pitchFamily="34" charset="-122"/>
                <a:cs typeface="Arial" pitchFamily="34" charset="-120"/>
              </a:rPr>
              <a:t>→</a:t>
            </a:r>
            <a:endParaRPr lang="en-US" sz="2000" dirty="0"/>
          </a:p>
        </p:txBody>
      </p:sp>
      <p:sp>
        <p:nvSpPr>
          <p:cNvPr id="20" name="Shape 14"/>
          <p:cNvSpPr/>
          <p:nvPr/>
        </p:nvSpPr>
        <p:spPr>
          <a:xfrm>
            <a:off x="9144000" y="3749040"/>
            <a:ext cx="1051560" cy="1325880"/>
          </a:xfrm>
          <a:prstGeom prst="roundRect">
            <a:avLst>
              <a:gd name="adj" fmla="val 8696"/>
            </a:avLst>
          </a:prstGeom>
          <a:solidFill>
            <a:srgbClr val="FFFFFF"/>
          </a:solidFill>
          <a:ln w="15875">
            <a:solidFill>
              <a:srgbClr val="CBD5E1"/>
            </a:solidFill>
            <a:prstDash val="solid"/>
          </a:ln>
        </p:spPr>
      </p:sp>
      <p:pic>
        <p:nvPicPr>
          <p:cNvPr id="21" name="Image 4" descr="/tmp/claude-0/-home-claude/bb2dbc6e-f574-5e99-8510-889b704da121/scratchpad/decks/logos/ios.png"/>
          <p:cNvPicPr>
            <a:picLocks noChangeAspect="1"/>
          </p:cNvPicPr>
          <p:nvPr/>
        </p:nvPicPr>
        <p:blipFill>
          <a:blip r:embed="rId7"/>
          <a:stretch>
            <a:fillRect/>
          </a:stretch>
        </p:blipFill>
        <p:spPr>
          <a:xfrm>
            <a:off x="9418320" y="3913632"/>
            <a:ext cx="502920" cy="502920"/>
          </a:xfrm>
          <a:prstGeom prst="rect">
            <a:avLst/>
          </a:prstGeom>
        </p:spPr>
      </p:pic>
      <p:sp>
        <p:nvSpPr>
          <p:cNvPr id="22" name="Text 15"/>
          <p:cNvSpPr txBox="1"/>
          <p:nvPr/>
        </p:nvSpPr>
        <p:spPr>
          <a:xfrm>
            <a:off x="9144000" y="4526280"/>
            <a:ext cx="1051560" cy="457200"/>
          </a:xfrm>
          <a:prstGeom prst="rect">
            <a:avLst/>
          </a:prstGeom>
          <a:noFill/>
          <a:ln/>
        </p:spPr>
        <p:txBody>
          <a:bodyPr wrap="square" lIns="0" tIns="0" rIns="0" bIns="0" rtlCol="0" anchor="ctr"/>
          <a:lstStyle/>
          <a:p>
            <a:pPr marL="0" indent="0" algn="ctr">
              <a:buNone/>
            </a:pPr>
            <a:r>
              <a:rPr lang="en-US" sz="1200" b="1" dirty="0">
                <a:solidFill>
                  <a:srgbClr val="111827"/>
                </a:solidFill>
                <a:latin typeface="Arial" pitchFamily="34" charset="0"/>
                <a:ea typeface="Arial" pitchFamily="34" charset="-122"/>
                <a:cs typeface="Arial" pitchFamily="34" charset="-120"/>
              </a:rPr>
              <a:t>iOS</a:t>
            </a:r>
            <a:endParaRPr lang="en-US" sz="1200" dirty="0"/>
          </a:p>
        </p:txBody>
      </p:sp>
      <p:sp>
        <p:nvSpPr>
          <p:cNvPr id="23" name="Text 16"/>
          <p:cNvSpPr txBox="1"/>
          <p:nvPr/>
        </p:nvSpPr>
        <p:spPr>
          <a:xfrm>
            <a:off x="10195560" y="4160520"/>
            <a:ext cx="320040" cy="457200"/>
          </a:xfrm>
          <a:prstGeom prst="rect">
            <a:avLst/>
          </a:prstGeom>
          <a:noFill/>
          <a:ln/>
        </p:spPr>
        <p:txBody>
          <a:bodyPr wrap="square" lIns="0" tIns="0" rIns="0" bIns="0" rtlCol="0" anchor="ctr"/>
          <a:lstStyle/>
          <a:p>
            <a:pPr marL="0" indent="0" algn="ctr">
              <a:buNone/>
            </a:pPr>
            <a:r>
              <a:rPr lang="en-US" sz="2000" dirty="0">
                <a:solidFill>
                  <a:srgbClr val="6B7280"/>
                </a:solidFill>
                <a:latin typeface="Arial" pitchFamily="34" charset="0"/>
                <a:ea typeface="Arial" pitchFamily="34" charset="-122"/>
                <a:cs typeface="Arial" pitchFamily="34" charset="-120"/>
              </a:rPr>
              <a:t>→</a:t>
            </a:r>
            <a:endParaRPr lang="en-US" sz="2000" dirty="0"/>
          </a:p>
        </p:txBody>
      </p:sp>
      <p:sp>
        <p:nvSpPr>
          <p:cNvPr id="24" name="Shape 17"/>
          <p:cNvSpPr/>
          <p:nvPr/>
        </p:nvSpPr>
        <p:spPr>
          <a:xfrm>
            <a:off x="10515600" y="3749040"/>
            <a:ext cx="1051560" cy="1325880"/>
          </a:xfrm>
          <a:prstGeom prst="roundRect">
            <a:avLst>
              <a:gd name="adj" fmla="val 8696"/>
            </a:avLst>
          </a:prstGeom>
          <a:solidFill>
            <a:srgbClr val="FFFFFF"/>
          </a:solidFill>
          <a:ln w="15875">
            <a:solidFill>
              <a:srgbClr val="CBD5E1"/>
            </a:solidFill>
            <a:prstDash val="solid"/>
          </a:ln>
        </p:spPr>
      </p:sp>
      <p:pic>
        <p:nvPicPr>
          <p:cNvPr id="25" name="Image 5" descr="/tmp/claude-0/-home-claude/bb2dbc6e-f574-5e99-8510-889b704da121/scratchpad/decks/logos/appstore.png"/>
          <p:cNvPicPr>
            <a:picLocks noChangeAspect="1"/>
          </p:cNvPicPr>
          <p:nvPr/>
        </p:nvPicPr>
        <p:blipFill>
          <a:blip r:embed="rId8"/>
          <a:stretch>
            <a:fillRect/>
          </a:stretch>
        </p:blipFill>
        <p:spPr>
          <a:xfrm>
            <a:off x="10789920" y="3913632"/>
            <a:ext cx="502920" cy="502920"/>
          </a:xfrm>
          <a:prstGeom prst="rect">
            <a:avLst/>
          </a:prstGeom>
        </p:spPr>
      </p:pic>
      <p:sp>
        <p:nvSpPr>
          <p:cNvPr id="26" name="Text 18"/>
          <p:cNvSpPr txBox="1"/>
          <p:nvPr/>
        </p:nvSpPr>
        <p:spPr>
          <a:xfrm>
            <a:off x="10515600" y="4526280"/>
            <a:ext cx="1051560" cy="457200"/>
          </a:xfrm>
          <a:prstGeom prst="rect">
            <a:avLst/>
          </a:prstGeom>
          <a:noFill/>
          <a:ln/>
        </p:spPr>
        <p:txBody>
          <a:bodyPr wrap="square" lIns="0" tIns="0" rIns="0" bIns="0" rtlCol="0" anchor="ctr"/>
          <a:lstStyle/>
          <a:p>
            <a:pPr marL="0" indent="0" algn="ctr">
              <a:buNone/>
            </a:pPr>
            <a:r>
              <a:rPr lang="en-US" sz="1200" b="1" dirty="0">
                <a:solidFill>
                  <a:srgbClr val="111827"/>
                </a:solidFill>
                <a:latin typeface="Arial" pitchFamily="34" charset="0"/>
                <a:ea typeface="Arial" pitchFamily="34" charset="-122"/>
                <a:cs typeface="Arial" pitchFamily="34" charset="-120"/>
              </a:rPr>
              <a:t>App Store</a:t>
            </a:r>
            <a:endParaRPr lang="en-US" sz="1200" dirty="0"/>
          </a:p>
        </p:txBody>
      </p:sp>
      <p:sp>
        <p:nvSpPr>
          <p:cNvPr id="27" name="Text 19"/>
          <p:cNvSpPr txBox="1"/>
          <p:nvPr/>
        </p:nvSpPr>
        <p:spPr>
          <a:xfrm>
            <a:off x="7772400" y="5166360"/>
            <a:ext cx="3749040" cy="365760"/>
          </a:xfrm>
          <a:prstGeom prst="rect">
            <a:avLst/>
          </a:prstGeom>
          <a:noFill/>
          <a:ln/>
        </p:spPr>
        <p:txBody>
          <a:bodyPr wrap="square" lIns="0" tIns="0" rIns="0" bIns="0" rtlCol="0" anchor="t"/>
          <a:lstStyle/>
          <a:p>
            <a:pPr marL="0" indent="0" algn="ctr">
              <a:buNone/>
            </a:pPr>
            <a:r>
              <a:rPr lang="en-US" sz="1300" dirty="0">
                <a:solidFill>
                  <a:srgbClr val="6B7280"/>
                </a:solidFill>
                <a:latin typeface="Arial" pitchFamily="34" charset="0"/>
                <a:ea typeface="Arial" pitchFamily="34" charset="-122"/>
                <a:cs typeface="Arial" pitchFamily="34" charset="-120"/>
              </a:rPr>
              <a:t>İki ayrı kod tabanı, iki ayrı mağaza</a:t>
            </a:r>
            <a:endParaRPr lang="en-US" sz="1300" dirty="0"/>
          </a:p>
        </p:txBody>
      </p:sp>
      <p:sp>
        <p:nvSpPr>
          <p:cNvPr id="28"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buNone/>
            </a:pPr>
            <a:r>
              <a:rPr lang="en-US" sz="3200" b="1" dirty="0">
                <a:solidFill>
                  <a:srgbClr val="111827"/>
                </a:solidFill>
                <a:latin typeface="Arial" pitchFamily="34" charset="0"/>
                <a:ea typeface="Arial" pitchFamily="34" charset="-122"/>
                <a:cs typeface="Arial" pitchFamily="34" charset="-120"/>
              </a:rPr>
              <a:t>Android Studio ve Xcode Karşılaştırması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graphicFrame>
        <p:nvGraphicFramePr>
          <p:cNvPr id="23" name="Table 0"/>
          <p:cNvGraphicFramePr>
            <a:graphicFrameLocks noGrp="1"/>
          </p:cNvGraphicFramePr>
          <p:nvPr>
            <p:extLst>
              <p:ext uri="{D42A27DB-BD31-4B8C-83A1-F6EECF244321}">
                <p14:modId xmlns:p14="http://schemas.microsoft.com/office/powerpoint/2010/main" val="847500177"/>
              </p:ext>
            </p:extLst>
          </p:nvPr>
        </p:nvGraphicFramePr>
        <p:xfrm>
          <a:off x="731520" y="1645920"/>
          <a:ext cx="10972800" cy="3096768"/>
        </p:xfrm>
        <a:graphic>
          <a:graphicData uri="http://schemas.openxmlformats.org/drawingml/2006/table">
            <a:tbl>
              <a:tblPr/>
              <a:tblGrid>
                <a:gridCol w="2834645">
                  <a:extLst>
                    <a:ext uri="{9D8B030D-6E8A-4147-A177-3AD203B41FA5}">
                      <a16:colId xmlns:a16="http://schemas.microsoft.com/office/drawing/2014/main" val="20000"/>
                    </a:ext>
                  </a:extLst>
                </a:gridCol>
                <a:gridCol w="3945659">
                  <a:extLst>
                    <a:ext uri="{9D8B030D-6E8A-4147-A177-3AD203B41FA5}">
                      <a16:colId xmlns:a16="http://schemas.microsoft.com/office/drawing/2014/main" val="20001"/>
                    </a:ext>
                  </a:extLst>
                </a:gridCol>
                <a:gridCol w="4192496">
                  <a:extLst>
                    <a:ext uri="{9D8B030D-6E8A-4147-A177-3AD203B41FA5}">
                      <a16:colId xmlns:a16="http://schemas.microsoft.com/office/drawing/2014/main" val="20002"/>
                    </a:ext>
                  </a:extLst>
                </a:gridCol>
              </a:tblGrid>
              <a:tr h="387096">
                <a:tc>
                  <a:txBody>
                    <a:bodyPr/>
                    <a:lstStyle/>
                    <a:p>
                      <a:pPr marL="0" indent="0">
                        <a:buNone/>
                      </a:pPr>
                      <a:r>
                        <a:rPr lang="en-US" sz="1400" b="1" dirty="0">
                          <a:solidFill>
                            <a:srgbClr val="2563EB"/>
                          </a:solidFill>
                        </a:rPr>
                        <a:t>Ölçüt</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Android Studio</a:t>
                      </a:r>
                      <a:endParaRPr lang="en-US" sz="1400" dirty="0"/>
                    </a:p>
                  </a:txBody>
                  <a:tcPr marL="457200"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Xcode</a:t>
                      </a:r>
                      <a:endParaRPr lang="en-US" sz="1400" dirty="0"/>
                    </a:p>
                  </a:txBody>
                  <a:tcPr marL="457200"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extLst>
                  <a:ext uri="{0D108BD9-81ED-4DB2-BD59-A6C34878D82A}">
                    <a16:rowId xmlns:a16="http://schemas.microsoft.com/office/drawing/2014/main" val="10000"/>
                  </a:ext>
                </a:extLst>
              </a:tr>
              <a:tr h="387096">
                <a:tc>
                  <a:txBody>
                    <a:bodyPr/>
                    <a:lstStyle/>
                    <a:p>
                      <a:pPr marL="0" indent="0">
                        <a:buNone/>
                      </a:pPr>
                      <a:r>
                        <a:rPr lang="en-US" sz="1700" b="1" dirty="0">
                          <a:solidFill>
                            <a:srgbClr val="111827"/>
                          </a:solidFill>
                        </a:rPr>
                        <a:t>Geliştiren</a:t>
                      </a:r>
                      <a:endParaRPr lang="en-US" sz="17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Google (IntelliJ tabanlı)</a:t>
                      </a:r>
                      <a:endParaRPr lang="en-US" sz="17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Apple</a:t>
                      </a:r>
                      <a:endParaRPr lang="en-US" sz="17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387096">
                <a:tc>
                  <a:txBody>
                    <a:bodyPr/>
                    <a:lstStyle/>
                    <a:p>
                      <a:pPr marL="0" indent="0">
                        <a:buNone/>
                      </a:pPr>
                      <a:r>
                        <a:rPr lang="en-US" sz="1700" b="1" dirty="0">
                          <a:solidFill>
                            <a:srgbClr val="111827"/>
                          </a:solidFill>
                        </a:rPr>
                        <a:t>Çalıştığı sistem</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Windows, macOS, Linux</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Yalnızca macOS</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387096">
                <a:tc>
                  <a:txBody>
                    <a:bodyPr/>
                    <a:lstStyle/>
                    <a:p>
                      <a:pPr marL="0" indent="0">
                        <a:buNone/>
                      </a:pPr>
                      <a:r>
                        <a:rPr lang="en-US" sz="1700" b="1" dirty="0">
                          <a:solidFill>
                            <a:srgbClr val="111827"/>
                          </a:solidFill>
                        </a:rPr>
                        <a:t>Ana diller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Kotlin, Java</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Swift, Objective-C</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387096">
                <a:tc>
                  <a:txBody>
                    <a:bodyPr/>
                    <a:lstStyle/>
                    <a:p>
                      <a:pPr marL="0" indent="0">
                        <a:buNone/>
                      </a:pPr>
                      <a:r>
                        <a:rPr lang="en-US" sz="1700" b="1" dirty="0">
                          <a:solidFill>
                            <a:srgbClr val="111827"/>
                          </a:solidFill>
                        </a:rPr>
                        <a:t>Arayüz tasarımı</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Layout Editor, Compose önizleme</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Interface Builder, SwiftUI önizleme</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387096">
                <a:tc>
                  <a:txBody>
                    <a:bodyPr/>
                    <a:lstStyle/>
                    <a:p>
                      <a:pPr marL="0" indent="0">
                        <a:buNone/>
                      </a:pPr>
                      <a:r>
                        <a:rPr lang="en-US" sz="1700" b="1" dirty="0">
                          <a:solidFill>
                            <a:srgbClr val="111827"/>
                          </a:solidFill>
                        </a:rPr>
                        <a:t>Derleme sistemi</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Gradle</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Xcode Build System</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r h="387096">
                <a:tc>
                  <a:txBody>
                    <a:bodyPr/>
                    <a:lstStyle/>
                    <a:p>
                      <a:pPr marL="0" indent="0">
                        <a:buNone/>
                      </a:pPr>
                      <a:r>
                        <a:rPr lang="en-US" sz="1700" b="1" dirty="0">
                          <a:solidFill>
                            <a:srgbClr val="111827"/>
                          </a:solidFill>
                        </a:rPr>
                        <a:t>Sanal cihaz</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Android Emulator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iOS Simulator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6"/>
                  </a:ext>
                </a:extLst>
              </a:tr>
              <a:tr h="387096">
                <a:tc>
                  <a:txBody>
                    <a:bodyPr/>
                    <a:lstStyle/>
                    <a:p>
                      <a:pPr marL="0" indent="0">
                        <a:buNone/>
                      </a:pPr>
                      <a:r>
                        <a:rPr lang="en-US" sz="1700" b="1" dirty="0">
                          <a:solidFill>
                            <a:srgbClr val="111827"/>
                          </a:solidFill>
                        </a:rPr>
                        <a:t>Test ve </a:t>
                      </a:r>
                      <a:r>
                        <a:rPr lang="en-US" sz="1700" b="1" dirty="0" err="1">
                          <a:solidFill>
                            <a:srgbClr val="111827"/>
                          </a:solidFill>
                        </a:rPr>
                        <a:t>Hata</a:t>
                      </a:r>
                      <a:r>
                        <a:rPr lang="en-US" sz="1700" b="1" dirty="0">
                          <a:solidFill>
                            <a:srgbClr val="111827"/>
                          </a:solidFill>
                        </a:rPr>
                        <a:t> </a:t>
                      </a:r>
                      <a:r>
                        <a:rPr lang="en-US" sz="1700" b="1" dirty="0" err="1">
                          <a:solidFill>
                            <a:srgbClr val="111827"/>
                          </a:solidFill>
                        </a:rPr>
                        <a:t>Ayıklama</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Logcat - JUnit, Espresso  </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Instruments - </a:t>
                      </a:r>
                      <a:r>
                        <a:rPr lang="en-US" sz="1700" dirty="0" err="1">
                          <a:solidFill>
                            <a:srgbClr val="111827"/>
                          </a:solidFill>
                        </a:rPr>
                        <a:t>XCTest</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pic>
        <p:nvPicPr>
          <p:cNvPr id="5" name="Image 0" descr="/tmp/claude-0/-home-claude/bb2dbc6e-f574-5e99-8510-889b704da121/scratchpad/decks/logos/android.png"/>
          <p:cNvPicPr>
            <a:picLocks noChangeAspect="1"/>
          </p:cNvPicPr>
          <p:nvPr/>
        </p:nvPicPr>
        <p:blipFill>
          <a:blip r:embed="rId3"/>
          <a:stretch>
            <a:fillRect/>
          </a:stretch>
        </p:blipFill>
        <p:spPr>
          <a:xfrm>
            <a:off x="3639317" y="1684020"/>
            <a:ext cx="310896" cy="310896"/>
          </a:xfrm>
          <a:prstGeom prst="rect">
            <a:avLst/>
          </a:prstGeom>
        </p:spPr>
      </p:pic>
      <p:pic>
        <p:nvPicPr>
          <p:cNvPr id="6" name="Image 1" descr="/tmp/claude-0/-home-claude/bb2dbc6e-f574-5e99-8510-889b704da121/scratchpad/decks/logos/apple.png"/>
          <p:cNvPicPr>
            <a:picLocks noChangeAspect="1"/>
          </p:cNvPicPr>
          <p:nvPr/>
        </p:nvPicPr>
        <p:blipFill>
          <a:blip r:embed="rId4"/>
          <a:stretch>
            <a:fillRect/>
          </a:stretch>
        </p:blipFill>
        <p:spPr>
          <a:xfrm>
            <a:off x="7584976" y="1684020"/>
            <a:ext cx="310896" cy="310896"/>
          </a:xfrm>
          <a:prstGeom prst="rect">
            <a:avLst/>
          </a:prstGeom>
        </p:spPr>
      </p:pic>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buNone/>
            </a:pPr>
            <a:r>
              <a:rPr lang="en-US" sz="3200" b="1" dirty="0">
                <a:solidFill>
                  <a:srgbClr val="111827"/>
                </a:solidFill>
                <a:latin typeface="Arial" pitchFamily="34" charset="0"/>
                <a:ea typeface="Arial" pitchFamily="34" charset="-122"/>
                <a:cs typeface="Arial" pitchFamily="34" charset="-120"/>
              </a:rPr>
              <a:t>Web Uygulaması ve PWA</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10972800" cy="4663440"/>
          </a:xfrm>
          <a:prstGeom prst="rect">
            <a:avLst/>
          </a:prstGeom>
          <a:noFill/>
          <a:ln/>
        </p:spPr>
        <p:txBody>
          <a:bodyPr wrap="square" lIns="0" tIns="0" rIns="0" bIns="0" rtlCol="0" anchor="t"/>
          <a:lstStyle/>
          <a:p>
            <a:pPr marL="0" indent="0" algn="just">
              <a:spcAft>
                <a:spcPts val="800"/>
              </a:spcAft>
              <a:buNone/>
            </a:pPr>
            <a:r>
              <a:rPr lang="en-US" sz="2200" dirty="0">
                <a:solidFill>
                  <a:srgbClr val="111827"/>
                </a:solidFill>
                <a:latin typeface="Arial" pitchFamily="34" charset="0"/>
                <a:ea typeface="Arial" pitchFamily="34" charset="-122"/>
                <a:cs typeface="Arial" pitchFamily="34" charset="-120"/>
              </a:rPr>
              <a:t>Web uygulaması tarayıcıda çalışır; kurulum veya mağaza onayı gerektirmez ve tek kod tabanı tüm cihazlarda açılır. Progressive Web App (PWA) bunun üstüne ana ekrana ekleme, çevrimdışı önbellek ve sınırlı bildirim ekler. Buna rağmen platform API erişimi kısıtlıdır ve işletim sistemine göre PWA desteği farklılaşabilir.</a:t>
            </a:r>
            <a:endParaRPr lang="en-US" sz="2200" dirty="0"/>
          </a:p>
          <a:p>
            <a:pPr marL="0" indent="0" algn="just">
              <a:spcAft>
                <a:spcPts val="800"/>
              </a:spcAft>
              <a:buNone/>
            </a:pPr>
            <a:r>
              <a:rPr lang="en-US" sz="2200" b="1" dirty="0">
                <a:solidFill>
                  <a:srgbClr val="2563EB"/>
                </a:solidFill>
                <a:latin typeface="Arial" pitchFamily="34" charset="0"/>
                <a:ea typeface="Arial" pitchFamily="34" charset="-122"/>
                <a:cs typeface="Arial" pitchFamily="34" charset="-120"/>
              </a:rPr>
              <a:t>Seçim mantığı: </a:t>
            </a:r>
            <a:r>
              <a:rPr lang="en-US" sz="2200" dirty="0">
                <a:solidFill>
                  <a:srgbClr val="111827"/>
                </a:solidFill>
                <a:latin typeface="Arial" pitchFamily="34" charset="0"/>
                <a:ea typeface="Arial" pitchFamily="34" charset="-122"/>
                <a:cs typeface="Arial" pitchFamily="34" charset="-120"/>
              </a:rPr>
              <a:t>İçerik ağırlıklı, sık güncellenen ve arama motorundan trafik alan ürünlerde web yaklaşımı güçlüdür; derin donanım entegrasyonu gerekiyorsa yetersiz kalır.</a:t>
            </a:r>
            <a:endParaRPr lang="en-US" sz="22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buNone/>
            </a:pPr>
            <a:r>
              <a:rPr lang="en-US" sz="3200" b="1" dirty="0">
                <a:solidFill>
                  <a:srgbClr val="111827"/>
                </a:solidFill>
                <a:latin typeface="Arial" pitchFamily="34" charset="0"/>
                <a:ea typeface="Arial" pitchFamily="34" charset="-122"/>
                <a:cs typeface="Arial" pitchFamily="34" charset="-120"/>
              </a:rPr>
              <a:t>Hibrit Yaklaşım</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6766560" cy="4663440"/>
          </a:xfrm>
          <a:prstGeom prst="rect">
            <a:avLst/>
          </a:prstGeom>
          <a:noFill/>
          <a:ln/>
        </p:spPr>
        <p:txBody>
          <a:bodyPr wrap="square" lIns="0" tIns="0" rIns="0" bIns="0" rtlCol="0" anchor="t"/>
          <a:lstStyle/>
          <a:p>
            <a:pPr marL="0" indent="0" algn="just">
              <a:spcAft>
                <a:spcPts val="800"/>
              </a:spcAft>
              <a:buNone/>
            </a:pPr>
            <a:r>
              <a:rPr lang="en-US" sz="2200" dirty="0">
                <a:solidFill>
                  <a:srgbClr val="111827"/>
                </a:solidFill>
                <a:latin typeface="Arial" pitchFamily="34" charset="0"/>
                <a:ea typeface="Arial" pitchFamily="34" charset="-122"/>
                <a:cs typeface="Arial" pitchFamily="34" charset="-120"/>
              </a:rPr>
              <a:t>Hibrit uygulamada arayüz HTML, CSS ve JavaScript ile yazılır, ancak bir yerel kabuğun içindeki WebView'da gösterilir; kabuk, kamera gibi cihaz özelliklerine eklentilerle erişir. Apache Cordova ve onun ticari türevi PhoneGap bu yaklaşımın öncüleridir; günümüzde Ionic ile Capacitor aynı fikri modern araçlarla sürdürür.</a:t>
            </a:r>
            <a:endParaRPr lang="en-US" sz="2200" dirty="0"/>
          </a:p>
        </p:txBody>
      </p:sp>
      <p:sp>
        <p:nvSpPr>
          <p:cNvPr id="5" name="Shape 3"/>
          <p:cNvSpPr/>
          <p:nvPr/>
        </p:nvSpPr>
        <p:spPr>
          <a:xfrm>
            <a:off x="7863840" y="1645920"/>
            <a:ext cx="3657600" cy="1383792"/>
          </a:xfrm>
          <a:prstGeom prst="roundRect">
            <a:avLst>
              <a:gd name="adj" fmla="val 6608"/>
            </a:avLst>
          </a:prstGeom>
          <a:solidFill>
            <a:srgbClr val="EFF6FF"/>
          </a:solidFill>
          <a:ln w="9525">
            <a:solidFill>
              <a:srgbClr val="EFF6FF"/>
            </a:solidFill>
            <a:prstDash val="solid"/>
          </a:ln>
        </p:spPr>
      </p:sp>
      <p:sp>
        <p:nvSpPr>
          <p:cNvPr id="6" name="Text 4"/>
          <p:cNvSpPr txBox="1"/>
          <p:nvPr/>
        </p:nvSpPr>
        <p:spPr>
          <a:xfrm>
            <a:off x="8065008" y="1773936"/>
            <a:ext cx="3255264" cy="1127760"/>
          </a:xfrm>
          <a:prstGeom prst="rect">
            <a:avLst/>
          </a:prstGeom>
          <a:noFill/>
          <a:ln/>
        </p:spPr>
        <p:txBody>
          <a:bodyPr wrap="square" lIns="0" tIns="0" rIns="0" bIns="0" rtlCol="0" anchor="t"/>
          <a:lstStyle/>
          <a:p>
            <a:pPr marL="0" indent="0">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buNone/>
            </a:pPr>
            <a:r>
              <a:rPr lang="en-US" sz="1400" dirty="0">
                <a:solidFill>
                  <a:srgbClr val="111827"/>
                </a:solidFill>
                <a:latin typeface="Arial" pitchFamily="34" charset="0"/>
                <a:ea typeface="Arial" pitchFamily="34" charset="-122"/>
                <a:cs typeface="Arial" pitchFamily="34" charset="-120"/>
              </a:rPr>
              <a:t>Adobe, PhoneGap'i sonlandırmıştır ve Cordova durağan bir projedir; yeni bir proje için bu araçlar öğrencilere önerilmez.</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buNone/>
            </a:pPr>
            <a:r>
              <a:rPr lang="en-US" sz="3200" b="1" dirty="0">
                <a:solidFill>
                  <a:srgbClr val="111827"/>
                </a:solidFill>
                <a:latin typeface="Arial" pitchFamily="34" charset="0"/>
                <a:ea typeface="Arial" pitchFamily="34" charset="-122"/>
                <a:cs typeface="Arial" pitchFamily="34" charset="-120"/>
              </a:rPr>
              <a:t>Çapraz Platform Yaklaşımı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972800" cy="2377440"/>
        </p:xfrm>
        <a:graphic>
          <a:graphicData uri="http://schemas.openxmlformats.org/drawingml/2006/table">
            <a:tbl>
              <a:tblPr/>
              <a:tblGrid>
                <a:gridCol w="3236385">
                  <a:extLst>
                    <a:ext uri="{9D8B030D-6E8A-4147-A177-3AD203B41FA5}">
                      <a16:colId xmlns:a16="http://schemas.microsoft.com/office/drawing/2014/main" val="20000"/>
                    </a:ext>
                  </a:extLst>
                </a:gridCol>
                <a:gridCol w="3394349">
                  <a:extLst>
                    <a:ext uri="{9D8B030D-6E8A-4147-A177-3AD203B41FA5}">
                      <a16:colId xmlns:a16="http://schemas.microsoft.com/office/drawing/2014/main" val="20001"/>
                    </a:ext>
                  </a:extLst>
                </a:gridCol>
                <a:gridCol w="4342066">
                  <a:extLst>
                    <a:ext uri="{9D8B030D-6E8A-4147-A177-3AD203B41FA5}">
                      <a16:colId xmlns:a16="http://schemas.microsoft.com/office/drawing/2014/main" val="20002"/>
                    </a:ext>
                  </a:extLst>
                </a:gridCol>
              </a:tblGrid>
              <a:tr h="475488">
                <a:tc>
                  <a:txBody>
                    <a:bodyPr/>
                    <a:lstStyle/>
                    <a:p>
                      <a:pPr marL="0" indent="0">
                        <a:buNone/>
                      </a:pPr>
                      <a:r>
                        <a:rPr lang="en-US" sz="1400" b="1" dirty="0">
                          <a:solidFill>
                            <a:srgbClr val="2563EB"/>
                          </a:solidFill>
                        </a:rPr>
                        <a:t>Araç</a:t>
                      </a:r>
                      <a:endParaRPr lang="en-US" sz="1400" dirty="0"/>
                    </a:p>
                  </a:txBody>
                  <a:tcPr marL="566928"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Dil</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Arayüzü nasıl çizer?</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extLst>
                  <a:ext uri="{0D108BD9-81ED-4DB2-BD59-A6C34878D82A}">
                    <a16:rowId xmlns:a16="http://schemas.microsoft.com/office/drawing/2014/main" val="10000"/>
                  </a:ext>
                </a:extLst>
              </a:tr>
              <a:tr h="475488">
                <a:tc>
                  <a:txBody>
                    <a:bodyPr/>
                    <a:lstStyle/>
                    <a:p>
                      <a:pPr marL="0" indent="0">
                        <a:buNone/>
                      </a:pPr>
                      <a:r>
                        <a:rPr lang="en-US" sz="1800" b="1" dirty="0">
                          <a:solidFill>
                            <a:srgbClr val="111827"/>
                          </a:solidFill>
                        </a:rPr>
                        <a:t>React Native</a:t>
                      </a:r>
                      <a:endParaRPr lang="en-US" sz="1800" dirty="0"/>
                    </a:p>
                  </a:txBody>
                  <a:tcPr marL="566928"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JavaScript, TypeScript</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Yerel arayüz bileşenlerini kullanır</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800" b="1" dirty="0">
                          <a:solidFill>
                            <a:srgbClr val="111827"/>
                          </a:solidFill>
                        </a:rPr>
                        <a:t>Flutter</a:t>
                      </a:r>
                      <a:endParaRPr lang="en-US" sz="1800" dirty="0"/>
                    </a:p>
                  </a:txBody>
                  <a:tcPr marL="566928"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Dart</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Kendi çizim motoruyla çizer</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800" b="1" dirty="0">
                          <a:solidFill>
                            <a:srgbClr val="111827"/>
                          </a:solidFill>
                        </a:rPr>
                        <a:t>.NET MAUI</a:t>
                      </a:r>
                      <a:endParaRPr lang="en-US" sz="1800" dirty="0"/>
                    </a:p>
                  </a:txBody>
                  <a:tcPr marL="566928"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C#</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Yerel kontroller (Xamarin'in halefi)</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1800" b="1" dirty="0">
                          <a:solidFill>
                            <a:srgbClr val="111827"/>
                          </a:solidFill>
                        </a:rPr>
                        <a:t>Kotlin Multiplatform</a:t>
                      </a:r>
                      <a:endParaRPr lang="en-US" sz="1800" dirty="0"/>
                    </a:p>
                  </a:txBody>
                  <a:tcPr marL="566928"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Kotlin</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Ortak mantık, arayüz seçilebilir</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5" name="Image 0" descr="/tmp/claude-0/-home-claude/bb2dbc6e-f574-5e99-8510-889b704da121/scratchpad/decks/logos/react.png"/>
          <p:cNvPicPr>
            <a:picLocks noChangeAspect="1"/>
          </p:cNvPicPr>
          <p:nvPr/>
        </p:nvPicPr>
        <p:blipFill>
          <a:blip r:embed="rId3"/>
          <a:stretch>
            <a:fillRect/>
          </a:stretch>
        </p:blipFill>
        <p:spPr>
          <a:xfrm>
            <a:off x="804672" y="2176272"/>
            <a:ext cx="365760" cy="365760"/>
          </a:xfrm>
          <a:prstGeom prst="rect">
            <a:avLst/>
          </a:prstGeom>
        </p:spPr>
      </p:pic>
      <p:pic>
        <p:nvPicPr>
          <p:cNvPr id="6" name="Image 1" descr="/tmp/claude-0/-home-claude/bb2dbc6e-f574-5e99-8510-889b704da121/scratchpad/decks/logos/flutter.png"/>
          <p:cNvPicPr>
            <a:picLocks noChangeAspect="1"/>
          </p:cNvPicPr>
          <p:nvPr/>
        </p:nvPicPr>
        <p:blipFill>
          <a:blip r:embed="rId4"/>
          <a:stretch>
            <a:fillRect/>
          </a:stretch>
        </p:blipFill>
        <p:spPr>
          <a:xfrm>
            <a:off x="804672" y="2651760"/>
            <a:ext cx="365760" cy="365760"/>
          </a:xfrm>
          <a:prstGeom prst="rect">
            <a:avLst/>
          </a:prstGeom>
        </p:spPr>
      </p:pic>
      <p:pic>
        <p:nvPicPr>
          <p:cNvPr id="7" name="Image 2" descr="/tmp/claude-0/-home-claude/bb2dbc6e-f574-5e99-8510-889b704da121/scratchpad/decks/logos/kotlin.png"/>
          <p:cNvPicPr>
            <a:picLocks noChangeAspect="1"/>
          </p:cNvPicPr>
          <p:nvPr/>
        </p:nvPicPr>
        <p:blipFill>
          <a:blip r:embed="rId5"/>
          <a:stretch>
            <a:fillRect/>
          </a:stretch>
        </p:blipFill>
        <p:spPr>
          <a:xfrm>
            <a:off x="804672" y="3602736"/>
            <a:ext cx="365760" cy="365760"/>
          </a:xfrm>
          <a:prstGeom prst="rect">
            <a:avLst/>
          </a:prstGeom>
        </p:spPr>
      </p:pic>
      <p:sp>
        <p:nvSpPr>
          <p:cNvPr id="8" name="Shape 2"/>
          <p:cNvSpPr/>
          <p:nvPr/>
        </p:nvSpPr>
        <p:spPr>
          <a:xfrm>
            <a:off x="731520" y="4297680"/>
            <a:ext cx="10972800" cy="1018032"/>
          </a:xfrm>
          <a:prstGeom prst="roundRect">
            <a:avLst>
              <a:gd name="adj" fmla="val 8982"/>
            </a:avLst>
          </a:prstGeom>
          <a:solidFill>
            <a:srgbClr val="EFF6FF"/>
          </a:solidFill>
          <a:ln w="9525">
            <a:solidFill>
              <a:srgbClr val="EFF6FF"/>
            </a:solidFill>
            <a:prstDash val="solid"/>
          </a:ln>
        </p:spPr>
      </p:sp>
      <p:sp>
        <p:nvSpPr>
          <p:cNvPr id="9" name="Text 3"/>
          <p:cNvSpPr txBox="1"/>
          <p:nvPr/>
        </p:nvSpPr>
        <p:spPr>
          <a:xfrm>
            <a:off x="932688" y="4425696"/>
            <a:ext cx="10570464" cy="762000"/>
          </a:xfrm>
          <a:prstGeom prst="rect">
            <a:avLst/>
          </a:prstGeom>
          <a:noFill/>
          <a:ln/>
        </p:spPr>
        <p:txBody>
          <a:bodyPr wrap="square" lIns="0" tIns="0" rIns="0" bIns="0" rtlCol="0" anchor="t"/>
          <a:lstStyle/>
          <a:p>
            <a:pPr marL="0" indent="0">
              <a:buNone/>
            </a:pPr>
            <a:r>
              <a:rPr lang="en-US" sz="1100" b="1" dirty="0">
                <a:solidFill>
                  <a:srgbClr val="2563EB"/>
                </a:solidFill>
                <a:latin typeface="Arial" pitchFamily="34" charset="0"/>
                <a:ea typeface="Arial" pitchFamily="34" charset="-122"/>
                <a:cs typeface="Arial" pitchFamily="34" charset="-120"/>
              </a:rPr>
              <a:t>SEÇIM MANTIĞI</a:t>
            </a:r>
            <a:endParaRPr lang="en-US" sz="1100" dirty="0"/>
          </a:p>
          <a:p>
            <a:pPr marL="0" indent="0">
              <a:buNone/>
            </a:pPr>
            <a:r>
              <a:rPr lang="en-US" sz="1600" dirty="0">
                <a:solidFill>
                  <a:srgbClr val="111827"/>
                </a:solidFill>
                <a:latin typeface="Arial" pitchFamily="34" charset="0"/>
                <a:ea typeface="Arial" pitchFamily="34" charset="-122"/>
                <a:cs typeface="Arial" pitchFamily="34" charset="-120"/>
              </a:rPr>
              <a:t>Hepsi tek kod tabanıyla iki mağazaya çıkmayı hedefler; fark, ekibin mevcut becerisinde ve arayüzün nasıl üretildiğinde yatar.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27</a:t>
            </a:fld>
            <a:endParaRPr lang="en-US"/>
          </a:p>
        </p:txBody>
      </p:sp>
      <p:pic>
        <p:nvPicPr>
          <p:cNvPr id="10" name="Resim 9">
            <a:extLst>
              <a:ext uri="{FF2B5EF4-FFF2-40B4-BE49-F238E27FC236}">
                <a16:creationId xmlns:a16="http://schemas.microsoft.com/office/drawing/2014/main" id="{8E6A7AF4-1FFF-779B-4D78-F44AE3A2C756}"/>
              </a:ext>
            </a:extLst>
          </p:cNvPr>
          <p:cNvPicPr>
            <a:picLocks noChangeAspect="1"/>
          </p:cNvPicPr>
          <p:nvPr/>
        </p:nvPicPr>
        <p:blipFill>
          <a:blip r:embed="rId6"/>
          <a:stretch>
            <a:fillRect/>
          </a:stretch>
        </p:blipFill>
        <p:spPr>
          <a:xfrm>
            <a:off x="674480" y="2999232"/>
            <a:ext cx="646063" cy="589433"/>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buNone/>
            </a:pPr>
            <a:r>
              <a:rPr lang="en-US" sz="3200" b="1" dirty="0">
                <a:solidFill>
                  <a:srgbClr val="111827"/>
                </a:solidFill>
                <a:latin typeface="Arial" pitchFamily="34" charset="0"/>
                <a:ea typeface="Arial" pitchFamily="34" charset="-122"/>
                <a:cs typeface="Arial" pitchFamily="34" charset="-120"/>
              </a:rPr>
              <a:t>Dört Yaklaşımın Karşılaştırması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972800" cy="2231136"/>
        </p:xfrm>
        <a:graphic>
          <a:graphicData uri="http://schemas.openxmlformats.org/drawingml/2006/table">
            <a:tbl>
              <a:tblPr/>
              <a:tblGrid>
                <a:gridCol w="2740104">
                  <a:extLst>
                    <a:ext uri="{9D8B030D-6E8A-4147-A177-3AD203B41FA5}">
                      <a16:colId xmlns:a16="http://schemas.microsoft.com/office/drawing/2014/main" val="20000"/>
                    </a:ext>
                  </a:extLst>
                </a:gridCol>
                <a:gridCol w="2122475">
                  <a:extLst>
                    <a:ext uri="{9D8B030D-6E8A-4147-A177-3AD203B41FA5}">
                      <a16:colId xmlns:a16="http://schemas.microsoft.com/office/drawing/2014/main" val="20001"/>
                    </a:ext>
                  </a:extLst>
                </a:gridCol>
                <a:gridCol w="1871847">
                  <a:extLst>
                    <a:ext uri="{9D8B030D-6E8A-4147-A177-3AD203B41FA5}">
                      <a16:colId xmlns:a16="http://schemas.microsoft.com/office/drawing/2014/main" val="20002"/>
                    </a:ext>
                  </a:extLst>
                </a:gridCol>
                <a:gridCol w="2237285">
                  <a:extLst>
                    <a:ext uri="{9D8B030D-6E8A-4147-A177-3AD203B41FA5}">
                      <a16:colId xmlns:a16="http://schemas.microsoft.com/office/drawing/2014/main" val="20003"/>
                    </a:ext>
                  </a:extLst>
                </a:gridCol>
                <a:gridCol w="2001089">
                  <a:extLst>
                    <a:ext uri="{9D8B030D-6E8A-4147-A177-3AD203B41FA5}">
                      <a16:colId xmlns:a16="http://schemas.microsoft.com/office/drawing/2014/main" val="20004"/>
                    </a:ext>
                  </a:extLst>
                </a:gridCol>
              </a:tblGrid>
              <a:tr h="371856">
                <a:tc>
                  <a:txBody>
                    <a:bodyPr/>
                    <a:lstStyle/>
                    <a:p>
                      <a:pPr marL="0" indent="0">
                        <a:buNone/>
                      </a:pPr>
                      <a:r>
                        <a:rPr lang="en-US" sz="1400" b="1" dirty="0">
                          <a:solidFill>
                            <a:srgbClr val="2563EB"/>
                          </a:solidFill>
                        </a:rPr>
                        <a:t>Ölçüt</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Native</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Çapraz</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Hibrit</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Web</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extLst>
                  <a:ext uri="{0D108BD9-81ED-4DB2-BD59-A6C34878D82A}">
                    <a16:rowId xmlns:a16="http://schemas.microsoft.com/office/drawing/2014/main" val="10000"/>
                  </a:ext>
                </a:extLst>
              </a:tr>
              <a:tr h="371856">
                <a:tc>
                  <a:txBody>
                    <a:bodyPr/>
                    <a:lstStyle/>
                    <a:p>
                      <a:pPr marL="0" indent="0">
                        <a:buNone/>
                      </a:pPr>
                      <a:r>
                        <a:rPr lang="en-US" sz="1600" b="1" dirty="0">
                          <a:solidFill>
                            <a:srgbClr val="111827"/>
                          </a:solidFill>
                        </a:rPr>
                        <a:t>Performans</a:t>
                      </a:r>
                      <a:endParaRPr lang="en-US" sz="16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En yüksek</a:t>
                      </a:r>
                      <a:endParaRPr lang="en-US" sz="16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Yüksek</a:t>
                      </a:r>
                      <a:endParaRPr lang="en-US" sz="16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Orta</a:t>
                      </a:r>
                      <a:endParaRPr lang="en-US" sz="16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Orta</a:t>
                      </a:r>
                      <a:endParaRPr lang="en-US" sz="16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371856">
                <a:tc>
                  <a:txBody>
                    <a:bodyPr/>
                    <a:lstStyle/>
                    <a:p>
                      <a:pPr marL="0" indent="0">
                        <a:buNone/>
                      </a:pPr>
                      <a:r>
                        <a:rPr lang="en-US" sz="1600" b="1" dirty="0">
                          <a:solidFill>
                            <a:srgbClr val="111827"/>
                          </a:solidFill>
                        </a:rPr>
                        <a:t>Kod paylaşımı</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Yok</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Yüksek</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Çok yüksek</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Tam</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371856">
                <a:tc>
                  <a:txBody>
                    <a:bodyPr/>
                    <a:lstStyle/>
                    <a:p>
                      <a:pPr marL="0" indent="0">
                        <a:buNone/>
                      </a:pPr>
                      <a:r>
                        <a:rPr lang="en-US" sz="1600" b="1" dirty="0">
                          <a:solidFill>
                            <a:srgbClr val="111827"/>
                          </a:solidFill>
                        </a:rPr>
                        <a:t>Donanım erişimi</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Tam</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Geniş</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Eklentiyle</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Kısıtlı</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371856">
                <a:tc>
                  <a:txBody>
                    <a:bodyPr/>
                    <a:lstStyle/>
                    <a:p>
                      <a:pPr marL="0" indent="0">
                        <a:buNone/>
                      </a:pPr>
                      <a:r>
                        <a:rPr lang="en-US" sz="1600" b="1" dirty="0">
                          <a:solidFill>
                            <a:srgbClr val="111827"/>
                          </a:solidFill>
                        </a:rPr>
                        <a:t>Mağaza</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Gerekli</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Gerekli</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Gerekli</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Gerekmez</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371856">
                <a:tc>
                  <a:txBody>
                    <a:bodyPr/>
                    <a:lstStyle/>
                    <a:p>
                      <a:pPr marL="0" indent="0">
                        <a:buNone/>
                      </a:pPr>
                      <a:r>
                        <a:rPr lang="en-US" sz="1600" b="1" dirty="0">
                          <a:solidFill>
                            <a:srgbClr val="111827"/>
                          </a:solidFill>
                        </a:rPr>
                        <a:t>Bakım maliyeti</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Yüksek</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Orta</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Düşük</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Düşük</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2"/>
          <p:cNvSpPr/>
          <p:nvPr/>
        </p:nvSpPr>
        <p:spPr>
          <a:xfrm>
            <a:off x="731520" y="4151376"/>
            <a:ext cx="10972800" cy="1018032"/>
          </a:xfrm>
          <a:prstGeom prst="roundRect">
            <a:avLst>
              <a:gd name="adj" fmla="val 8982"/>
            </a:avLst>
          </a:prstGeom>
          <a:solidFill>
            <a:srgbClr val="EFF6FF"/>
          </a:solidFill>
          <a:ln w="9525">
            <a:solidFill>
              <a:srgbClr val="EFF6FF"/>
            </a:solidFill>
            <a:prstDash val="solid"/>
          </a:ln>
        </p:spPr>
      </p:sp>
      <p:sp>
        <p:nvSpPr>
          <p:cNvPr id="6" name="Text 3"/>
          <p:cNvSpPr txBox="1"/>
          <p:nvPr/>
        </p:nvSpPr>
        <p:spPr>
          <a:xfrm>
            <a:off x="932688" y="4279392"/>
            <a:ext cx="10570464" cy="762000"/>
          </a:xfrm>
          <a:prstGeom prst="rect">
            <a:avLst/>
          </a:prstGeom>
          <a:noFill/>
          <a:ln/>
        </p:spPr>
        <p:txBody>
          <a:bodyPr wrap="square" lIns="0" tIns="0" rIns="0" bIns="0" rtlCol="0" anchor="t"/>
          <a:lstStyle/>
          <a:p>
            <a:pPr marL="0" indent="0">
              <a:buNone/>
            </a:pPr>
            <a:r>
              <a:rPr lang="en-US" sz="1100" b="1" dirty="0">
                <a:solidFill>
                  <a:srgbClr val="2563EB"/>
                </a:solidFill>
                <a:latin typeface="Arial" pitchFamily="34" charset="0"/>
                <a:ea typeface="Arial" pitchFamily="34" charset="-122"/>
                <a:cs typeface="Arial" pitchFamily="34" charset="-120"/>
              </a:rPr>
              <a:t>SEÇIM MANTIĞI</a:t>
            </a:r>
            <a:endParaRPr lang="en-US" sz="1100" dirty="0"/>
          </a:p>
          <a:p>
            <a:pPr marL="0" indent="0">
              <a:buNone/>
            </a:pPr>
            <a:r>
              <a:rPr lang="en-US" sz="1600" dirty="0">
                <a:solidFill>
                  <a:srgbClr val="111827"/>
                </a:solidFill>
                <a:latin typeface="Arial" pitchFamily="34" charset="0"/>
                <a:ea typeface="Arial" pitchFamily="34" charset="-122"/>
                <a:cs typeface="Arial" pitchFamily="34" charset="-120"/>
              </a:rPr>
              <a:t>Tablo bir puan listesi değil, ödünleşim haritasıdır; ürün ihtiyacına göre hangi satırın ağır bastığına bakarak karar verilir.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buNone/>
            </a:pPr>
            <a:r>
              <a:rPr lang="en-US" sz="3200" b="1" dirty="0">
                <a:solidFill>
                  <a:srgbClr val="111827"/>
                </a:solidFill>
                <a:latin typeface="Arial" pitchFamily="34" charset="0"/>
                <a:ea typeface="Arial" pitchFamily="34" charset="-122"/>
                <a:cs typeface="Arial" pitchFamily="34" charset="-120"/>
              </a:rPr>
              <a:t>Seçim Mantığı: Karar Çerçevesi</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1989734" cy="1051560"/>
          </a:xfrm>
          <a:prstGeom prst="roundRect">
            <a:avLst>
              <a:gd name="adj" fmla="val 8696"/>
            </a:avLst>
          </a:prstGeom>
          <a:solidFill>
            <a:srgbClr val="EFF6FF"/>
          </a:solidFill>
          <a:ln w="9525">
            <a:solidFill>
              <a:srgbClr val="EFF6FF"/>
            </a:solidFill>
            <a:prstDash val="solid"/>
          </a:ln>
        </p:spPr>
      </p:sp>
      <p:sp>
        <p:nvSpPr>
          <p:cNvPr id="5" name="Text 3"/>
          <p:cNvSpPr txBox="1"/>
          <p:nvPr/>
        </p:nvSpPr>
        <p:spPr>
          <a:xfrm>
            <a:off x="868680" y="1737360"/>
            <a:ext cx="1715414" cy="868680"/>
          </a:xfrm>
          <a:prstGeom prst="rect">
            <a:avLst/>
          </a:prstGeom>
          <a:noFill/>
          <a:ln/>
        </p:spPr>
        <p:txBody>
          <a:bodyPr wrap="square" lIns="0" tIns="0" rIns="0" bIns="0" rtlCol="0" anchor="ctr">
            <a:normAutofit/>
          </a:bodyPr>
          <a:lstStyle/>
          <a:p>
            <a:pPr marL="0" indent="0">
              <a:buNone/>
            </a:pPr>
            <a:r>
              <a:rPr lang="en-US" sz="1200" b="1" dirty="0">
                <a:solidFill>
                  <a:srgbClr val="2563EB"/>
                </a:solidFill>
                <a:latin typeface="Arial" pitchFamily="34" charset="0"/>
                <a:ea typeface="Arial" pitchFamily="34" charset="-122"/>
                <a:cs typeface="Arial" pitchFamily="34" charset="-120"/>
              </a:rPr>
              <a:t>1</a:t>
            </a:r>
            <a:endParaRPr lang="en-US" sz="1200" dirty="0"/>
          </a:p>
          <a:p>
            <a:pPr marL="0" indent="0">
              <a:buNone/>
            </a:pPr>
            <a:r>
              <a:rPr lang="en-US" sz="1400" b="1" dirty="0">
                <a:solidFill>
                  <a:srgbClr val="111827"/>
                </a:solidFill>
                <a:latin typeface="Arial" pitchFamily="34" charset="0"/>
                <a:ea typeface="Arial" pitchFamily="34" charset="-122"/>
                <a:cs typeface="Arial" pitchFamily="34" charset="-120"/>
              </a:rPr>
              <a:t>Donanıma derin erişim?</a:t>
            </a:r>
            <a:endParaRPr lang="en-US" sz="1200" dirty="0"/>
          </a:p>
        </p:txBody>
      </p:sp>
      <p:sp>
        <p:nvSpPr>
          <p:cNvPr id="6" name="Text 4"/>
          <p:cNvSpPr txBox="1"/>
          <p:nvPr/>
        </p:nvSpPr>
        <p:spPr>
          <a:xfrm>
            <a:off x="2721254"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7" name="Shape 5"/>
          <p:cNvSpPr/>
          <p:nvPr/>
        </p:nvSpPr>
        <p:spPr>
          <a:xfrm>
            <a:off x="2977286" y="1645920"/>
            <a:ext cx="1989734" cy="1051560"/>
          </a:xfrm>
          <a:prstGeom prst="roundRect">
            <a:avLst>
              <a:gd name="adj" fmla="val 8696"/>
            </a:avLst>
          </a:prstGeom>
          <a:solidFill>
            <a:srgbClr val="EFF6FF"/>
          </a:solidFill>
          <a:ln w="9525">
            <a:solidFill>
              <a:srgbClr val="EFF6FF"/>
            </a:solidFill>
            <a:prstDash val="solid"/>
          </a:ln>
        </p:spPr>
      </p:sp>
      <p:sp>
        <p:nvSpPr>
          <p:cNvPr id="8" name="Text 6"/>
          <p:cNvSpPr txBox="1"/>
          <p:nvPr/>
        </p:nvSpPr>
        <p:spPr>
          <a:xfrm>
            <a:off x="3114446" y="1737360"/>
            <a:ext cx="1715414" cy="868680"/>
          </a:xfrm>
          <a:prstGeom prst="rect">
            <a:avLst/>
          </a:prstGeom>
          <a:noFill/>
          <a:ln/>
        </p:spPr>
        <p:txBody>
          <a:bodyPr wrap="square" lIns="0" tIns="0" rIns="0" bIns="0" rtlCol="0" anchor="ctr">
            <a:normAutofit/>
          </a:bodyPr>
          <a:lstStyle/>
          <a:p>
            <a:pPr marL="0" indent="0">
              <a:buNone/>
            </a:pPr>
            <a:r>
              <a:rPr lang="en-US" sz="1200" b="1" dirty="0">
                <a:solidFill>
                  <a:srgbClr val="2563EB"/>
                </a:solidFill>
                <a:latin typeface="Arial" pitchFamily="34" charset="0"/>
                <a:ea typeface="Arial" pitchFamily="34" charset="-122"/>
                <a:cs typeface="Arial" pitchFamily="34" charset="-120"/>
              </a:rPr>
              <a:t>2</a:t>
            </a:r>
            <a:endParaRPr lang="en-US" sz="1200" dirty="0"/>
          </a:p>
          <a:p>
            <a:pPr marL="0" indent="0">
              <a:buNone/>
            </a:pPr>
            <a:r>
              <a:rPr lang="en-US" sz="1400" b="1" dirty="0">
                <a:solidFill>
                  <a:srgbClr val="111827"/>
                </a:solidFill>
                <a:latin typeface="Arial" pitchFamily="34" charset="0"/>
                <a:ea typeface="Arial" pitchFamily="34" charset="-122"/>
                <a:cs typeface="Arial" pitchFamily="34" charset="-120"/>
              </a:rPr>
              <a:t>Ekip becerisi</a:t>
            </a:r>
            <a:endParaRPr lang="en-US" sz="1200" dirty="0"/>
          </a:p>
        </p:txBody>
      </p:sp>
      <p:sp>
        <p:nvSpPr>
          <p:cNvPr id="9" name="Text 7"/>
          <p:cNvSpPr txBox="1"/>
          <p:nvPr/>
        </p:nvSpPr>
        <p:spPr>
          <a:xfrm>
            <a:off x="4967021"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5223053" y="1645920"/>
            <a:ext cx="1989734" cy="1051560"/>
          </a:xfrm>
          <a:prstGeom prst="roundRect">
            <a:avLst>
              <a:gd name="adj" fmla="val 8696"/>
            </a:avLst>
          </a:prstGeom>
          <a:solidFill>
            <a:srgbClr val="EFF6FF"/>
          </a:solidFill>
          <a:ln w="9525">
            <a:solidFill>
              <a:srgbClr val="EFF6FF"/>
            </a:solidFill>
            <a:prstDash val="solid"/>
          </a:ln>
        </p:spPr>
      </p:sp>
      <p:sp>
        <p:nvSpPr>
          <p:cNvPr id="11" name="Text 9"/>
          <p:cNvSpPr txBox="1"/>
          <p:nvPr/>
        </p:nvSpPr>
        <p:spPr>
          <a:xfrm>
            <a:off x="5360213" y="1737360"/>
            <a:ext cx="1715414" cy="868680"/>
          </a:xfrm>
          <a:prstGeom prst="rect">
            <a:avLst/>
          </a:prstGeom>
          <a:noFill/>
          <a:ln/>
        </p:spPr>
        <p:txBody>
          <a:bodyPr wrap="square" lIns="0" tIns="0" rIns="0" bIns="0" rtlCol="0" anchor="ctr">
            <a:normAutofit/>
          </a:bodyPr>
          <a:lstStyle/>
          <a:p>
            <a:pPr marL="0" indent="0">
              <a:buNone/>
            </a:pPr>
            <a:r>
              <a:rPr lang="en-US" sz="1200" b="1" dirty="0">
                <a:solidFill>
                  <a:srgbClr val="2563EB"/>
                </a:solidFill>
                <a:latin typeface="Arial" pitchFamily="34" charset="0"/>
                <a:ea typeface="Arial" pitchFamily="34" charset="-122"/>
                <a:cs typeface="Arial" pitchFamily="34" charset="-120"/>
              </a:rPr>
              <a:t>3</a:t>
            </a:r>
            <a:endParaRPr lang="en-US" sz="1200" dirty="0"/>
          </a:p>
          <a:p>
            <a:pPr marL="0" indent="0">
              <a:buNone/>
            </a:pPr>
            <a:r>
              <a:rPr lang="en-US" sz="1400" b="1" dirty="0">
                <a:solidFill>
                  <a:srgbClr val="111827"/>
                </a:solidFill>
                <a:latin typeface="Arial" pitchFamily="34" charset="0"/>
                <a:ea typeface="Arial" pitchFamily="34" charset="-122"/>
                <a:cs typeface="Arial" pitchFamily="34" charset="-120"/>
              </a:rPr>
              <a:t>Bütçe ve süre</a:t>
            </a:r>
            <a:endParaRPr lang="en-US" sz="1200" dirty="0"/>
          </a:p>
        </p:txBody>
      </p:sp>
      <p:sp>
        <p:nvSpPr>
          <p:cNvPr id="12" name="Text 10"/>
          <p:cNvSpPr txBox="1"/>
          <p:nvPr/>
        </p:nvSpPr>
        <p:spPr>
          <a:xfrm>
            <a:off x="7212787"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3" name="Shape 11"/>
          <p:cNvSpPr/>
          <p:nvPr/>
        </p:nvSpPr>
        <p:spPr>
          <a:xfrm>
            <a:off x="7468819" y="1645920"/>
            <a:ext cx="1989734" cy="1051560"/>
          </a:xfrm>
          <a:prstGeom prst="roundRect">
            <a:avLst>
              <a:gd name="adj" fmla="val 8696"/>
            </a:avLst>
          </a:prstGeom>
          <a:solidFill>
            <a:srgbClr val="EFF6FF"/>
          </a:solidFill>
          <a:ln w="9525">
            <a:solidFill>
              <a:srgbClr val="EFF6FF"/>
            </a:solidFill>
            <a:prstDash val="solid"/>
          </a:ln>
        </p:spPr>
      </p:sp>
      <p:sp>
        <p:nvSpPr>
          <p:cNvPr id="14" name="Text 12"/>
          <p:cNvSpPr txBox="1"/>
          <p:nvPr/>
        </p:nvSpPr>
        <p:spPr>
          <a:xfrm>
            <a:off x="7605979" y="1737360"/>
            <a:ext cx="1715414" cy="868680"/>
          </a:xfrm>
          <a:prstGeom prst="rect">
            <a:avLst/>
          </a:prstGeom>
          <a:noFill/>
          <a:ln/>
        </p:spPr>
        <p:txBody>
          <a:bodyPr wrap="square" lIns="0" tIns="0" rIns="0" bIns="0" rtlCol="0" anchor="ctr">
            <a:normAutofit/>
          </a:bodyPr>
          <a:lstStyle/>
          <a:p>
            <a:pPr marL="0" indent="0">
              <a:buNone/>
            </a:pPr>
            <a:r>
              <a:rPr lang="en-US" sz="1200" b="1" dirty="0">
                <a:solidFill>
                  <a:srgbClr val="2563EB"/>
                </a:solidFill>
                <a:latin typeface="Arial" pitchFamily="34" charset="0"/>
                <a:ea typeface="Arial" pitchFamily="34" charset="-122"/>
                <a:cs typeface="Arial" pitchFamily="34" charset="-120"/>
              </a:rPr>
              <a:t>4</a:t>
            </a:r>
            <a:endParaRPr lang="en-US" sz="1200" dirty="0"/>
          </a:p>
          <a:p>
            <a:pPr marL="0" indent="0">
              <a:buNone/>
            </a:pPr>
            <a:r>
              <a:rPr lang="en-US" sz="1400" b="1" dirty="0">
                <a:solidFill>
                  <a:srgbClr val="111827"/>
                </a:solidFill>
                <a:latin typeface="Arial" pitchFamily="34" charset="0"/>
                <a:ea typeface="Arial" pitchFamily="34" charset="-122"/>
                <a:cs typeface="Arial" pitchFamily="34" charset="-120"/>
              </a:rPr>
              <a:t>Güncelleme sıklığı</a:t>
            </a:r>
            <a:endParaRPr lang="en-US" sz="1200" dirty="0"/>
          </a:p>
        </p:txBody>
      </p:sp>
      <p:sp>
        <p:nvSpPr>
          <p:cNvPr id="15" name="Text 13"/>
          <p:cNvSpPr txBox="1"/>
          <p:nvPr/>
        </p:nvSpPr>
        <p:spPr>
          <a:xfrm>
            <a:off x="9458554"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6" name="Shape 14"/>
          <p:cNvSpPr/>
          <p:nvPr/>
        </p:nvSpPr>
        <p:spPr>
          <a:xfrm>
            <a:off x="9714586" y="1645920"/>
            <a:ext cx="1989734" cy="1051560"/>
          </a:xfrm>
          <a:prstGeom prst="roundRect">
            <a:avLst>
              <a:gd name="adj" fmla="val 8696"/>
            </a:avLst>
          </a:prstGeom>
          <a:solidFill>
            <a:srgbClr val="2563EB"/>
          </a:solidFill>
          <a:ln w="9525">
            <a:solidFill>
              <a:srgbClr val="2563EB"/>
            </a:solidFill>
            <a:prstDash val="solid"/>
          </a:ln>
        </p:spPr>
      </p:sp>
      <p:sp>
        <p:nvSpPr>
          <p:cNvPr id="17" name="Text 15"/>
          <p:cNvSpPr txBox="1"/>
          <p:nvPr/>
        </p:nvSpPr>
        <p:spPr>
          <a:xfrm>
            <a:off x="9851746" y="1737360"/>
            <a:ext cx="1715414" cy="868680"/>
          </a:xfrm>
          <a:prstGeom prst="rect">
            <a:avLst/>
          </a:prstGeom>
          <a:noFill/>
          <a:ln/>
        </p:spPr>
        <p:txBody>
          <a:bodyPr wrap="square" lIns="0" tIns="0" rIns="0" bIns="0" rtlCol="0" anchor="ctr">
            <a:normAutofit/>
          </a:bodyPr>
          <a:lstStyle/>
          <a:p>
            <a:pPr marL="0" indent="0">
              <a:buNone/>
            </a:pPr>
            <a:r>
              <a:rPr lang="en-US" sz="1200" b="1" dirty="0">
                <a:solidFill>
                  <a:srgbClr val="FFFFFF"/>
                </a:solidFill>
                <a:latin typeface="Arial" pitchFamily="34" charset="0"/>
                <a:ea typeface="Arial" pitchFamily="34" charset="-122"/>
                <a:cs typeface="Arial" pitchFamily="34" charset="-120"/>
              </a:rPr>
              <a:t>5</a:t>
            </a:r>
            <a:endParaRPr lang="en-US" sz="1200" dirty="0"/>
          </a:p>
          <a:p>
            <a:pPr marL="0" indent="0">
              <a:buNone/>
            </a:pPr>
            <a:r>
              <a:rPr lang="en-US" sz="1400" b="1" dirty="0">
                <a:solidFill>
                  <a:srgbClr val="FFFFFF"/>
                </a:solidFill>
                <a:latin typeface="Arial" pitchFamily="34" charset="0"/>
                <a:ea typeface="Arial" pitchFamily="34" charset="-122"/>
                <a:cs typeface="Arial" pitchFamily="34" charset="-120"/>
              </a:rPr>
              <a:t>Seçim</a:t>
            </a:r>
            <a:endParaRPr lang="en-US" sz="1200" dirty="0"/>
          </a:p>
        </p:txBody>
      </p:sp>
      <p:sp>
        <p:nvSpPr>
          <p:cNvPr id="18" name="Text 16"/>
          <p:cNvSpPr txBox="1"/>
          <p:nvPr/>
        </p:nvSpPr>
        <p:spPr>
          <a:xfrm>
            <a:off x="731520" y="3017520"/>
            <a:ext cx="6766560" cy="3291840"/>
          </a:xfrm>
          <a:prstGeom prst="rect">
            <a:avLst/>
          </a:prstGeom>
          <a:noFill/>
          <a:ln/>
        </p:spPr>
        <p:txBody>
          <a:bodyPr wrap="square" lIns="0" tIns="0" rIns="0" bIns="0" rtlCol="0" anchor="t"/>
          <a:lstStyle/>
          <a:p>
            <a:pPr marL="0" indent="0" algn="just">
              <a:spcAft>
                <a:spcPts val="800"/>
              </a:spcAft>
              <a:buNone/>
            </a:pPr>
            <a:r>
              <a:rPr lang="en-US" sz="2200" dirty="0">
                <a:solidFill>
                  <a:srgbClr val="111827"/>
                </a:solidFill>
                <a:latin typeface="Arial" pitchFamily="34" charset="0"/>
                <a:ea typeface="Arial" pitchFamily="34" charset="-122"/>
                <a:cs typeface="Arial" pitchFamily="34" charset="-120"/>
              </a:rPr>
              <a:t>Önce ürünün donanım ihtiyacına bakın: kamera akışı işleyen ya da sensör yoğun ürün native'e yaklaşır. Sonra ekibin bildiği dili ve bütçeyi tartın. Hızlı yayın ve sık içerik güncellemesi web veya hibriti öne çıkarır. Çoğu iş uygulamasında çapraz platform makul bir dengedir.</a:t>
            </a:r>
            <a:endParaRPr lang="en-US" sz="2200" dirty="0"/>
          </a:p>
        </p:txBody>
      </p:sp>
      <p:sp>
        <p:nvSpPr>
          <p:cNvPr id="19" name="Shape 17"/>
          <p:cNvSpPr/>
          <p:nvPr/>
        </p:nvSpPr>
        <p:spPr>
          <a:xfrm>
            <a:off x="7863840" y="3017520"/>
            <a:ext cx="3657600" cy="1597152"/>
          </a:xfrm>
          <a:prstGeom prst="roundRect">
            <a:avLst>
              <a:gd name="adj" fmla="val 5725"/>
            </a:avLst>
          </a:prstGeom>
          <a:solidFill>
            <a:srgbClr val="EFF6FF"/>
          </a:solidFill>
          <a:ln w="9525">
            <a:solidFill>
              <a:srgbClr val="EFF6FF"/>
            </a:solidFill>
            <a:prstDash val="solid"/>
          </a:ln>
        </p:spPr>
      </p:sp>
      <p:sp>
        <p:nvSpPr>
          <p:cNvPr id="20" name="Text 18"/>
          <p:cNvSpPr txBox="1"/>
          <p:nvPr/>
        </p:nvSpPr>
        <p:spPr>
          <a:xfrm>
            <a:off x="8065008" y="3145536"/>
            <a:ext cx="3255264" cy="1341120"/>
          </a:xfrm>
          <a:prstGeom prst="rect">
            <a:avLst/>
          </a:prstGeom>
          <a:noFill/>
          <a:ln/>
        </p:spPr>
        <p:txBody>
          <a:bodyPr wrap="square" lIns="0" tIns="0" rIns="0" bIns="0" rtlCol="0" anchor="t"/>
          <a:lstStyle/>
          <a:p>
            <a:pPr marL="0" indent="0">
              <a:buNone/>
            </a:pPr>
            <a:r>
              <a:rPr lang="en-US" sz="1100" b="1" dirty="0">
                <a:solidFill>
                  <a:srgbClr val="2563EB"/>
                </a:solidFill>
                <a:latin typeface="Arial" pitchFamily="34" charset="0"/>
                <a:ea typeface="Arial" pitchFamily="34" charset="-122"/>
                <a:cs typeface="Arial" pitchFamily="34" charset="-120"/>
              </a:rPr>
              <a:t>KONTROL SORUSU</a:t>
            </a:r>
            <a:endParaRPr lang="en-US" sz="1100" dirty="0"/>
          </a:p>
          <a:p>
            <a:pPr marL="0" indent="0">
              <a:buNone/>
            </a:pPr>
            <a:r>
              <a:rPr lang="en-US" sz="1400" dirty="0">
                <a:solidFill>
                  <a:srgbClr val="111827"/>
                </a:solidFill>
                <a:latin typeface="Arial" pitchFamily="34" charset="0"/>
                <a:ea typeface="Arial" pitchFamily="34" charset="-122"/>
                <a:cs typeface="Arial" pitchFamily="34" charset="-120"/>
              </a:rPr>
              <a:t>Üç kişilik bir ekip, iki platformda çalışan bir randevu uygulamasını 4 ayda çıkarmak istiyor. Hangi yaklaşımı önerirsiniz ve hangi riski not edersiniz?</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buNone/>
            </a:pPr>
            <a:r>
              <a:rPr lang="en-US" sz="3200" b="1" dirty="0">
                <a:solidFill>
                  <a:srgbClr val="111827"/>
                </a:solidFill>
                <a:latin typeface="Arial" pitchFamily="34" charset="0"/>
                <a:ea typeface="Arial" pitchFamily="34" charset="-122"/>
                <a:cs typeface="Arial" pitchFamily="34" charset="-120"/>
              </a:rPr>
              <a:t>Eskimiş ve Kapanan Teknolojiler</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972801" cy="2377440"/>
        </p:xfrm>
        <a:graphic>
          <a:graphicData uri="http://schemas.openxmlformats.org/drawingml/2006/table">
            <a:tbl>
              <a:tblPr/>
              <a:tblGrid>
                <a:gridCol w="2442521">
                  <a:extLst>
                    <a:ext uri="{9D8B030D-6E8A-4147-A177-3AD203B41FA5}">
                      <a16:colId xmlns:a16="http://schemas.microsoft.com/office/drawing/2014/main" val="20000"/>
                    </a:ext>
                  </a:extLst>
                </a:gridCol>
                <a:gridCol w="4459412">
                  <a:extLst>
                    <a:ext uri="{9D8B030D-6E8A-4147-A177-3AD203B41FA5}">
                      <a16:colId xmlns:a16="http://schemas.microsoft.com/office/drawing/2014/main" val="20001"/>
                    </a:ext>
                  </a:extLst>
                </a:gridCol>
                <a:gridCol w="4070868">
                  <a:extLst>
                    <a:ext uri="{9D8B030D-6E8A-4147-A177-3AD203B41FA5}">
                      <a16:colId xmlns:a16="http://schemas.microsoft.com/office/drawing/2014/main" val="20002"/>
                    </a:ext>
                  </a:extLst>
                </a:gridCol>
              </a:tblGrid>
              <a:tr h="475488">
                <a:tc>
                  <a:txBody>
                    <a:bodyPr/>
                    <a:lstStyle/>
                    <a:p>
                      <a:pPr marL="0" indent="0">
                        <a:buNone/>
                      </a:pPr>
                      <a:r>
                        <a:rPr lang="en-US" sz="1400" b="1" dirty="0">
                          <a:solidFill>
                            <a:srgbClr val="2563EB"/>
                          </a:solidFill>
                        </a:rPr>
                        <a:t>Teknoloji</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Güncel durum</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Ne yapmalı?</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extLst>
                  <a:ext uri="{0D108BD9-81ED-4DB2-BD59-A6C34878D82A}">
                    <a16:rowId xmlns:a16="http://schemas.microsoft.com/office/drawing/2014/main" val="10000"/>
                  </a:ext>
                </a:extLst>
              </a:tr>
              <a:tr h="475488">
                <a:tc>
                  <a:txBody>
                    <a:bodyPr/>
                    <a:lstStyle/>
                    <a:p>
                      <a:pPr marL="0" indent="0">
                        <a:buNone/>
                      </a:pPr>
                      <a:r>
                        <a:rPr lang="en-US" sz="1800" b="1" dirty="0">
                          <a:solidFill>
                            <a:srgbClr val="111827"/>
                          </a:solidFill>
                        </a:rPr>
                        <a:t>Xamarin</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Desteği bitti, MAUI'ye geçildi</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MAUI'yi inceleyin</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800" b="1" dirty="0">
                          <a:solidFill>
                            <a:srgbClr val="111827"/>
                          </a:solidFill>
                        </a:rPr>
                        <a:t>PhoneGap</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Sonlandırıldı</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Capacitor'a bakın</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800" b="1" dirty="0">
                          <a:solidFill>
                            <a:srgbClr val="111827"/>
                          </a:solidFill>
                        </a:rPr>
                        <a:t>Cordova</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Durağan</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Yeni projede seçmeyin</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1800" b="1" dirty="0">
                          <a:solidFill>
                            <a:srgbClr val="111827"/>
                          </a:solidFill>
                        </a:rPr>
                        <a:t>Adobe XD</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Bakım modunda</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Başka tasarım aracı seçin</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2"/>
          <p:cNvSpPr/>
          <p:nvPr/>
        </p:nvSpPr>
        <p:spPr>
          <a:xfrm>
            <a:off x="731520" y="4297680"/>
            <a:ext cx="10972800" cy="1018032"/>
          </a:xfrm>
          <a:prstGeom prst="roundRect">
            <a:avLst>
              <a:gd name="adj" fmla="val 8982"/>
            </a:avLst>
          </a:prstGeom>
          <a:solidFill>
            <a:srgbClr val="EFF6FF"/>
          </a:solidFill>
          <a:ln w="9525">
            <a:solidFill>
              <a:srgbClr val="EFF6FF"/>
            </a:solidFill>
            <a:prstDash val="solid"/>
          </a:ln>
        </p:spPr>
      </p:sp>
      <p:sp>
        <p:nvSpPr>
          <p:cNvPr id="6" name="Text 3"/>
          <p:cNvSpPr txBox="1"/>
          <p:nvPr/>
        </p:nvSpPr>
        <p:spPr>
          <a:xfrm>
            <a:off x="932688" y="4425696"/>
            <a:ext cx="10570464" cy="762000"/>
          </a:xfrm>
          <a:prstGeom prst="rect">
            <a:avLst/>
          </a:prstGeom>
          <a:noFill/>
          <a:ln/>
        </p:spPr>
        <p:txBody>
          <a:bodyPr wrap="square" lIns="0" tIns="0" rIns="0" bIns="0" rtlCol="0" anchor="t"/>
          <a:lstStyle/>
          <a:p>
            <a:pPr marL="0" indent="0">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buNone/>
            </a:pPr>
            <a:r>
              <a:rPr lang="en-US" sz="1600" dirty="0">
                <a:solidFill>
                  <a:srgbClr val="111827"/>
                </a:solidFill>
                <a:latin typeface="Arial" pitchFamily="34" charset="0"/>
                <a:ea typeface="Arial" pitchFamily="34" charset="-122"/>
                <a:cs typeface="Arial" pitchFamily="34" charset="-120"/>
              </a:rPr>
              <a:t>Eski ders notları ve video eğitimler bu teknolojileri hâlâ önerebilir. Bir kaynağın tarihini ve sürümünü her zaman kontrol edin.</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822960" y="2194560"/>
            <a:ext cx="7315200" cy="365760"/>
          </a:xfrm>
          <a:prstGeom prst="rect">
            <a:avLst/>
          </a:prstGeom>
          <a:noFill/>
          <a:ln/>
        </p:spPr>
        <p:txBody>
          <a:bodyPr wrap="square" lIns="0" tIns="0" rIns="0" bIns="0" rtlCol="0" anchor="ctr"/>
          <a:lstStyle/>
          <a:p>
            <a:pPr marL="0" indent="0">
              <a:buNone/>
            </a:pPr>
            <a:r>
              <a:rPr lang="en-US" sz="1600" b="1" kern="0" spc="400" dirty="0">
                <a:solidFill>
                  <a:srgbClr val="2563EB"/>
                </a:solidFill>
                <a:latin typeface="Arial" pitchFamily="34" charset="0"/>
                <a:ea typeface="Arial" pitchFamily="34" charset="-122"/>
                <a:cs typeface="Arial" pitchFamily="34" charset="-120"/>
              </a:rPr>
              <a:t>BÖLÜM 3</a:t>
            </a:r>
            <a:endParaRPr lang="en-US" sz="1600" dirty="0"/>
          </a:p>
        </p:txBody>
      </p:sp>
      <p:sp>
        <p:nvSpPr>
          <p:cNvPr id="3" name="Text 1"/>
          <p:cNvSpPr txBox="1"/>
          <p:nvPr/>
        </p:nvSpPr>
        <p:spPr>
          <a:xfrm>
            <a:off x="822960" y="2651760"/>
            <a:ext cx="10058400" cy="1371600"/>
          </a:xfrm>
          <a:prstGeom prst="rect">
            <a:avLst/>
          </a:prstGeom>
          <a:noFill/>
          <a:ln/>
        </p:spPr>
        <p:txBody>
          <a:bodyPr wrap="square" lIns="0" tIns="0" rIns="0" bIns="0" rtlCol="0" anchor="t"/>
          <a:lstStyle/>
          <a:p>
            <a:pPr marL="0" indent="0">
              <a:buNone/>
            </a:pPr>
            <a:r>
              <a:rPr lang="en-US" sz="4400" b="1" dirty="0" err="1">
                <a:solidFill>
                  <a:srgbClr val="111827"/>
                </a:solidFill>
                <a:latin typeface="Arial" pitchFamily="34" charset="0"/>
                <a:cs typeface="Arial" pitchFamily="34" charset="-120"/>
              </a:rPr>
              <a:t>Değerlendirme</a:t>
            </a:r>
            <a:r>
              <a:rPr lang="en-US" sz="4400" b="1" dirty="0">
                <a:solidFill>
                  <a:srgbClr val="111827"/>
                </a:solidFill>
                <a:latin typeface="Arial" pitchFamily="34" charset="0"/>
                <a:cs typeface="Arial" pitchFamily="34" charset="-120"/>
              </a:rPr>
              <a:t> ve </a:t>
            </a:r>
            <a:r>
              <a:rPr lang="en-US" sz="4400" b="1" dirty="0" err="1">
                <a:solidFill>
                  <a:srgbClr val="111827"/>
                </a:solidFill>
                <a:latin typeface="Arial" pitchFamily="34" charset="0"/>
                <a:cs typeface="Arial" pitchFamily="34" charset="-120"/>
              </a:rPr>
              <a:t>Sorular</a:t>
            </a:r>
            <a:endParaRPr lang="en-US" sz="4400" dirty="0"/>
          </a:p>
        </p:txBody>
      </p:sp>
      <p:sp>
        <p:nvSpPr>
          <p:cNvPr id="4" name="Text 2"/>
          <p:cNvSpPr txBox="1"/>
          <p:nvPr/>
        </p:nvSpPr>
        <p:spPr>
          <a:xfrm>
            <a:off x="822960" y="4114800"/>
            <a:ext cx="9144000" cy="548640"/>
          </a:xfrm>
          <a:prstGeom prst="rect">
            <a:avLst/>
          </a:prstGeom>
          <a:noFill/>
          <a:ln/>
        </p:spPr>
        <p:txBody>
          <a:bodyPr wrap="square" lIns="0" tIns="0" rIns="0" bIns="0" rtlCol="0" anchor="ctr"/>
          <a:lstStyle/>
          <a:p>
            <a:pPr marL="0" indent="0">
              <a:buNone/>
            </a:pPr>
            <a:r>
              <a:rPr lang="en-US" sz="2200" dirty="0" err="1">
                <a:solidFill>
                  <a:srgbClr val="6B7280"/>
                </a:solidFill>
                <a:latin typeface="Arial" pitchFamily="34" charset="0"/>
                <a:ea typeface="Arial" pitchFamily="34" charset="-122"/>
                <a:cs typeface="Arial" pitchFamily="34" charset="-120"/>
              </a:rPr>
              <a:t>Dönem</a:t>
            </a:r>
            <a:r>
              <a:rPr lang="en-US" sz="2200" dirty="0">
                <a:solidFill>
                  <a:srgbClr val="6B7280"/>
                </a:solidFill>
                <a:latin typeface="Arial" pitchFamily="34" charset="0"/>
                <a:ea typeface="Arial" pitchFamily="34" charset="-122"/>
                <a:cs typeface="Arial" pitchFamily="34" charset="-120"/>
              </a:rPr>
              <a:t> </a:t>
            </a:r>
            <a:r>
              <a:rPr lang="en-US" sz="2200" dirty="0" err="1">
                <a:solidFill>
                  <a:srgbClr val="6B7280"/>
                </a:solidFill>
                <a:latin typeface="Arial" pitchFamily="34" charset="0"/>
                <a:ea typeface="Arial" pitchFamily="34" charset="-122"/>
                <a:cs typeface="Arial" pitchFamily="34" charset="-120"/>
              </a:rPr>
              <a:t>Sonu</a:t>
            </a:r>
            <a:r>
              <a:rPr lang="en-US" sz="2200" dirty="0">
                <a:solidFill>
                  <a:srgbClr val="6B7280"/>
                </a:solidFill>
                <a:latin typeface="Arial" pitchFamily="34" charset="0"/>
                <a:ea typeface="Arial" pitchFamily="34" charset="-122"/>
                <a:cs typeface="Arial" pitchFamily="34" charset="-120"/>
              </a:rPr>
              <a:t> </a:t>
            </a:r>
            <a:r>
              <a:rPr lang="en-US" sz="2200" dirty="0" err="1">
                <a:solidFill>
                  <a:srgbClr val="6B7280"/>
                </a:solidFill>
                <a:latin typeface="Arial" pitchFamily="34" charset="0"/>
                <a:ea typeface="Arial" pitchFamily="34" charset="-122"/>
                <a:cs typeface="Arial" pitchFamily="34" charset="-120"/>
              </a:rPr>
              <a:t>Değerlendirme</a:t>
            </a:r>
            <a:endParaRPr lang="en-US" sz="2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buNone/>
            </a:pPr>
            <a:r>
              <a:rPr lang="en-US" sz="3200" b="1" dirty="0">
                <a:solidFill>
                  <a:srgbClr val="111827"/>
                </a:solidFill>
                <a:latin typeface="Arial" pitchFamily="34" charset="0"/>
                <a:ea typeface="Arial" pitchFamily="34" charset="-122"/>
                <a:cs typeface="Arial" pitchFamily="34" charset="-120"/>
              </a:rPr>
              <a:t>Dönem Yol Haritası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972800" cy="3096768"/>
        </p:xfrm>
        <a:graphic>
          <a:graphicData uri="http://schemas.openxmlformats.org/drawingml/2006/table">
            <a:tbl>
              <a:tblPr/>
              <a:tblGrid>
                <a:gridCol w="3280155">
                  <a:extLst>
                    <a:ext uri="{9D8B030D-6E8A-4147-A177-3AD203B41FA5}">
                      <a16:colId xmlns:a16="http://schemas.microsoft.com/office/drawing/2014/main" val="20000"/>
                    </a:ext>
                  </a:extLst>
                </a:gridCol>
                <a:gridCol w="7692645">
                  <a:extLst>
                    <a:ext uri="{9D8B030D-6E8A-4147-A177-3AD203B41FA5}">
                      <a16:colId xmlns:a16="http://schemas.microsoft.com/office/drawing/2014/main" val="20001"/>
                    </a:ext>
                  </a:extLst>
                </a:gridCol>
              </a:tblGrid>
              <a:tr h="387096">
                <a:tc>
                  <a:txBody>
                    <a:bodyPr/>
                    <a:lstStyle/>
                    <a:p>
                      <a:pPr marL="0" indent="0">
                        <a:buNone/>
                      </a:pPr>
                      <a:r>
                        <a:rPr lang="en-US" sz="1400" b="1" dirty="0">
                          <a:solidFill>
                            <a:srgbClr val="2563EB"/>
                          </a:solidFill>
                        </a:rPr>
                        <a:t>Haftalar</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Konu</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extLst>
                  <a:ext uri="{0D108BD9-81ED-4DB2-BD59-A6C34878D82A}">
                    <a16:rowId xmlns:a16="http://schemas.microsoft.com/office/drawing/2014/main" val="10000"/>
                  </a:ext>
                </a:extLst>
              </a:tr>
              <a:tr h="387096">
                <a:tc>
                  <a:txBody>
                    <a:bodyPr/>
                    <a:lstStyle/>
                    <a:p>
                      <a:pPr marL="0" indent="0">
                        <a:buNone/>
                      </a:pPr>
                      <a:r>
                        <a:rPr lang="en-US" sz="1700" b="1" dirty="0">
                          <a:solidFill>
                            <a:srgbClr val="111827"/>
                          </a:solidFill>
                        </a:rPr>
                        <a:t>1–3</a:t>
                      </a:r>
                      <a:endParaRPr lang="en-US" sz="17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Ekosistem, JavaScript, TypeScript</a:t>
                      </a:r>
                      <a:endParaRPr lang="en-US" sz="17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387096">
                <a:tc>
                  <a:txBody>
                    <a:bodyPr/>
                    <a:lstStyle/>
                    <a:p>
                      <a:pPr marL="0" indent="0">
                        <a:buNone/>
                      </a:pPr>
                      <a:r>
                        <a:rPr lang="en-US" sz="1700" b="1" dirty="0">
                          <a:solidFill>
                            <a:srgbClr val="111827"/>
                          </a:solidFill>
                        </a:rPr>
                        <a:t>4–7</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Kurulum, bileşenler, stil, state, navigasyon</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387096">
                <a:tc>
                  <a:txBody>
                    <a:bodyPr/>
                    <a:lstStyle/>
                    <a:p>
                      <a:pPr marL="0" indent="0">
                        <a:buNone/>
                      </a:pPr>
                      <a:r>
                        <a:rPr lang="en-US" sz="1700" b="1" dirty="0">
                          <a:solidFill>
                            <a:srgbClr val="111827"/>
                          </a:solidFill>
                        </a:rPr>
                        <a:t>8</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Ara sınav</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387096">
                <a:tc>
                  <a:txBody>
                    <a:bodyPr/>
                    <a:lstStyle/>
                    <a:p>
                      <a:pPr marL="0" indent="0">
                        <a:buNone/>
                      </a:pPr>
                      <a:r>
                        <a:rPr lang="en-US" sz="1700" b="1" dirty="0">
                          <a:solidFill>
                            <a:srgbClr val="111827"/>
                          </a:solidFill>
                        </a:rPr>
                        <a:t>9–11</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Formlar, asenkron işlemler, listeler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387096">
                <a:tc>
                  <a:txBody>
                    <a:bodyPr/>
                    <a:lstStyle/>
                    <a:p>
                      <a:pPr marL="0" indent="0">
                        <a:buNone/>
                      </a:pPr>
                      <a:r>
                        <a:rPr lang="en-US" sz="1700" b="1" dirty="0">
                          <a:solidFill>
                            <a:srgbClr val="111827"/>
                          </a:solidFill>
                        </a:rPr>
                        <a:t>12–13</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Firebase, kamera ve izinler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r h="387096">
                <a:tc>
                  <a:txBody>
                    <a:bodyPr/>
                    <a:lstStyle/>
                    <a:p>
                      <a:pPr marL="0" indent="0">
                        <a:buNone/>
                      </a:pPr>
                      <a:r>
                        <a:rPr lang="en-US" sz="1700" b="1" dirty="0">
                          <a:solidFill>
                            <a:srgbClr val="111827"/>
                          </a:solidFill>
                        </a:rPr>
                        <a:t>14–15</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Proje geliştirme ve sunum</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6"/>
                  </a:ext>
                </a:extLst>
              </a:tr>
              <a:tr h="387096">
                <a:tc>
                  <a:txBody>
                    <a:bodyPr/>
                    <a:lstStyle/>
                    <a:p>
                      <a:pPr marL="0" indent="0">
                        <a:buNone/>
                      </a:pPr>
                      <a:r>
                        <a:rPr lang="en-US" sz="1700" b="1" dirty="0">
                          <a:solidFill>
                            <a:srgbClr val="111827"/>
                          </a:solidFill>
                        </a:rPr>
                        <a:t>16</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Final</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Shape 2"/>
          <p:cNvSpPr/>
          <p:nvPr/>
        </p:nvSpPr>
        <p:spPr>
          <a:xfrm>
            <a:off x="731520" y="5017008"/>
            <a:ext cx="10972800" cy="1018032"/>
          </a:xfrm>
          <a:prstGeom prst="roundRect">
            <a:avLst>
              <a:gd name="adj" fmla="val 8982"/>
            </a:avLst>
          </a:prstGeom>
          <a:solidFill>
            <a:srgbClr val="EFF6FF"/>
          </a:solidFill>
          <a:ln w="9525">
            <a:solidFill>
              <a:srgbClr val="EFF6FF"/>
            </a:solidFill>
            <a:prstDash val="solid"/>
          </a:ln>
        </p:spPr>
      </p:sp>
      <p:sp>
        <p:nvSpPr>
          <p:cNvPr id="6" name="Text 3"/>
          <p:cNvSpPr txBox="1"/>
          <p:nvPr/>
        </p:nvSpPr>
        <p:spPr>
          <a:xfrm>
            <a:off x="932688" y="5145024"/>
            <a:ext cx="10570464" cy="762000"/>
          </a:xfrm>
          <a:prstGeom prst="rect">
            <a:avLst/>
          </a:prstGeom>
          <a:noFill/>
          <a:ln/>
        </p:spPr>
        <p:txBody>
          <a:bodyPr wrap="square" lIns="0" tIns="0" rIns="0" bIns="0" rtlCol="0" anchor="t"/>
          <a:lstStyle/>
          <a:p>
            <a:pPr marL="0" indent="0">
              <a:buNone/>
            </a:pPr>
            <a:r>
              <a:rPr lang="en-US" sz="1100" b="1" dirty="0">
                <a:solidFill>
                  <a:srgbClr val="2563EB"/>
                </a:solidFill>
                <a:latin typeface="Arial" pitchFamily="34" charset="0"/>
                <a:ea typeface="Arial" pitchFamily="34" charset="-122"/>
                <a:cs typeface="Arial" pitchFamily="34" charset="-120"/>
              </a:rPr>
              <a:t>SEÇIM MANTIĞI</a:t>
            </a:r>
            <a:endParaRPr lang="en-US" sz="1100" dirty="0"/>
          </a:p>
          <a:p>
            <a:pPr marL="0" indent="0">
              <a:buNone/>
            </a:pPr>
            <a:r>
              <a:rPr lang="en-US" sz="1600" dirty="0">
                <a:solidFill>
                  <a:srgbClr val="111827"/>
                </a:solidFill>
                <a:latin typeface="Arial" pitchFamily="34" charset="0"/>
                <a:ea typeface="Arial" pitchFamily="34" charset="-122"/>
                <a:cs typeface="Arial" pitchFamily="34" charset="-120"/>
              </a:rPr>
              <a:t>Her hafta bir öncekinin üstüne kurulur; 4. haftada kurulum aksarsa sonraki haftalar etkilenir, o yüzden gelecek haftaya hazırlık önemlidir.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buNone/>
            </a:pPr>
            <a:r>
              <a:rPr lang="en-US" sz="3200" b="1" dirty="0">
                <a:solidFill>
                  <a:srgbClr val="111827"/>
                </a:solidFill>
                <a:latin typeface="Arial" pitchFamily="34" charset="0"/>
                <a:ea typeface="Arial" pitchFamily="34" charset="-122"/>
                <a:cs typeface="Arial" pitchFamily="34" charset="-120"/>
              </a:rPr>
              <a:t>Değerlendirme ve Proje</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6766560" cy="4663440"/>
          </a:xfrm>
          <a:prstGeom prst="rect">
            <a:avLst/>
          </a:prstGeom>
          <a:noFill/>
          <a:ln/>
        </p:spPr>
        <p:txBody>
          <a:bodyPr wrap="square" lIns="0" tIns="0" rIns="0" bIns="0" rtlCol="0" anchor="t"/>
          <a:lstStyle/>
          <a:p>
            <a:pPr marL="0" indent="0" algn="just">
              <a:spcAft>
                <a:spcPts val="800"/>
              </a:spcAft>
              <a:buNone/>
            </a:pPr>
            <a:r>
              <a:rPr lang="en-US" sz="2200" dirty="0">
                <a:solidFill>
                  <a:srgbClr val="111827"/>
                </a:solidFill>
                <a:latin typeface="Arial" pitchFamily="34" charset="0"/>
                <a:ea typeface="Arial" pitchFamily="34" charset="-122"/>
                <a:cs typeface="Arial" pitchFamily="34" charset="-120"/>
              </a:rPr>
              <a:t>Dönem notu proje %30, ara sınav %40 ve final %30 üzerinden hesaplanır; yarıyıl içi katkısı %40, yarıyıl sonu katkısı %60'tır. </a:t>
            </a:r>
          </a:p>
          <a:p>
            <a:pPr marL="0" indent="0" algn="just">
              <a:spcAft>
                <a:spcPts val="800"/>
              </a:spcAft>
              <a:buNone/>
            </a:pPr>
            <a:endParaRPr lang="en-US" sz="2200" dirty="0">
              <a:solidFill>
                <a:srgbClr val="111827"/>
              </a:solidFill>
              <a:latin typeface="Arial" pitchFamily="34" charset="0"/>
              <a:ea typeface="Arial" pitchFamily="34" charset="-122"/>
              <a:cs typeface="Arial" pitchFamily="34" charset="-120"/>
            </a:endParaRPr>
          </a:p>
          <a:p>
            <a:pPr marL="0" indent="0" algn="just">
              <a:spcAft>
                <a:spcPts val="800"/>
              </a:spcAft>
              <a:buNone/>
            </a:pPr>
            <a:r>
              <a:rPr lang="en-US" sz="2200" dirty="0" err="1">
                <a:solidFill>
                  <a:srgbClr val="111827"/>
                </a:solidFill>
                <a:latin typeface="Arial" pitchFamily="34" charset="0"/>
                <a:ea typeface="Arial" pitchFamily="34" charset="-122"/>
                <a:cs typeface="Arial" pitchFamily="34" charset="-120"/>
              </a:rPr>
              <a:t>Proje</a:t>
            </a:r>
            <a:r>
              <a:rPr lang="en-US" sz="2200" dirty="0">
                <a:solidFill>
                  <a:srgbClr val="111827"/>
                </a:solidFill>
                <a:latin typeface="Arial" pitchFamily="34" charset="0"/>
                <a:ea typeface="Arial" pitchFamily="34" charset="-122"/>
                <a:cs typeface="Arial" pitchFamily="34" charset="-120"/>
              </a:rPr>
              <a:t>, dönem boyunca öğrendiklerinizi birleştiren bir mobil uygulamadır ve 15. haftada sunulur. Projeye ilk haftadan bir fikir düşünerek başlamanız, sonraki haftalarda öğrendiklerinizi doğrudan uygulamanıza yarayacaktır.</a:t>
            </a:r>
            <a:endParaRPr lang="en-US" sz="2200" dirty="0"/>
          </a:p>
        </p:txBody>
      </p:sp>
      <p:sp>
        <p:nvSpPr>
          <p:cNvPr id="5" name="Shape 3"/>
          <p:cNvSpPr/>
          <p:nvPr/>
        </p:nvSpPr>
        <p:spPr>
          <a:xfrm>
            <a:off x="7863840" y="1645920"/>
            <a:ext cx="3657600" cy="1383792"/>
          </a:xfrm>
          <a:prstGeom prst="roundRect">
            <a:avLst>
              <a:gd name="adj" fmla="val 6608"/>
            </a:avLst>
          </a:prstGeom>
          <a:solidFill>
            <a:srgbClr val="EFF6FF"/>
          </a:solidFill>
          <a:ln w="9525">
            <a:solidFill>
              <a:srgbClr val="EFF6FF"/>
            </a:solidFill>
            <a:prstDash val="solid"/>
          </a:ln>
        </p:spPr>
      </p:sp>
      <p:sp>
        <p:nvSpPr>
          <p:cNvPr id="6" name="Text 4"/>
          <p:cNvSpPr txBox="1"/>
          <p:nvPr/>
        </p:nvSpPr>
        <p:spPr>
          <a:xfrm>
            <a:off x="8065008" y="1773936"/>
            <a:ext cx="3255264" cy="1127760"/>
          </a:xfrm>
          <a:prstGeom prst="rect">
            <a:avLst/>
          </a:prstGeom>
          <a:noFill/>
          <a:ln/>
        </p:spPr>
        <p:txBody>
          <a:bodyPr wrap="square" lIns="0" tIns="0" rIns="0" bIns="0" rtlCol="0" anchor="t"/>
          <a:lstStyle/>
          <a:p>
            <a:pPr marL="0" indent="0">
              <a:buNone/>
            </a:pPr>
            <a:r>
              <a:rPr lang="en-US" sz="1100" b="1" dirty="0">
                <a:solidFill>
                  <a:srgbClr val="2563EB"/>
                </a:solidFill>
                <a:latin typeface="Arial" pitchFamily="34" charset="0"/>
                <a:ea typeface="Arial" pitchFamily="34" charset="-122"/>
                <a:cs typeface="Arial" pitchFamily="34" charset="-120"/>
              </a:rPr>
              <a:t>KONTROL SORUSU</a:t>
            </a:r>
            <a:endParaRPr lang="en-US" sz="1100" dirty="0"/>
          </a:p>
          <a:p>
            <a:pPr marL="0" indent="0">
              <a:buNone/>
            </a:pPr>
            <a:r>
              <a:rPr lang="en-US" sz="1400" dirty="0">
                <a:solidFill>
                  <a:srgbClr val="111827"/>
                </a:solidFill>
                <a:latin typeface="Arial" pitchFamily="34" charset="0"/>
                <a:ea typeface="Arial" pitchFamily="34" charset="-122"/>
                <a:cs typeface="Arial" pitchFamily="34" charset="-120"/>
              </a:rPr>
              <a:t>Aklınızdaki uygulama fikri hangi sensör veya sunucu hizmetine ihtiyaç duyuyor? Bu ihtiyaç hangi geliştirme yaklaşımını işaret ediyor?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buNone/>
            </a:pPr>
            <a:r>
              <a:rPr lang="en-US" sz="3200" b="1" dirty="0">
                <a:solidFill>
                  <a:srgbClr val="111827"/>
                </a:solidFill>
                <a:latin typeface="Arial" pitchFamily="34" charset="0"/>
                <a:ea typeface="Arial" pitchFamily="34" charset="-122"/>
                <a:cs typeface="Arial" pitchFamily="34" charset="-120"/>
              </a:rPr>
              <a:t>Etkinlik: Bir Uygulamayı Sınıflandır</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10972800" cy="4663440"/>
          </a:xfrm>
          <a:prstGeom prst="rect">
            <a:avLst/>
          </a:prstGeom>
          <a:noFill/>
          <a:ln/>
        </p:spPr>
        <p:txBody>
          <a:bodyPr wrap="square" lIns="0" tIns="0" rIns="0" bIns="0" rtlCol="0" anchor="t"/>
          <a:lstStyle/>
          <a:p>
            <a:pPr marL="0" indent="0" algn="just">
              <a:spcAft>
                <a:spcPts val="800"/>
              </a:spcAft>
              <a:buNone/>
            </a:pPr>
            <a:r>
              <a:rPr lang="en-US" sz="2200" dirty="0">
                <a:solidFill>
                  <a:srgbClr val="111827"/>
                </a:solidFill>
                <a:latin typeface="Arial" pitchFamily="34" charset="0"/>
                <a:ea typeface="Arial" pitchFamily="34" charset="-122"/>
                <a:cs typeface="Arial" pitchFamily="34" charset="-120"/>
              </a:rPr>
              <a:t>İkişerli gruplar halinde telefonunuzdaki bir uygulamayı seçin ve üç soruyu </a:t>
            </a:r>
            <a:r>
              <a:rPr lang="en-US" sz="2200" dirty="0" err="1">
                <a:solidFill>
                  <a:srgbClr val="111827"/>
                </a:solidFill>
                <a:latin typeface="Arial" pitchFamily="34" charset="0"/>
                <a:ea typeface="Arial" pitchFamily="34" charset="-122"/>
                <a:cs typeface="Arial" pitchFamily="34" charset="-120"/>
              </a:rPr>
              <a:t>yanıtlayın</a:t>
            </a:r>
            <a:r>
              <a:rPr lang="en-US" sz="2200" dirty="0">
                <a:solidFill>
                  <a:srgbClr val="111827"/>
                </a:solidFill>
                <a:latin typeface="Arial" pitchFamily="34" charset="0"/>
                <a:ea typeface="Arial" pitchFamily="34" charset="-122"/>
                <a:cs typeface="Arial" pitchFamily="34" charset="-120"/>
              </a:rPr>
              <a:t>:</a:t>
            </a:r>
          </a:p>
          <a:p>
            <a:pPr marL="0" indent="0" algn="just">
              <a:spcAft>
                <a:spcPts val="800"/>
              </a:spcAft>
              <a:buNone/>
            </a:pPr>
            <a:r>
              <a:rPr lang="en-US" sz="2200" dirty="0">
                <a:solidFill>
                  <a:srgbClr val="111827"/>
                </a:solidFill>
                <a:latin typeface="Arial" pitchFamily="34" charset="0"/>
                <a:ea typeface="Arial" pitchFamily="34" charset="-122"/>
                <a:cs typeface="Arial" pitchFamily="34" charset="-120"/>
              </a:rPr>
              <a:t> </a:t>
            </a:r>
          </a:p>
          <a:p>
            <a:pPr marL="914400" lvl="1" indent="-457200" algn="just">
              <a:spcAft>
                <a:spcPts val="800"/>
              </a:spcAft>
              <a:buFont typeface="+mj-lt"/>
              <a:buAutoNum type="arabicPeriod"/>
            </a:pPr>
            <a:r>
              <a:rPr lang="en-US" sz="2200" dirty="0" err="1">
                <a:solidFill>
                  <a:srgbClr val="111827"/>
                </a:solidFill>
                <a:latin typeface="Arial" pitchFamily="34" charset="0"/>
                <a:ea typeface="Arial" pitchFamily="34" charset="-122"/>
                <a:cs typeface="Arial" pitchFamily="34" charset="-120"/>
              </a:rPr>
              <a:t>Hangi</a:t>
            </a:r>
            <a:r>
              <a:rPr lang="en-US" sz="2200" dirty="0">
                <a:solidFill>
                  <a:srgbClr val="111827"/>
                </a:solidFill>
                <a:latin typeface="Arial" pitchFamily="34" charset="0"/>
                <a:ea typeface="Arial" pitchFamily="34" charset="-122"/>
                <a:cs typeface="Arial" pitchFamily="34" charset="-120"/>
              </a:rPr>
              <a:t> cihaz özelliklerini kullanıyor? </a:t>
            </a:r>
          </a:p>
          <a:p>
            <a:pPr marL="914400" lvl="1" indent="-457200" algn="just">
              <a:spcAft>
                <a:spcPts val="800"/>
              </a:spcAft>
              <a:buFont typeface="+mj-lt"/>
              <a:buAutoNum type="arabicPeriod"/>
            </a:pPr>
            <a:r>
              <a:rPr lang="en-US" sz="2200" dirty="0" err="1">
                <a:solidFill>
                  <a:srgbClr val="111827"/>
                </a:solidFill>
                <a:latin typeface="Arial" pitchFamily="34" charset="0"/>
                <a:ea typeface="Arial" pitchFamily="34" charset="-122"/>
                <a:cs typeface="Arial" pitchFamily="34" charset="-120"/>
              </a:rPr>
              <a:t>Hangi</a:t>
            </a:r>
            <a:r>
              <a:rPr lang="en-US" sz="2200" dirty="0">
                <a:solidFill>
                  <a:srgbClr val="111827"/>
                </a:solidFill>
                <a:latin typeface="Arial" pitchFamily="34" charset="0"/>
                <a:ea typeface="Arial" pitchFamily="34" charset="-122"/>
                <a:cs typeface="Arial" pitchFamily="34" charset="-120"/>
              </a:rPr>
              <a:t> yaklaşımla yazılmış olabilir ve bunu neden düşünüyorsunuz? </a:t>
            </a:r>
          </a:p>
          <a:p>
            <a:pPr marL="914400" lvl="1" indent="-457200" algn="just">
              <a:spcAft>
                <a:spcPts val="800"/>
              </a:spcAft>
              <a:buFont typeface="+mj-lt"/>
              <a:buAutoNum type="arabicPeriod"/>
            </a:pPr>
            <a:r>
              <a:rPr lang="en-US" sz="2200" dirty="0" err="1">
                <a:solidFill>
                  <a:srgbClr val="111827"/>
                </a:solidFill>
                <a:latin typeface="Arial" pitchFamily="34" charset="0"/>
                <a:ea typeface="Arial" pitchFamily="34" charset="-122"/>
                <a:cs typeface="Arial" pitchFamily="34" charset="-120"/>
              </a:rPr>
              <a:t>Siz</a:t>
            </a:r>
            <a:r>
              <a:rPr lang="en-US" sz="2200" dirty="0">
                <a:solidFill>
                  <a:srgbClr val="111827"/>
                </a:solidFill>
                <a:latin typeface="Arial" pitchFamily="34" charset="0"/>
                <a:ea typeface="Arial" pitchFamily="34" charset="-122"/>
                <a:cs typeface="Arial" pitchFamily="34" charset="-120"/>
              </a:rPr>
              <a:t> olsaydınız hangi yaklaşımı seçerdiniz? </a:t>
            </a:r>
          </a:p>
          <a:p>
            <a:pPr marL="0" indent="0" algn="just">
              <a:spcAft>
                <a:spcPts val="800"/>
              </a:spcAft>
              <a:buNone/>
            </a:pPr>
            <a:endParaRPr lang="en-US" sz="2200" dirty="0">
              <a:solidFill>
                <a:srgbClr val="111827"/>
              </a:solidFill>
              <a:latin typeface="Arial" pitchFamily="34" charset="0"/>
              <a:ea typeface="Arial" pitchFamily="34" charset="-122"/>
              <a:cs typeface="Arial" pitchFamily="34" charset="-120"/>
            </a:endParaRPr>
          </a:p>
          <a:p>
            <a:pPr marL="0" indent="0" algn="just">
              <a:spcAft>
                <a:spcPts val="800"/>
              </a:spcAft>
              <a:buNone/>
            </a:pPr>
            <a:r>
              <a:rPr lang="en-US" sz="2200" dirty="0" err="1">
                <a:solidFill>
                  <a:srgbClr val="111827"/>
                </a:solidFill>
                <a:latin typeface="Arial" pitchFamily="34" charset="0"/>
                <a:ea typeface="Arial" pitchFamily="34" charset="-122"/>
                <a:cs typeface="Arial" pitchFamily="34" charset="-120"/>
              </a:rPr>
              <a:t>Cevaplarınızı</a:t>
            </a:r>
            <a:r>
              <a:rPr lang="en-US" sz="2200" dirty="0">
                <a:solidFill>
                  <a:srgbClr val="111827"/>
                </a:solidFill>
                <a:latin typeface="Arial" pitchFamily="34" charset="0"/>
                <a:ea typeface="Arial" pitchFamily="34" charset="-122"/>
                <a:cs typeface="Arial" pitchFamily="34" charset="-120"/>
              </a:rPr>
              <a:t> ölçütler tablosundan yararlanarak gerekçelendirin.</a:t>
            </a:r>
            <a:endParaRPr lang="en-US" sz="22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buNone/>
            </a:pPr>
            <a:r>
              <a:rPr lang="en-US" sz="3200" b="1" dirty="0">
                <a:solidFill>
                  <a:srgbClr val="111827"/>
                </a:solidFill>
                <a:latin typeface="Arial" pitchFamily="34" charset="0"/>
                <a:ea typeface="Arial" pitchFamily="34" charset="-122"/>
                <a:cs typeface="Arial" pitchFamily="34" charset="-120"/>
              </a:rPr>
              <a:t>Uygulama Saati: Ekosistem Analizi</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10972800" cy="4663440"/>
          </a:xfrm>
          <a:prstGeom prst="rect">
            <a:avLst/>
          </a:prstGeom>
          <a:noFill/>
          <a:ln/>
        </p:spPr>
        <p:txBody>
          <a:bodyPr wrap="square" lIns="0" tIns="0" rIns="0" bIns="0" rtlCol="0" anchor="t"/>
          <a:lstStyle/>
          <a:p>
            <a:pPr marL="279400" indent="-279400" algn="just">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Gerçek bir uygulama seçin (banka, ulaşım, yemek siparişi vb.).</a:t>
            </a:r>
            <a:endParaRPr lang="en-US" sz="2200" dirty="0"/>
          </a:p>
          <a:p>
            <a:pPr marL="279400" indent="-279400" algn="just">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Ekosistem zincirini çizin: geliştirici, mağaza, cihaz, sunucu, gelir modeli.</a:t>
            </a:r>
            <a:endParaRPr lang="en-US" sz="2200" dirty="0"/>
          </a:p>
          <a:p>
            <a:pPr marL="279400" indent="-279400" algn="just">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Uygulamanın hangi izinleri istediğini telefonun ayarlarından listeleyin.</a:t>
            </a:r>
            <a:endParaRPr lang="en-US" sz="2200" dirty="0"/>
          </a:p>
          <a:p>
            <a:pPr marL="279400" indent="-279400" algn="just">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Dört yaklaşım için bir artı ve bir eksi yazıp gerekçeli seçiminizi sunun.</a:t>
            </a:r>
            <a:endParaRPr lang="en-US" sz="22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buNone/>
            </a:pPr>
            <a:r>
              <a:rPr lang="en-US" sz="3200" b="1" dirty="0">
                <a:solidFill>
                  <a:srgbClr val="111827"/>
                </a:solidFill>
                <a:latin typeface="Arial" pitchFamily="34" charset="0"/>
                <a:ea typeface="Arial" pitchFamily="34" charset="-122"/>
                <a:cs typeface="Arial" pitchFamily="34" charset="-120"/>
              </a:rPr>
              <a:t>Kontrol Soruları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6766560" cy="4663440"/>
          </a:xfrm>
          <a:prstGeom prst="rect">
            <a:avLst/>
          </a:prstGeom>
          <a:noFill/>
          <a:ln/>
        </p:spPr>
        <p:txBody>
          <a:bodyPr wrap="square" lIns="0" tIns="0" rIns="0" bIns="0" rtlCol="0" anchor="t"/>
          <a:lstStyle/>
          <a:p>
            <a:pPr marL="279400" indent="-279400" algn="just">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Bir mobil uygulamayı oluşturan ekosistem halkaları nelerdir?</a:t>
            </a:r>
            <a:endParaRPr lang="en-US" sz="2200" dirty="0"/>
          </a:p>
          <a:p>
            <a:pPr marL="279400" indent="-279400" algn="just">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iOS uygulaması geliştirmek için neden macOS </a:t>
            </a:r>
            <a:r>
              <a:rPr lang="en-US" sz="2200" dirty="0" err="1">
                <a:solidFill>
                  <a:srgbClr val="111827"/>
                </a:solidFill>
                <a:latin typeface="Arial" pitchFamily="34" charset="0"/>
                <a:ea typeface="Arial" pitchFamily="34" charset="-122"/>
                <a:cs typeface="Arial" pitchFamily="34" charset="-120"/>
              </a:rPr>
              <a:t>gerekir</a:t>
            </a:r>
            <a:r>
              <a:rPr lang="en-US" sz="2200" dirty="0">
                <a:solidFill>
                  <a:srgbClr val="111827"/>
                </a:solidFill>
                <a:latin typeface="Arial" pitchFamily="34" charset="0"/>
                <a:ea typeface="Arial" pitchFamily="34" charset="-122"/>
                <a:cs typeface="Arial" pitchFamily="34" charset="-120"/>
              </a:rPr>
              <a:t>?</a:t>
            </a:r>
          </a:p>
          <a:p>
            <a:pPr marL="279400" indent="-279400" algn="just">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Hibrit ile çapraz platform yaklaşımı arasındaki temel fark nedir?</a:t>
            </a:r>
            <a:endParaRPr lang="en-US" sz="2200" dirty="0"/>
          </a:p>
          <a:p>
            <a:pPr marL="279400" indent="-279400" algn="just">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React Native'de ekrandaki düğme neden "yerel" kabul edilir?</a:t>
            </a:r>
            <a:endParaRPr lang="en-US" sz="2200" dirty="0"/>
          </a:p>
        </p:txBody>
      </p:sp>
      <p:sp>
        <p:nvSpPr>
          <p:cNvPr id="5" name="Shape 3"/>
          <p:cNvSpPr/>
          <p:nvPr/>
        </p:nvSpPr>
        <p:spPr>
          <a:xfrm>
            <a:off x="7863840" y="1645920"/>
            <a:ext cx="3657600" cy="957072"/>
          </a:xfrm>
          <a:prstGeom prst="roundRect">
            <a:avLst>
              <a:gd name="adj" fmla="val 9554"/>
            </a:avLst>
          </a:prstGeom>
          <a:solidFill>
            <a:srgbClr val="EFF6FF"/>
          </a:solidFill>
          <a:ln w="9525">
            <a:solidFill>
              <a:srgbClr val="EFF6FF"/>
            </a:solidFill>
            <a:prstDash val="solid"/>
          </a:ln>
        </p:spPr>
      </p:sp>
      <p:sp>
        <p:nvSpPr>
          <p:cNvPr id="6" name="Text 4"/>
          <p:cNvSpPr txBox="1"/>
          <p:nvPr/>
        </p:nvSpPr>
        <p:spPr>
          <a:xfrm>
            <a:off x="8065008" y="1773936"/>
            <a:ext cx="3255264" cy="701040"/>
          </a:xfrm>
          <a:prstGeom prst="rect">
            <a:avLst/>
          </a:prstGeom>
          <a:noFill/>
          <a:ln/>
        </p:spPr>
        <p:txBody>
          <a:bodyPr wrap="square" lIns="0" tIns="0" rIns="0" bIns="0" rtlCol="0" anchor="t"/>
          <a:lstStyle/>
          <a:p>
            <a:pPr marL="0" indent="0">
              <a:buNone/>
            </a:pPr>
            <a:r>
              <a:rPr lang="en-US" sz="1100" b="1" dirty="0">
                <a:solidFill>
                  <a:srgbClr val="2563EB"/>
                </a:solidFill>
                <a:latin typeface="Arial" pitchFamily="34" charset="0"/>
                <a:ea typeface="Arial" pitchFamily="34" charset="-122"/>
                <a:cs typeface="Arial" pitchFamily="34" charset="-120"/>
              </a:rPr>
              <a:t>KONTROL SORUSU</a:t>
            </a:r>
            <a:endParaRPr lang="en-US" sz="1100" dirty="0"/>
          </a:p>
          <a:p>
            <a:pPr marL="0" indent="0">
              <a:buNone/>
            </a:pPr>
            <a:r>
              <a:rPr lang="en-US" sz="1400" dirty="0">
                <a:solidFill>
                  <a:srgbClr val="111827"/>
                </a:solidFill>
                <a:latin typeface="Arial" pitchFamily="34" charset="0"/>
                <a:ea typeface="Arial" pitchFamily="34" charset="-122"/>
                <a:cs typeface="Arial" pitchFamily="34" charset="-120"/>
              </a:rPr>
              <a:t>Bir haber sitesinin mobil sürümü için hangi yaklaşımı seçerdiniz ve neden?</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buNone/>
            </a:pPr>
            <a:r>
              <a:rPr lang="en-US" sz="3200" b="1" dirty="0">
                <a:solidFill>
                  <a:srgbClr val="111827"/>
                </a:solidFill>
                <a:latin typeface="Arial" pitchFamily="34" charset="0"/>
                <a:ea typeface="Arial" pitchFamily="34" charset="-122"/>
                <a:cs typeface="Arial" pitchFamily="34" charset="-120"/>
              </a:rPr>
              <a:t>Gelecek Haftaya Hazırlık</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6766560" cy="4663440"/>
          </a:xfrm>
          <a:prstGeom prst="rect">
            <a:avLst/>
          </a:prstGeom>
          <a:noFill/>
          <a:ln/>
        </p:spPr>
        <p:txBody>
          <a:bodyPr wrap="square" lIns="0" tIns="0" rIns="0" bIns="0" rtlCol="0" anchor="t"/>
          <a:lstStyle/>
          <a:p>
            <a:pPr marL="228600" indent="-228600" algn="just">
              <a:spcAft>
                <a:spcPts val="800"/>
              </a:spcAft>
              <a:buSzPct val="100000"/>
              <a:buFontTx/>
              <a:buChar char="•"/>
            </a:pPr>
            <a:r>
              <a:rPr lang="en-US" sz="2200" dirty="0" err="1">
                <a:solidFill>
                  <a:srgbClr val="111827"/>
                </a:solidFill>
                <a:latin typeface="Arial" pitchFamily="34" charset="0"/>
                <a:ea typeface="Arial" pitchFamily="34" charset="-122"/>
                <a:cs typeface="Arial" pitchFamily="34" charset="-120"/>
              </a:rPr>
              <a:t>Gelecek</a:t>
            </a:r>
            <a:r>
              <a:rPr lang="en-US" sz="2200" dirty="0">
                <a:solidFill>
                  <a:srgbClr val="111827"/>
                </a:solidFill>
                <a:latin typeface="Arial" pitchFamily="34" charset="0"/>
                <a:ea typeface="Arial" pitchFamily="34" charset="-122"/>
                <a:cs typeface="Arial" pitchFamily="34" charset="-120"/>
              </a:rPr>
              <a:t> </a:t>
            </a:r>
            <a:r>
              <a:rPr lang="en-US" sz="2200" dirty="0" err="1">
                <a:solidFill>
                  <a:srgbClr val="111827"/>
                </a:solidFill>
                <a:latin typeface="Arial" pitchFamily="34" charset="0"/>
                <a:ea typeface="Arial" pitchFamily="34" charset="-122"/>
                <a:cs typeface="Arial" pitchFamily="34" charset="-120"/>
              </a:rPr>
              <a:t>hafta</a:t>
            </a:r>
            <a:r>
              <a:rPr lang="en-US" sz="2200" dirty="0">
                <a:solidFill>
                  <a:srgbClr val="111827"/>
                </a:solidFill>
                <a:latin typeface="Arial" pitchFamily="34" charset="0"/>
                <a:ea typeface="Arial" pitchFamily="34" charset="-122"/>
                <a:cs typeface="Arial" pitchFamily="34" charset="-120"/>
              </a:rPr>
              <a:t> JavaScript </a:t>
            </a:r>
            <a:r>
              <a:rPr lang="en-US" sz="2200" dirty="0" err="1">
                <a:solidFill>
                  <a:srgbClr val="111827"/>
                </a:solidFill>
                <a:latin typeface="Arial" pitchFamily="34" charset="0"/>
                <a:ea typeface="Arial" pitchFamily="34" charset="-122"/>
                <a:cs typeface="Arial" pitchFamily="34" charset="-120"/>
              </a:rPr>
              <a:t>alıştırmaları</a:t>
            </a:r>
            <a:r>
              <a:rPr lang="en-US" sz="2200" dirty="0">
                <a:solidFill>
                  <a:srgbClr val="111827"/>
                </a:solidFill>
                <a:latin typeface="Arial" pitchFamily="34" charset="0"/>
                <a:ea typeface="Arial" pitchFamily="34" charset="-122"/>
                <a:cs typeface="Arial" pitchFamily="34" charset="-120"/>
              </a:rPr>
              <a:t> </a:t>
            </a:r>
            <a:r>
              <a:rPr lang="en-US" sz="2200" dirty="0" err="1">
                <a:solidFill>
                  <a:srgbClr val="111827"/>
                </a:solidFill>
                <a:latin typeface="Arial" pitchFamily="34" charset="0"/>
                <a:ea typeface="Arial" pitchFamily="34" charset="-122"/>
                <a:cs typeface="Arial" pitchFamily="34" charset="-120"/>
              </a:rPr>
              <a:t>yapacağız</a:t>
            </a:r>
            <a:r>
              <a:rPr lang="en-US" sz="2200" dirty="0">
                <a:solidFill>
                  <a:srgbClr val="111827"/>
                </a:solidFill>
                <a:latin typeface="Arial" pitchFamily="34" charset="0"/>
                <a:ea typeface="Arial" pitchFamily="34" charset="-122"/>
                <a:cs typeface="Arial" pitchFamily="34" charset="-120"/>
              </a:rPr>
              <a:t>; </a:t>
            </a:r>
            <a:r>
              <a:rPr lang="en-US" sz="2200" dirty="0" err="1">
                <a:solidFill>
                  <a:srgbClr val="111827"/>
                </a:solidFill>
                <a:latin typeface="Arial" pitchFamily="34" charset="0"/>
                <a:ea typeface="Arial" pitchFamily="34" charset="-122"/>
                <a:cs typeface="Arial" pitchFamily="34" charset="-120"/>
              </a:rPr>
              <a:t>kullanacağınız</a:t>
            </a:r>
            <a:r>
              <a:rPr lang="en-US" sz="2200" dirty="0">
                <a:solidFill>
                  <a:srgbClr val="111827"/>
                </a:solidFill>
                <a:latin typeface="Arial" pitchFamily="34" charset="0"/>
                <a:ea typeface="Arial" pitchFamily="34" charset="-122"/>
                <a:cs typeface="Arial" pitchFamily="34" charset="-120"/>
              </a:rPr>
              <a:t> </a:t>
            </a:r>
            <a:r>
              <a:rPr lang="en-US" sz="2200" dirty="0" err="1">
                <a:solidFill>
                  <a:srgbClr val="111827"/>
                </a:solidFill>
                <a:latin typeface="Arial" pitchFamily="34" charset="0"/>
                <a:ea typeface="Arial" pitchFamily="34" charset="-122"/>
                <a:cs typeface="Arial" pitchFamily="34" charset="-120"/>
              </a:rPr>
              <a:t>bir</a:t>
            </a:r>
            <a:r>
              <a:rPr lang="en-US" sz="2200" dirty="0">
                <a:solidFill>
                  <a:srgbClr val="111827"/>
                </a:solidFill>
                <a:latin typeface="Arial" pitchFamily="34" charset="0"/>
                <a:ea typeface="Arial" pitchFamily="34" charset="-122"/>
                <a:cs typeface="Arial" pitchFamily="34" charset="-120"/>
              </a:rPr>
              <a:t> </a:t>
            </a:r>
            <a:r>
              <a:rPr lang="en-US" sz="2200" dirty="0" err="1">
                <a:solidFill>
                  <a:srgbClr val="111827"/>
                </a:solidFill>
                <a:latin typeface="Arial" pitchFamily="34" charset="0"/>
                <a:ea typeface="Arial" pitchFamily="34" charset="-122"/>
                <a:cs typeface="Arial" pitchFamily="34" charset="-120"/>
              </a:rPr>
              <a:t>kod</a:t>
            </a:r>
            <a:r>
              <a:rPr lang="en-US" sz="2200" dirty="0">
                <a:solidFill>
                  <a:srgbClr val="111827"/>
                </a:solidFill>
                <a:latin typeface="Arial" pitchFamily="34" charset="0"/>
                <a:ea typeface="Arial" pitchFamily="34" charset="-122"/>
                <a:cs typeface="Arial" pitchFamily="34" charset="-120"/>
              </a:rPr>
              <a:t> </a:t>
            </a:r>
            <a:r>
              <a:rPr lang="en-US" sz="2200" dirty="0" err="1">
                <a:solidFill>
                  <a:srgbClr val="111827"/>
                </a:solidFill>
                <a:latin typeface="Arial" pitchFamily="34" charset="0"/>
                <a:ea typeface="Arial" pitchFamily="34" charset="-122"/>
                <a:cs typeface="Arial" pitchFamily="34" charset="-120"/>
              </a:rPr>
              <a:t>editörünü</a:t>
            </a:r>
            <a:r>
              <a:rPr lang="en-US" sz="2200" dirty="0">
                <a:solidFill>
                  <a:srgbClr val="111827"/>
                </a:solidFill>
                <a:latin typeface="Arial" pitchFamily="34" charset="0"/>
                <a:ea typeface="Arial" pitchFamily="34" charset="-122"/>
                <a:cs typeface="Arial" pitchFamily="34" charset="-120"/>
              </a:rPr>
              <a:t> (</a:t>
            </a:r>
            <a:r>
              <a:rPr lang="en-US" sz="2200" dirty="0" err="1">
                <a:solidFill>
                  <a:srgbClr val="111827"/>
                </a:solidFill>
                <a:latin typeface="Arial" pitchFamily="34" charset="0"/>
                <a:ea typeface="Arial" pitchFamily="34" charset="-122"/>
                <a:cs typeface="Arial" pitchFamily="34" charset="-120"/>
              </a:rPr>
              <a:t>örneğin</a:t>
            </a:r>
            <a:r>
              <a:rPr lang="en-US" sz="2200" dirty="0">
                <a:solidFill>
                  <a:srgbClr val="111827"/>
                </a:solidFill>
                <a:latin typeface="Arial" pitchFamily="34" charset="0"/>
                <a:ea typeface="Arial" pitchFamily="34" charset="-122"/>
                <a:cs typeface="Arial" pitchFamily="34" charset="-120"/>
              </a:rPr>
              <a:t> Visual Studio Code) </a:t>
            </a:r>
            <a:r>
              <a:rPr lang="en-US" sz="2200" dirty="0" err="1">
                <a:solidFill>
                  <a:srgbClr val="111827"/>
                </a:solidFill>
                <a:latin typeface="Arial" pitchFamily="34" charset="0"/>
                <a:ea typeface="Arial" pitchFamily="34" charset="-122"/>
                <a:cs typeface="Arial" pitchFamily="34" charset="-120"/>
              </a:rPr>
              <a:t>hazırlayın</a:t>
            </a:r>
            <a:r>
              <a:rPr lang="en-US" sz="2200" dirty="0">
                <a:solidFill>
                  <a:srgbClr val="111827"/>
                </a:solidFill>
                <a:latin typeface="Arial" pitchFamily="34" charset="0"/>
                <a:ea typeface="Arial" pitchFamily="34" charset="-122"/>
                <a:cs typeface="Arial" pitchFamily="34" charset="-120"/>
              </a:rPr>
              <a:t>.</a:t>
            </a:r>
          </a:p>
          <a:p>
            <a:pPr algn="just">
              <a:spcAft>
                <a:spcPts val="800"/>
              </a:spcAft>
              <a:buSzPct val="100000"/>
            </a:pPr>
            <a:endParaRPr lang="en-US" sz="2200" dirty="0">
              <a:solidFill>
                <a:srgbClr val="111827"/>
              </a:solidFill>
              <a:latin typeface="Arial" pitchFamily="34" charset="0"/>
              <a:ea typeface="Arial" pitchFamily="34" charset="-122"/>
              <a:cs typeface="Arial" pitchFamily="34" charset="-120"/>
            </a:endParaRPr>
          </a:p>
          <a:p>
            <a:pPr marL="228600" indent="-228600" algn="just">
              <a:spcAft>
                <a:spcPts val="800"/>
              </a:spcAft>
              <a:buSzPct val="100000"/>
              <a:buChar char="•"/>
            </a:pPr>
            <a:r>
              <a:rPr lang="en-US" sz="2200" dirty="0">
                <a:solidFill>
                  <a:srgbClr val="111827"/>
                </a:solidFill>
                <a:latin typeface="Arial" pitchFamily="34" charset="0"/>
                <a:ea typeface="Arial" pitchFamily="34" charset="-122"/>
                <a:cs typeface="Arial" pitchFamily="34" charset="-120"/>
              </a:rPr>
              <a:t>Node.js LTS </a:t>
            </a:r>
            <a:r>
              <a:rPr lang="en-US" sz="2200" dirty="0" err="1">
                <a:solidFill>
                  <a:srgbClr val="111827"/>
                </a:solidFill>
                <a:latin typeface="Arial" pitchFamily="34" charset="0"/>
                <a:ea typeface="Arial" pitchFamily="34" charset="-122"/>
                <a:cs typeface="Arial" pitchFamily="34" charset="-120"/>
              </a:rPr>
              <a:t>sürümünü</a:t>
            </a:r>
            <a:r>
              <a:rPr lang="en-US" sz="2200" dirty="0">
                <a:solidFill>
                  <a:srgbClr val="111827"/>
                </a:solidFill>
                <a:latin typeface="Arial" pitchFamily="34" charset="0"/>
                <a:ea typeface="Arial" pitchFamily="34" charset="-122"/>
                <a:cs typeface="Arial" pitchFamily="34" charset="-120"/>
              </a:rPr>
              <a:t> </a:t>
            </a:r>
            <a:r>
              <a:rPr lang="en-US" sz="2200" dirty="0" err="1">
                <a:solidFill>
                  <a:srgbClr val="111827"/>
                </a:solidFill>
                <a:latin typeface="Arial" pitchFamily="34" charset="0"/>
                <a:ea typeface="Arial" pitchFamily="34" charset="-122"/>
                <a:cs typeface="Arial" pitchFamily="34" charset="-120"/>
              </a:rPr>
              <a:t>önceden</a:t>
            </a:r>
            <a:r>
              <a:rPr lang="en-US" sz="2200" dirty="0">
                <a:solidFill>
                  <a:srgbClr val="111827"/>
                </a:solidFill>
                <a:latin typeface="Arial" pitchFamily="34" charset="0"/>
                <a:ea typeface="Arial" pitchFamily="34" charset="-122"/>
                <a:cs typeface="Arial" pitchFamily="34" charset="-120"/>
              </a:rPr>
              <a:t> </a:t>
            </a:r>
            <a:r>
              <a:rPr lang="en-US" sz="2200" dirty="0" err="1">
                <a:solidFill>
                  <a:srgbClr val="111827"/>
                </a:solidFill>
                <a:latin typeface="Arial" pitchFamily="34" charset="0"/>
                <a:ea typeface="Arial" pitchFamily="34" charset="-122"/>
                <a:cs typeface="Arial" pitchFamily="34" charset="-120"/>
              </a:rPr>
              <a:t>kurun</a:t>
            </a:r>
            <a:r>
              <a:rPr lang="en-US" sz="2200" dirty="0">
                <a:solidFill>
                  <a:srgbClr val="111827"/>
                </a:solidFill>
                <a:latin typeface="Arial" pitchFamily="34" charset="0"/>
                <a:ea typeface="Arial" pitchFamily="34" charset="-122"/>
                <a:cs typeface="Arial" pitchFamily="34" charset="-120"/>
              </a:rPr>
              <a:t>; </a:t>
            </a:r>
            <a:r>
              <a:rPr lang="en-US" sz="2200" dirty="0" err="1">
                <a:solidFill>
                  <a:srgbClr val="111827"/>
                </a:solidFill>
                <a:latin typeface="Arial" pitchFamily="34" charset="0"/>
                <a:ea typeface="Arial" pitchFamily="34" charset="-122"/>
                <a:cs typeface="Arial" pitchFamily="34" charset="-120"/>
              </a:rPr>
              <a:t>sürüm</a:t>
            </a:r>
            <a:r>
              <a:rPr lang="en-US" sz="2200" dirty="0">
                <a:solidFill>
                  <a:srgbClr val="111827"/>
                </a:solidFill>
                <a:latin typeface="Arial" pitchFamily="34" charset="0"/>
                <a:ea typeface="Arial" pitchFamily="34" charset="-122"/>
                <a:cs typeface="Arial" pitchFamily="34" charset="-120"/>
              </a:rPr>
              <a:t> için </a:t>
            </a:r>
            <a:r>
              <a:rPr lang="en-US" sz="2200" dirty="0" err="1">
                <a:solidFill>
                  <a:srgbClr val="111827"/>
                </a:solidFill>
                <a:latin typeface="Arial" pitchFamily="34" charset="0"/>
                <a:ea typeface="Arial" pitchFamily="34" charset="-122"/>
                <a:cs typeface="Arial" pitchFamily="34" charset="-120"/>
              </a:rPr>
              <a:t>resmî</a:t>
            </a:r>
            <a:r>
              <a:rPr lang="en-US" sz="2200" dirty="0">
                <a:solidFill>
                  <a:srgbClr val="111827"/>
                </a:solidFill>
                <a:latin typeface="Arial" pitchFamily="34" charset="0"/>
                <a:ea typeface="Arial" pitchFamily="34" charset="-122"/>
                <a:cs typeface="Arial" pitchFamily="34" charset="-120"/>
              </a:rPr>
              <a:t> </a:t>
            </a:r>
            <a:r>
              <a:rPr lang="en-US" sz="2200" dirty="0" err="1">
                <a:solidFill>
                  <a:srgbClr val="111827"/>
                </a:solidFill>
                <a:latin typeface="Arial" pitchFamily="34" charset="0"/>
                <a:ea typeface="Arial" pitchFamily="34" charset="-122"/>
                <a:cs typeface="Arial" pitchFamily="34" charset="-120"/>
              </a:rPr>
              <a:t>siteye</a:t>
            </a:r>
            <a:r>
              <a:rPr lang="en-US" sz="2200" dirty="0">
                <a:solidFill>
                  <a:srgbClr val="111827"/>
                </a:solidFill>
                <a:latin typeface="Arial" pitchFamily="34" charset="0"/>
                <a:ea typeface="Arial" pitchFamily="34" charset="-122"/>
                <a:cs typeface="Arial" pitchFamily="34" charset="-120"/>
              </a:rPr>
              <a:t> </a:t>
            </a:r>
            <a:r>
              <a:rPr lang="en-US" sz="2200" dirty="0" err="1">
                <a:solidFill>
                  <a:srgbClr val="111827"/>
                </a:solidFill>
                <a:latin typeface="Arial" pitchFamily="34" charset="0"/>
                <a:ea typeface="Arial" pitchFamily="34" charset="-122"/>
                <a:cs typeface="Arial" pitchFamily="34" charset="-120"/>
              </a:rPr>
              <a:t>bakın</a:t>
            </a:r>
            <a:r>
              <a:rPr lang="en-US" sz="2200" dirty="0">
                <a:solidFill>
                  <a:srgbClr val="111827"/>
                </a:solidFill>
                <a:latin typeface="Arial" pitchFamily="34" charset="0"/>
                <a:ea typeface="Arial" pitchFamily="34" charset="-122"/>
                <a:cs typeface="Arial" pitchFamily="34" charset="-120"/>
              </a:rPr>
              <a:t>. </a:t>
            </a:r>
            <a:r>
              <a:rPr lang="en-US" sz="2200" dirty="0" err="1">
                <a:solidFill>
                  <a:srgbClr val="111827"/>
                </a:solidFill>
                <a:latin typeface="Arial" pitchFamily="34" charset="0"/>
                <a:ea typeface="Arial" pitchFamily="34" charset="-122"/>
                <a:cs typeface="Arial" pitchFamily="34" charset="-120"/>
              </a:rPr>
              <a:t>Derste</a:t>
            </a:r>
            <a:r>
              <a:rPr lang="en-US" sz="2200" dirty="0">
                <a:solidFill>
                  <a:srgbClr val="111827"/>
                </a:solidFill>
                <a:latin typeface="Arial" pitchFamily="34" charset="0"/>
                <a:ea typeface="Arial" pitchFamily="34" charset="-122"/>
                <a:cs typeface="Arial" pitchFamily="34" charset="-120"/>
              </a:rPr>
              <a:t> </a:t>
            </a:r>
            <a:r>
              <a:rPr lang="en-US" sz="2200" dirty="0" err="1">
                <a:solidFill>
                  <a:srgbClr val="111827"/>
                </a:solidFill>
                <a:latin typeface="Arial" pitchFamily="34" charset="0"/>
                <a:ea typeface="Arial" pitchFamily="34" charset="-122"/>
                <a:cs typeface="Arial" pitchFamily="34" charset="-120"/>
              </a:rPr>
              <a:t>birlikte</a:t>
            </a:r>
            <a:r>
              <a:rPr lang="en-US" sz="2200" dirty="0">
                <a:solidFill>
                  <a:srgbClr val="111827"/>
                </a:solidFill>
                <a:latin typeface="Arial" pitchFamily="34" charset="0"/>
                <a:ea typeface="Arial" pitchFamily="34" charset="-122"/>
                <a:cs typeface="Arial" pitchFamily="34" charset="-120"/>
              </a:rPr>
              <a:t> </a:t>
            </a:r>
            <a:r>
              <a:rPr lang="en-US" sz="2200" dirty="0" err="1">
                <a:solidFill>
                  <a:srgbClr val="111827"/>
                </a:solidFill>
                <a:latin typeface="Arial" pitchFamily="34" charset="0"/>
                <a:ea typeface="Arial" pitchFamily="34" charset="-122"/>
                <a:cs typeface="Arial" pitchFamily="34" charset="-120"/>
              </a:rPr>
              <a:t>sürüm</a:t>
            </a:r>
            <a:r>
              <a:rPr lang="en-US" sz="2200" dirty="0">
                <a:solidFill>
                  <a:srgbClr val="111827"/>
                </a:solidFill>
                <a:latin typeface="Arial" pitchFamily="34" charset="0"/>
                <a:ea typeface="Arial" pitchFamily="34" charset="-122"/>
                <a:cs typeface="Arial" pitchFamily="34" charset="-120"/>
              </a:rPr>
              <a:t> </a:t>
            </a:r>
            <a:r>
              <a:rPr lang="en-US" sz="2200" dirty="0" err="1">
                <a:solidFill>
                  <a:srgbClr val="111827"/>
                </a:solidFill>
                <a:latin typeface="Arial" pitchFamily="34" charset="0"/>
                <a:ea typeface="Arial" pitchFamily="34" charset="-122"/>
                <a:cs typeface="Arial" pitchFamily="34" charset="-120"/>
              </a:rPr>
              <a:t>doğrulaması</a:t>
            </a:r>
            <a:r>
              <a:rPr lang="en-US" sz="2200" dirty="0">
                <a:solidFill>
                  <a:srgbClr val="111827"/>
                </a:solidFill>
                <a:latin typeface="Arial" pitchFamily="34" charset="0"/>
                <a:ea typeface="Arial" pitchFamily="34" charset="-122"/>
                <a:cs typeface="Arial" pitchFamily="34" charset="-120"/>
              </a:rPr>
              <a:t> </a:t>
            </a:r>
            <a:r>
              <a:rPr lang="en-US" sz="2200" dirty="0" err="1">
                <a:solidFill>
                  <a:srgbClr val="111827"/>
                </a:solidFill>
                <a:latin typeface="Arial" pitchFamily="34" charset="0"/>
                <a:ea typeface="Arial" pitchFamily="34" charset="-122"/>
                <a:cs typeface="Arial" pitchFamily="34" charset="-120"/>
              </a:rPr>
              <a:t>gerçekleştireceğiz</a:t>
            </a:r>
            <a:r>
              <a:rPr lang="en-US" sz="2200" dirty="0">
                <a:solidFill>
                  <a:srgbClr val="111827"/>
                </a:solidFill>
                <a:latin typeface="Arial" pitchFamily="34" charset="0"/>
                <a:ea typeface="Arial" pitchFamily="34" charset="-122"/>
                <a:cs typeface="Arial" pitchFamily="34" charset="-120"/>
              </a:rPr>
              <a:t>.</a:t>
            </a:r>
            <a:endParaRPr lang="en-US" sz="22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37</a:t>
            </a:fld>
            <a:endParaRPr lang="en-US"/>
          </a:p>
        </p:txBody>
      </p:sp>
    </p:spTree>
  </p:cSld>
  <p:clrMapOvr>
    <a:masterClrMapping/>
  </p:clrMapOvr>
</p:sld>
</file>

<file path=ppt/theme/theme1.xml><?xml version="1.0" encoding="utf-8"?>
<a:theme xmlns:a="http://schemas.openxmlformats.org/drawingml/2006/main" name="Mobil Programlama A">
  <a:themeElements>
    <a:clrScheme name="Mobil Programlama A">
      <a:dk1>
        <a:srgbClr val="111827"/>
      </a:dk1>
      <a:lt1>
        <a:srgbClr val="FFFFFF"/>
      </a:lt1>
      <a:dk2>
        <a:srgbClr val="374151"/>
      </a:dk2>
      <a:lt2>
        <a:srgbClr val="F8FAFC"/>
      </a:lt2>
      <a:accent1>
        <a:srgbClr val="2563EB"/>
      </a:accent1>
      <a:accent2>
        <a:srgbClr val="B45309"/>
      </a:accent2>
      <a:accent3>
        <a:srgbClr val="B91C1C"/>
      </a:accent3>
      <a:accent4>
        <a:srgbClr val="0EA5E9"/>
      </a:accent4>
      <a:accent5>
        <a:srgbClr val="7C3AED"/>
      </a:accent5>
      <a:accent6>
        <a:srgbClr val="059669"/>
      </a:accent6>
      <a:hlink>
        <a:srgbClr val="2563EB"/>
      </a:hlink>
      <a:folHlink>
        <a:srgbClr val="7C3AED"/>
      </a:folHlink>
    </a:clrScheme>
    <a:fontScheme name="Mobil Programlama 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TotalTime>
  <Words>7802</Words>
  <Application>Microsoft Macintosh PowerPoint</Application>
  <PresentationFormat>Geniş ekran</PresentationFormat>
  <Paragraphs>676</Paragraphs>
  <Slides>37</Slides>
  <Notes>37</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37</vt:i4>
      </vt:variant>
    </vt:vector>
  </HeadingPairs>
  <TitlesOfParts>
    <vt:vector size="40" baseType="lpstr">
      <vt:lpstr>Arial</vt:lpstr>
      <vt:lpstr>Calibri</vt:lpstr>
      <vt:lpstr>Mobil Programlama A</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BGP 201 Mobil Programlama — Hafta 1</dc:title>
  <dc:subject>PptxGenJS Presentation</dc:subject>
  <dc:creator>BGP 201</dc:creator>
  <cp:lastModifiedBy>Microsoft Office User</cp:lastModifiedBy>
  <cp:revision>4</cp:revision>
  <dcterms:created xsi:type="dcterms:W3CDTF">2026-10-23T19:40:49Z</dcterms:created>
  <dcterms:modified xsi:type="dcterms:W3CDTF">2026-10-25T16:11:33Z</dcterms:modified>
</cp:coreProperties>
</file>