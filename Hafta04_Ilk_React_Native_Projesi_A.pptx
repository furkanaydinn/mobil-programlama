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9C184289-F035-A1BC-613E-964AAF0B873B}">
          <p14:sldIdLst>
            <p14:sldId id="256"/>
            <p14:sldId id="257"/>
            <p14:sldId id="258"/>
          </p14:sldIdLst>
        </p14:section>
        <p14:section name="Bölüm 1: Ortam Kurulumu" id="{DF7C6C4E-9C80-38BE-9FD6-D1FEB948A2E3}">
          <p14:sldIdLst>
            <p14:sldId id="259"/>
            <p14:sldId id="260"/>
            <p14:sldId id="261"/>
            <p14:sldId id="262"/>
            <p14:sldId id="263"/>
            <p14:sldId id="264"/>
            <p14:sldId id="265"/>
            <p14:sldId id="266"/>
            <p14:sldId id="267"/>
            <p14:sldId id="268"/>
            <p14:sldId id="269"/>
            <p14:sldId id="270"/>
          </p14:sldIdLst>
        </p14:section>
        <p14:section name="Bölüm 2: Proje Yapısı" id="{5E5CFBC3-8345-89EF-77AA-32BDF79A0061}">
          <p14:sldIdLst>
            <p14:sldId id="271"/>
            <p14:sldId id="272"/>
            <p14:sldId id="273"/>
            <p14:sldId id="274"/>
            <p14:sldId id="275"/>
          </p14:sldIdLst>
        </p14:section>
        <p14:section name="Bölüm 3: Bileşenler ve JSX" id="{FF95EA61-737C-EC24-699E-D8F56A2380B4}">
          <p14:sldIdLst>
            <p14:sldId id="276"/>
            <p14:sldId id="277"/>
            <p14:sldId id="278"/>
            <p14:sldId id="279"/>
            <p14:sldId id="280"/>
            <p14:sldId id="281"/>
            <p14:sldId id="282"/>
            <p14:sldId id="283"/>
            <p14:sldId id="284"/>
            <p14:sldId id="285"/>
            <p14:sldId id="286"/>
            <p14:sldId id="287"/>
          </p14:sldIdLst>
        </p14:section>
        <p14:section name="Bölüm 4: Props" id="{8FCB73AC-97DB-DFE0-BCE7-A60689076DC6}">
          <p14:sldIdLst>
            <p14:sldId id="288"/>
            <p14:sldId id="289"/>
            <p14:sldId id="290"/>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09" d="100"/>
          <a:sy n="109"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25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dönemin en kırılgan haftasıdır; kurulum sorunları dersin yarısını alabilir. Bu yüzden önceki hafta kurulum hazırlığı istenmişti. Dersin başında kimin ortamının hazır olduğunu sorun ve hazır olmayanlar için laboratuvar bilgisayarını veya eşli çalışmayı planlayın. Sürüm bilgilerini her zaman resmî dokümandan doğrulayın. Anlatım önerisi: "Bugün ilk kez gerçek bir mobil uygulama projesi açıyoruz. Önce ortamı kuracağız, çünkü kurulum çalışmadan hiçbir şey çalışmaz. Sonra proje klasörünü okuyacak, ardından kendi ekranınızı yazacaksınız. Takılan olursa yalnız kalmayın, hemen söyleyin." Dersin başında kurulum hazırlığını yapanları elle işaretlettirin.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Hedeflerin sırası aynı zamanda ders akışıdır; kurulum doğrulanmadan sonraki bölümlere geçilmez. Öğrencilere "bugünün sonunda kendi telefon ya da emülatörünüzde kendi yazdığınız bir ekran görmek" ortak hedefini söyleyin. Başarı hissinin, ilk haftaların motivasyonunda belirleyici olduğunu unutmayın. Hedefleri hafta sonunda geri bakmak için tahtada tutun. Her hedefi bir kontrol noktasına bağlayın: ortam için adb devices çıktısı, yapı için klasörlerin adlandırılması, bileşenler için çalışan ilk ekran. Öğrencilerin hedefleri not etmesini isteyin; çünkü uygulama saatinin ölçütleri bu hedeflerdir. Anlatım önerisi: "Bu üç hedef bugünün sırası. Önce adb devices çıktısını görüyoruz, sonra klasörleri okuyoruz, en sonda kendi bileşenimizi yazıyoruz. Üçüncüsüne gelmeden ikincisini atlamıyoruz." Hedefleri bir kontrol noktasına bağlayın ve öğrencilerden defterlerine yazmalarını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dağılımı: kurulum ve ilk çalıştırma 45 dk, proje yapısı 20 dk, bileşenler ve JSX 40 dk, props 15 dk, uygulama 60 dk. Kurulum bölümü uzarsa JSX bölümünü hızlandırın, fakat props bölümünü kısaltmayın. Durum yönetimi (state) ile ilgili sorular gelirse 6. haftaya yönlendirin. Kurulum bölümünde beklemeler olacağından bu süreyi boşa harcamayın; derleme sürerken öğrencilere proje yapısı slaytlarını okutmak iyi bir zaman kullanımıdır. Zamanın daralması durumunda önceliklendirme ölçütünüzü açıkça söyleyin. Anlatım önerisi: "Bugünün kritik saati ilk kırk beş dakika. Kurulum sürerken beklemeyeceğiz, proje yapısını okuyacağız. Son saatte profil kartı ekranını yazacaksınız." Mola ve uygulama saati başlangıcını duyurun; useState tanıtımının bilinçli olarak kısa olduğunu söyleyin.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"İlk bölüm kurulum. Bu dersin en sabır isteyen kısmı. Her halkayı kurduktan sonra bir komutla doğrulayacağız, çünkü hatanın nerede olduğunu bilmek çözümün yarısıdır." Öğrencilere kurulumun herkes için sorunsuz geçmediğini, bunun normal olduğunu söyleyin.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"React Native'de yazdığımız kod TypeScript, çalıştıran motor JavaScript. Ama ekranda gördüğünüz düğme gerçek bir yerel bileşendir, bir web öğesi değil. Güncel sürümlerde yeni mimari kullanılır: JSI ile JavaScript yerel koda doğrudan bağlanır, Fabric ekranın çizimini yönetir. Eski kaynaklarda anlatılan köprü modeli artık geçerli değil." Basit bir benzetme kullanın: JavaScript yönetmendir, yerel bileşenler sahnedeki oyunculardır; yönetmen talimat verir, oyuncular çizer ve dokunuşları yakalar. Detaya girmeyin ve JSI ile Fabric terimlerini ezberletmeyin; sınavda sorulmayacağını söyleyin. Sürüm ve mimari bilgisi hızlı değiştiği için resmî dokümandaki "New Architecture" sayfasını gösterin. Bu benzetme ilerleyen haftalarda state değişimi ve yeniden çizim anlatımına da bağlanacaktır.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"Bu derste React Native CLI ile Bare proje kuracağız, Expo kullanmayacağız. Nedeni Android klasörünü, Gradle'ı ve derleme sürecini doğrudan görmenizi istememiz. Bir hata çıktığında sorunun nerede olduğunu anlayabilmeniz için bu bilgi değerli. TypeScript ise hataları kod çalışmadan yakalar ve büyüyen projede kodu okunabilir tutar." Expo'yu kötülemeyin: "ders hedefi için Bare daha öğretici, iş hayatında Expo da yaygın" deyin. Kurulum hatalarının dönemin en büyük zaman kaybı olduğunu önceden söyleyin ve Bare projenin ilk kurulumunun uzun sürebileceğini, karşılığında sorun çözme yetkinliği kazanacaklarını anlatın. TypeScript'in öğrenme eğrisi hakkında dürüst olun: ilk iki hafta zorlayıcı gelebilir ama hata mesajları çalışma zamanından derleme zamanına taşınır.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Sürüm numaralarını slayta yazmıyorum; çünkü Node, JDK ve Android SDK gereksinimleri her React Native sürümüyle değişebilir. Sayfayı projeksiyonda gösterip öğrencilerle birlikte okuyun. Bu, kaynak okuma alışkanlığını da pekiştirir. Kurulumların bir kısmı büyük indirme gerektirir; ağ yavaşsa öğrencilerin evde tamamlamasını planlayın. Anlatım önerisi: "Kurulum bir zincir gibi. Node, JDK, Android Studio, SDK ve emülatör. Zincirin bir halkası bozuksa sonrası da çalışmaz. O yüzden sırayla gidiyoruz ve her halkayı sınıyoruz." Akış kutularını soldan sağa gösterin; sürüm numaralarını resmî sayfadan birlikte okuyun.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sırayla dört komutu çalıştırtın ve çıktıyı bir ortak belgeye yapıştırmalarını isteyin; hata ayıklamayı birlikte yaparsınız. adb devices çıktısında "device" yazısının görünmesi gerekir; "unauthorized" veya "offline" görünürse cihaz bağlantısında sorun vardır. Bu tablo, kurulum sorunlarında ilk bakılacak yerdir. Bu doğrulama tablosunu çıktısı alınabilir bir kontrol listesi olarak öğrencilere dağıtmayı düşünün. Böylece evde kurulumu yaparken hangi adımda olduklarını kendileri belirleyebilir ve bir sonraki ders yardım isterken sorunlu halkayı tam olarak söyleyebilirler. Anlatım önerisi: "Bu tablo bir kontrol listesi. Dört komutu sırayla yazın, çıktıları görün. node ve java sürüm yazmalı, adb devices ise listede device yazan bir satır göstermeli. Bunlardan biri hata veriyorsa bir sonrakine geçmeyin." Çıktıları ortak belgeye yapıştırtın.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Linux ve macOS kabuğu içindir; Windows öğrencileri için ayarın grafik arayüzden nasıl yapıldığını canlı gösterin. Android Studio'nun SDK Manager ekranında SDK yolunu bulabileceklerini söyleyin. Değişkenlerin yalnızca açık oturum için geçerli olduğunu, kalıcı olması için kabuk yapılandırma dosyasına yazılması gerektiğini belirtin. Anlatım önerisi: "Terminal, adb komutunu nerede arayacağını bilmez. ANDROID_HOME ona SDK klasörünü, PATH ise komutların yerini söyler. Bu iki ayar yapılınca adb her yerden çalışır." Windows öğrencilerine ayarı grafik ekrandan gösterin; yolların işletim sistemine göre değiştiğini hatırlatın.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telefonlarının iPhone olması durumunda uygulamayı kendi cihazlarında göremeyeceğini baştan açıkça söyleyin; aksi hâlde hayal kırıklığı oluşur. Emülatör, Android öğrencilerinin gerçek cihazını da kullanabileceğini ve USB hata ayıklamanın nasıl açıldığını göstermeye değer. 1. haftada gördüğümüz platform ekonomisi tartışmasına buradan referans verin. Anlatım önerisi: "Dürüst olalım: iOS uygulamasını yalnızca macOS'ta derleyebilirsiniz. Bu derste hedefimiz Android. Kodunuz iOS için de yazılır, ama derleme Mac gerektirir." iPhone kullanan öğrencilere kendi telefonlarında uygulamayı göremeyeceklerini baştan söyleyin.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Komutun adı ve davranışı sık değiştiği için öğrencilerle birlikte resmî sayfadaki güncel hâlini doğrulayın. Kurulum sırasında ağ hataları olabilir; yeniden denemeden önce hata mesajını okuyun. Klasör adını MobilApp yerine her öğrencinin farklı seçmesine izin verin; böylece kopya çekmeden çalışmayı kendileri yapmış olurlar. Anlatım önerisi: "Tek bir komutla projemiz oluşuyor. Birkaç dakika sürebilir, bu sırada ağ bağlantısı önemli. Proje adında Türkçe karakter ve boşluk kullanmayın." Komut bitince ls ile klasörleri listeletip android, ios ve App.tsx'i göstertin.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Emülatörün önceden açık olmasını isteyin; yoksa komut hata verir. Ders sırasında öğrencilerin ilk çalıştırmasını paralel yürütün: bekleme süresinde proje yapısı slaytlarını anlatabilirsiniz. İki terminalin neden gerektiğini, birinin sunucu, diğerinin istemci gibi çalıştığını söyleyerek açıklayın. Anlatım önerisi: "İki terminal açıyoruz. Birincisi Metro'yu çalıştırır, yani kodunuzu sunar. İkincisi uygulamayı derleyip emülatöre yükler. İlk derleme uzun sürer, çay molası verebilirsiniz." Emülatörün önceden açık olmasını hatırlatın; beklerken proje yapısı slaytlarına geçin.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"Uygulamanın başlangıçtan ekrana kadar yolculuğunu beş adımda görelim. Önce uygulama açılır ve index.js'teki kayıt sayesinde App bulunur. Telefon kodu kendisi taşımaz, Metro'dan ister. Metro dosyalarınızı okur, tipleri siler ve bir paket yapar. Telefon paketi yükler, ekran çizilir. Siz kodu kaydettiğinizde yalnızca değişen kısım gönderilir ve ekran yenilenir." Her adımı slayttaki akış kutusuyla eşleştirin ve öğrencilerden emülatörde Metro'yu kapatıp açarak sonucu gözlemlemelerini isteyin; Unable to load script hatasını canlı gösterin. Metro'yu web dünyasındaki geliştirme sunucusuna benzetebilirsiniz. Önceki haftada TypeScript'in tipleri sildiğini söylemiştik; Metro bunu yapan araçtır ve denetim yapmaz, bu yüzden npx tsc --noEmit komutunu düzenli çalıştırma alışkanlığı kazandırın.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"Bundan sonra her derste aynı beş adımı tekrar edeceğiz. Önce emülatörü açıp adb devices ile görünür olduğunu doğruluyoruz. Birinci terminalde npm start diyerek Metro'yu başlatıyoruz, bu terminal açık kalacak. İkinci terminalde npm run android ile uygulamayı derleyip yüklüyoruz. Sonra App.tsx'te bir metni değiştirip kaydediyoruz ve ekranın kendiliğinden yenilendiğini görüyoruz. Son olarak npx tsc --noEmit ile tip hatası olup olmadığına bakıyoruz." Her adımı öğrencilerle birlikte kendi bilgisayarlarında yaptırın; adb devices çıktısında emulator satırının yanında device yazısını arayın. İlk derlemenin uzun sürdüğünü, sonraki çalıştırmaların hızlı olduğunu söyleyin. Çalışmayı bitirirken Metro'nun çalıştığı terminalde Ctrl+C ile durdurulduğunu gösterin. Terminalde r tuşunun yeniden yükleme yaptığını söyleyebilirsiniz; bu kısayolları resmî dokümandan doğrulayın. Bu slaytı bir sonraki derslerde hatırlatma kartı olarak yeniden gösterin.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dönem boyunca başvuru kaynağıdır; öğrencilerden kendi karşılaştıkları hataları da eklemelerini isteyin. Hata mesajını kopyalayıp arama motoruna yapıştırma ve ilk sonuca değil resmî sorun sayfasına bakma alışkanlığı kazandırın. Sorun çözülemezse mesajın metnini paylaşmalarını, ekran görüntüsü yerine metin göndermelerini söyleyin. Anlatım önerisi: "Hata mesajı düşmanınız değil, yol haritanız. Mesajın en altındaki Caused by satırını okuyun. Bu tabloda beş sık hata, nedeni ve çözümü var." Öğrencilerden kendi karşılaştıkları hatayı tabloya eklemelerini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"Çalışan bir projemiz var. Şimdi klasörlerin içinde ne olduğuna bakalım. Hepsini ezberlemeyeceğiz, sadece neyin nerede olduğunu bileceğiz." Öğrencilerin kendi bilgisayarlarında klasörleri açarak ilerlemesini isteyin.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Bare projenin Expo'dan farkı olan klasörler android ve ios'tur; bu klasörlerin varlığı yerel koda erişimi gösterir. node_modules'in versiyon kontrolüne eklenmediğini, yeniden kurulabileceğini söyleyin. Öğrencilerden kendi projelerinde klasörleri gezmelerini ve tabloyla eşleştirmelerini isteyin. Şablonun sürümüne göre bazı dosyaların farklılaşabileceğini belirtin. Anlatım önerisi: "android ve ios klasörleri yerel projelerdir. Çoğu zaman yalnızca App.tsx ile çalışırız. node_modules'e ise hiç dokunmayız, silinse yeniden kurulur." Öğrencilerden tabloyu kendi klasörleriyle eşleştirmelerini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bu dosyayı nadiren değiştireceğini ama anlamasının gerektiğini belirtin. Uygulamanın yerel katmanda bir adla tanındığını, android klasöründeki MainActivity'nin aynı adı kullandığını söyleyerek JavaScript ile yerel dünyanın bağlantısını gösterin. Bu, 1. haftada anlatılan "JavaScript yönetmen, yerel bileşen oyuncu" benzetmesini somutlaştırır. Anlatım önerisi: "index.js uygulamanın kapısıdır. Uygulama açıldığında yerel katman bu dosyaya bakar ve App bileşenini çalıştırır. Geçen haftaki import yapılarını burada görüyorsunuz." Dosyayı nadiren değiştireceklerini söyleyin ama okumayı bilmelerini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Betik listesinin şablona ve sürüme göre değişebileceğini söyleyin; burada yalnızca mantığı görüyoruz. Bağımlılık sürümlerini elle değiştirmenin riskli olduğunu, sürüm uyumsuzluğunun sık hata kaynağı olduğunu belirtin. Yeni paketler her zaman npm install ile eklenir; kütüphane eklemenin kurallarını 7. haftada navigasyon paketleriyle uygulayacağız. Anlatım önerisi: "npm run android dediğinizde aslında react-native run-android komutu çalışır. scripts bölümü bir kısayol listesidir." Öğrencilerden kendi package.json dosyalarını açıp betikleri okumalarını isteyin; sürümleri elle değiştirmemelerini söyleyin.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App.tsx içindeki bir metni değiştirip kaydederek canlı gösterim yapın; öğrencilerin tepkisi bu özelliğin değerini anlatır. Kırmızı hata ekranı ve sarı uyarı kutusunun farkını anlatın: kırmızı uygulamayı durdurur, sarı ise uyarıdır. Hata mesajlarının kullanıcıya değil geliştiriciye yönelik olduğunu, yayında görünmeyeceğini söyleyin. Anlatım önerisi: "Kodu kaydedin, ekran anında değişsin. Buna Fast Refresh diyoruz. Kırmızı ekran bir hata, sarı kutu bir uyarıdır. Emülatörde Ctrl M ile geliştirici menüsü açılır." App.tsx'te bir metni değiştirip canlı gösterin.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"Üçüncü bölümde ekranı parçalara bölüyoruz. Bir ekran tek parça kod değil, küçük bileşenlerin birleşimidir. JSX ise bu parçaları yazma biçimimiz." Öğrencilere telefondaki bir ekranı bileşenlere ayırmayı düşünmelerini söyleyin.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"Şimdiye kadar React Native dedik ama React'in ne olduğunu konuşmadık. React, ekranı küçük parçalara bölüp bu parçaları birleştirerek arayüz kurmamızı sağlayan bir kütüphane. Web için de kullanılır. React Native ise aynı fikri mobile taşır: aynı bileşen, aynı JSX, aynı props. Sadece ekrana web etiketi yerine yerel bileşen çizer." Öğrencilere daha önce web için React kullanıp kullanmadıklarını sorun; kullananlara bileşen mantığının aynı olduğunu, kullanmayanlara ise bu dersin bunu sıfırdan anlatacağını söyleyin. React'in tarihçesine ve sanal DOM gibi ayrıntılara girmeyin. Bir sonraki slaytta bileşen kavramına geçileceğini belirtin. Zaman daralırsa bu slaytı iki dakikada geçin.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Bileşenleri yapı taşlarına benzetin: bir kez tasarlanır, çok yerde kullanılır. Gerçek uygulamalardan bir ekran gösterip öğrencilerle bileşenlere ayırtın; örneğin bir sosyal ağ akışındaki gönderi kartı, tekrar eden bir bileşendir. Bu düşünme biçimi, ileride liste bileşenlerini ve navigasyonu anlamak için temel oluşturacaktır. Bileşen ağacını tahtada elle çizdirmek iyi bir pekiştirmedir: öğrencilere sevdikleri bir uygulamanın bir ekranını bileşenlerine ayırtın. Hangi parçaların tekrar ettiğini işaretlemeleri, yeniden kullanılabilirlik fikrini somutlaştırır ve props konusuna doğal bir zemin hazırlar. Anlatım önerisi: "Bir ekranı ağaç gibi düşünün. En üstte App, altında başlık ve kart, onların altında metin ve resim. Aynı kartı farklı verilerle tekrar tekrar kullanırız." Sağdaki ağacı gösterin ve öğrencilere sevdikleri bir uygulamanın ekranını ağaca dökmelerini söyleyin.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kendi App.tsx dosyasında bu kodu yazarak denemesini sağlayın; metni kendi adlarıyla değiştirsinler. export default'un bileşeni dışarıya açtığını, index.js'in bunu import ettiğini bağlayın. Bu slayt, dönemin her haftasında kullanacağımız bileşen biçimidir; sınıf bileşenleri anlatılmayacaktır, eski kodda görürseniz bilmeniz yeterlidir. Anlatım önerisi: "İlk bileşenimiz büyük harfle başlayan bir fonksiyon. İçinde View ve Text döndürüyor. Metni kendi adınızla değiştirin ve kaydedin." Öğrencilerin kodu yazıp emülatörde görmesini bekleyin; küçük harfle başlayan adı deneterek hatayı gösterin.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"Az önce App.tsx dosyasında ilk bileşenimizi yazdık. Uzantıya bakın: tsx. Bu, TypeScript ile JSX'in birleşimi demek. Dosyanın içinde arayüz etiketleri varsa tsx, yalnızca hesap ve mantık varsa ts yazarız." Öğrencilerden proje klasöründeki dosyaları açıp hangilerinin .ts, hangilerinin .tsx olduğuna bakmalarını isteyin. Akış kutularını soldan sağa okuyun: önce tipler silinir, sonra JSX dönüştürülür, sonunda telefonda JavaScript çalışır. Üçüncü haftada gördüğümüz "tipler çalışma anında yoktur" bilgisini burada tekrar bağlayın. Uzantıyı yanlış yazma hatasını bilerek yaptırıp mesajı birlikte okuyun. Dönüştürme ayrıntısını anlatmayın; yalnızca "JSX özel bir yazım, JavaScript'e çevrilir" demeniz yeterlidir.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"İnternette React örneklerine bakarken çoğu kez jsx uzantısı göreceksiniz. Korkmayın, JSX yazımı aynı. Tek fark, bizim tsx dosyalarında props'un tipini yazıp derleyiciye kontrol ettirmemiz." Tabloyu satır satır okutun ve her satır için bir örnek sorun: yanlış tipte prop verirsem JSX'te ne olur, TSX'te ne olur? Cevap: JSX'te uygulama çalışırken bozulur, TSX'te editör önceden uyarır. Bu karşılaştırma üçüncü haftanın "hata çalışma anından derleme anına taşınır" fikrinin React Native'deki karşılığıdır. Öğrencilere eski kaynaklardan kod kopyalarken tipleri eklemeleri gerektiğini hatırlatın. Zaman daralırsa bu slaytı hızlı geçip yalnızca son satırı vurgulayın.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JSX'in HTML olmadığını, JavaScript'e dönüştürülen bir söz dizimi olduğunu vurgulayın. İkinci haftadaki şablon dizgisi ve ifade bilgisini buraya bağlayın: süslü parantez içine ifade yazılabilir, ifade yazmak ile deyim yazmak arasındaki fark burada işe yarar. Tek kök kuralını ihlal ederek çıkan hatayı canlı gösterin ve mesajı birlikte okuyun. Anlatım önerisi: "JSX, HTML değil. JavaScript içine yazdığımız bir söz dizimi. Süslü parantez içine herhangi bir ifade yazabiliriz. Tek bir kök öğe döndürmek zorundayız." İki kök öğe yazdırıp hata mesajını birlikte okuyun.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bilen öğrenciler için karşılaştırma kolaylaştırıcıdır, bilmeyenler için kafa karıştırabilir; tablo sütununu "yaklaşık" olarak sunun. TextInput'un formlarla birlikte 9. haftada ele alınacağını belirtin. Bu hafta yalnızca View, Text, Image, Pressable ve ScrollView'u uygulamalı göreceğiz; diğerlerini isimleriyle tanıyoruz. Tabloyu öğrencilerle birlikte bir ekran taslağı üzerinden okuyun: kullanıcı adı alanı hangi bileşen, kaydet düğmesi hangi bileşen, sayfa kaydırılıyorsa hangisi? Bu tür eşleştirme soruları, bileşen adlarını ezberlemeden kullanarak öğretir ve uygulama saatine hazırlık yapar. Anlatım önerisi: "Web'den gelenler için View div, Text paragraf gibi. Ama tam karşılık değil, çünkü her biri yerel bileşene dönüşür. Bugün View, Text, Image, Pressable ve ScrollView'u kullanacağız." Tablodan bir ekran taslağı eşleştirme sorusu sorun.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Hatayı canlı üretip kırmızı ekranda mesajı birlikte okuyun; bu, kırmızı ekran okuma becerisinin ilk pratiğidir. Yerel platformda metin çizimi ayrı bir bileşen tarafından yapıldığı için bu kuralın var olduğunu açıklayın. Metin stilinin kapsayıcılardan miras alınmadığını, bunun web'den bir fark olduğunu 5. haftada tekrar vurgulayacağız. Anlatım önerisi: "React Native'de metin her zaman Text içinde olmalı. View'in içine doğrudan yazarsanız kırmızı ekran görürsünüz. İç içe Text ile bir kelimeyi farklı renklendirebilirsiniz." Yorum satırını açıp hatayı canlı üretin.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proje klasörüne bir assets dizini açıp kendi resimlerini kullanmasını isteyin. Resim yoksa uri ile gösterilen örnek adresin yalnızca yer tutucu olduğunu açıkça söyleyin; telif ve erişim konusunda kendi seçtikleri bir görseli kullanmalarını önerin. Yerel resimlerin derleme sırasında pakete girdiğini, uzak resimlerin ağ gerektirdiğini kısaca belirtin. Anlatım önerisi: "Resim iki yerden gelir: projedeki dosyadan ya da internetten. Uzak resimde boyutu siz yazmazsanız resim görünmez." Öğrencilerin kendi resimlerini assets klasörüne koymasını isteyin; adresin örnek olduğunu söyleyin.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Konsol çıktısının uygulamanın ekranında değil, Metro terminalinde göründüğünü gösterin; öğrenciler genellikle bunu bilmez. Callback ile çağırma farkını yeniden vurgulayın: onPress={fonksiyon()} yazarsanız fonksiyon basmadan önce çalışır. Bu hatayı bilerek yaptırıp sonucu gözlemletin. Tam etkileşim konusunu 6. haftada ele alacağız. Anlatım önerisi: "Pressable, dokunuşa tepki veren alandır. onPress'e bir fonksiyon veriyoruz. Basıldı yazısı telefonda değil, Metro terminalinde çıkar." onPress içine fonksiyonu çağırarak yazmanın sonucunu bilerek yaptırın.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Web'de sayfanın kendiliğinden kaydığını, mobilde bunun açıkça belirtilmesi gerektiğini vurgulayın. Çok sayıda satır ekleyerek ScrollView'un çalıştığını gösterin; 50 satır yeterlidir. Performans konusuna şimdilik girmeyin, yalnızca "çok öğe için başka yöntem var" ipucunu verin. 1. haftadaki "5.000 satırlık liste" senaryosunu hatırlatabilirsiniz. Anlatım önerisi: "Web'de sayfa kendiliğinden kayar, mobilde kaymaz. Kaydırmak istiyorsak ScrollView'a sarıyoruz. Elli satır ekleyip denesin." Çok uzun listeler için başka yöntem olduğunu, bunu sonraki haftalarda göreceğimizi söyleyin.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"Son bölüm props. Bir bileşenin dışarıdan veri almasını sağlıyor. Aynı kartı farklı kişilerle kullanmak için props gerekir." Önceki haftaların fonksiyon parametresi bilgisini hatırlatın.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Props'u fonksiyon parametresine benzetin; geçen haftaki fonksiyon tipleri bilgisini buraya bağlayın. Veri akışının tek yönlü olmasının neden iyi bir şey olduğunu bir ekip örneğiyle anlatın: kimin neyi değiştirdiği hep açıktır. Props ile state ayrımı en çok karıştırılan konudur; bu ayrımı şimdi basit tutup 6. haftada yeniden ele alacağız. Anlatım önerisi: "Props, fonksiyon parametresi gibidir. Üst bileşen verir, alt bileşen alır. Alt bileşen aldığı değeri değiştiremez. Veri hep yukarıdan aşağıya akar." Sağdaki akışı gösterin; props ile state ayrımının 6. haftada işleneceğini söyleyin.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İsim kuralını hatırlatın: arayüz adı bileşen adı ve Props ekinden oluşur ve I öneki yoktur. Bu, 3. hafta bilgilerinin doğrudan kullanımıdır. Eksik prop hatasını editörde birlikte gösterip mesajı okuyun. Tipli props'un faydasının, bileşeni başkası kullanırken hangi verilerin gerektiğini kendiliğinden belgelemesi olduğunu söyleyin. Anlatım önerisi: "Geçen hafta öğrendiğimiz interface burada props'un şeklini tanımlıyor. age eksik olursa derleyici hemen söyler. Sayıyı tırnakla yazarsanız metin gider, tip hatası alırsınız." Eksik prop hatasını editörde birlikte okuyun.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haftalardaki varsayılan parametre, destructuring ve isteğe bağlı alan konularının buradaki birleşimini vurgulayın; bu, bilgilerin birbirini nasıl desteklediğini gösteren iyi bir örnektir. Öğrencilere ek bir prop ekletin, örneğin size, ve bunu isteğe bağlı yaptırın. Renk adlarının yerine stil haftasında tema mantığına geçeceğimizi söyleyin. Anlatım önerisi: "Soru işareti, bu prop zorunlu değil demek. Verilmezse undefined olur, biz de varsayılan bir değer veririz. Böylece bileşen iki kullanımda da çalışır." Öğrencilere size adında isteğe bağlı bir prop eklettirin.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Bileşimin (composition), kalıtıma göre daha çok tercih edildiğini 3. haftadaki sınıf tartışmasına bağlayarak söyleyin. children kavramını HTML'deki iç içe etiketlerle karşılaştırın. ReactNode tipini ezberletmeyin; gerektiğinde editörün önerdiğini kullanmayı öğretin. Bu yapı, ileride ortak ekran çerçevesi yazarken yeniden kullanılacak. Anlatım önerisi: "children, açılış ve kapanış etiketi arasındaki içeriktir. Card yalnızca çerçeveyi sağlar, içine ne konacağına kullanan karar verir." Kalıtım yerine bileşimi tercih ettiğimizi 3. haftaya bağlayarak söyleyin.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uygulama haftanın bütün kavramlarını birleştirir ve dönem projesinin ilk bileşenlerini üretir. Değerlendirme: ortamın çalışması, tipli props, bileşen yeniden kullanımı ve kırmızı ekran hatasının doğru yorumlanması. Kuruluma takılan öğrenciler için eşli çalışma düzenleyin. Tam föy ayrı bir Uygulama Rehberi olarak hazırlanabilir. Anlatım önerisi: "Şimdi öğrendiğimiz her şeyi birleştiriyoruz. Önce çalışan bir proje, sonra tipli ProfileCard, sonra Card, en sonda üç profilli ekran. Sağdaki taslağa benzeyen bir ekran hedefimiz." Kuruluma takılanlar için eşli çalışma düzenleyin; adımları sırayla kontrol edin.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sorular ara sınavda çıkabilecek türdendir. Son soru geçen haftaki callback bilgisini sınar: kaydet() yazmak fonksiyonu render sırasında çalıştırır, doğrusu onPress={kaydet} veya onPress={() =&gt; kaydet()} olmalıdır. Yanlış yanıt veren öğrencilere 2. haftadaki callback slaytını tekrar gösterin. Soruları önce yazılı yanıtlatın, sonra tartışın. Öğrencilerin yanıtlarını eşleriyle karşılaştırmalarını isteyin; tartışma sırasında yanlış anlaşılan kavramlar kendiliğinden ortaya çıkar. Yanıtlayamadıkları soruları işaretleyip uygulama saatinde tekrar ele almalarını önerin. Anlatım önerisi: "Şimdi kendinizi sınayın. Cevapları önce kâğıda yazın, eşinizle karşılaştırın, sonra birlikte konuşalım. Son soru çok önemli: kaydet() yazmak fonksiyonu hemen çalıştırır." Yanlış cevaplarda ilgili slayda dönün.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Çıkış etkinliği olarak her öğrencinin ekranında çalışan uygulamanın fotoğrafını çekmesini veya ekran görüntüsü almasını isteyin; bu, hem başarıyı hem sorunları görmenizi sağlar. Kurulumu tamamlayamayan öğrencilerin listesini çıkarıp ofis saatinde destek verin. Gelecek hafta aynı projeyle devam edileceğini, projeyi silmemelerini hatırlatın. Gelecek haftanın stil ve yerleşim konusuna merak uyandırmak için bugünkü ekranın sade görünümünü gösterip 'bunu nasıl güzelleştiririz?' diye sorun. Böylece öğrenciler bir sonraki dersin ihtiyacını kendileri hisseder. Anlatım önerisi: "Bugün ortamı kurduk, ilk uygulamayı çalıştırdık, proje yapısını okuduk ve props ile bileşen yazdık. Gelecek hafta aynı projeyle Flexbox ve StyleSheet'i öğreneceğiz. Projeyi silmeyin." Çıkış etkinliği olarak ekran görüntüsü isteyin.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6400800"/>
            <a:ext cx="8229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BGP 201 Mobil Programlama · Hafta 4 · İlk React Native Projesi</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lgn="l">
              <a:buNone/>
            </a:pPr>
            <a:r>
              <a:rPr lang="en-US" sz="1600" b="1" kern="0" spc="200" dirty="0">
                <a:solidFill>
                  <a:srgbClr val="2563EB"/>
                </a:solidFill>
                <a:latin typeface="Arial" pitchFamily="34" charset="0"/>
                <a:ea typeface="Arial" pitchFamily="34" charset="-122"/>
                <a:cs typeface="Arial" pitchFamily="34" charset="-120"/>
              </a:rPr>
              <a:t>BGP 201 Mobil Programlama · Hafta 4</a:t>
            </a:r>
            <a:endParaRPr lang="en-US" sz="1600" dirty="0"/>
          </a:p>
        </p:txBody>
      </p:sp>
      <p:sp>
        <p:nvSpPr>
          <p:cNvPr id="3" name="Text 1"/>
          <p:cNvSpPr txBox="1"/>
          <p:nvPr/>
        </p:nvSpPr>
        <p:spPr>
          <a:xfrm>
            <a:off x="822960" y="2011680"/>
            <a:ext cx="10332720" cy="18288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İlk React Native Projesi: Kurulum, Yapı, Bileşenler</a:t>
            </a:r>
            <a:endParaRPr lang="en-US" sz="4400" dirty="0"/>
          </a:p>
        </p:txBody>
      </p:sp>
      <p:sp>
        <p:nvSpPr>
          <p:cNvPr id="4" name="Text 2"/>
          <p:cNvSpPr txBox="1"/>
          <p:nvPr/>
        </p:nvSpPr>
        <p:spPr>
          <a:xfrm>
            <a:off x="822960" y="4023360"/>
            <a:ext cx="9601200" cy="64008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Bare React Native ortamı, proje yapısı, JSX, çekirdek bileşenler ve props</a:t>
            </a:r>
            <a:endParaRPr lang="en-US" sz="2200" dirty="0"/>
          </a:p>
        </p:txBody>
      </p:sp>
      <p:pic>
        <p:nvPicPr>
          <p:cNvPr id="5" name="Image 0" descr="/tmp/claude-0/-home-claude/bb2dbc6e-f574-5e99-8510-889b704da121/scratchpad/decks/logos/react.png"/>
          <p:cNvPicPr>
            <a:picLocks noChangeAspect="1"/>
          </p:cNvPicPr>
          <p:nvPr/>
        </p:nvPicPr>
        <p:blipFill>
          <a:blip r:embed="rId3"/>
          <a:stretch>
            <a:fillRect/>
          </a:stretch>
        </p:blipFill>
        <p:spPr>
          <a:xfrm>
            <a:off x="822960" y="5394960"/>
            <a:ext cx="548640" cy="548640"/>
          </a:xfrm>
          <a:prstGeom prst="rect">
            <a:avLst/>
          </a:prstGeom>
        </p:spPr>
      </p:pic>
      <p:pic>
        <p:nvPicPr>
          <p:cNvPr id="6" name="Image 1" descr="/tmp/claude-0/-home-claude/bb2dbc6e-f574-5e99-8510-889b704da121/scratchpad/decks/logos/android.png"/>
          <p:cNvPicPr>
            <a:picLocks noChangeAspect="1"/>
          </p:cNvPicPr>
          <p:nvPr/>
        </p:nvPicPr>
        <p:blipFill>
          <a:blip r:embed="rId4"/>
          <a:stretch>
            <a:fillRect/>
          </a:stretch>
        </p:blipFill>
        <p:spPr>
          <a:xfrm>
            <a:off x="1828800" y="5394960"/>
            <a:ext cx="548640" cy="548640"/>
          </a:xfrm>
          <a:prstGeom prst="rect">
            <a:avLst/>
          </a:prstGeom>
        </p:spPr>
      </p:pic>
      <p:pic>
        <p:nvPicPr>
          <p:cNvPr id="7" name="Image 2" descr="/tmp/claude-0/-home-claude/bb2dbc6e-f574-5e99-8510-889b704da121/scratchpad/decks/logos/ios.png"/>
          <p:cNvPicPr>
            <a:picLocks noChangeAspect="1"/>
          </p:cNvPicPr>
          <p:nvPr/>
        </p:nvPicPr>
        <p:blipFill>
          <a:blip r:embed="rId5"/>
          <a:stretch>
            <a:fillRect/>
          </a:stretch>
        </p:blipFill>
        <p:spPr>
          <a:xfrm>
            <a:off x="2834640" y="5394960"/>
            <a:ext cx="548640" cy="548640"/>
          </a:xfrm>
          <a:prstGeom prst="rect">
            <a:avLst/>
          </a:prstGeom>
        </p:spPr>
      </p:pic>
      <p:pic>
        <p:nvPicPr>
          <p:cNvPr id="8" name="Image 3" descr="/tmp/claude-0/-home-claude/bb2dbc6e-f574-5e99-8510-889b704da121/scratchpad/decks/logos/play.png"/>
          <p:cNvPicPr>
            <a:picLocks noChangeAspect="1"/>
          </p:cNvPicPr>
          <p:nvPr/>
        </p:nvPicPr>
        <p:blipFill>
          <a:blip r:embed="rId6"/>
          <a:stretch>
            <a:fillRect/>
          </a:stretch>
        </p:blipFill>
        <p:spPr>
          <a:xfrm>
            <a:off x="3840480" y="5394960"/>
            <a:ext cx="548640" cy="548640"/>
          </a:xfrm>
          <a:prstGeom prst="rect">
            <a:avLst/>
          </a:prstGeom>
        </p:spPr>
      </p:pic>
      <p:pic>
        <p:nvPicPr>
          <p:cNvPr id="9" name="Image 4" descr="/tmp/claude-0/-home-claude/bb2dbc6e-f574-5e99-8510-889b704da121/scratchpad/decks/logos/appstore.png"/>
          <p:cNvPicPr>
            <a:picLocks noChangeAspect="1"/>
          </p:cNvPicPr>
          <p:nvPr/>
        </p:nvPicPr>
        <p:blipFill>
          <a:blip r:embed="rId7"/>
          <a:stretch>
            <a:fillRect/>
          </a:stretch>
        </p:blipFill>
        <p:spPr>
          <a:xfrm>
            <a:off x="4846320" y="5394960"/>
            <a:ext cx="548640" cy="548640"/>
          </a:xfrm>
          <a:prstGeom prst="rect">
            <a:avLst/>
          </a:prstGeom>
        </p:spPr>
      </p:pic>
      <p:pic>
        <p:nvPicPr>
          <p:cNvPr id="10" name="Image 5" descr="/tmp/claude-0/-home-claude/bb2dbc6e-f574-5e99-8510-889b704da121/scratchpad/decks/logos/kotlin.png"/>
          <p:cNvPicPr>
            <a:picLocks noChangeAspect="1"/>
          </p:cNvPicPr>
          <p:nvPr/>
        </p:nvPicPr>
        <p:blipFill>
          <a:blip r:embed="rId8"/>
          <a:stretch>
            <a:fillRect/>
          </a:stretch>
        </p:blipFill>
        <p:spPr>
          <a:xfrm>
            <a:off x="5852160" y="5394960"/>
            <a:ext cx="548640" cy="548640"/>
          </a:xfrm>
          <a:prstGeom prst="rect">
            <a:avLst/>
          </a:prstGeom>
        </p:spPr>
      </p:pic>
      <p:pic>
        <p:nvPicPr>
          <p:cNvPr id="11" name="Image 6" descr="/tmp/claude-0/-home-claude/bb2dbc6e-f574-5e99-8510-889b704da121/scratchpad/decks/logos/flutter.png"/>
          <p:cNvPicPr>
            <a:picLocks noChangeAspect="1"/>
          </p:cNvPicPr>
          <p:nvPr/>
        </p:nvPicPr>
        <p:blipFill>
          <a:blip r:embed="rId9"/>
          <a:stretch>
            <a:fillRect/>
          </a:stretch>
        </p:blipFill>
        <p:spPr>
          <a:xfrm>
            <a:off x="6858000" y="5394960"/>
            <a:ext cx="548640" cy="548640"/>
          </a:xfrm>
          <a:prstGeom prst="rect">
            <a:avLst/>
          </a:prstGeom>
        </p:spPr>
      </p:pic>
      <p:pic>
        <p:nvPicPr>
          <p:cNvPr id="12" name="Image 7" descr="/tmp/claude-0/-home-claude/bb2dbc6e-f574-5e99-8510-889b704da121/scratchpad/decks/logos/swift.png"/>
          <p:cNvPicPr>
            <a:picLocks noChangeAspect="1"/>
          </p:cNvPicPr>
          <p:nvPr/>
        </p:nvPicPr>
        <p:blipFill>
          <a:blip r:embed="rId10"/>
          <a:stretch>
            <a:fillRect/>
          </a:stretch>
        </p:blipFill>
        <p:spPr>
          <a:xfrm>
            <a:off x="7863840" y="539496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Bu Hafta Neyi Öğreneceğiz?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828800"/>
            <a:ext cx="3474720" cy="3474720"/>
          </a:xfrm>
          <a:prstGeom prst="roundRect">
            <a:avLst>
              <a:gd name="adj" fmla="val 2632"/>
            </a:avLst>
          </a:prstGeom>
          <a:solidFill>
            <a:srgbClr val="EFF6FF"/>
          </a:solidFill>
          <a:ln w="9525">
            <a:solidFill>
              <a:srgbClr val="EFF6FF"/>
            </a:solidFill>
            <a:prstDash val="solid"/>
          </a:ln>
        </p:spPr>
      </p:sp>
      <p:sp>
        <p:nvSpPr>
          <p:cNvPr id="5" name="Text 3"/>
          <p:cNvSpPr txBox="1"/>
          <p:nvPr/>
        </p:nvSpPr>
        <p:spPr>
          <a:xfrm>
            <a:off x="100584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100584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Android geliştirme ortamını kurup adb devices ile doğrularsınız ve ilk projeyi emülatörde çalıştırırsınız.</a:t>
            </a:r>
            <a:endParaRPr lang="en-US" sz="1900" dirty="0"/>
          </a:p>
        </p:txBody>
      </p:sp>
      <p:sp>
        <p:nvSpPr>
          <p:cNvPr id="7" name="Shape 5"/>
          <p:cNvSpPr/>
          <p:nvPr/>
        </p:nvSpPr>
        <p:spPr>
          <a:xfrm>
            <a:off x="4480560" y="1828800"/>
            <a:ext cx="3474720" cy="3474720"/>
          </a:xfrm>
          <a:prstGeom prst="roundRect">
            <a:avLst>
              <a:gd name="adj" fmla="val 2632"/>
            </a:avLst>
          </a:prstGeom>
          <a:solidFill>
            <a:srgbClr val="EFF6FF"/>
          </a:solidFill>
          <a:ln w="9525">
            <a:solidFill>
              <a:srgbClr val="EFF6FF"/>
            </a:solidFill>
            <a:prstDash val="solid"/>
          </a:ln>
        </p:spPr>
      </p:sp>
      <p:sp>
        <p:nvSpPr>
          <p:cNvPr id="8" name="Text 6"/>
          <p:cNvSpPr txBox="1"/>
          <p:nvPr/>
        </p:nvSpPr>
        <p:spPr>
          <a:xfrm>
            <a:off x="475488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9" name="Text 7"/>
          <p:cNvSpPr txBox="1"/>
          <p:nvPr/>
        </p:nvSpPr>
        <p:spPr>
          <a:xfrm>
            <a:off x="475488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Proje klasörlerinin ve giriş noktasının görevini açıklarsınız.</a:t>
            </a:r>
            <a:endParaRPr lang="en-US" sz="1900" dirty="0"/>
          </a:p>
        </p:txBody>
      </p:sp>
      <p:sp>
        <p:nvSpPr>
          <p:cNvPr id="10" name="Shape 8"/>
          <p:cNvSpPr/>
          <p:nvPr/>
        </p:nvSpPr>
        <p:spPr>
          <a:xfrm>
            <a:off x="8229600" y="1828800"/>
            <a:ext cx="3474720" cy="3474720"/>
          </a:xfrm>
          <a:prstGeom prst="roundRect">
            <a:avLst>
              <a:gd name="adj" fmla="val 2632"/>
            </a:avLst>
          </a:prstGeom>
          <a:solidFill>
            <a:srgbClr val="EFF6FF"/>
          </a:solidFill>
          <a:ln w="9525">
            <a:solidFill>
              <a:srgbClr val="EFF6FF"/>
            </a:solidFill>
            <a:prstDash val="solid"/>
          </a:ln>
        </p:spPr>
      </p:sp>
      <p:sp>
        <p:nvSpPr>
          <p:cNvPr id="11" name="Text 9"/>
          <p:cNvSpPr txBox="1"/>
          <p:nvPr/>
        </p:nvSpPr>
        <p:spPr>
          <a:xfrm>
            <a:off x="850392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3</a:t>
            </a:r>
            <a:endParaRPr lang="en-US" sz="4800" dirty="0"/>
          </a:p>
        </p:txBody>
      </p:sp>
      <p:sp>
        <p:nvSpPr>
          <p:cNvPr id="12" name="Text 10"/>
          <p:cNvSpPr txBox="1"/>
          <p:nvPr/>
        </p:nvSpPr>
        <p:spPr>
          <a:xfrm>
            <a:off x="850392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JSX yazar, çekirdek bileşenleri kullanır ve props ile tipli bileşenler tanımlarsınız.</a:t>
            </a:r>
            <a:endParaRPr lang="en-US" sz="19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err="1">
                <a:solidFill>
                  <a:srgbClr val="111827"/>
                </a:solidFill>
                <a:latin typeface="Arial" pitchFamily="34" charset="0"/>
                <a:ea typeface="Arial" pitchFamily="34" charset="-122"/>
                <a:cs typeface="Arial" pitchFamily="34" charset="-120"/>
              </a:rPr>
              <a:t>Ders</a:t>
            </a:r>
            <a:r>
              <a:rPr lang="en-US" sz="3200" b="1" dirty="0">
                <a:solidFill>
                  <a:srgbClr val="111827"/>
                </a:solidFill>
                <a:latin typeface="Arial" pitchFamily="34" charset="0"/>
                <a:ea typeface="Arial" pitchFamily="34" charset="-122"/>
                <a:cs typeface="Arial" pitchFamily="34" charset="-120"/>
              </a:rPr>
              <a:t> Akışı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Ortam kurulumu</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Proje yapısı</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Bileşenler ve JSX</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Props</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Uygulama</a:t>
            </a:r>
            <a:endParaRPr lang="en-US" sz="1200" dirty="0"/>
          </a:p>
        </p:txBody>
      </p:sp>
      <p:sp>
        <p:nvSpPr>
          <p:cNvPr id="18" name="Text 16"/>
          <p:cNvSpPr txBox="1"/>
          <p:nvPr/>
        </p:nvSpPr>
        <p:spPr>
          <a:xfrm>
            <a:off x="731520" y="3017520"/>
            <a:ext cx="1097280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Önce ortamı kurup doğruluyor ve ilk uygulamayı çalıştırıyoruz. Sonra klasör yapısını okuyoruz. Ardından JSX ve çekirdek bileşenleri öğreniyor, props ile bileşenlere veri geçiriyoruz. Son bir saatte bir profil kartı ekranı yazacaksınız. Durum yönetimi, yani state, 6. haftanın konusudur.</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1</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Ortam Kurulumu</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Node, JDK, Android Studio, emülatör</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React Native Nasıl Çalışır?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TypeScript kodu</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JavaScript motoru</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Yeni mimari (JSI, Fabric)</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Yerel arayüz bileşenleri</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React Native'de mantığı JavaScript çalıştırır, ancak ekranda gördüğünüz düğme veya metin gerçek yerel bileşenlerdir. Güncel sürümlerde yeni mimari zorunludur: JSI ile JavaScript yerel koda doğrudan bağlanır, Fabric ekran çizimini yönetir. Böylece eski köprü modelindeki gecikmeler azalmıştır.</a:t>
            </a:r>
            <a:endParaRPr lang="en-US" sz="2200" dirty="0"/>
          </a:p>
        </p:txBody>
      </p:sp>
      <p:sp>
        <p:nvSpPr>
          <p:cNvPr id="16" name="Shape 14"/>
          <p:cNvSpPr/>
          <p:nvPr/>
        </p:nvSpPr>
        <p:spPr>
          <a:xfrm>
            <a:off x="7863840" y="3017520"/>
            <a:ext cx="3657600" cy="1463040"/>
          </a:xfrm>
          <a:prstGeom prst="roundRect">
            <a:avLst>
              <a:gd name="adj" fmla="val 6250"/>
            </a:avLst>
          </a:prstGeom>
          <a:solidFill>
            <a:srgbClr val="FFFFFF"/>
          </a:solidFill>
          <a:ln w="15875">
            <a:solidFill>
              <a:srgbClr val="CBD5E1"/>
            </a:solidFill>
            <a:prstDash val="solid"/>
          </a:ln>
        </p:spPr>
      </p:sp>
      <p:pic>
        <p:nvPicPr>
          <p:cNvPr id="17" name="Image 0" descr="/tmp/claude-0/-home-claude/bb2dbc6e-f574-5e99-8510-889b704da121/scratchpad/decks/logos/react.png"/>
          <p:cNvPicPr>
            <a:picLocks noChangeAspect="1"/>
          </p:cNvPicPr>
          <p:nvPr/>
        </p:nvPicPr>
        <p:blipFill>
          <a:blip r:embed="rId3"/>
          <a:stretch>
            <a:fillRect/>
          </a:stretch>
        </p:blipFill>
        <p:spPr>
          <a:xfrm>
            <a:off x="8321040" y="3246120"/>
            <a:ext cx="731520" cy="731520"/>
          </a:xfrm>
          <a:prstGeom prst="rect">
            <a:avLst/>
          </a:prstGeom>
        </p:spPr>
      </p:pic>
      <p:pic>
        <p:nvPicPr>
          <p:cNvPr id="18" name="Image 1" descr="/tmp/claude-0/-home-claude/bb2dbc6e-f574-5e99-8510-889b704da121/scratchpad/decks/logos/android.png"/>
          <p:cNvPicPr>
            <a:picLocks noChangeAspect="1"/>
          </p:cNvPicPr>
          <p:nvPr/>
        </p:nvPicPr>
        <p:blipFill>
          <a:blip r:embed="rId4"/>
          <a:stretch>
            <a:fillRect/>
          </a:stretch>
        </p:blipFill>
        <p:spPr>
          <a:xfrm>
            <a:off x="9326880" y="3246120"/>
            <a:ext cx="731520" cy="731520"/>
          </a:xfrm>
          <a:prstGeom prst="rect">
            <a:avLst/>
          </a:prstGeom>
        </p:spPr>
      </p:pic>
      <p:pic>
        <p:nvPicPr>
          <p:cNvPr id="19" name="Image 2" descr="/tmp/claude-0/-home-claude/bb2dbc6e-f574-5e99-8510-889b704da121/scratchpad/decks/logos/ios.png"/>
          <p:cNvPicPr>
            <a:picLocks noChangeAspect="1"/>
          </p:cNvPicPr>
          <p:nvPr/>
        </p:nvPicPr>
        <p:blipFill>
          <a:blip r:embed="rId5"/>
          <a:stretch>
            <a:fillRect/>
          </a:stretch>
        </p:blipFill>
        <p:spPr>
          <a:xfrm>
            <a:off x="10332720" y="3246120"/>
            <a:ext cx="731520" cy="731520"/>
          </a:xfrm>
          <a:prstGeom prst="rect">
            <a:avLst/>
          </a:prstGeom>
        </p:spPr>
      </p:pic>
      <p:sp>
        <p:nvSpPr>
          <p:cNvPr id="20" name="Text 15"/>
          <p:cNvSpPr txBox="1"/>
          <p:nvPr/>
        </p:nvSpPr>
        <p:spPr>
          <a:xfrm>
            <a:off x="7863840" y="4069080"/>
            <a:ext cx="3657600" cy="4572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Tek JavaScript kodu, yerel bileşenler</a:t>
            </a:r>
            <a:endParaRPr lang="en-US" sz="1400" dirty="0"/>
          </a:p>
        </p:txBody>
      </p:sp>
      <p:sp>
        <p:nvSpPr>
          <p:cNvPr id="21" name="Shape 16"/>
          <p:cNvSpPr/>
          <p:nvPr/>
        </p:nvSpPr>
        <p:spPr>
          <a:xfrm>
            <a:off x="7863840" y="4663440"/>
            <a:ext cx="3657600" cy="1597152"/>
          </a:xfrm>
          <a:prstGeom prst="roundRect">
            <a:avLst>
              <a:gd name="adj" fmla="val 5725"/>
            </a:avLst>
          </a:prstGeom>
          <a:solidFill>
            <a:srgbClr val="EFF6FF"/>
          </a:solidFill>
          <a:ln w="9525">
            <a:solidFill>
              <a:srgbClr val="EFF6FF"/>
            </a:solidFill>
            <a:prstDash val="solid"/>
          </a:ln>
        </p:spPr>
      </p:sp>
      <p:sp>
        <p:nvSpPr>
          <p:cNvPr id="22" name="Text 17"/>
          <p:cNvSpPr txBox="1"/>
          <p:nvPr/>
        </p:nvSpPr>
        <p:spPr>
          <a:xfrm>
            <a:off x="8065008" y="4791456"/>
            <a:ext cx="3255264" cy="134112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Eski kaynaklarda "bridge" (köprü) anlatılır; güncel sürümlerde eski köprü kaldırılmıştır. Eski kaynaklardan gelen bilgiyi sürümle birlikte değerlendirin.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Neden Bare React Native ve TypeScript?</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Derste React Native CLI ile "Bare" proje kuracağız; Expo kullanmayacağız. Gerekçe, Android klasörünü, Gradle'ı ve derleme sürecini doğrudan görmeniz ve sorun çıktığında hatanın nerede olduğunu anlayabilmenizdir. TypeScript ise hataları kod çalışmadan yakalar ve büyüyen uygulamada kodu okunabilir tutar.</a:t>
            </a:r>
            <a:endParaRPr lang="en-US" sz="2200" dirty="0"/>
          </a:p>
        </p:txBody>
      </p:sp>
      <p:sp>
        <p:nvSpPr>
          <p:cNvPr id="5" name="Shape 3"/>
          <p:cNvSpPr/>
          <p:nvPr/>
        </p:nvSpPr>
        <p:spPr>
          <a:xfrm>
            <a:off x="7863840" y="1645920"/>
            <a:ext cx="3657600" cy="1463040"/>
          </a:xfrm>
          <a:prstGeom prst="roundRect">
            <a:avLst>
              <a:gd name="adj" fmla="val 6250"/>
            </a:avLst>
          </a:prstGeom>
          <a:solidFill>
            <a:srgbClr val="FFFFFF"/>
          </a:solidFill>
          <a:ln w="15875">
            <a:solidFill>
              <a:srgbClr val="CBD5E1"/>
            </a:solidFill>
            <a:prstDash val="solid"/>
          </a:ln>
        </p:spPr>
      </p:sp>
      <p:pic>
        <p:nvPicPr>
          <p:cNvPr id="6" name="Image 0" descr="/tmp/claude-0/-home-claude/bb2dbc6e-f574-5e99-8510-889b704da121/scratchpad/decks/logos/react.png"/>
          <p:cNvPicPr>
            <a:picLocks noChangeAspect="1"/>
          </p:cNvPicPr>
          <p:nvPr/>
        </p:nvPicPr>
        <p:blipFill>
          <a:blip r:embed="rId3"/>
          <a:stretch>
            <a:fillRect/>
          </a:stretch>
        </p:blipFill>
        <p:spPr>
          <a:xfrm>
            <a:off x="8823960" y="1874520"/>
            <a:ext cx="731520" cy="731520"/>
          </a:xfrm>
          <a:prstGeom prst="rect">
            <a:avLst/>
          </a:prstGeom>
        </p:spPr>
      </p:pic>
      <p:pic>
        <p:nvPicPr>
          <p:cNvPr id="7" name="Image 1" descr="/tmp/claude-0/-home-claude/bb2dbc6e-f574-5e99-8510-889b704da121/scratchpad/decks/logos/ts.png"/>
          <p:cNvPicPr>
            <a:picLocks noChangeAspect="1"/>
          </p:cNvPicPr>
          <p:nvPr/>
        </p:nvPicPr>
        <p:blipFill>
          <a:blip r:embed="rId4"/>
          <a:stretch>
            <a:fillRect/>
          </a:stretch>
        </p:blipFill>
        <p:spPr>
          <a:xfrm>
            <a:off x="9829800" y="1874520"/>
            <a:ext cx="731520" cy="731520"/>
          </a:xfrm>
          <a:prstGeom prst="rect">
            <a:avLst/>
          </a:prstGeom>
        </p:spPr>
      </p:pic>
      <p:sp>
        <p:nvSpPr>
          <p:cNvPr id="8" name="Text 4"/>
          <p:cNvSpPr txBox="1"/>
          <p:nvPr/>
        </p:nvSpPr>
        <p:spPr>
          <a:xfrm>
            <a:off x="7863840" y="2697480"/>
            <a:ext cx="3657600" cy="4572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Bare React Native + TypeScript</a:t>
            </a:r>
            <a:endParaRPr lang="en-US" sz="1400" dirty="0"/>
          </a:p>
        </p:txBody>
      </p:sp>
      <p:sp>
        <p:nvSpPr>
          <p:cNvPr id="9" name="Shape 5"/>
          <p:cNvSpPr/>
          <p:nvPr/>
        </p:nvSpPr>
        <p:spPr>
          <a:xfrm>
            <a:off x="7863840" y="3291840"/>
            <a:ext cx="3657600" cy="1383792"/>
          </a:xfrm>
          <a:prstGeom prst="roundRect">
            <a:avLst>
              <a:gd name="adj" fmla="val 6608"/>
            </a:avLst>
          </a:prstGeom>
          <a:solidFill>
            <a:srgbClr val="EFF6FF"/>
          </a:solidFill>
          <a:ln w="9525">
            <a:solidFill>
              <a:srgbClr val="EFF6FF"/>
            </a:solidFill>
            <a:prstDash val="solid"/>
          </a:ln>
        </p:spPr>
      </p:sp>
      <p:sp>
        <p:nvSpPr>
          <p:cNvPr id="10" name="Text 6"/>
          <p:cNvSpPr txBox="1"/>
          <p:nvPr/>
        </p:nvSpPr>
        <p:spPr>
          <a:xfrm>
            <a:off x="8065008" y="341985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Expo geçersiz bir seçim değildir; resmî dokümanlar da çerçeve kullanmayı önerir. Burada amaç, platform katmanını öğrenmektir.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Kurulum Haritası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Node.js</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JDK</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Android Studio</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Android SDK</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Emülatör</a:t>
            </a:r>
            <a:endParaRPr lang="en-US" sz="1200" dirty="0"/>
          </a:p>
        </p:txBody>
      </p:sp>
      <p:sp>
        <p:nvSpPr>
          <p:cNvPr id="18" name="Text 16"/>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Her halka bir sonrakinin ön koşuludur. Node, JavaScript araçlarını ve Metro'yu çalıştırır; JDK, Gradle ile Android derlemesini; Android Studio SDK ve emülatörü getirir. Hangi halkanın bozulduğunu bilmek, hata aramayı kısaltır. Her halkayı kurduktan sonra ayrı bir komutla doğrulayacağız.</a:t>
            </a:r>
            <a:endParaRPr lang="en-US" sz="2200" dirty="0"/>
          </a:p>
        </p:txBody>
      </p:sp>
      <p:sp>
        <p:nvSpPr>
          <p:cNvPr id="19" name="Shape 17"/>
          <p:cNvSpPr/>
          <p:nvPr/>
        </p:nvSpPr>
        <p:spPr>
          <a:xfrm>
            <a:off x="7863840" y="3017520"/>
            <a:ext cx="3657600" cy="1383792"/>
          </a:xfrm>
          <a:prstGeom prst="roundRect">
            <a:avLst>
              <a:gd name="adj" fmla="val 6608"/>
            </a:avLst>
          </a:prstGeom>
          <a:solidFill>
            <a:srgbClr val="EFF6FF"/>
          </a:solidFill>
          <a:ln w="9525">
            <a:solidFill>
              <a:srgbClr val="EFF6FF"/>
            </a:solidFill>
            <a:prstDash val="solid"/>
          </a:ln>
        </p:spPr>
      </p:sp>
      <p:sp>
        <p:nvSpPr>
          <p:cNvPr id="20" name="Text 18"/>
          <p:cNvSpPr txBox="1"/>
          <p:nvPr/>
        </p:nvSpPr>
        <p:spPr>
          <a:xfrm>
            <a:off x="8065008" y="314553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Sürüm gereksinimleri sık değişir; kurulumdan önce React Native dokümanındaki "Set Up Your Environment" sayfasını açıp güncel sürümleri kontrol edin.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Her Halkayı Doğrulamak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914400"/>
        </p:xfrm>
        <a:graphic>
          <a:graphicData uri="http://schemas.openxmlformats.org/drawingml/2006/table">
            <a:tbl>
              <a:tblPr/>
              <a:tblGrid>
                <a:gridCol w="3528524">
                  <a:extLst>
                    <a:ext uri="{9D8B030D-6E8A-4147-A177-3AD203B41FA5}">
                      <a16:colId xmlns:a16="http://schemas.microsoft.com/office/drawing/2014/main" val="20000"/>
                    </a:ext>
                  </a:extLst>
                </a:gridCol>
                <a:gridCol w="4206280">
                  <a:extLst>
                    <a:ext uri="{9D8B030D-6E8A-4147-A177-3AD203B41FA5}">
                      <a16:colId xmlns:a16="http://schemas.microsoft.com/office/drawing/2014/main" val="20001"/>
                    </a:ext>
                  </a:extLst>
                </a:gridCol>
                <a:gridCol w="3237996">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Bileşen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işe yarar?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Doğrulama komutu</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800" b="1" dirty="0">
                          <a:solidFill>
                            <a:srgbClr val="111827"/>
                          </a:solidFill>
                        </a:rPr>
                        <a:t>Node.js</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JavaScript araçları, Metro</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node --version</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800" b="1" dirty="0">
                          <a:solidFill>
                            <a:srgbClr val="111827"/>
                          </a:solidFill>
                        </a:rPr>
                        <a:t>JDK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Gradle ve Android derlemesi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java -version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Android SDK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Platform araçları, derleme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adb --version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800" b="1" dirty="0">
                          <a:solidFill>
                            <a:srgbClr val="111827"/>
                          </a:solidFill>
                        </a:rPr>
                        <a:t>Emülatör veya cihaz</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Uygulamayı çalıştırır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adb devices</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4133088"/>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261104"/>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Bir komut hata veriyorsa o halkayı düzeltmeden sonrakine geçmeyin; emülatör listede görünmüyorsa uygulama hiçbir koşulda çalışmaz.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Ortam Değişkenleri: ANDROID_HOME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BASH</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ANDROID_HOME=$HOME/Android/Sdk</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PATH=$PATH:$ANDROID_HOME/emulator</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PATH=$PATH:$ANDROID_HOME/platform-tools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adb --version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adb devices</a:t>
            </a:r>
            <a:endParaRPr lang="en-US" sz="1600" dirty="0"/>
          </a:p>
        </p:txBody>
      </p:sp>
      <p:sp>
        <p:nvSpPr>
          <p:cNvPr id="7" name="Shape 5"/>
          <p:cNvSpPr/>
          <p:nvPr/>
        </p:nvSpPr>
        <p:spPr>
          <a:xfrm>
            <a:off x="731520" y="3694176"/>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3822192"/>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adb --version sürüm bilgisini yazar; adb devices çalışan emülatörü listeler.</a:t>
            </a:r>
            <a:endParaRPr lang="en-US" sz="1100" dirty="0"/>
          </a:p>
        </p:txBody>
      </p:sp>
      <p:sp>
        <p:nvSpPr>
          <p:cNvPr id="9" name="Text 7"/>
          <p:cNvSpPr txBox="1"/>
          <p:nvPr/>
        </p:nvSpPr>
        <p:spPr>
          <a:xfrm>
            <a:off x="7772400" y="1645920"/>
            <a:ext cx="3931920" cy="181051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terminalin Android araçlarını bulmasını sağlamaktır.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ANDROID_HOME, SDK klasörünü gösterir; PATH'e eklenen klasörler adb ve emulator komutlarını her yerden çalıştırılabilir yapar.</a:t>
            </a:r>
            <a:endParaRPr lang="en-US" sz="1800" dirty="0"/>
          </a:p>
        </p:txBody>
      </p:sp>
      <p:sp>
        <p:nvSpPr>
          <p:cNvPr id="10" name="Shape 8"/>
          <p:cNvSpPr/>
          <p:nvPr/>
        </p:nvSpPr>
        <p:spPr>
          <a:xfrm>
            <a:off x="7772400" y="3593592"/>
            <a:ext cx="3931920" cy="1597152"/>
          </a:xfrm>
          <a:prstGeom prst="roundRect">
            <a:avLst>
              <a:gd name="adj" fmla="val 5725"/>
            </a:avLst>
          </a:prstGeom>
          <a:solidFill>
            <a:srgbClr val="EFF6FF"/>
          </a:solidFill>
          <a:ln w="9525">
            <a:solidFill>
              <a:srgbClr val="EFF6FF"/>
            </a:solidFill>
            <a:prstDash val="solid"/>
          </a:ln>
        </p:spPr>
      </p:sp>
      <p:sp>
        <p:nvSpPr>
          <p:cNvPr id="11" name="Text 9"/>
          <p:cNvSpPr txBox="1"/>
          <p:nvPr/>
        </p:nvSpPr>
        <p:spPr>
          <a:xfrm>
            <a:off x="7973568" y="3721608"/>
            <a:ext cx="3529584" cy="134112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macOS'ta yol ~/Library/Android/sdk, Windows'ta %LOCALAPPDATA%\Android\Sdk olur; Windows'ta değişkenler Sistem Ortam Değişkenleri ekranından ayarlanır ve terminal yeniden açılır.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iOS ve Windows: Sınır Net</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iOS uygulaması derlemek için Xcode gerekir ve Xcode yalnızca macOS'ta çalışır. Windows veya Linux bilgisayarda iOS derlemesi yapılamaz. Bu derste hedef Android'dir. Mac kullanan öğrenciler iOS adımlarını ayrıca deneyebilir; bu adımlar derste "yalnızca macOS" etiketiyle verilir ve CocoaPods veya Bundler kurulumunu gerektirir.</a:t>
            </a:r>
            <a:endParaRPr lang="en-US" sz="2200" dirty="0"/>
          </a:p>
        </p:txBody>
      </p:sp>
      <p:sp>
        <p:nvSpPr>
          <p:cNvPr id="5" name="Shape 3"/>
          <p:cNvSpPr/>
          <p:nvPr/>
        </p:nvSpPr>
        <p:spPr>
          <a:xfrm>
            <a:off x="7863840" y="1645920"/>
            <a:ext cx="3657600" cy="1463040"/>
          </a:xfrm>
          <a:prstGeom prst="roundRect">
            <a:avLst>
              <a:gd name="adj" fmla="val 6250"/>
            </a:avLst>
          </a:prstGeom>
          <a:solidFill>
            <a:srgbClr val="FFFFFF"/>
          </a:solidFill>
          <a:ln w="15875">
            <a:solidFill>
              <a:srgbClr val="CBD5E1"/>
            </a:solidFill>
            <a:prstDash val="solid"/>
          </a:ln>
        </p:spPr>
      </p:sp>
      <p:pic>
        <p:nvPicPr>
          <p:cNvPr id="6" name="Image 0" descr="/tmp/claude-0/-home-claude/bb2dbc6e-f574-5e99-8510-889b704da121/scratchpad/decks/logos/android.png"/>
          <p:cNvPicPr>
            <a:picLocks noChangeAspect="1"/>
          </p:cNvPicPr>
          <p:nvPr/>
        </p:nvPicPr>
        <p:blipFill>
          <a:blip r:embed="rId3"/>
          <a:stretch>
            <a:fillRect/>
          </a:stretch>
        </p:blipFill>
        <p:spPr>
          <a:xfrm>
            <a:off x="8823960" y="1874520"/>
            <a:ext cx="731520" cy="731520"/>
          </a:xfrm>
          <a:prstGeom prst="rect">
            <a:avLst/>
          </a:prstGeom>
        </p:spPr>
      </p:pic>
      <p:pic>
        <p:nvPicPr>
          <p:cNvPr id="7" name="Image 1" descr="/tmp/claude-0/-home-claude/bb2dbc6e-f574-5e99-8510-889b704da121/scratchpad/decks/logos/ios.png"/>
          <p:cNvPicPr>
            <a:picLocks noChangeAspect="1"/>
          </p:cNvPicPr>
          <p:nvPr/>
        </p:nvPicPr>
        <p:blipFill>
          <a:blip r:embed="rId4"/>
          <a:stretch>
            <a:fillRect/>
          </a:stretch>
        </p:blipFill>
        <p:spPr>
          <a:xfrm>
            <a:off x="9829800" y="1874520"/>
            <a:ext cx="731520" cy="731520"/>
          </a:xfrm>
          <a:prstGeom prst="rect">
            <a:avLst/>
          </a:prstGeom>
        </p:spPr>
      </p:pic>
      <p:sp>
        <p:nvSpPr>
          <p:cNvPr id="8" name="Text 4"/>
          <p:cNvSpPr txBox="1"/>
          <p:nvPr/>
        </p:nvSpPr>
        <p:spPr>
          <a:xfrm>
            <a:off x="7863840" y="2697480"/>
            <a:ext cx="3657600" cy="4572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Hedef Android; iOS yalnızca macOS</a:t>
            </a:r>
            <a:endParaRPr lang="en-US" sz="1400" dirty="0"/>
          </a:p>
        </p:txBody>
      </p:sp>
      <p:sp>
        <p:nvSpPr>
          <p:cNvPr id="9" name="Shape 5"/>
          <p:cNvSpPr/>
          <p:nvPr/>
        </p:nvSpPr>
        <p:spPr>
          <a:xfrm>
            <a:off x="7863840" y="3291840"/>
            <a:ext cx="3657600" cy="1383792"/>
          </a:xfrm>
          <a:prstGeom prst="roundRect">
            <a:avLst>
              <a:gd name="adj" fmla="val 6608"/>
            </a:avLst>
          </a:prstGeom>
          <a:solidFill>
            <a:srgbClr val="EFF6FF"/>
          </a:solidFill>
          <a:ln w="9525">
            <a:solidFill>
              <a:srgbClr val="EFF6FF"/>
            </a:solidFill>
            <a:prstDash val="solid"/>
          </a:ln>
        </p:spPr>
      </p:sp>
      <p:sp>
        <p:nvSpPr>
          <p:cNvPr id="10" name="Text 6"/>
          <p:cNvSpPr txBox="1"/>
          <p:nvPr/>
        </p:nvSpPr>
        <p:spPr>
          <a:xfrm>
            <a:off x="8065008" y="341985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iOS'un bu derste çalıştırılmaması bir eksiklik değil, yapılandırma gerçeğidir; projeniz iOS için de yazılır, ancak derleme macOS'ta yapılır.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Projeyi Oluşturmak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420978"/>
          </a:xfrm>
          <a:prstGeom prst="roundRect">
            <a:avLst>
              <a:gd name="adj" fmla="val 643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BASH</a:t>
            </a:r>
            <a:endParaRPr lang="en-US" sz="1100" dirty="0"/>
          </a:p>
        </p:txBody>
      </p:sp>
      <p:sp>
        <p:nvSpPr>
          <p:cNvPr id="6" name="Text 4"/>
          <p:cNvSpPr txBox="1"/>
          <p:nvPr/>
        </p:nvSpPr>
        <p:spPr>
          <a:xfrm>
            <a:off x="960120" y="2103120"/>
            <a:ext cx="6309360" cy="872338"/>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npx @react-native-community/cli@latest init MobilApp</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cd MobilApp</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ls</a:t>
            </a:r>
            <a:endParaRPr lang="en-US" sz="1600" dirty="0"/>
          </a:p>
        </p:txBody>
      </p:sp>
      <p:sp>
        <p:nvSpPr>
          <p:cNvPr id="7" name="Shape 5"/>
          <p:cNvSpPr/>
          <p:nvPr/>
        </p:nvSpPr>
        <p:spPr>
          <a:xfrm>
            <a:off x="731520" y="3204058"/>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3332074"/>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Birkaç dakika süren kurulum sonunda "Run instructions" yazısı çıkar; ls komutu android, ios, App.tsx gibi dosyaları listeler.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React Native CLI ile TypeScript şablonlu boş bir proje üretmektir.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İlk komut, güncel şablonla MobilApp adında bir klasör oluşturur ve bağımlılıkları kurar. Proje adı Türkçe karakter ve boşluk içermemelidir. Eski react-native init komutu artık kullanılmaz.</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Daha önce react-native-cli paketini genel olarak kurduysanız resmî dokümandaki yönergeye göre kaldırın; eski paket yeni komutla çakışabilir.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Uygulamayı Çalıştırmak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3486912"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Terminal 1: Metro</a:t>
            </a:r>
            <a:endParaRPr lang="en-US" sz="1200" dirty="0"/>
          </a:p>
        </p:txBody>
      </p:sp>
      <p:sp>
        <p:nvSpPr>
          <p:cNvPr id="6" name="Text 4"/>
          <p:cNvSpPr txBox="1"/>
          <p:nvPr/>
        </p:nvSpPr>
        <p:spPr>
          <a:xfrm>
            <a:off x="421843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4474464" y="1645920"/>
            <a:ext cx="3486912"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4611624"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Terminal 2: Derleme</a:t>
            </a:r>
            <a:endParaRPr lang="en-US" sz="1200" dirty="0"/>
          </a:p>
        </p:txBody>
      </p:sp>
      <p:sp>
        <p:nvSpPr>
          <p:cNvPr id="9" name="Text 7"/>
          <p:cNvSpPr txBox="1"/>
          <p:nvPr/>
        </p:nvSpPr>
        <p:spPr>
          <a:xfrm>
            <a:off x="796137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8217408" y="1645920"/>
            <a:ext cx="3486912" cy="1051560"/>
          </a:xfrm>
          <a:prstGeom prst="roundRect">
            <a:avLst>
              <a:gd name="adj" fmla="val 8696"/>
            </a:avLst>
          </a:prstGeom>
          <a:solidFill>
            <a:srgbClr val="2563EB"/>
          </a:solidFill>
          <a:ln w="9525">
            <a:solidFill>
              <a:srgbClr val="2563EB"/>
            </a:solidFill>
            <a:prstDash val="solid"/>
          </a:ln>
        </p:spPr>
      </p:sp>
      <p:sp>
        <p:nvSpPr>
          <p:cNvPr id="11" name="Text 9"/>
          <p:cNvSpPr txBox="1"/>
          <p:nvPr/>
        </p:nvSpPr>
        <p:spPr>
          <a:xfrm>
            <a:off x="8354568"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Emülatör</a:t>
            </a:r>
            <a:endParaRPr lang="en-US" sz="1200" dirty="0"/>
          </a:p>
        </p:txBody>
      </p:sp>
      <p:sp>
        <p:nvSpPr>
          <p:cNvPr id="12" name="Shape 10"/>
          <p:cNvSpPr/>
          <p:nvPr/>
        </p:nvSpPr>
        <p:spPr>
          <a:xfrm>
            <a:off x="731520" y="3017520"/>
            <a:ext cx="6766560" cy="1666037"/>
          </a:xfrm>
          <a:prstGeom prst="roundRect">
            <a:avLst>
              <a:gd name="adj" fmla="val 5488"/>
            </a:avLst>
          </a:prstGeom>
          <a:solidFill>
            <a:srgbClr val="F3F4F6"/>
          </a:solidFill>
          <a:ln w="9525">
            <a:solidFill>
              <a:srgbClr val="E5E7EB"/>
            </a:solidFill>
            <a:prstDash val="solid"/>
          </a:ln>
        </p:spPr>
      </p:sp>
      <p:sp>
        <p:nvSpPr>
          <p:cNvPr id="13" name="Text 11"/>
          <p:cNvSpPr txBox="1"/>
          <p:nvPr/>
        </p:nvSpPr>
        <p:spPr>
          <a:xfrm>
            <a:off x="6309360" y="31089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BASH</a:t>
            </a:r>
            <a:endParaRPr lang="en-US" sz="1100" dirty="0"/>
          </a:p>
        </p:txBody>
      </p:sp>
      <p:sp>
        <p:nvSpPr>
          <p:cNvPr id="14" name="Text 12"/>
          <p:cNvSpPr txBox="1"/>
          <p:nvPr/>
        </p:nvSpPr>
        <p:spPr>
          <a:xfrm>
            <a:off x="960120" y="3474720"/>
            <a:ext cx="6309360" cy="1117397"/>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 Terminal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(proje klasöründe)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npm start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Terminal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(proje klasöründe)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npm run android</a:t>
            </a:r>
            <a:endParaRPr lang="en-US" sz="1600" dirty="0"/>
          </a:p>
        </p:txBody>
      </p:sp>
      <p:sp>
        <p:nvSpPr>
          <p:cNvPr id="15" name="Shape 13"/>
          <p:cNvSpPr/>
          <p:nvPr/>
        </p:nvSpPr>
        <p:spPr>
          <a:xfrm>
            <a:off x="731520" y="4820717"/>
            <a:ext cx="6766560" cy="987552"/>
          </a:xfrm>
          <a:prstGeom prst="roundRect">
            <a:avLst>
              <a:gd name="adj" fmla="val 9259"/>
            </a:avLst>
          </a:prstGeom>
          <a:solidFill>
            <a:srgbClr val="EFF6FF"/>
          </a:solidFill>
          <a:ln w="9525">
            <a:solidFill>
              <a:srgbClr val="EFF6FF"/>
            </a:solidFill>
            <a:prstDash val="solid"/>
          </a:ln>
        </p:spPr>
      </p:sp>
      <p:sp>
        <p:nvSpPr>
          <p:cNvPr id="16" name="Text 14"/>
          <p:cNvSpPr txBox="1"/>
          <p:nvPr/>
        </p:nvSpPr>
        <p:spPr>
          <a:xfrm>
            <a:off x="932688" y="4948733"/>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İlk derleme uzun sürebilir; sonunda emülatörde React Native karşılama ekranı görünür.</a:t>
            </a:r>
            <a:endParaRPr lang="en-US" sz="1100" dirty="0"/>
          </a:p>
        </p:txBody>
      </p:sp>
      <p:sp>
        <p:nvSpPr>
          <p:cNvPr id="17" name="Text 15"/>
          <p:cNvSpPr txBox="1"/>
          <p:nvPr/>
        </p:nvSpPr>
        <p:spPr>
          <a:xfrm>
            <a:off x="7772400" y="3017520"/>
            <a:ext cx="3931920" cy="1261872"/>
          </a:xfrm>
          <a:prstGeom prst="rect">
            <a:avLst/>
          </a:prstGeom>
          <a:noFill/>
          <a:ln/>
        </p:spPr>
        <p:txBody>
          <a:bodyPr wrap="square" lIns="0" tIns="0" rIns="0" bIns="0" rtlCol="0" anchor="t"/>
          <a:lstStyle/>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npm start Metro'yu başlatır ve JavaScript'i sunar. npm run android uygulamayı Gradle ile derleyip emülatörde açar.</a:t>
            </a:r>
            <a:endParaRPr lang="en-US" sz="1800" dirty="0"/>
          </a:p>
        </p:txBody>
      </p:sp>
      <p:sp>
        <p:nvSpPr>
          <p:cNvPr id="18" name="Shape 16"/>
          <p:cNvSpPr/>
          <p:nvPr/>
        </p:nvSpPr>
        <p:spPr>
          <a:xfrm>
            <a:off x="7772400" y="4416552"/>
            <a:ext cx="3931920" cy="957072"/>
          </a:xfrm>
          <a:prstGeom prst="roundRect">
            <a:avLst>
              <a:gd name="adj" fmla="val 9554"/>
            </a:avLst>
          </a:prstGeom>
          <a:solidFill>
            <a:srgbClr val="EFF6FF"/>
          </a:solidFill>
          <a:ln w="9525">
            <a:solidFill>
              <a:srgbClr val="EFF6FF"/>
            </a:solidFill>
            <a:prstDash val="solid"/>
          </a:ln>
        </p:spPr>
      </p:sp>
      <p:sp>
        <p:nvSpPr>
          <p:cNvPr id="19" name="Text 17"/>
          <p:cNvSpPr txBox="1"/>
          <p:nvPr/>
        </p:nvSpPr>
        <p:spPr>
          <a:xfrm>
            <a:off x="7973568" y="4544568"/>
            <a:ext cx="3529584" cy="70104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İlk derleme uzun sürer, sonrakiler hızlıdır.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Uygulamanın Çalışma Akışı: Metro</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index.js kaydeder</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Cihaz paketi ister</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Metro paketler</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Ekran çizilir</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Fast Refresh</a:t>
            </a:r>
            <a:endParaRPr lang="en-US" sz="1200" dirty="0"/>
          </a:p>
        </p:txBody>
      </p:sp>
      <p:sp>
        <p:nvSpPr>
          <p:cNvPr id="18" name="Text 16"/>
          <p:cNvSpPr txBox="1"/>
          <p:nvPr/>
        </p:nvSpPr>
        <p:spPr>
          <a:xfrm>
            <a:off x="731520" y="3017520"/>
            <a:ext cx="6766560" cy="32918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100" dirty="0">
                <a:solidFill>
                  <a:srgbClr val="111827"/>
                </a:solidFill>
                <a:latin typeface="Arial" pitchFamily="34" charset="0"/>
                <a:ea typeface="Arial" pitchFamily="34" charset="-122"/>
                <a:cs typeface="Arial" pitchFamily="34" charset="-120"/>
              </a:rPr>
              <a:t>App açılır; yerel katman index.js'te kayıtlı App'i bulur.</a:t>
            </a:r>
            <a:endParaRPr lang="en-US" sz="2100" dirty="0"/>
          </a:p>
          <a:p>
            <a:pPr marL="279400" indent="-279400" algn="l">
              <a:spcAft>
                <a:spcPts val="800"/>
              </a:spcAft>
              <a:buSzPct val="100000"/>
              <a:buFont typeface="+mj-lt"/>
              <a:buAutoNum type="arabicPeriod"/>
            </a:pPr>
            <a:r>
              <a:rPr lang="en-US" sz="2100" dirty="0">
                <a:solidFill>
                  <a:srgbClr val="111827"/>
                </a:solidFill>
                <a:latin typeface="Arial" pitchFamily="34" charset="0"/>
                <a:ea typeface="Arial" pitchFamily="34" charset="-122"/>
                <a:cs typeface="Arial" pitchFamily="34" charset="-120"/>
              </a:rPr>
              <a:t>Cihaz, JavaScript paketini Metro'dan ister (port 8081).</a:t>
            </a:r>
            <a:endParaRPr lang="en-US" sz="2100" dirty="0"/>
          </a:p>
          <a:p>
            <a:pPr marL="279400" indent="-279400" algn="l">
              <a:spcAft>
                <a:spcPts val="800"/>
              </a:spcAft>
              <a:buSzPct val="100000"/>
              <a:buFont typeface="+mj-lt"/>
              <a:buAutoNum type="arabicPeriod"/>
            </a:pPr>
            <a:r>
              <a:rPr lang="en-US" sz="2100" dirty="0">
                <a:solidFill>
                  <a:srgbClr val="111827"/>
                </a:solidFill>
                <a:latin typeface="Arial" pitchFamily="34" charset="0"/>
                <a:ea typeface="Arial" pitchFamily="34" charset="-122"/>
                <a:cs typeface="Arial" pitchFamily="34" charset="-120"/>
              </a:rPr>
              <a:t>Metro dosyaları okur, tipleri siler, tek pakette birleştirir.</a:t>
            </a:r>
            <a:endParaRPr lang="en-US" sz="2100" dirty="0"/>
          </a:p>
          <a:p>
            <a:pPr marL="279400" indent="-279400" algn="l">
              <a:spcAft>
                <a:spcPts val="800"/>
              </a:spcAft>
              <a:buSzPct val="100000"/>
              <a:buFont typeface="+mj-lt"/>
              <a:buAutoNum type="arabicPeriod"/>
            </a:pPr>
            <a:r>
              <a:rPr lang="en-US" sz="2100" dirty="0">
                <a:solidFill>
                  <a:srgbClr val="111827"/>
                </a:solidFill>
                <a:latin typeface="Arial" pitchFamily="34" charset="0"/>
                <a:ea typeface="Arial" pitchFamily="34" charset="-122"/>
                <a:cs typeface="Arial" pitchFamily="34" charset="-120"/>
              </a:rPr>
              <a:t>Cihaz paketi yükler; App çalışır, yerel bileşenler çizilir.</a:t>
            </a:r>
            <a:endParaRPr lang="en-US" sz="2100" dirty="0"/>
          </a:p>
          <a:p>
            <a:pPr marL="279400" indent="-279400" algn="l">
              <a:spcAft>
                <a:spcPts val="800"/>
              </a:spcAft>
              <a:buSzPct val="100000"/>
              <a:buFont typeface="+mj-lt"/>
              <a:buAutoNum type="arabicPeriod"/>
            </a:pPr>
            <a:r>
              <a:rPr lang="en-US" sz="2100" dirty="0">
                <a:solidFill>
                  <a:srgbClr val="111827"/>
                </a:solidFill>
                <a:latin typeface="Arial" pitchFamily="34" charset="0"/>
                <a:ea typeface="Arial" pitchFamily="34" charset="-122"/>
                <a:cs typeface="Arial" pitchFamily="34" charset="-120"/>
              </a:rPr>
              <a:t>Kaydedince yalnızca değişen parça gider; Fast Refresh yeniler.</a:t>
            </a:r>
            <a:endParaRPr lang="en-US" sz="2100" dirty="0"/>
          </a:p>
        </p:txBody>
      </p:sp>
      <p:sp>
        <p:nvSpPr>
          <p:cNvPr id="19" name="Shape 17"/>
          <p:cNvSpPr/>
          <p:nvPr/>
        </p:nvSpPr>
        <p:spPr>
          <a:xfrm>
            <a:off x="7863840" y="3017520"/>
            <a:ext cx="3657600" cy="1383792"/>
          </a:xfrm>
          <a:prstGeom prst="roundRect">
            <a:avLst>
              <a:gd name="adj" fmla="val 6608"/>
            </a:avLst>
          </a:prstGeom>
          <a:solidFill>
            <a:srgbClr val="EFF6FF"/>
          </a:solidFill>
          <a:ln w="9525">
            <a:solidFill>
              <a:srgbClr val="EFF6FF"/>
            </a:solidFill>
            <a:prstDash val="solid"/>
          </a:ln>
        </p:spPr>
      </p:sp>
      <p:sp>
        <p:nvSpPr>
          <p:cNvPr id="20" name="Text 18"/>
          <p:cNvSpPr txBox="1"/>
          <p:nvPr/>
        </p:nvSpPr>
        <p:spPr>
          <a:xfrm>
            <a:off x="8065008" y="314553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Metro kapalıyken uygulama "Unable to load script" hatası verir. Metro tip denetimi yapmaz; tipler için ayrıca tsc çalıştırılır.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Projenin Çalışma Döngüsü: Komutlarla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Emülatörü aç</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Metro'yu başlat</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Uygulamayı derle</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Kodu değiştir ve kaydet</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Tipleri denetle</a:t>
            </a:r>
            <a:endParaRPr lang="en-US" sz="1200" dirty="0"/>
          </a:p>
        </p:txBody>
      </p:sp>
      <p:sp>
        <p:nvSpPr>
          <p:cNvPr id="18" name="Shape 16"/>
          <p:cNvSpPr/>
          <p:nvPr/>
        </p:nvSpPr>
        <p:spPr>
          <a:xfrm>
            <a:off x="731520" y="3017520"/>
            <a:ext cx="5394960" cy="3246120"/>
          </a:xfrm>
          <a:prstGeom prst="roundRect">
            <a:avLst>
              <a:gd name="adj" fmla="val 2817"/>
            </a:avLst>
          </a:prstGeom>
          <a:solidFill>
            <a:srgbClr val="F3F4F6"/>
          </a:solidFill>
          <a:ln w="9525">
            <a:solidFill>
              <a:srgbClr val="E5E7EB"/>
            </a:solidFill>
            <a:prstDash val="solid"/>
          </a:ln>
        </p:spPr>
      </p:sp>
      <p:sp>
        <p:nvSpPr>
          <p:cNvPr id="19" name="Text 17"/>
          <p:cNvSpPr txBox="1"/>
          <p:nvPr/>
        </p:nvSpPr>
        <p:spPr>
          <a:xfrm>
            <a:off x="914400" y="3108960"/>
            <a:ext cx="5029200" cy="228600"/>
          </a:xfrm>
          <a:prstGeom prst="rect">
            <a:avLst/>
          </a:prstGeom>
          <a:noFill/>
          <a:ln/>
        </p:spPr>
        <p:txBody>
          <a:bodyPr wrap="square" lIns="0" tIns="0" rIns="0" bIns="0" rtlCol="0" anchor="ctr"/>
          <a:lstStyle/>
          <a:p>
            <a:pPr marL="0" indent="0" algn="l">
              <a:buNone/>
            </a:pPr>
            <a:r>
              <a:rPr lang="en-US" sz="1100" b="1" dirty="0">
                <a:solidFill>
                  <a:srgbClr val="6B7280"/>
                </a:solidFill>
                <a:latin typeface="Arial" pitchFamily="34" charset="0"/>
                <a:ea typeface="Arial" pitchFamily="34" charset="-122"/>
                <a:cs typeface="Arial" pitchFamily="34" charset="-120"/>
              </a:rPr>
              <a:t>TERMİNAL 1 · METRO</a:t>
            </a:r>
            <a:endParaRPr lang="en-US" sz="1100" dirty="0"/>
          </a:p>
        </p:txBody>
      </p:sp>
      <p:sp>
        <p:nvSpPr>
          <p:cNvPr id="20" name="Text 18"/>
          <p:cNvSpPr txBox="1"/>
          <p:nvPr/>
        </p:nvSpPr>
        <p:spPr>
          <a:xfrm>
            <a:off x="914400" y="3429000"/>
            <a:ext cx="5029200" cy="2743200"/>
          </a:xfrm>
          <a:prstGeom prst="rect">
            <a:avLst/>
          </a:prstGeom>
          <a:noFill/>
          <a:ln/>
        </p:spPr>
        <p:txBody>
          <a:bodyPr wrap="square" lIns="0" tIns="0" rIns="0" bIns="0" rtlCol="0" anchor="t"/>
          <a:lstStyle/>
          <a:p>
            <a:pPr marL="0" indent="0" algn="l">
              <a:buNone/>
            </a:pPr>
            <a:r>
              <a:rPr lang="en-US" sz="1400" i="1" dirty="0">
                <a:solidFill>
                  <a:srgbClr val="6B7280"/>
                </a:solidFill>
                <a:latin typeface="Courier New" pitchFamily="34" charset="0"/>
                <a:ea typeface="Courier New" pitchFamily="34" charset="-122"/>
                <a:cs typeface="Courier New" pitchFamily="34" charset="-120"/>
              </a:rPr>
              <a:t>1. Emülatörü aç; proje klasöründe kontrol et</a:t>
            </a:r>
            <a:endParaRPr lang="en-US" sz="1400" dirty="0"/>
          </a:p>
          <a:p>
            <a:pPr marL="0" indent="0" algn="l">
              <a:buNone/>
            </a:pPr>
            <a:r>
              <a:rPr lang="en-US" sz="1400" b="1" dirty="0">
                <a:solidFill>
                  <a:srgbClr val="2563EB"/>
                </a:solidFill>
                <a:latin typeface="Courier New" pitchFamily="34" charset="0"/>
                <a:ea typeface="Courier New" pitchFamily="34" charset="-122"/>
                <a:cs typeface="Courier New" pitchFamily="34" charset="-120"/>
              </a:rPr>
              <a:t>$ cd MobilApp</a:t>
            </a:r>
            <a:endParaRPr lang="en-US" sz="1400" dirty="0"/>
          </a:p>
          <a:p>
            <a:pPr marL="0" indent="0" algn="l">
              <a:buNone/>
            </a:pPr>
            <a:r>
              <a:rPr lang="en-US" sz="1400" b="1" dirty="0">
                <a:solidFill>
                  <a:srgbClr val="2563EB"/>
                </a:solidFill>
                <a:latin typeface="Courier New" pitchFamily="34" charset="0"/>
                <a:ea typeface="Courier New" pitchFamily="34" charset="-122"/>
                <a:cs typeface="Courier New" pitchFamily="34" charset="-120"/>
              </a:rPr>
              <a:t>$ adb devices</a:t>
            </a:r>
            <a:endParaRPr lang="en-US" sz="1400" dirty="0"/>
          </a:p>
          <a:p>
            <a:pPr marL="0" indent="0" algn="l">
              <a:buNone/>
            </a:pPr>
            <a:r>
              <a:rPr lang="en-US" sz="1400" dirty="0">
                <a:solidFill>
                  <a:srgbClr val="111827"/>
                </a:solidFill>
                <a:latin typeface="Courier New" pitchFamily="34" charset="0"/>
                <a:ea typeface="Courier New" pitchFamily="34" charset="-122"/>
                <a:cs typeface="Courier New" pitchFamily="34" charset="-120"/>
              </a:rPr>
              <a:t>emulator-5554   device</a:t>
            </a:r>
            <a:endParaRPr lang="en-US" sz="1400" dirty="0"/>
          </a:p>
          <a:p>
            <a:pPr marL="0" indent="0" algn="l">
              <a:buNone/>
            </a:pPr>
            <a:r>
              <a:rPr lang="en-US" sz="1400" i="1" dirty="0">
                <a:solidFill>
                  <a:srgbClr val="6B7280"/>
                </a:solidFill>
                <a:latin typeface="Courier New" pitchFamily="34" charset="0"/>
                <a:ea typeface="Courier New" pitchFamily="34" charset="-122"/>
                <a:cs typeface="Courier New" pitchFamily="34" charset="-120"/>
              </a:rPr>
              <a:t>2. Metro'yu başlat (bu terminal açık kalır)</a:t>
            </a:r>
            <a:endParaRPr lang="en-US" sz="1400" dirty="0"/>
          </a:p>
          <a:p>
            <a:pPr marL="0" indent="0" algn="l">
              <a:buNone/>
            </a:pPr>
            <a:r>
              <a:rPr lang="en-US" sz="1400" b="1" dirty="0">
                <a:solidFill>
                  <a:srgbClr val="2563EB"/>
                </a:solidFill>
                <a:latin typeface="Courier New" pitchFamily="34" charset="0"/>
                <a:ea typeface="Courier New" pitchFamily="34" charset="-122"/>
                <a:cs typeface="Courier New" pitchFamily="34" charset="-120"/>
              </a:rPr>
              <a:t>$ npm start</a:t>
            </a:r>
            <a:endParaRPr lang="en-US" sz="1400" dirty="0"/>
          </a:p>
          <a:p>
            <a:pPr marL="0" indent="0" algn="l">
              <a:buNone/>
            </a:pPr>
            <a:r>
              <a:rPr lang="en-US" sz="1400" dirty="0">
                <a:solidFill>
                  <a:srgbClr val="111827"/>
                </a:solidFill>
                <a:latin typeface="Courier New" pitchFamily="34" charset="0"/>
                <a:ea typeface="Courier New" pitchFamily="34" charset="-122"/>
                <a:cs typeface="Courier New" pitchFamily="34" charset="-120"/>
              </a:rPr>
              <a:t>Metro başlar (port 8081)</a:t>
            </a:r>
            <a:endParaRPr lang="en-US" sz="1400" dirty="0"/>
          </a:p>
          <a:p>
            <a:pPr marL="0" indent="0" algn="l">
              <a:buNone/>
            </a:pPr>
            <a:r>
              <a:rPr lang="en-US" sz="1400" i="1" dirty="0">
                <a:solidFill>
                  <a:srgbClr val="6B7280"/>
                </a:solidFill>
                <a:latin typeface="Courier New" pitchFamily="34" charset="0"/>
                <a:ea typeface="Courier New" pitchFamily="34" charset="-122"/>
                <a:cs typeface="Courier New" pitchFamily="34" charset="-120"/>
              </a:rPr>
              <a:t>Durdurmak için Ctrl+C</a:t>
            </a:r>
            <a:endParaRPr lang="en-US" sz="1400" dirty="0"/>
          </a:p>
        </p:txBody>
      </p:sp>
      <p:sp>
        <p:nvSpPr>
          <p:cNvPr id="21" name="Shape 19"/>
          <p:cNvSpPr/>
          <p:nvPr/>
        </p:nvSpPr>
        <p:spPr>
          <a:xfrm>
            <a:off x="6309360" y="3017520"/>
            <a:ext cx="5394960" cy="3246120"/>
          </a:xfrm>
          <a:prstGeom prst="roundRect">
            <a:avLst>
              <a:gd name="adj" fmla="val 2817"/>
            </a:avLst>
          </a:prstGeom>
          <a:solidFill>
            <a:srgbClr val="F3F4F6"/>
          </a:solidFill>
          <a:ln w="9525">
            <a:solidFill>
              <a:srgbClr val="E5E7EB"/>
            </a:solidFill>
            <a:prstDash val="solid"/>
          </a:ln>
        </p:spPr>
      </p:sp>
      <p:sp>
        <p:nvSpPr>
          <p:cNvPr id="22" name="Text 20"/>
          <p:cNvSpPr txBox="1"/>
          <p:nvPr/>
        </p:nvSpPr>
        <p:spPr>
          <a:xfrm>
            <a:off x="6492240" y="3108960"/>
            <a:ext cx="5029200" cy="228600"/>
          </a:xfrm>
          <a:prstGeom prst="rect">
            <a:avLst/>
          </a:prstGeom>
          <a:noFill/>
          <a:ln/>
        </p:spPr>
        <p:txBody>
          <a:bodyPr wrap="square" lIns="0" tIns="0" rIns="0" bIns="0" rtlCol="0" anchor="ctr"/>
          <a:lstStyle/>
          <a:p>
            <a:pPr marL="0" indent="0" algn="l">
              <a:buNone/>
            </a:pPr>
            <a:r>
              <a:rPr lang="en-US" sz="1100" b="1" dirty="0">
                <a:solidFill>
                  <a:srgbClr val="6B7280"/>
                </a:solidFill>
                <a:latin typeface="Arial" pitchFamily="34" charset="0"/>
                <a:ea typeface="Arial" pitchFamily="34" charset="-122"/>
                <a:cs typeface="Arial" pitchFamily="34" charset="-120"/>
              </a:rPr>
              <a:t>TERMİNAL 2 · UYGULAMA</a:t>
            </a:r>
            <a:endParaRPr lang="en-US" sz="1100" dirty="0"/>
          </a:p>
        </p:txBody>
      </p:sp>
      <p:sp>
        <p:nvSpPr>
          <p:cNvPr id="23" name="Text 21"/>
          <p:cNvSpPr txBox="1"/>
          <p:nvPr/>
        </p:nvSpPr>
        <p:spPr>
          <a:xfrm>
            <a:off x="6492240" y="3429000"/>
            <a:ext cx="5029200" cy="2743200"/>
          </a:xfrm>
          <a:prstGeom prst="rect">
            <a:avLst/>
          </a:prstGeom>
          <a:noFill/>
          <a:ln/>
        </p:spPr>
        <p:txBody>
          <a:bodyPr wrap="square" lIns="0" tIns="0" rIns="0" bIns="0" rtlCol="0" anchor="t"/>
          <a:lstStyle/>
          <a:p>
            <a:pPr marL="0" indent="0" algn="l">
              <a:buNone/>
            </a:pPr>
            <a:r>
              <a:rPr lang="en-US" sz="1400" i="1" dirty="0">
                <a:solidFill>
                  <a:srgbClr val="6B7280"/>
                </a:solidFill>
                <a:latin typeface="Courier New" pitchFamily="34" charset="0"/>
                <a:ea typeface="Courier New" pitchFamily="34" charset="-122"/>
                <a:cs typeface="Courier New" pitchFamily="34" charset="-120"/>
              </a:rPr>
              <a:t>3. Derle ve emülatöre yükle</a:t>
            </a:r>
            <a:endParaRPr lang="en-US" sz="1400" dirty="0"/>
          </a:p>
          <a:p>
            <a:pPr marL="0" indent="0" algn="l">
              <a:buNone/>
            </a:pPr>
            <a:r>
              <a:rPr lang="en-US" sz="1400" b="1" dirty="0">
                <a:solidFill>
                  <a:srgbClr val="2563EB"/>
                </a:solidFill>
                <a:latin typeface="Courier New" pitchFamily="34" charset="0"/>
                <a:ea typeface="Courier New" pitchFamily="34" charset="-122"/>
                <a:cs typeface="Courier New" pitchFamily="34" charset="-120"/>
              </a:rPr>
              <a:t>$ cd MobilApp</a:t>
            </a:r>
            <a:endParaRPr lang="en-US" sz="1400" dirty="0"/>
          </a:p>
          <a:p>
            <a:pPr marL="0" indent="0" algn="l">
              <a:buNone/>
            </a:pPr>
            <a:r>
              <a:rPr lang="en-US" sz="1400" b="1" dirty="0">
                <a:solidFill>
                  <a:srgbClr val="2563EB"/>
                </a:solidFill>
                <a:latin typeface="Courier New" pitchFamily="34" charset="0"/>
                <a:ea typeface="Courier New" pitchFamily="34" charset="-122"/>
                <a:cs typeface="Courier New" pitchFamily="34" charset="-120"/>
              </a:rPr>
              <a:t>$ npm run android</a:t>
            </a:r>
            <a:endParaRPr lang="en-US" sz="1400" dirty="0"/>
          </a:p>
          <a:p>
            <a:pPr marL="0" indent="0" algn="l">
              <a:buNone/>
            </a:pPr>
            <a:r>
              <a:rPr lang="en-US" sz="1400" dirty="0">
                <a:solidFill>
                  <a:srgbClr val="111827"/>
                </a:solidFill>
                <a:latin typeface="Courier New" pitchFamily="34" charset="0"/>
                <a:ea typeface="Courier New" pitchFamily="34" charset="-122"/>
                <a:cs typeface="Courier New" pitchFamily="34" charset="-120"/>
              </a:rPr>
              <a:t>derleme biter, uygulama açılır</a:t>
            </a:r>
            <a:endParaRPr lang="en-US" sz="1400" dirty="0"/>
          </a:p>
          <a:p>
            <a:pPr marL="0" indent="0" algn="l">
              <a:buNone/>
            </a:pPr>
            <a:r>
              <a:rPr lang="en-US" sz="1400" i="1" dirty="0">
                <a:solidFill>
                  <a:srgbClr val="6B7280"/>
                </a:solidFill>
                <a:latin typeface="Courier New" pitchFamily="34" charset="0"/>
                <a:ea typeface="Courier New" pitchFamily="34" charset="-122"/>
                <a:cs typeface="Courier New" pitchFamily="34" charset="-120"/>
              </a:rPr>
              <a:t>4. App.tsx'i değiştir ve kaydet</a:t>
            </a:r>
            <a:endParaRPr lang="en-US" sz="1400" dirty="0"/>
          </a:p>
          <a:p>
            <a:pPr marL="0" indent="0" algn="l">
              <a:buNone/>
            </a:pPr>
            <a:r>
              <a:rPr lang="en-US" sz="1400" dirty="0">
                <a:solidFill>
                  <a:srgbClr val="111827"/>
                </a:solidFill>
                <a:latin typeface="Courier New" pitchFamily="34" charset="0"/>
                <a:ea typeface="Courier New" pitchFamily="34" charset="-122"/>
                <a:cs typeface="Courier New" pitchFamily="34" charset="-120"/>
              </a:rPr>
              <a:t>ekran kendiliğinden yenilenir</a:t>
            </a:r>
            <a:endParaRPr lang="en-US" sz="1400" dirty="0"/>
          </a:p>
          <a:p>
            <a:pPr marL="0" indent="0" algn="l">
              <a:buNone/>
            </a:pPr>
            <a:r>
              <a:rPr lang="en-US" sz="1400" i="1" dirty="0">
                <a:solidFill>
                  <a:srgbClr val="6B7280"/>
                </a:solidFill>
                <a:latin typeface="Courier New" pitchFamily="34" charset="0"/>
                <a:ea typeface="Courier New" pitchFamily="34" charset="-122"/>
                <a:cs typeface="Courier New" pitchFamily="34" charset="-120"/>
              </a:rPr>
              <a:t>5. Tipleri denetle</a:t>
            </a:r>
            <a:endParaRPr lang="en-US" sz="1400" dirty="0"/>
          </a:p>
          <a:p>
            <a:pPr marL="0" indent="0" algn="l">
              <a:buNone/>
            </a:pPr>
            <a:r>
              <a:rPr lang="en-US" sz="1400" b="1" dirty="0">
                <a:solidFill>
                  <a:srgbClr val="2563EB"/>
                </a:solidFill>
                <a:latin typeface="Courier New" pitchFamily="34" charset="0"/>
                <a:ea typeface="Courier New" pitchFamily="34" charset="-122"/>
                <a:cs typeface="Courier New" pitchFamily="34" charset="-120"/>
              </a:rPr>
              <a:t>$ npx tsc --noEmit</a:t>
            </a:r>
            <a:endParaRPr lang="en-US" sz="1400" dirty="0"/>
          </a:p>
          <a:p>
            <a:pPr marL="0" indent="0" algn="l">
              <a:buNone/>
            </a:pPr>
            <a:r>
              <a:rPr lang="en-US" sz="1400" dirty="0">
                <a:solidFill>
                  <a:srgbClr val="111827"/>
                </a:solidFill>
                <a:latin typeface="Courier New" pitchFamily="34" charset="0"/>
                <a:ea typeface="Courier New" pitchFamily="34" charset="-122"/>
                <a:cs typeface="Courier New" pitchFamily="34" charset="-120"/>
              </a:rPr>
              <a:t>hata yoksa çıktı boş</a:t>
            </a:r>
            <a:endParaRPr lang="en-US" sz="14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Kurulum Hataları: Belirti, Neden, Çözüm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914400"/>
        </p:xfrm>
        <a:graphic>
          <a:graphicData uri="http://schemas.openxmlformats.org/drawingml/2006/table">
            <a:tbl>
              <a:tblPr/>
              <a:tblGrid>
                <a:gridCol w="2913820">
                  <a:extLst>
                    <a:ext uri="{9D8B030D-6E8A-4147-A177-3AD203B41FA5}">
                      <a16:colId xmlns:a16="http://schemas.microsoft.com/office/drawing/2014/main" val="20000"/>
                    </a:ext>
                  </a:extLst>
                </a:gridCol>
                <a:gridCol w="3287233">
                  <a:extLst>
                    <a:ext uri="{9D8B030D-6E8A-4147-A177-3AD203B41FA5}">
                      <a16:colId xmlns:a16="http://schemas.microsoft.com/office/drawing/2014/main" val="20001"/>
                    </a:ext>
                  </a:extLst>
                </a:gridCol>
                <a:gridCol w="4771747">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Hata veya belirti</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Olası neden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Çözüm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749808">
                <a:tc>
                  <a:txBody>
                    <a:bodyPr/>
                    <a:lstStyle/>
                    <a:p>
                      <a:pPr marL="0" indent="0">
                        <a:buNone/>
                      </a:pPr>
                      <a:r>
                        <a:rPr lang="en-US" sz="1800" b="1" dirty="0">
                          <a:solidFill>
                            <a:srgbClr val="111827"/>
                          </a:solidFill>
                        </a:rPr>
                        <a:t>SDK location not found</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ANDROID_HOME tanımsız</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ANDROID_HOME ayarla veya local.properties'e sdk.dir yaz</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800" b="1" dirty="0">
                          <a:solidFill>
                            <a:srgbClr val="111827"/>
                          </a:solidFill>
                        </a:rPr>
                        <a:t>adb: command not found</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platform-tools PATH'te değil</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PATH'e platform-tools ekle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1800" b="1" dirty="0">
                          <a:solidFill>
                            <a:srgbClr val="111827"/>
                          </a:solidFill>
                        </a:rPr>
                        <a:t>Cihaz listesi boş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Emülatör kapalı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Emülatörü başlat, adb devices ile doğrula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800" b="1" dirty="0">
                          <a:solidFill>
                            <a:srgbClr val="111827"/>
                          </a:solidFill>
                        </a:rPr>
                        <a:t>Unable to load script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Metro çalışmıyor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npm start çalıştır; gerekirse adb reverse tcp:8081 tcp:8081</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5230368"/>
            <a:ext cx="10972800" cy="774192"/>
          </a:xfrm>
          <a:prstGeom prst="roundRect">
            <a:avLst>
              <a:gd name="adj" fmla="val 11811"/>
            </a:avLst>
          </a:prstGeom>
          <a:solidFill>
            <a:srgbClr val="EFF6FF"/>
          </a:solidFill>
          <a:ln w="9525">
            <a:solidFill>
              <a:srgbClr val="EFF6FF"/>
            </a:solidFill>
            <a:prstDash val="solid"/>
          </a:ln>
        </p:spPr>
      </p:sp>
      <p:sp>
        <p:nvSpPr>
          <p:cNvPr id="6" name="Text 3"/>
          <p:cNvSpPr txBox="1"/>
          <p:nvPr/>
        </p:nvSpPr>
        <p:spPr>
          <a:xfrm>
            <a:off x="932688" y="5358384"/>
            <a:ext cx="10570464" cy="51816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Hata mesajında önce en alttaki "Caused by" satırını okuyun; gerçek neden genellikle oradadır.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2</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Proje Yapısı</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Klasörler, giriş noktası, betikler</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Proje Klasörünü Okumak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87096">
                <a:tc>
                  <a:txBody>
                    <a:bodyPr/>
                    <a:lstStyle/>
                    <a:p>
                      <a:pPr marL="0" indent="0">
                        <a:buNone/>
                      </a:pPr>
                      <a:r>
                        <a:rPr lang="en-US" sz="1400" b="1" dirty="0">
                          <a:solidFill>
                            <a:srgbClr val="2563EB"/>
                          </a:solidFill>
                        </a:rPr>
                        <a:t>Öğe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Görevi</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android/</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Android yerel projesi, Gradle dosyaları</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ios/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iOS yerel projesi (yalnızca macOS'ta derlenir)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node_modules/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Kurulan paketler; elle düzenlenmez</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App.tsx</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Uygulamanın ana bileşeni; çalışmaya buradan başlarız</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index.js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Uygulamayı sisteme kaydeden giriş noktası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package.json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Bağımlılıklar ve komutlar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87096">
                <a:tc>
                  <a:txBody>
                    <a:bodyPr/>
                    <a:lstStyle/>
                    <a:p>
                      <a:pPr marL="0" indent="0">
                        <a:buNone/>
                      </a:pPr>
                      <a:r>
                        <a:rPr lang="en-US" sz="1700" b="1" dirty="0">
                          <a:solidFill>
                            <a:srgbClr val="111827"/>
                          </a:solidFill>
                        </a:rPr>
                        <a:t>tsconfig.json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TypeScript ayarları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731520" y="485241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980432"/>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Çoğu zaman yalnızca App.tsx ve ekleyeceğiniz klasörlerle çalışırız; android ve ios klasörlerine yalnızca yerel yapılandırma gerektiğinde dokunuruz. Şablon sürümüne göre ek dosyalar bulunabilir.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Giriş Noktası: index.js</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 AppRegistry }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App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'./App'</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 name as appName }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'./app.json'</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AppRegistry.registerComponent(appName, () =&gt; App);</a:t>
            </a:r>
            <a:endParaRPr lang="en-US" sz="1600" dirty="0"/>
          </a:p>
        </p:txBody>
      </p:sp>
      <p:sp>
        <p:nvSpPr>
          <p:cNvPr id="7" name="Shape 5"/>
          <p:cNvSpPr/>
          <p:nvPr/>
        </p:nvSpPr>
        <p:spPr>
          <a:xfrm>
            <a:off x="731520" y="3694176"/>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3822192"/>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Uygulama açıldığında yerel katman bu ada karşılık gelen bileşeni çalıştırır ve ekranda App.tsx'in çıktısı görünür.</a:t>
            </a:r>
            <a:endParaRPr lang="en-US" sz="1100" dirty="0"/>
          </a:p>
        </p:txBody>
      </p:sp>
      <p:sp>
        <p:nvSpPr>
          <p:cNvPr id="9" name="Text 7"/>
          <p:cNvSpPr txBox="1"/>
          <p:nvPr/>
        </p:nvSpPr>
        <p:spPr>
          <a:xfrm>
            <a:off x="7772400" y="1645920"/>
            <a:ext cx="3931920" cy="20848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uygulamanın hangi bileşenle başladığını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AppRegistry süslü parantezle, App default olarak alınır. registerComponent, ana bileşeni uygulama adıyla yerel katmana kaydeder.</a:t>
            </a:r>
            <a:endParaRPr lang="en-US" sz="1800" dirty="0"/>
          </a:p>
        </p:txBody>
      </p:sp>
      <p:sp>
        <p:nvSpPr>
          <p:cNvPr id="10" name="Shape 8"/>
          <p:cNvSpPr/>
          <p:nvPr/>
        </p:nvSpPr>
        <p:spPr>
          <a:xfrm>
            <a:off x="7772400" y="386791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399592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Şablonlar sürümler arasında küçük farklar gösterebilir; kendi projenizdeki dosyayı esas alın.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package.json ve Komutlar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JSON</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"scripts"</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"android"</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 run-android"</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"ios"</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 run-ios"</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"start"</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 start"</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"test"</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"jest"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55737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npm run android yazdığınızda arka planda react-native run-android komutu çalışır.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npm komutlarının arkasında hangi komutların çalıştığını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scripts bölümü, npm run adı ile çalıştırılan kısayolları tanımlar. start özel olduğu için npm start diye çağrılır, diğerleri npm run android biçiminde çağrılır.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Fast Refresh ve Geliştirici Menüsü</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Kodu kaydettiğinizde Fast Refresh değişikliği uygulamayı kapatmadan ekrana yansıtır ve çoğu durumda bileşenin durumunu korur. Emülatörde Ctrl+M (macOS'ta Cmd+M) ile geliştirici menüsü açılır; buradan yeniden yükleme ve ayarlara ulaşılır. Kırmızı hata ekranı, kodunuzdaki bir hatanın görünür hâlidir; mesajı okuyup ilgili satırı düzeltmek yeterlidir.</a:t>
            </a:r>
            <a:endParaRPr lang="en-US" sz="2200" dirty="0"/>
          </a:p>
        </p:txBody>
      </p:sp>
      <p:sp>
        <p:nvSpPr>
          <p:cNvPr id="5" name="Shape 3"/>
          <p:cNvSpPr/>
          <p:nvPr/>
        </p:nvSpPr>
        <p:spPr>
          <a:xfrm>
            <a:off x="7863840" y="1645920"/>
            <a:ext cx="3657600" cy="1383792"/>
          </a:xfrm>
          <a:prstGeom prst="roundRect">
            <a:avLst>
              <a:gd name="adj" fmla="val 6608"/>
            </a:avLst>
          </a:prstGeom>
          <a:solidFill>
            <a:srgbClr val="EFF6FF"/>
          </a:solidFill>
          <a:ln w="9525">
            <a:solidFill>
              <a:srgbClr val="EFF6FF"/>
            </a:solidFill>
            <a:prstDash val="solid"/>
          </a:ln>
        </p:spPr>
      </p:sp>
      <p:sp>
        <p:nvSpPr>
          <p:cNvPr id="6" name="Text 4"/>
          <p:cNvSpPr txBox="1"/>
          <p:nvPr/>
        </p:nvSpPr>
        <p:spPr>
          <a:xfrm>
            <a:off x="8065008" y="177393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Fast Refresh bazı durumlarda takılabilir; garip bir davranış görürseniz uygulamayı yeniden yükleyin ve gerekirse Metro'yu yeniden başlatın.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3</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Bileşenler ve JSX</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Ekranı parçalara bölmek</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React Nedir?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React, arayüzü bileşen adı verilen küçük ve yeniden kullanılabilir parçalarla kuran bir JavaScript kütüphanesidir; Meta tarafından geliştirilir. Web'de React tarayıcıya HTML çizer, React Native ise aynı fikirle yerel mobil bileşenler çizer. Bu yüzden iki dünyada da bileşen, JSX ve props aynı biçimde kullanılır; değişen yalnızca bileşenlerin adıdır: div yerine View, p yerine Text.</a:t>
            </a:r>
            <a:endParaRPr lang="en-US" sz="2200" dirty="0"/>
          </a:p>
        </p:txBody>
      </p:sp>
      <p:sp>
        <p:nvSpPr>
          <p:cNvPr id="5" name="Shape 3"/>
          <p:cNvSpPr/>
          <p:nvPr/>
        </p:nvSpPr>
        <p:spPr>
          <a:xfrm>
            <a:off x="7863840" y="1645920"/>
            <a:ext cx="3657600" cy="1463040"/>
          </a:xfrm>
          <a:prstGeom prst="roundRect">
            <a:avLst>
              <a:gd name="adj" fmla="val 6250"/>
            </a:avLst>
          </a:prstGeom>
          <a:solidFill>
            <a:srgbClr val="FFFFFF"/>
          </a:solidFill>
          <a:ln w="15875">
            <a:solidFill>
              <a:srgbClr val="CBD5E1"/>
            </a:solidFill>
            <a:prstDash val="solid"/>
          </a:ln>
        </p:spPr>
      </p:sp>
      <p:pic>
        <p:nvPicPr>
          <p:cNvPr id="6" name="Image 0" descr="/tmp/claude-0/-home-claude/bb2dbc6e-f574-5e99-8510-889b704da121/scratchpad/decks/logos/react.png"/>
          <p:cNvPicPr>
            <a:picLocks noChangeAspect="1"/>
          </p:cNvPicPr>
          <p:nvPr/>
        </p:nvPicPr>
        <p:blipFill>
          <a:blip r:embed="rId3"/>
          <a:stretch>
            <a:fillRect/>
          </a:stretch>
        </p:blipFill>
        <p:spPr>
          <a:xfrm>
            <a:off x="9326880" y="1874520"/>
            <a:ext cx="731520" cy="731520"/>
          </a:xfrm>
          <a:prstGeom prst="rect">
            <a:avLst/>
          </a:prstGeom>
        </p:spPr>
      </p:pic>
      <p:sp>
        <p:nvSpPr>
          <p:cNvPr id="7" name="Text 4"/>
          <p:cNvSpPr txBox="1"/>
          <p:nvPr/>
        </p:nvSpPr>
        <p:spPr>
          <a:xfrm>
            <a:off x="7863840" y="2697480"/>
            <a:ext cx="3657600" cy="4572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Web: React · Mobil: React Native</a:t>
            </a:r>
            <a:endParaRPr lang="en-US" sz="1400" dirty="0"/>
          </a:p>
        </p:txBody>
      </p:sp>
      <p:sp>
        <p:nvSpPr>
          <p:cNvPr id="8" name="Shape 5"/>
          <p:cNvSpPr/>
          <p:nvPr/>
        </p:nvSpPr>
        <p:spPr>
          <a:xfrm>
            <a:off x="7863840" y="3291840"/>
            <a:ext cx="3657600" cy="1383792"/>
          </a:xfrm>
          <a:prstGeom prst="roundRect">
            <a:avLst>
              <a:gd name="adj" fmla="val 6608"/>
            </a:avLst>
          </a:prstGeom>
          <a:solidFill>
            <a:srgbClr val="EFF6FF"/>
          </a:solidFill>
          <a:ln w="9525">
            <a:solidFill>
              <a:srgbClr val="EFF6FF"/>
            </a:solidFill>
            <a:prstDash val="solid"/>
          </a:ln>
        </p:spPr>
      </p:sp>
      <p:sp>
        <p:nvSpPr>
          <p:cNvPr id="9" name="Text 6"/>
          <p:cNvSpPr txBox="1"/>
          <p:nvPr/>
        </p:nvSpPr>
        <p:spPr>
          <a:xfrm>
            <a:off x="8065008" y="341985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React bir kütüphanedir, hazır bir uygulama çerçevesi değildir. Bu derste React'in tamamını değil, mobil uygulama için gereken kısmını öğreniyoruz.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Bileşen Nedir?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App</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Header</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Profil Kartı</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Metin ve Resim</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Bileşen, ekranın yeniden kullanılabilir bir parçasıdır. Bir ekran, iç içe geçmiş bileşenlerden oluşan bir ağaç gibi düşünülür: en üstte App, altında başlık ve kartlar, onların altında metin ve resimler. Bileşeni bir fonksiyon olarak yazarız; fonksiyon ekranda ne görünmesi gerektiğini döndürür. Böylece aynı kartı farklı verilerle tekrar tekrar kullanabiliriz.</a:t>
            </a:r>
            <a:endParaRPr lang="en-US" sz="2200" dirty="0"/>
          </a:p>
        </p:txBody>
      </p:sp>
      <p:sp>
        <p:nvSpPr>
          <p:cNvPr id="16" name="Shape 14"/>
          <p:cNvSpPr/>
          <p:nvPr/>
        </p:nvSpPr>
        <p:spPr>
          <a:xfrm flipH="1">
            <a:off x="8686800" y="3474720"/>
            <a:ext cx="1005840" cy="457200"/>
          </a:xfrm>
          <a:prstGeom prst="line">
            <a:avLst/>
          </a:prstGeom>
          <a:noFill/>
          <a:ln w="15875">
            <a:solidFill>
              <a:srgbClr val="6B7280"/>
            </a:solidFill>
            <a:prstDash val="solid"/>
          </a:ln>
        </p:spPr>
      </p:sp>
      <p:sp>
        <p:nvSpPr>
          <p:cNvPr id="17" name="Shape 15"/>
          <p:cNvSpPr/>
          <p:nvPr/>
        </p:nvSpPr>
        <p:spPr>
          <a:xfrm>
            <a:off x="9692640" y="3474720"/>
            <a:ext cx="822960" cy="457200"/>
          </a:xfrm>
          <a:prstGeom prst="line">
            <a:avLst/>
          </a:prstGeom>
          <a:noFill/>
          <a:ln w="15875">
            <a:solidFill>
              <a:srgbClr val="6B7280"/>
            </a:solidFill>
            <a:prstDash val="solid"/>
          </a:ln>
        </p:spPr>
      </p:sp>
      <p:sp>
        <p:nvSpPr>
          <p:cNvPr id="18" name="Shape 16"/>
          <p:cNvSpPr/>
          <p:nvPr/>
        </p:nvSpPr>
        <p:spPr>
          <a:xfrm flipH="1">
            <a:off x="9875520" y="4389120"/>
            <a:ext cx="640080" cy="457200"/>
          </a:xfrm>
          <a:prstGeom prst="line">
            <a:avLst/>
          </a:prstGeom>
          <a:noFill/>
          <a:ln w="15875">
            <a:solidFill>
              <a:srgbClr val="6B7280"/>
            </a:solidFill>
            <a:prstDash val="solid"/>
          </a:ln>
        </p:spPr>
      </p:sp>
      <p:sp>
        <p:nvSpPr>
          <p:cNvPr id="19" name="Shape 17"/>
          <p:cNvSpPr/>
          <p:nvPr/>
        </p:nvSpPr>
        <p:spPr>
          <a:xfrm>
            <a:off x="10515600" y="4389120"/>
            <a:ext cx="640080" cy="457200"/>
          </a:xfrm>
          <a:prstGeom prst="line">
            <a:avLst/>
          </a:prstGeom>
          <a:noFill/>
          <a:ln w="15875">
            <a:solidFill>
              <a:srgbClr val="6B7280"/>
            </a:solidFill>
            <a:prstDash val="solid"/>
          </a:ln>
        </p:spPr>
      </p:sp>
      <p:sp>
        <p:nvSpPr>
          <p:cNvPr id="20" name="Shape 18"/>
          <p:cNvSpPr/>
          <p:nvPr/>
        </p:nvSpPr>
        <p:spPr>
          <a:xfrm>
            <a:off x="9144000" y="3017520"/>
            <a:ext cx="1097280" cy="457200"/>
          </a:xfrm>
          <a:prstGeom prst="roundRect">
            <a:avLst>
              <a:gd name="adj" fmla="val 20000"/>
            </a:avLst>
          </a:prstGeom>
          <a:solidFill>
            <a:srgbClr val="2563EB"/>
          </a:solidFill>
          <a:ln w="9525">
            <a:solidFill>
              <a:srgbClr val="2563EB"/>
            </a:solidFill>
            <a:prstDash val="solid"/>
          </a:ln>
        </p:spPr>
      </p:sp>
      <p:sp>
        <p:nvSpPr>
          <p:cNvPr id="21" name="Text 19"/>
          <p:cNvSpPr txBox="1"/>
          <p:nvPr/>
        </p:nvSpPr>
        <p:spPr>
          <a:xfrm>
            <a:off x="9144000" y="3017520"/>
            <a:ext cx="10972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App</a:t>
            </a:r>
            <a:endParaRPr lang="en-US" sz="1200" dirty="0"/>
          </a:p>
        </p:txBody>
      </p:sp>
      <p:sp>
        <p:nvSpPr>
          <p:cNvPr id="22" name="Shape 20"/>
          <p:cNvSpPr/>
          <p:nvPr/>
        </p:nvSpPr>
        <p:spPr>
          <a:xfrm>
            <a:off x="8046720" y="3931920"/>
            <a:ext cx="1280160" cy="457200"/>
          </a:xfrm>
          <a:prstGeom prst="roundRect">
            <a:avLst>
              <a:gd name="adj" fmla="val 20000"/>
            </a:avLst>
          </a:prstGeom>
          <a:solidFill>
            <a:srgbClr val="EFF6FF"/>
          </a:solidFill>
          <a:ln w="9525">
            <a:solidFill>
              <a:srgbClr val="EFF6FF"/>
            </a:solidFill>
            <a:prstDash val="solid"/>
          </a:ln>
        </p:spPr>
      </p:sp>
      <p:sp>
        <p:nvSpPr>
          <p:cNvPr id="23" name="Text 21"/>
          <p:cNvSpPr txBox="1"/>
          <p:nvPr/>
        </p:nvSpPr>
        <p:spPr>
          <a:xfrm>
            <a:off x="8046720" y="3931920"/>
            <a:ext cx="12801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Header</a:t>
            </a:r>
            <a:endParaRPr lang="en-US" sz="1200" dirty="0"/>
          </a:p>
        </p:txBody>
      </p:sp>
      <p:sp>
        <p:nvSpPr>
          <p:cNvPr id="24" name="Shape 22"/>
          <p:cNvSpPr/>
          <p:nvPr/>
        </p:nvSpPr>
        <p:spPr>
          <a:xfrm>
            <a:off x="9784080" y="3931920"/>
            <a:ext cx="1463040" cy="457200"/>
          </a:xfrm>
          <a:prstGeom prst="roundRect">
            <a:avLst>
              <a:gd name="adj" fmla="val 20000"/>
            </a:avLst>
          </a:prstGeom>
          <a:solidFill>
            <a:srgbClr val="EFF6FF"/>
          </a:solidFill>
          <a:ln w="9525">
            <a:solidFill>
              <a:srgbClr val="EFF6FF"/>
            </a:solidFill>
            <a:prstDash val="solid"/>
          </a:ln>
        </p:spPr>
      </p:sp>
      <p:sp>
        <p:nvSpPr>
          <p:cNvPr id="25" name="Text 23"/>
          <p:cNvSpPr txBox="1"/>
          <p:nvPr/>
        </p:nvSpPr>
        <p:spPr>
          <a:xfrm>
            <a:off x="9784080" y="3931920"/>
            <a:ext cx="146304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ProfilKartı</a:t>
            </a:r>
            <a:endParaRPr lang="en-US" sz="1200" dirty="0"/>
          </a:p>
        </p:txBody>
      </p:sp>
      <p:sp>
        <p:nvSpPr>
          <p:cNvPr id="26" name="Shape 24"/>
          <p:cNvSpPr/>
          <p:nvPr/>
        </p:nvSpPr>
        <p:spPr>
          <a:xfrm>
            <a:off x="9372600" y="4846320"/>
            <a:ext cx="1005840" cy="457200"/>
          </a:xfrm>
          <a:prstGeom prst="roundRect">
            <a:avLst>
              <a:gd name="adj" fmla="val 20000"/>
            </a:avLst>
          </a:prstGeom>
          <a:solidFill>
            <a:srgbClr val="EFF6FF"/>
          </a:solidFill>
          <a:ln w="9525">
            <a:solidFill>
              <a:srgbClr val="EFF6FF"/>
            </a:solidFill>
            <a:prstDash val="solid"/>
          </a:ln>
        </p:spPr>
      </p:sp>
      <p:sp>
        <p:nvSpPr>
          <p:cNvPr id="27" name="Text 25"/>
          <p:cNvSpPr txBox="1"/>
          <p:nvPr/>
        </p:nvSpPr>
        <p:spPr>
          <a:xfrm>
            <a:off x="9372600" y="4846320"/>
            <a:ext cx="100584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Text</a:t>
            </a:r>
            <a:endParaRPr lang="en-US" sz="1200" dirty="0"/>
          </a:p>
        </p:txBody>
      </p:sp>
      <p:sp>
        <p:nvSpPr>
          <p:cNvPr id="28" name="Shape 26"/>
          <p:cNvSpPr/>
          <p:nvPr/>
        </p:nvSpPr>
        <p:spPr>
          <a:xfrm>
            <a:off x="10652760" y="4846320"/>
            <a:ext cx="1005840" cy="457200"/>
          </a:xfrm>
          <a:prstGeom prst="roundRect">
            <a:avLst>
              <a:gd name="adj" fmla="val 20000"/>
            </a:avLst>
          </a:prstGeom>
          <a:solidFill>
            <a:srgbClr val="EFF6FF"/>
          </a:solidFill>
          <a:ln w="9525">
            <a:solidFill>
              <a:srgbClr val="EFF6FF"/>
            </a:solidFill>
            <a:prstDash val="solid"/>
          </a:ln>
        </p:spPr>
      </p:sp>
      <p:sp>
        <p:nvSpPr>
          <p:cNvPr id="29" name="Text 27"/>
          <p:cNvSpPr txBox="1"/>
          <p:nvPr/>
        </p:nvSpPr>
        <p:spPr>
          <a:xfrm>
            <a:off x="10652760" y="4846320"/>
            <a:ext cx="100584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Image</a:t>
            </a:r>
            <a:endParaRPr lang="en-US" sz="1200" dirty="0"/>
          </a:p>
        </p:txBody>
      </p:sp>
      <p:sp>
        <p:nvSpPr>
          <p:cNvPr id="30" name="Text 28"/>
          <p:cNvSpPr txBox="1"/>
          <p:nvPr/>
        </p:nvSpPr>
        <p:spPr>
          <a:xfrm>
            <a:off x="7863840" y="5486400"/>
            <a:ext cx="3657600" cy="32004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Ekran = bileşen ağacı</a:t>
            </a:r>
            <a:endParaRPr lang="en-US" sz="1200" dirty="0"/>
          </a:p>
        </p:txBody>
      </p:sp>
      <p:sp>
        <p:nvSpPr>
          <p:cNvPr id="31"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İlk Bileşenimiz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 Text, View }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default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App()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 flex: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padding: </a:t>
            </a:r>
            <a:r>
              <a:rPr lang="en-US" sz="1600" dirty="0">
                <a:solidFill>
                  <a:srgbClr val="B45309"/>
                </a:solidFill>
                <a:latin typeface="Courier New" pitchFamily="34" charset="0"/>
                <a:ea typeface="Courier New" pitchFamily="34" charset="-122"/>
                <a:cs typeface="Courier New" pitchFamily="34" charset="-120"/>
              </a:rPr>
              <a:t>24</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&lt;Text&gt;Merhaba, React Native!&lt;/Text&gt;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Ekranda Merhaba, React Native! yazısı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ekranı döndüren fonksiyon bileşenini yazmaktır.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App büyük harfle başlayan bir fonksiyondur ve JSX döndürür. View bir kapsayıcı, Text ise metin gösterir. style değerleri bu hafta yalnızca ekranın boş görünmemesi için kullanılıyor; stil konusu 5. haftadadır.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Bileşen adını küçük harfle yazmak; React küçük harfle başlayan adı HTML etiketi sanır ve bileşen çalışmaz.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TSX Nedir?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App.tsx yazılır</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Tipler silinir</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JSX dönüşür</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JavaScript çalışır</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TSX, TypeScript ile JSX'in aynı dosyada birlikte yazıldığı biçimdir ve uzantısı .tsx'tir. Dosyada View gibi JSX etiketleri varsa uzantı .tsx olmalıdır; yalnızca mantık içeren dosyalar .ts olabilir. Metro, .tsx dosyasındaki tipleri siler ve JSX'i sade JavaScript çağrılarına çevirir; telefonda çalışan yine JavaScript'tir.</a:t>
            </a:r>
            <a:endParaRPr lang="en-US" sz="2200" dirty="0"/>
          </a:p>
        </p:txBody>
      </p:sp>
      <p:sp>
        <p:nvSpPr>
          <p:cNvPr id="16" name="Shape 14"/>
          <p:cNvSpPr/>
          <p:nvPr/>
        </p:nvSpPr>
        <p:spPr>
          <a:xfrm>
            <a:off x="7863840" y="3017520"/>
            <a:ext cx="3657600" cy="1463040"/>
          </a:xfrm>
          <a:prstGeom prst="roundRect">
            <a:avLst>
              <a:gd name="adj" fmla="val 6250"/>
            </a:avLst>
          </a:prstGeom>
          <a:solidFill>
            <a:srgbClr val="FFFFFF"/>
          </a:solidFill>
          <a:ln w="15875">
            <a:solidFill>
              <a:srgbClr val="CBD5E1"/>
            </a:solidFill>
            <a:prstDash val="solid"/>
          </a:ln>
        </p:spPr>
      </p:sp>
      <p:pic>
        <p:nvPicPr>
          <p:cNvPr id="17" name="Image 0" descr="/tmp/claude-0/-home-claude/bb2dbc6e-f574-5e99-8510-889b704da121/scratchpad/decks/logos/react.png"/>
          <p:cNvPicPr>
            <a:picLocks noChangeAspect="1"/>
          </p:cNvPicPr>
          <p:nvPr/>
        </p:nvPicPr>
        <p:blipFill>
          <a:blip r:embed="rId3"/>
          <a:stretch>
            <a:fillRect/>
          </a:stretch>
        </p:blipFill>
        <p:spPr>
          <a:xfrm>
            <a:off x="8823960" y="3246120"/>
            <a:ext cx="731520" cy="731520"/>
          </a:xfrm>
          <a:prstGeom prst="rect">
            <a:avLst/>
          </a:prstGeom>
        </p:spPr>
      </p:pic>
      <p:pic>
        <p:nvPicPr>
          <p:cNvPr id="18" name="Image 1" descr="/tmp/claude-0/-home-claude/bb2dbc6e-f574-5e99-8510-889b704da121/scratchpad/decks/logos/ts.png"/>
          <p:cNvPicPr>
            <a:picLocks noChangeAspect="1"/>
          </p:cNvPicPr>
          <p:nvPr/>
        </p:nvPicPr>
        <p:blipFill>
          <a:blip r:embed="rId4"/>
          <a:stretch>
            <a:fillRect/>
          </a:stretch>
        </p:blipFill>
        <p:spPr>
          <a:xfrm>
            <a:off x="9829800" y="3246120"/>
            <a:ext cx="731520" cy="731520"/>
          </a:xfrm>
          <a:prstGeom prst="rect">
            <a:avLst/>
          </a:prstGeom>
        </p:spPr>
      </p:pic>
      <p:sp>
        <p:nvSpPr>
          <p:cNvPr id="19" name="Text 15"/>
          <p:cNvSpPr txBox="1"/>
          <p:nvPr/>
        </p:nvSpPr>
        <p:spPr>
          <a:xfrm>
            <a:off x="7863840" y="4069080"/>
            <a:ext cx="3657600" cy="4572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TypeScript + JSX = TSX</a:t>
            </a:r>
            <a:endParaRPr lang="en-US" sz="1400" dirty="0"/>
          </a:p>
        </p:txBody>
      </p:sp>
      <p:sp>
        <p:nvSpPr>
          <p:cNvPr id="20" name="Shape 16"/>
          <p:cNvSpPr/>
          <p:nvPr/>
        </p:nvSpPr>
        <p:spPr>
          <a:xfrm>
            <a:off x="7863840" y="4663440"/>
            <a:ext cx="3657600" cy="1170432"/>
          </a:xfrm>
          <a:prstGeom prst="roundRect">
            <a:avLst>
              <a:gd name="adj" fmla="val 7813"/>
            </a:avLst>
          </a:prstGeom>
          <a:solidFill>
            <a:srgbClr val="EFF6FF"/>
          </a:solidFill>
          <a:ln w="9525">
            <a:solidFill>
              <a:srgbClr val="EFF6FF"/>
            </a:solidFill>
            <a:prstDash val="solid"/>
          </a:ln>
        </p:spPr>
      </p:sp>
      <p:sp>
        <p:nvSpPr>
          <p:cNvPr id="21" name="Text 17"/>
          <p:cNvSpPr txBox="1"/>
          <p:nvPr/>
        </p:nvSpPr>
        <p:spPr>
          <a:xfrm>
            <a:off x="8065008" y="4791456"/>
            <a:ext cx="325526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.ts uzantılı bir dosyaya JSX yazarsanız derleyici hata verir; dosya uzantısını .tsx yapın.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JSX ve TSX Karşılaştırması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914400"/>
        </p:xfrm>
        <a:graphic>
          <a:graphicData uri="http://schemas.openxmlformats.org/drawingml/2006/table">
            <a:tbl>
              <a:tblPr/>
              <a:tblGrid>
                <a:gridCol w="2563205">
                  <a:extLst>
                    <a:ext uri="{9D8B030D-6E8A-4147-A177-3AD203B41FA5}">
                      <a16:colId xmlns:a16="http://schemas.microsoft.com/office/drawing/2014/main" val="20000"/>
                    </a:ext>
                  </a:extLst>
                </a:gridCol>
                <a:gridCol w="3814171">
                  <a:extLst>
                    <a:ext uri="{9D8B030D-6E8A-4147-A177-3AD203B41FA5}">
                      <a16:colId xmlns:a16="http://schemas.microsoft.com/office/drawing/2014/main" val="20001"/>
                    </a:ext>
                  </a:extLst>
                </a:gridCol>
                <a:gridCol w="4595424">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Özellik</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JSX (.jsx)</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TSX (.tsx)</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buNone/>
                      </a:pPr>
                      <a:r>
                        <a:rPr lang="en-US" sz="1800" b="1" dirty="0">
                          <a:solidFill>
                            <a:srgbClr val="111827"/>
                          </a:solidFill>
                        </a:rPr>
                        <a:t>Dil</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JavaScript + JSX</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TypeScript + JSX</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Tip denetimi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Yok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Var (tsc ile)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676656">
                <a:tc>
                  <a:txBody>
                    <a:bodyPr/>
                    <a:lstStyle/>
                    <a:p>
                      <a:pPr marL="0" indent="0">
                        <a:buNone/>
                      </a:pPr>
                      <a:r>
                        <a:rPr lang="en-US" sz="1800" b="1" dirty="0">
                          <a:solidFill>
                            <a:srgbClr val="111827"/>
                          </a:solidFill>
                        </a:rPr>
                        <a:t>Props tipleri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Yazılmaz; hata çalışırken çıkar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interface ile yazılır; derlenirken denetlenir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Editör desteği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Sınırlı tamamlama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Tamamlama ve hata altı çizgisi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Bu derste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Eski örneklerde görülür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Tüm bileşenler .tsx</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443984"/>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572000"/>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JSX söz dizimi iki biçimde de aynıdır; fark yalnızca tiplerdir. Yeni projelerde .tsx kullanın, eski örneklerde .jsx görürseniz tipleri çıkarıp okuyun.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JSX Kuralları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name = </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items = [</a:t>
            </a:r>
            <a:r>
              <a:rPr lang="en-US" sz="1600" dirty="0">
                <a:solidFill>
                  <a:srgbClr val="047857"/>
                </a:solidFill>
                <a:latin typeface="Courier New" pitchFamily="34" charset="0"/>
                <a:ea typeface="Courier New" pitchFamily="34" charset="-122"/>
                <a:cs typeface="Courier New" pitchFamily="34" charset="-120"/>
              </a:rPr>
              <a:t>'Mail'</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'Harita'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view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&lt;Text&gt;Merhaba {name.toUpperCase()}&lt;/Text&gt;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&lt;Text&gt;{items.length} uygulama&lt;/Text&gt;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Ekranda "Merhaba ECE" ve "2 uygulama" satırları alt alta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JSX'in JavaScript içinde arayüz yazmanın bir söz dizimi olduğunu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Süslü parantez içine herhangi bir JavaScript ifadesi yazılır. Bir bileşen tek bir kök öğe döndürmelidir. Etiketler mutlaka kapatılır; özellik adları camelCase yazılır.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JSX içinde if yazılamaz; koşullu gösterimi 6. haftada kısa ifadelerle öğreneceğiz.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Çekirdek Bileşenler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914400"/>
        </p:xfrm>
        <a:graphic>
          <a:graphicData uri="http://schemas.openxmlformats.org/drawingml/2006/table">
            <a:tbl>
              <a:tblPr/>
              <a:tblGrid>
                <a:gridCol w="2597539">
                  <a:extLst>
                    <a:ext uri="{9D8B030D-6E8A-4147-A177-3AD203B41FA5}">
                      <a16:colId xmlns:a16="http://schemas.microsoft.com/office/drawing/2014/main" val="20000"/>
                    </a:ext>
                  </a:extLst>
                </a:gridCol>
                <a:gridCol w="4107069">
                  <a:extLst>
                    <a:ext uri="{9D8B030D-6E8A-4147-A177-3AD203B41FA5}">
                      <a16:colId xmlns:a16="http://schemas.microsoft.com/office/drawing/2014/main" val="20001"/>
                    </a:ext>
                  </a:extLst>
                </a:gridCol>
                <a:gridCol w="4268192">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Bileşen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Görevi</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Web'deki yaklaşık karşılığı</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View</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Kapsayıcı, yerleşim bloğu</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div</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Text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Metin gösterir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p, span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Image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Resim gösterir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img</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ScrollView</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Kaydırılabilir kapsayıcı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overflow: scroll olan div</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TextInput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Metin girişi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input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Pressable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Dokunmaya duyarlı alan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button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731520" y="446532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593336"/>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Bu bileşenler web etiketlerine benzer ama aynı değildir; her biri yerel bileşene çevrilir. Uzun listelerde ScrollView yerine 11. haftada FlatList kullanacağız.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Text: Metin Yalnızca Text İçinde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&lt;Text&gt;Doğru: metin Text içinde&lt;/Text&gt;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Satır{</a:t>
            </a:r>
            <a:r>
              <a:rPr lang="en-US" sz="1600" dirty="0">
                <a:solidFill>
                  <a:srgbClr val="047857"/>
                </a:solidFill>
                <a:latin typeface="Courier New" pitchFamily="34" charset="0"/>
                <a:ea typeface="Courier New" pitchFamily="34" charset="-122"/>
                <a:cs typeface="Courier New" pitchFamily="34" charset="-120"/>
              </a:rPr>
              <a:t>' '</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 color: </a:t>
            </a:r>
            <a:r>
              <a:rPr lang="en-US" sz="1600" dirty="0">
                <a:solidFill>
                  <a:srgbClr val="047857"/>
                </a:solidFill>
                <a:latin typeface="Courier New" pitchFamily="34" charset="0"/>
                <a:ea typeface="Courier New" pitchFamily="34" charset="-122"/>
                <a:cs typeface="Courier New" pitchFamily="34" charset="-120"/>
              </a:rPr>
              <a:t>'red'</a:t>
            </a:r>
            <a:r>
              <a:rPr lang="en-US" sz="1600" dirty="0">
                <a:solidFill>
                  <a:srgbClr val="111827"/>
                </a:solidFill>
                <a:latin typeface="Courier New" pitchFamily="34" charset="0"/>
                <a:ea typeface="Courier New" pitchFamily="34" charset="-122"/>
                <a:cs typeface="Courier New" pitchFamily="34" charset="-120"/>
              </a:rPr>
              <a:t> }}&gt;kırmızı&lt;/Text&gt;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&lt;View&gt;Yanlış: Text dışında&lt;/View&gt;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&lt;/View&gt;</a:t>
            </a:r>
            <a:endParaRPr lang="en-US" sz="1600" dirty="0"/>
          </a:p>
        </p:txBody>
      </p:sp>
      <p:sp>
        <p:nvSpPr>
          <p:cNvPr id="7" name="Shape 5"/>
          <p:cNvSpPr/>
          <p:nvPr/>
        </p:nvSpPr>
        <p:spPr>
          <a:xfrm>
            <a:off x="731520" y="4429354"/>
            <a:ext cx="6766560" cy="1216152"/>
          </a:xfrm>
          <a:prstGeom prst="roundRect">
            <a:avLst>
              <a:gd name="adj" fmla="val 7519"/>
            </a:avLst>
          </a:prstGeom>
          <a:solidFill>
            <a:srgbClr val="EFF6FF"/>
          </a:solidFill>
          <a:ln w="9525">
            <a:solidFill>
              <a:srgbClr val="EFF6FF"/>
            </a:solidFill>
            <a:prstDash val="solid"/>
          </a:ln>
        </p:spPr>
      </p:sp>
      <p:sp>
        <p:nvSpPr>
          <p:cNvPr id="8" name="Text 6"/>
          <p:cNvSpPr txBox="1"/>
          <p:nvPr/>
        </p:nvSpPr>
        <p:spPr>
          <a:xfrm>
            <a:off x="932688" y="4557370"/>
            <a:ext cx="6364224" cy="9601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İki satır görünür; ikincisinde yalnızca "kırmızı" sözcüğü kırmızı yazılır. Yorum satırı açılırsa "Text strings must be rendered within a &lt;Text&gt; component" hatası alınır.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React Native'de metnin her zaman Text bileşeni içinde bulunması gerektiğini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Metin doğrudan View içine yazılırsa uygulama hata verir. İç içe Text bileşenleri metnin bir bölümüne farklı stil vermeyi sağlar.</a:t>
            </a:r>
            <a:endParaRPr lang="en-US" sz="1800" dirty="0"/>
          </a:p>
        </p:txBody>
      </p:sp>
      <p:sp>
        <p:nvSpPr>
          <p:cNvPr id="10" name="Shape 8"/>
          <p:cNvSpPr/>
          <p:nvPr/>
        </p:nvSpPr>
        <p:spPr>
          <a:xfrm>
            <a:off x="7772400" y="4142232"/>
            <a:ext cx="3931920" cy="957072"/>
          </a:xfrm>
          <a:prstGeom prst="roundRect">
            <a:avLst>
              <a:gd name="adj" fmla="val 9554"/>
            </a:avLst>
          </a:prstGeom>
          <a:solidFill>
            <a:srgbClr val="EFF6FF"/>
          </a:solidFill>
          <a:ln w="9525">
            <a:solidFill>
              <a:srgbClr val="EFF6FF"/>
            </a:solidFill>
            <a:prstDash val="solid"/>
          </a:ln>
        </p:spPr>
      </p:sp>
      <p:sp>
        <p:nvSpPr>
          <p:cNvPr id="11" name="Text 9"/>
          <p:cNvSpPr txBox="1"/>
          <p:nvPr/>
        </p:nvSpPr>
        <p:spPr>
          <a:xfrm>
            <a:off x="7973568" y="4270248"/>
            <a:ext cx="3529584" cy="70104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Web alışkanlığıyla bir View içine doğrudan metin yazmak.</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Image: Yerel ve Uzak Resim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&lt;Image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source={require(</a:t>
            </a:r>
            <a:r>
              <a:rPr lang="en-US" sz="1600" dirty="0">
                <a:solidFill>
                  <a:srgbClr val="047857"/>
                </a:solidFill>
                <a:latin typeface="Courier New" pitchFamily="34" charset="0"/>
                <a:ea typeface="Courier New" pitchFamily="34" charset="-122"/>
                <a:cs typeface="Courier New" pitchFamily="34" charset="-120"/>
              </a:rPr>
              <a:t>'./assets/logo.png'</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style={{ width: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&lt;Image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source={{ uri: </a:t>
            </a:r>
            <a:r>
              <a:rPr lang="en-US" sz="1600" dirty="0">
                <a:solidFill>
                  <a:srgbClr val="047857"/>
                </a:solidFill>
                <a:latin typeface="Courier New" pitchFamily="34" charset="0"/>
                <a:ea typeface="Courier New" pitchFamily="34" charset="-122"/>
                <a:cs typeface="Courier New" pitchFamily="34" charset="-120"/>
              </a:rPr>
              <a:t>'https://example.com/a.jpg'</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style={{ width: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&lt;/&gt;</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İki adet 80x80 boyutunda resim görünür; adresler ve dosya yolları örnektir, kendi dosyanızla değiştirmelisiniz.</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iki resim kaynağı türünü ve boyut zorunluluğunu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Projedeki dosya require ile, internetteki resim ise uri alanlı bir nesneyle verilir. Uzak resimlerde boyut bilinmediği için width ve height yazılmazsa resim görünmez.</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Uzak resim adresi https olmalıdır; erişilemeyen adres boş alan bırakır ve hata vermez.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Pressable: Dokunmaya Tepki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&lt;Pressable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onPress={() =&gt; console.log(</a:t>
            </a:r>
            <a:r>
              <a:rPr lang="en-US" sz="1600" dirty="0">
                <a:solidFill>
                  <a:srgbClr val="047857"/>
                </a:solidFill>
                <a:latin typeface="Courier New" pitchFamily="34" charset="0"/>
                <a:ea typeface="Courier New" pitchFamily="34" charset="-122"/>
                <a:cs typeface="Courier New" pitchFamily="34" charset="-120"/>
              </a:rPr>
              <a:t>'Basıldı'</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style={{ padding: </a:t>
            </a:r>
            <a:r>
              <a:rPr lang="en-US" sz="1600" dirty="0">
                <a:solidFill>
                  <a:srgbClr val="B45309"/>
                </a:solidFill>
                <a:latin typeface="Courier New" pitchFamily="34" charset="0"/>
                <a:ea typeface="Courier New" pitchFamily="34" charset="-122"/>
                <a:cs typeface="Courier New" pitchFamily="34" charset="-120"/>
              </a:rPr>
              <a:t>12</a:t>
            </a:r>
            <a:r>
              <a:rPr lang="en-US" sz="1600" dirty="0">
                <a:solidFill>
                  <a:srgbClr val="111827"/>
                </a:solidFill>
                <a:latin typeface="Courier New" pitchFamily="34" charset="0"/>
                <a:ea typeface="Courier New" pitchFamily="34" charset="-122"/>
                <a:cs typeface="Courier New" pitchFamily="34" charset="-120"/>
              </a:rPr>
              <a:t>, backgroundColor: </a:t>
            </a:r>
            <a:r>
              <a:rPr lang="en-US" sz="1600" dirty="0">
                <a:solidFill>
                  <a:srgbClr val="047857"/>
                </a:solidFill>
                <a:latin typeface="Courier New" pitchFamily="34" charset="0"/>
                <a:ea typeface="Courier New" pitchFamily="34" charset="-122"/>
                <a:cs typeface="Courier New" pitchFamily="34" charset="-120"/>
              </a:rPr>
              <a:t>'teal'</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 color: </a:t>
            </a:r>
            <a:r>
              <a:rPr lang="en-US" sz="1600" dirty="0">
                <a:solidFill>
                  <a:srgbClr val="047857"/>
                </a:solidFill>
                <a:latin typeface="Courier New" pitchFamily="34" charset="0"/>
                <a:ea typeface="Courier New" pitchFamily="34" charset="-122"/>
                <a:cs typeface="Courier New" pitchFamily="34" charset="-120"/>
              </a:rPr>
              <a:t>'white'</a:t>
            </a:r>
            <a:r>
              <a:rPr lang="en-US" sz="1600" dirty="0">
                <a:solidFill>
                  <a:srgbClr val="111827"/>
                </a:solidFill>
                <a:latin typeface="Courier New" pitchFamily="34" charset="0"/>
                <a:ea typeface="Courier New" pitchFamily="34" charset="-122"/>
                <a:cs typeface="Courier New" pitchFamily="34" charset="-120"/>
              </a:rPr>
              <a:t> }}&gt;Kaydet&lt;/Text&gt;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&lt;/Pressable&gt;</a:t>
            </a:r>
            <a:endParaRPr lang="en-US" sz="1600" dirty="0"/>
          </a:p>
        </p:txBody>
      </p:sp>
      <p:sp>
        <p:nvSpPr>
          <p:cNvPr id="7" name="Shape 5"/>
          <p:cNvSpPr/>
          <p:nvPr/>
        </p:nvSpPr>
        <p:spPr>
          <a:xfrm>
            <a:off x="731520" y="3939235"/>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067251"/>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Düğmeye her basışta Metro terminalinde "Basıldı" yazılır.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kullanıcı dokunuşuna fonksiyon bağlamaktır.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onPress özelliğine verilen ok fonksiyonu callback'tir; 2. haftada gördüğümüz fikrin aynısıdır. Pressable içine istediğiniz bileşenler konulabilir; bu yüzden düğmenin görünümü tamamen size aittir.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Hazır görünümlü hızlı bir düğme için Button, özel görünüm için Pressable kullanılır; Button platforma göre farklı görünür ve stil verilemez.</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ScrollView: Kaydırma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&lt;ScrollView&gt;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&lt;Text&gt;Satır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&lt;Text&gt;Satır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&lt;Text&gt;Satır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&lt;/ScrollView&gt;</a:t>
            </a:r>
            <a:endParaRPr lang="en-US" sz="1600" dirty="0"/>
          </a:p>
        </p:txBody>
      </p:sp>
      <p:sp>
        <p:nvSpPr>
          <p:cNvPr id="7" name="Shape 5"/>
          <p:cNvSpPr/>
          <p:nvPr/>
        </p:nvSpPr>
        <p:spPr>
          <a:xfrm>
            <a:off x="731520" y="3694176"/>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822192"/>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Satırlar ekrana sığmazsa parmakla yukarı aşağı kaydırılabilir.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ekrana sığmayan içeriği kaydırılabilir yapmaktır.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React Native'de View kendiliğinden kaydırılmaz; içerik ekrana sığmıyorsa ScrollView içine alınmalıdır. ScrollView bütün çocuklarını bir kerede oluşturur, bu yüzden az sayıda öğe için uygundur.</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Yüzlerce öğeli liste için ScrollView kullanmak uygulamayı yavaşlatır; bunun çözümünü 11. haftada FlatList ile göreceğiz.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4</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Props</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Bileşene dışarıdan veri vermek</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Props: Bileşenin Girdileri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Üst bileşen</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props</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Alt bileşen</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Ekran</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Props, bir bileşene üst bileşenden verilen girdi değerleridir. Fonksiyonun parametreleri gibi çalışır: aynı bileşen farklı props ile farklı görünür. Props yalnızca okunur; alt bileşen aldığı değeri değiştiremez. Veri her zaman yukarıdan aşağıya akar; bu kural, uygulamanın davranışını tahmin edilebilir kılar.</a:t>
            </a:r>
            <a:endParaRPr lang="en-US" sz="2200" dirty="0"/>
          </a:p>
        </p:txBody>
      </p:sp>
      <p:sp>
        <p:nvSpPr>
          <p:cNvPr id="16" name="Shape 14"/>
          <p:cNvSpPr/>
          <p:nvPr/>
        </p:nvSpPr>
        <p:spPr>
          <a:xfrm>
            <a:off x="7863840" y="3017520"/>
            <a:ext cx="3657600" cy="640080"/>
          </a:xfrm>
          <a:prstGeom prst="roundRect">
            <a:avLst>
              <a:gd name="adj" fmla="val 14286"/>
            </a:avLst>
          </a:prstGeom>
          <a:solidFill>
            <a:srgbClr val="EFF6FF"/>
          </a:solidFill>
          <a:ln w="9525">
            <a:solidFill>
              <a:srgbClr val="EFF6FF"/>
            </a:solidFill>
            <a:prstDash val="solid"/>
          </a:ln>
        </p:spPr>
      </p:sp>
      <p:sp>
        <p:nvSpPr>
          <p:cNvPr id="17" name="Text 15"/>
          <p:cNvSpPr txBox="1"/>
          <p:nvPr/>
        </p:nvSpPr>
        <p:spPr>
          <a:xfrm>
            <a:off x="7863840" y="3017520"/>
            <a:ext cx="3657600" cy="640080"/>
          </a:xfrm>
          <a:prstGeom prst="rect">
            <a:avLst/>
          </a:prstGeom>
          <a:noFill/>
          <a:ln/>
        </p:spPr>
        <p:txBody>
          <a:bodyPr wrap="square" lIns="0" tIns="0" rIns="0" bIns="0" rtlCol="0" anchor="ctr"/>
          <a:lstStyle/>
          <a:p>
            <a:pPr marL="0" indent="0" algn="ctr">
              <a:buNone/>
            </a:pPr>
            <a:r>
              <a:rPr lang="en-US" sz="1500" b="1" dirty="0">
                <a:solidFill>
                  <a:srgbClr val="111827"/>
                </a:solidFill>
                <a:latin typeface="Arial" pitchFamily="34" charset="0"/>
                <a:ea typeface="Arial" pitchFamily="34" charset="-122"/>
                <a:cs typeface="Arial" pitchFamily="34" charset="-120"/>
              </a:rPr>
              <a:t>Üst bileşen</a:t>
            </a:r>
            <a:endParaRPr lang="en-US" sz="1500" dirty="0"/>
          </a:p>
        </p:txBody>
      </p:sp>
      <p:sp>
        <p:nvSpPr>
          <p:cNvPr id="18" name="Text 16"/>
          <p:cNvSpPr txBox="1"/>
          <p:nvPr/>
        </p:nvSpPr>
        <p:spPr>
          <a:xfrm>
            <a:off x="7863840" y="3703320"/>
            <a:ext cx="3657600" cy="457200"/>
          </a:xfrm>
          <a:prstGeom prst="rect">
            <a:avLst/>
          </a:prstGeom>
          <a:noFill/>
          <a:ln/>
        </p:spPr>
        <p:txBody>
          <a:bodyPr wrap="square" lIns="0" tIns="0" rIns="0" bIns="0" rtlCol="0" anchor="ctr"/>
          <a:lstStyle/>
          <a:p>
            <a:pPr marL="0" indent="0" algn="ctr">
              <a:buNone/>
            </a:pPr>
            <a:r>
              <a:rPr lang="en-US" sz="1300" b="1" dirty="0">
                <a:solidFill>
                  <a:srgbClr val="2563EB"/>
                </a:solidFill>
                <a:latin typeface="Courier New" pitchFamily="34" charset="0"/>
                <a:ea typeface="Courier New" pitchFamily="34" charset="-122"/>
                <a:cs typeface="Courier New" pitchFamily="34" charset="-120"/>
              </a:rPr>
              <a:t>▼  name, age  (props)</a:t>
            </a:r>
            <a:endParaRPr lang="en-US" sz="1300" dirty="0"/>
          </a:p>
        </p:txBody>
      </p:sp>
      <p:sp>
        <p:nvSpPr>
          <p:cNvPr id="19" name="Shape 17"/>
          <p:cNvSpPr/>
          <p:nvPr/>
        </p:nvSpPr>
        <p:spPr>
          <a:xfrm>
            <a:off x="7863840" y="4206240"/>
            <a:ext cx="3657600" cy="640080"/>
          </a:xfrm>
          <a:prstGeom prst="roundRect">
            <a:avLst>
              <a:gd name="adj" fmla="val 14286"/>
            </a:avLst>
          </a:prstGeom>
          <a:solidFill>
            <a:srgbClr val="2563EB"/>
          </a:solidFill>
          <a:ln w="9525">
            <a:solidFill>
              <a:srgbClr val="2563EB"/>
            </a:solidFill>
            <a:prstDash val="solid"/>
          </a:ln>
        </p:spPr>
      </p:sp>
      <p:sp>
        <p:nvSpPr>
          <p:cNvPr id="20" name="Text 18"/>
          <p:cNvSpPr txBox="1"/>
          <p:nvPr/>
        </p:nvSpPr>
        <p:spPr>
          <a:xfrm>
            <a:off x="7863840" y="4206240"/>
            <a:ext cx="36576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Alt bileşen</a:t>
            </a:r>
            <a:endParaRPr lang="en-US" sz="1500" dirty="0"/>
          </a:p>
        </p:txBody>
      </p:sp>
      <p:sp>
        <p:nvSpPr>
          <p:cNvPr id="21" name="Text 19"/>
          <p:cNvSpPr txBox="1"/>
          <p:nvPr/>
        </p:nvSpPr>
        <p:spPr>
          <a:xfrm>
            <a:off x="7863840" y="4846320"/>
            <a:ext cx="3657600" cy="274320"/>
          </a:xfrm>
          <a:prstGeom prst="rect">
            <a:avLst/>
          </a:prstGeom>
          <a:noFill/>
          <a:ln/>
        </p:spPr>
        <p:txBody>
          <a:bodyPr wrap="square" lIns="0" tIns="0" rIns="0" bIns="0" rtlCol="0" anchor="t"/>
          <a:lstStyle/>
          <a:p>
            <a:pPr marL="0" indent="0" algn="ctr">
              <a:buNone/>
            </a:pPr>
            <a:r>
              <a:rPr lang="en-US" sz="1200" dirty="0">
                <a:solidFill>
                  <a:srgbClr val="6B7280"/>
                </a:solidFill>
                <a:latin typeface="Arial" pitchFamily="34" charset="0"/>
                <a:ea typeface="Arial" pitchFamily="34" charset="-122"/>
                <a:cs typeface="Arial" pitchFamily="34" charset="-120"/>
              </a:rPr>
              <a:t>Veri yukarıdan aşağıya akar; alt bileşen değiştiremez.</a:t>
            </a:r>
            <a:endParaRPr lang="en-US" sz="1200" dirty="0"/>
          </a:p>
        </p:txBody>
      </p:sp>
      <p:sp>
        <p:nvSpPr>
          <p:cNvPr id="22" name="Shape 20"/>
          <p:cNvSpPr/>
          <p:nvPr/>
        </p:nvSpPr>
        <p:spPr>
          <a:xfrm>
            <a:off x="7863840" y="5212080"/>
            <a:ext cx="3657600" cy="1170432"/>
          </a:xfrm>
          <a:prstGeom prst="roundRect">
            <a:avLst>
              <a:gd name="adj" fmla="val 7813"/>
            </a:avLst>
          </a:prstGeom>
          <a:solidFill>
            <a:srgbClr val="EFF6FF"/>
          </a:solidFill>
          <a:ln w="9525">
            <a:solidFill>
              <a:srgbClr val="EFF6FF"/>
            </a:solidFill>
            <a:prstDash val="solid"/>
          </a:ln>
        </p:spPr>
      </p:sp>
      <p:sp>
        <p:nvSpPr>
          <p:cNvPr id="23" name="Text 21"/>
          <p:cNvSpPr txBox="1"/>
          <p:nvPr/>
        </p:nvSpPr>
        <p:spPr>
          <a:xfrm>
            <a:off x="8065008" y="5340096"/>
            <a:ext cx="325526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Props değiştirilemez; zamanla değişen değer state olarak tutulur (6. hafta).</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Tipli Props: interface ile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GreetingProps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name: string;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age: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Greeting({ name, age }: GreetingProps)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&lt;Text&gt;{name} ({age})&lt;/Text&gt;;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&lt;Greeting name="Ece" age={20} /&gt;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&lt;Greeting name="Ece" /&gt;   // Hata: age eksik</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Greeting bileşeni "Ece (20)" metnini gösterir.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bileşenin hangi props'u beklediğini tiple sözleşmeye bağlamaktır.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Üçüncü haftada öğrendiğimiz interface burada props'un şeklini tanımlar. Parametre listesinde destructuring ile alanlar doğrudan alınır. Eksik veya yanlış tipli prop derleme hatası verir.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Sayı geçerken tırnak kullanmak: age="20" yazarsanız metin gönderilmiş olur ve tip hatası alırsınız; sayılar süslü parantezle verilir.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İsteğe Bağlı Props ve Varsayılan Değer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TagProps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label: string;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color?: string;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Tag({ label, color = </a:t>
            </a:r>
            <a:r>
              <a:rPr lang="en-US" sz="1600" dirty="0">
                <a:solidFill>
                  <a:srgbClr val="047857"/>
                </a:solidFill>
                <a:latin typeface="Courier New" pitchFamily="34" charset="0"/>
                <a:ea typeface="Courier New" pitchFamily="34" charset="-122"/>
                <a:cs typeface="Courier New" pitchFamily="34" charset="-120"/>
              </a:rPr>
              <a:t>'gray'</a:t>
            </a:r>
            <a:r>
              <a:rPr lang="en-US" sz="1600" dirty="0">
                <a:solidFill>
                  <a:srgbClr val="111827"/>
                </a:solidFill>
                <a:latin typeface="Courier New" pitchFamily="34" charset="0"/>
                <a:ea typeface="Courier New" pitchFamily="34" charset="-122"/>
                <a:cs typeface="Courier New" pitchFamily="34" charset="-120"/>
              </a:rPr>
              <a:t> }: TagProps)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 style={{ color }}&gt;{label}&lt;/Text&gt;;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&lt;Tag label="Yeni" /&gt;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&lt;Tag label="Hata" color="red" /&gt;</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İlk kullanımda "Yeni" gri, ikincisinde "Hata" kırmızı görünür.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zorunlu olmayan props için güvenli varsayılan vermektir.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Soru işaretli alan isteğe bağlıdır ve verilmediğinde undefined olur. Destructuring sırasında varsayılan değer atamak, bu durumu 2. haftada gördüğümüz biçimde çözer. Böylece bileşen her iki kullanımda da güvenle çalışır.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Bir bileşenin çalışması için gerekli olan veriyi zorunlu, görünümü ayarlayan değerleri isteğe bağlı yapın.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children ile Bileşim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type { ReactNode }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interface CardProps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children: ReactNode;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Card({ children }: CardProps)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 padding: </a:t>
            </a:r>
            <a:r>
              <a:rPr lang="en-US" sz="1600" dirty="0">
                <a:solidFill>
                  <a:srgbClr val="B45309"/>
                </a:solidFill>
                <a:latin typeface="Courier New" pitchFamily="34" charset="0"/>
                <a:ea typeface="Courier New" pitchFamily="34" charset="-122"/>
                <a:cs typeface="Courier New" pitchFamily="34" charset="-120"/>
              </a:rPr>
              <a:t>16</a:t>
            </a:r>
            <a:r>
              <a:rPr lang="en-US" sz="1600" dirty="0">
                <a:solidFill>
                  <a:srgbClr val="111827"/>
                </a:solidFill>
                <a:latin typeface="Courier New" pitchFamily="34" charset="0"/>
                <a:ea typeface="Courier New" pitchFamily="34" charset="-122"/>
                <a:cs typeface="Courier New" pitchFamily="34" charset="-120"/>
              </a:rPr>
              <a:t> }}&gt;{children}&lt;/View&gt;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&lt;Card&gt;&lt;Text&gt;İçerik&lt;/Text&gt;&lt;/Card&gt;</a:t>
            </a:r>
            <a:endParaRPr lang="en-US" sz="1600" dirty="0"/>
          </a:p>
        </p:txBody>
      </p:sp>
      <p:sp>
        <p:nvSpPr>
          <p:cNvPr id="7" name="Shape 5"/>
          <p:cNvSpPr/>
          <p:nvPr/>
        </p:nvSpPr>
        <p:spPr>
          <a:xfrm>
            <a:off x="731520" y="5164531"/>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292547"/>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Card içine yazılan Text, 16 birim iç boşluklu kapsayıcı içinde görünür.</a:t>
            </a:r>
            <a:endParaRPr lang="en-US" sz="1100" dirty="0"/>
          </a:p>
        </p:txBody>
      </p:sp>
      <p:sp>
        <p:nvSpPr>
          <p:cNvPr id="9" name="Text 7"/>
          <p:cNvSpPr txBox="1"/>
          <p:nvPr/>
        </p:nvSpPr>
        <p:spPr>
          <a:xfrm>
            <a:off x="7772400" y="1645920"/>
            <a:ext cx="3931920" cy="42793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bileşenin içine başka bileşenler yerleştirmesini sağlamaktır.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children, bileşenin açılış ve kapanış etiketi arasındaki içeriği taşıyan özel bir props'tur. ReactNode tipi, metin, bileşen veya liste gibi gösterilebilecek her şeyi kapsar. Böylece Card yalnızca bir çerçeve sağlar, içeriği kullanan belirler.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Aynı çerçeveyi farklı içeriklerle kullanacaksanız children, belli veri alanlarını göstereceksiniz özel props kullanın.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 Saati: Profil Kartı Ekranı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npx komutuyla yeni bir proje oluşturun ve emülatörde çalıştırın; adb devices çıktısını belgeleyin.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ProfileCard bileşenini yazın: name, job ve isteğe bağlı avatarUrl props'u olsun, tiplerini interface ile tanımlayın.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Card bileşenini children ile yazın ve ProfileCard'ı Card içinde gösterin.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App.tsx içinde ScrollView içinde üç farklı profil gösterin; bir Pressable ile "Takip Et" yazısı ekleyip basıldığında konsola ad yazdırın.</a:t>
            </a:r>
            <a:endParaRPr lang="en-US" sz="2200" dirty="0"/>
          </a:p>
        </p:txBody>
      </p:sp>
      <p:sp>
        <p:nvSpPr>
          <p:cNvPr id="5" name="Shape 3"/>
          <p:cNvSpPr/>
          <p:nvPr/>
        </p:nvSpPr>
        <p:spPr>
          <a:xfrm>
            <a:off x="8595360" y="1645920"/>
            <a:ext cx="2194560" cy="3840480"/>
          </a:xfrm>
          <a:prstGeom prst="roundRect">
            <a:avLst>
              <a:gd name="adj" fmla="val 4167"/>
            </a:avLst>
          </a:prstGeom>
          <a:solidFill>
            <a:srgbClr val="FFFFFF"/>
          </a:solidFill>
          <a:ln w="25400">
            <a:solidFill>
              <a:srgbClr val="CBD5E1"/>
            </a:solidFill>
            <a:prstDash val="solid"/>
          </a:ln>
        </p:spPr>
      </p:sp>
      <p:sp>
        <p:nvSpPr>
          <p:cNvPr id="6" name="Shape 4"/>
          <p:cNvSpPr/>
          <p:nvPr/>
        </p:nvSpPr>
        <p:spPr>
          <a:xfrm>
            <a:off x="8732520" y="1828800"/>
            <a:ext cx="1920240" cy="1005840"/>
          </a:xfrm>
          <a:prstGeom prst="roundRect">
            <a:avLst>
              <a:gd name="adj" fmla="val 9091"/>
            </a:avLst>
          </a:prstGeom>
          <a:solidFill>
            <a:srgbClr val="EFF6FF"/>
          </a:solidFill>
          <a:ln w="9525">
            <a:solidFill>
              <a:srgbClr val="EFF6FF"/>
            </a:solidFill>
            <a:prstDash val="solid"/>
          </a:ln>
        </p:spPr>
      </p:sp>
      <p:sp>
        <p:nvSpPr>
          <p:cNvPr id="7" name="Shape 5"/>
          <p:cNvSpPr/>
          <p:nvPr/>
        </p:nvSpPr>
        <p:spPr>
          <a:xfrm>
            <a:off x="8869680" y="2057400"/>
            <a:ext cx="457200" cy="457200"/>
          </a:xfrm>
          <a:prstGeom prst="ellipse">
            <a:avLst/>
          </a:prstGeom>
          <a:solidFill>
            <a:srgbClr val="2563EB"/>
          </a:solidFill>
          <a:ln w="12700">
            <a:solidFill>
              <a:srgbClr val="2563EB"/>
            </a:solidFill>
            <a:prstDash val="solid"/>
          </a:ln>
        </p:spPr>
      </p:sp>
      <p:sp>
        <p:nvSpPr>
          <p:cNvPr id="8" name="Text 6"/>
          <p:cNvSpPr txBox="1"/>
          <p:nvPr/>
        </p:nvSpPr>
        <p:spPr>
          <a:xfrm>
            <a:off x="9464040" y="1920240"/>
            <a:ext cx="1188720" cy="502920"/>
          </a:xfrm>
          <a:prstGeom prst="rect">
            <a:avLst/>
          </a:prstGeom>
          <a:noFill/>
          <a:ln/>
        </p:spPr>
        <p:txBody>
          <a:bodyPr wrap="square" lIns="0" tIns="0" rIns="0" bIns="0" rtlCol="0" anchor="t"/>
          <a:lstStyle/>
          <a:p>
            <a:pPr marL="0" indent="0" algn="l">
              <a:buNone/>
            </a:pPr>
            <a:r>
              <a:rPr lang="en-US" sz="1100" b="1" dirty="0">
                <a:solidFill>
                  <a:srgbClr val="111827"/>
                </a:solidFill>
                <a:latin typeface="Arial" pitchFamily="34" charset="0"/>
                <a:ea typeface="Arial" pitchFamily="34" charset="-122"/>
                <a:cs typeface="Arial" pitchFamily="34" charset="-120"/>
              </a:rPr>
              <a:t>Ad Soyad</a:t>
            </a:r>
            <a:endParaRPr lang="en-US" sz="1100" dirty="0"/>
          </a:p>
          <a:p>
            <a:pPr marL="0" indent="0" algn="l">
              <a:buNone/>
            </a:pPr>
            <a:r>
              <a:rPr lang="en-US" sz="1000" dirty="0">
                <a:solidFill>
                  <a:srgbClr val="6B7280"/>
                </a:solidFill>
                <a:latin typeface="Arial" pitchFamily="34" charset="0"/>
                <a:ea typeface="Arial" pitchFamily="34" charset="-122"/>
                <a:cs typeface="Arial" pitchFamily="34" charset="-120"/>
              </a:rPr>
              <a:t>Meslek</a:t>
            </a:r>
            <a:endParaRPr lang="en-US" sz="1100" dirty="0"/>
          </a:p>
        </p:txBody>
      </p:sp>
      <p:sp>
        <p:nvSpPr>
          <p:cNvPr id="9" name="Shape 7"/>
          <p:cNvSpPr/>
          <p:nvPr/>
        </p:nvSpPr>
        <p:spPr>
          <a:xfrm>
            <a:off x="9464040" y="2487168"/>
            <a:ext cx="1051560" cy="256032"/>
          </a:xfrm>
          <a:prstGeom prst="roundRect">
            <a:avLst>
              <a:gd name="adj" fmla="val 35714"/>
            </a:avLst>
          </a:prstGeom>
          <a:solidFill>
            <a:srgbClr val="2563EB"/>
          </a:solidFill>
          <a:ln w="9525">
            <a:solidFill>
              <a:srgbClr val="2563EB"/>
            </a:solidFill>
            <a:prstDash val="solid"/>
          </a:ln>
        </p:spPr>
      </p:sp>
      <p:sp>
        <p:nvSpPr>
          <p:cNvPr id="10" name="Text 8"/>
          <p:cNvSpPr txBox="1"/>
          <p:nvPr/>
        </p:nvSpPr>
        <p:spPr>
          <a:xfrm>
            <a:off x="9464040" y="2487168"/>
            <a:ext cx="10515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Takip Et</a:t>
            </a:r>
            <a:endParaRPr lang="en-US" sz="900" dirty="0"/>
          </a:p>
        </p:txBody>
      </p:sp>
      <p:sp>
        <p:nvSpPr>
          <p:cNvPr id="11" name="Shape 9"/>
          <p:cNvSpPr/>
          <p:nvPr/>
        </p:nvSpPr>
        <p:spPr>
          <a:xfrm>
            <a:off x="8732520" y="3017520"/>
            <a:ext cx="1920240" cy="1005840"/>
          </a:xfrm>
          <a:prstGeom prst="roundRect">
            <a:avLst>
              <a:gd name="adj" fmla="val 9091"/>
            </a:avLst>
          </a:prstGeom>
          <a:solidFill>
            <a:srgbClr val="EFF6FF"/>
          </a:solidFill>
          <a:ln w="9525">
            <a:solidFill>
              <a:srgbClr val="EFF6FF"/>
            </a:solidFill>
            <a:prstDash val="solid"/>
          </a:ln>
        </p:spPr>
      </p:sp>
      <p:sp>
        <p:nvSpPr>
          <p:cNvPr id="12" name="Shape 10"/>
          <p:cNvSpPr/>
          <p:nvPr/>
        </p:nvSpPr>
        <p:spPr>
          <a:xfrm>
            <a:off x="8869680" y="3246120"/>
            <a:ext cx="457200" cy="457200"/>
          </a:xfrm>
          <a:prstGeom prst="ellipse">
            <a:avLst/>
          </a:prstGeom>
          <a:solidFill>
            <a:srgbClr val="2563EB"/>
          </a:solidFill>
          <a:ln w="12700">
            <a:solidFill>
              <a:srgbClr val="2563EB"/>
            </a:solidFill>
            <a:prstDash val="solid"/>
          </a:ln>
        </p:spPr>
      </p:sp>
      <p:sp>
        <p:nvSpPr>
          <p:cNvPr id="13" name="Text 11"/>
          <p:cNvSpPr txBox="1"/>
          <p:nvPr/>
        </p:nvSpPr>
        <p:spPr>
          <a:xfrm>
            <a:off x="9464040" y="3108960"/>
            <a:ext cx="1188720" cy="502920"/>
          </a:xfrm>
          <a:prstGeom prst="rect">
            <a:avLst/>
          </a:prstGeom>
          <a:noFill/>
          <a:ln/>
        </p:spPr>
        <p:txBody>
          <a:bodyPr wrap="square" lIns="0" tIns="0" rIns="0" bIns="0" rtlCol="0" anchor="t"/>
          <a:lstStyle/>
          <a:p>
            <a:pPr marL="0" indent="0" algn="l">
              <a:buNone/>
            </a:pPr>
            <a:r>
              <a:rPr lang="en-US" sz="1100" b="1" dirty="0">
                <a:solidFill>
                  <a:srgbClr val="111827"/>
                </a:solidFill>
                <a:latin typeface="Arial" pitchFamily="34" charset="0"/>
                <a:ea typeface="Arial" pitchFamily="34" charset="-122"/>
                <a:cs typeface="Arial" pitchFamily="34" charset="-120"/>
              </a:rPr>
              <a:t>Ad Soyad</a:t>
            </a:r>
            <a:endParaRPr lang="en-US" sz="1100" dirty="0"/>
          </a:p>
          <a:p>
            <a:pPr marL="0" indent="0" algn="l">
              <a:buNone/>
            </a:pPr>
            <a:r>
              <a:rPr lang="en-US" sz="1000" dirty="0">
                <a:solidFill>
                  <a:srgbClr val="6B7280"/>
                </a:solidFill>
                <a:latin typeface="Arial" pitchFamily="34" charset="0"/>
                <a:ea typeface="Arial" pitchFamily="34" charset="-122"/>
                <a:cs typeface="Arial" pitchFamily="34" charset="-120"/>
              </a:rPr>
              <a:t>Meslek</a:t>
            </a:r>
            <a:endParaRPr lang="en-US" sz="1100" dirty="0"/>
          </a:p>
        </p:txBody>
      </p:sp>
      <p:sp>
        <p:nvSpPr>
          <p:cNvPr id="14" name="Shape 12"/>
          <p:cNvSpPr/>
          <p:nvPr/>
        </p:nvSpPr>
        <p:spPr>
          <a:xfrm>
            <a:off x="9464040" y="3675888"/>
            <a:ext cx="1051560" cy="256032"/>
          </a:xfrm>
          <a:prstGeom prst="roundRect">
            <a:avLst>
              <a:gd name="adj" fmla="val 35714"/>
            </a:avLst>
          </a:prstGeom>
          <a:solidFill>
            <a:srgbClr val="2563EB"/>
          </a:solidFill>
          <a:ln w="9525">
            <a:solidFill>
              <a:srgbClr val="2563EB"/>
            </a:solidFill>
            <a:prstDash val="solid"/>
          </a:ln>
        </p:spPr>
      </p:sp>
      <p:sp>
        <p:nvSpPr>
          <p:cNvPr id="15" name="Text 13"/>
          <p:cNvSpPr txBox="1"/>
          <p:nvPr/>
        </p:nvSpPr>
        <p:spPr>
          <a:xfrm>
            <a:off x="9464040" y="3675888"/>
            <a:ext cx="10515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Takip Et</a:t>
            </a:r>
            <a:endParaRPr lang="en-US" sz="900" dirty="0"/>
          </a:p>
        </p:txBody>
      </p:sp>
      <p:sp>
        <p:nvSpPr>
          <p:cNvPr id="16" name="Shape 14"/>
          <p:cNvSpPr/>
          <p:nvPr/>
        </p:nvSpPr>
        <p:spPr>
          <a:xfrm>
            <a:off x="8732520" y="4206240"/>
            <a:ext cx="1920240" cy="1005840"/>
          </a:xfrm>
          <a:prstGeom prst="roundRect">
            <a:avLst>
              <a:gd name="adj" fmla="val 9091"/>
            </a:avLst>
          </a:prstGeom>
          <a:solidFill>
            <a:srgbClr val="EFF6FF"/>
          </a:solidFill>
          <a:ln w="9525">
            <a:solidFill>
              <a:srgbClr val="EFF6FF"/>
            </a:solidFill>
            <a:prstDash val="solid"/>
          </a:ln>
        </p:spPr>
      </p:sp>
      <p:sp>
        <p:nvSpPr>
          <p:cNvPr id="17" name="Shape 15"/>
          <p:cNvSpPr/>
          <p:nvPr/>
        </p:nvSpPr>
        <p:spPr>
          <a:xfrm>
            <a:off x="8869680" y="4434840"/>
            <a:ext cx="457200" cy="457200"/>
          </a:xfrm>
          <a:prstGeom prst="ellipse">
            <a:avLst/>
          </a:prstGeom>
          <a:solidFill>
            <a:srgbClr val="2563EB"/>
          </a:solidFill>
          <a:ln w="12700">
            <a:solidFill>
              <a:srgbClr val="2563EB"/>
            </a:solidFill>
            <a:prstDash val="solid"/>
          </a:ln>
        </p:spPr>
      </p:sp>
      <p:sp>
        <p:nvSpPr>
          <p:cNvPr id="18" name="Text 16"/>
          <p:cNvSpPr txBox="1"/>
          <p:nvPr/>
        </p:nvSpPr>
        <p:spPr>
          <a:xfrm>
            <a:off x="9464040" y="4297680"/>
            <a:ext cx="1188720" cy="502920"/>
          </a:xfrm>
          <a:prstGeom prst="rect">
            <a:avLst/>
          </a:prstGeom>
          <a:noFill/>
          <a:ln/>
        </p:spPr>
        <p:txBody>
          <a:bodyPr wrap="square" lIns="0" tIns="0" rIns="0" bIns="0" rtlCol="0" anchor="t"/>
          <a:lstStyle/>
          <a:p>
            <a:pPr marL="0" indent="0" algn="l">
              <a:buNone/>
            </a:pPr>
            <a:r>
              <a:rPr lang="en-US" sz="1100" b="1" dirty="0">
                <a:solidFill>
                  <a:srgbClr val="111827"/>
                </a:solidFill>
                <a:latin typeface="Arial" pitchFamily="34" charset="0"/>
                <a:ea typeface="Arial" pitchFamily="34" charset="-122"/>
                <a:cs typeface="Arial" pitchFamily="34" charset="-120"/>
              </a:rPr>
              <a:t>Ad Soyad</a:t>
            </a:r>
            <a:endParaRPr lang="en-US" sz="1100" dirty="0"/>
          </a:p>
          <a:p>
            <a:pPr marL="0" indent="0" algn="l">
              <a:buNone/>
            </a:pPr>
            <a:r>
              <a:rPr lang="en-US" sz="1000" dirty="0">
                <a:solidFill>
                  <a:srgbClr val="6B7280"/>
                </a:solidFill>
                <a:latin typeface="Arial" pitchFamily="34" charset="0"/>
                <a:ea typeface="Arial" pitchFamily="34" charset="-122"/>
                <a:cs typeface="Arial" pitchFamily="34" charset="-120"/>
              </a:rPr>
              <a:t>Meslek</a:t>
            </a:r>
            <a:endParaRPr lang="en-US" sz="1100" dirty="0"/>
          </a:p>
        </p:txBody>
      </p:sp>
      <p:sp>
        <p:nvSpPr>
          <p:cNvPr id="19" name="Shape 17"/>
          <p:cNvSpPr/>
          <p:nvPr/>
        </p:nvSpPr>
        <p:spPr>
          <a:xfrm>
            <a:off x="9464040" y="4864608"/>
            <a:ext cx="1051560" cy="256032"/>
          </a:xfrm>
          <a:prstGeom prst="roundRect">
            <a:avLst>
              <a:gd name="adj" fmla="val 35714"/>
            </a:avLst>
          </a:prstGeom>
          <a:solidFill>
            <a:srgbClr val="2563EB"/>
          </a:solidFill>
          <a:ln w="9525">
            <a:solidFill>
              <a:srgbClr val="2563EB"/>
            </a:solidFill>
            <a:prstDash val="solid"/>
          </a:ln>
        </p:spPr>
      </p:sp>
      <p:sp>
        <p:nvSpPr>
          <p:cNvPr id="20" name="Text 18"/>
          <p:cNvSpPr txBox="1"/>
          <p:nvPr/>
        </p:nvSpPr>
        <p:spPr>
          <a:xfrm>
            <a:off x="9464040" y="4864608"/>
            <a:ext cx="10515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Takip Et</a:t>
            </a:r>
            <a:endParaRPr lang="en-US" sz="900" dirty="0"/>
          </a:p>
        </p:txBody>
      </p:sp>
      <p:sp>
        <p:nvSpPr>
          <p:cNvPr id="21" name="Text 19"/>
          <p:cNvSpPr txBox="1"/>
          <p:nvPr/>
        </p:nvSpPr>
        <p:spPr>
          <a:xfrm>
            <a:off x="7863840" y="5577840"/>
            <a:ext cx="3657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Hedef ekran taslağı</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Kontrol Soruları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Metro'nun görevi nedir ve kapalıyken ne olur?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React Native'de neden View içine doğrudan metin yazılamaz?</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Props ile bir bileşen arasındaki ilişki nedir ve props neden değiştirilemez?</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Küçük harfle başlayan bir bileşen adı neden sorun çıkarır?</a:t>
            </a:r>
            <a:endParaRPr lang="en-US" sz="2200" dirty="0"/>
          </a:p>
        </p:txBody>
      </p:sp>
      <p:sp>
        <p:nvSpPr>
          <p:cNvPr id="5" name="Shape 3"/>
          <p:cNvSpPr/>
          <p:nvPr/>
        </p:nvSpPr>
        <p:spPr>
          <a:xfrm>
            <a:off x="7863840" y="1645920"/>
            <a:ext cx="3657600" cy="1170432"/>
          </a:xfrm>
          <a:prstGeom prst="roundRect">
            <a:avLst>
              <a:gd name="adj" fmla="val 7813"/>
            </a:avLst>
          </a:prstGeom>
          <a:solidFill>
            <a:srgbClr val="EFF6FF"/>
          </a:solidFill>
          <a:ln w="9525">
            <a:solidFill>
              <a:srgbClr val="EFF6FF"/>
            </a:solidFill>
            <a:prstDash val="solid"/>
          </a:ln>
        </p:spPr>
      </p:sp>
      <p:sp>
        <p:nvSpPr>
          <p:cNvPr id="6" name="Text 4"/>
          <p:cNvSpPr txBox="1"/>
          <p:nvPr/>
        </p:nvSpPr>
        <p:spPr>
          <a:xfrm>
            <a:off x="8065008" y="1773936"/>
            <a:ext cx="3255264" cy="914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&lt;Pressable onPress={kaydet()}&gt; ifadesi neden hatalıdır ve nasıl düzeltilir?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Özet ve Gelecek Hafta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Bu hafta Bare React Native ortamını kurduk, ilk uygulamayı emülatörde çalıştırdık ve proje yapısını okuduk. JSX ile bileşenler yazdık, çekirdek bileşenleri kullandık ve props ile bileşenlere tipli veri geçirdik. Gelecek hafta bu bileşenleri düzenlemeyi ve görünümlerini ayarlamayı, yani Flexbox ve StyleSheet'i öğreneceğiz.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Mobil Programlama A">
  <a:themeElements>
    <a:clrScheme name="Mobil Programlama A">
      <a:dk1>
        <a:srgbClr val="111827"/>
      </a:dk1>
      <a:lt1>
        <a:srgbClr val="FFFFFF"/>
      </a:lt1>
      <a:dk2>
        <a:srgbClr val="374151"/>
      </a:dk2>
      <a:lt2>
        <a:srgbClr val="F8FAFC"/>
      </a:lt2>
      <a:accent1>
        <a:srgbClr val="2563EB"/>
      </a:accent1>
      <a:accent2>
        <a:srgbClr val="B45309"/>
      </a:accent2>
      <a:accent3>
        <a:srgbClr val="B91C1C"/>
      </a:accent3>
      <a:accent4>
        <a:srgbClr val="0EA5E9"/>
      </a:accent4>
      <a:accent5>
        <a:srgbClr val="7C3AED"/>
      </a:accent5>
      <a:accent6>
        <a:srgbClr val="059669"/>
      </a:accent6>
      <a:hlink>
        <a:srgbClr val="2563EB"/>
      </a:hlink>
      <a:folHlink>
        <a:srgbClr val="7C3AED"/>
      </a:folHlink>
    </a:clrScheme>
    <a:fontScheme name="Mobil Programlama 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7475</Words>
  <Application>Microsoft Macintosh PowerPoint</Application>
  <PresentationFormat>Geniş ekran</PresentationFormat>
  <Paragraphs>654</Paragraphs>
  <Slides>40</Slides>
  <Notes>40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40</vt:i4>
      </vt:variant>
    </vt:vector>
  </HeadingPairs>
  <TitlesOfParts>
    <vt:vector size="44" baseType="lpstr">
      <vt:lpstr>Arial</vt:lpstr>
      <vt:lpstr>Calibri</vt:lpstr>
      <vt:lpstr>Courier New</vt:lpstr>
      <vt:lpstr>Mobil Programlama 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BGP 201 Mobil Programlama — Hafta 4</dc:title>
  <dc:subject>PptxGenJS Presentation</dc:subject>
  <dc:creator>BGP 201</dc:creator>
  <cp:lastModifiedBy>Microsoft Office User</cp:lastModifiedBy>
  <cp:revision>2</cp:revision>
  <dcterms:created xsi:type="dcterms:W3CDTF">2026-10-24T19:20:17Z</dcterms:created>
  <dcterms:modified xsi:type="dcterms:W3CDTF">2026-10-25T16:25:03Z</dcterms:modified>
</cp:coreProperties>
</file>