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iriş" id="{2D707716-E2E4-B58D-9186-19A648A7BF08}">
          <p14:sldIdLst>
            <p14:sldId id="256"/>
            <p14:sldId id="257"/>
            <p14:sldId id="258"/>
          </p14:sldIdLst>
        </p14:section>
        <p14:section name="Bölüm 1: TypeScript'e Geçiş" id="{33EA7205-304E-F120-014D-5DD4B91657E4}">
          <p14:sldIdLst>
            <p14:sldId id="259"/>
            <p14:sldId id="260"/>
            <p14:sldId id="261"/>
            <p14:sldId id="262"/>
            <p14:sldId id="263"/>
            <p14:sldId id="264"/>
            <p14:sldId id="265"/>
            <p14:sldId id="266"/>
            <p14:sldId id="267"/>
            <p14:sldId id="268"/>
            <p14:sldId id="269"/>
          </p14:sldIdLst>
        </p14:section>
        <p14:section name="Bölüm 2: Tip Güvenliği" id="{A4A4CB61-29AE-1EF6-4767-686677A34E5C}">
          <p14:sldIdLst>
            <p14:sldId id="270"/>
            <p14:sldId id="271"/>
            <p14:sldId id="272"/>
            <p14:sldId id="273"/>
            <p14:sldId id="274"/>
            <p14:sldId id="275"/>
            <p14:sldId id="276"/>
          </p14:sldIdLst>
        </p14:section>
        <p14:section name="Bölüm 3: Nesne Tipleri" id="{218CD433-2F88-F9B8-F556-910219157BCF}">
          <p14:sldIdLst>
            <p14:sldId id="277"/>
            <p14:sldId id="278"/>
            <p14:sldId id="279"/>
            <p14:sldId id="280"/>
            <p14:sldId id="281"/>
          </p14:sldIdLst>
        </p14:section>
        <p14:section name="Bölüm 4: Sınıflar ve Generic" id="{93A2EF96-5A8E-BB69-B8D0-3D34BD41E5E3}">
          <p14:sldIdLst>
            <p14:sldId id="282"/>
            <p14:sldId id="283"/>
            <p14:sldId id="284"/>
            <p14:sldId id="285"/>
            <p14:sldId id="286"/>
            <p14:sldId id="287"/>
            <p14:sldId id="288"/>
            <p14:sldId id="289"/>
            <p14:sldId id="290"/>
            <p14:sldId id="291"/>
            <p14:sldId id="292"/>
            <p14:sldId id="29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p:restoredTop sz="94610"/>
  </p:normalViewPr>
  <p:slideViewPr>
    <p:cSldViewPr snapToGrid="0" snapToObjects="1">
      <p:cViewPr varScale="1">
        <p:scale>
          <a:sx n="109" d="100"/>
          <a:sy n="109" d="100"/>
        </p:scale>
        <p:origin x="68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6543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Geçen hafta öğrendiğimiz JavaScript yapılarına bu hafta tip ekliyoruz. Fonksiyonlar ve kontrol yapılarının kendisi geçen hafta anlatıldı; burada onların tip boyutunu ele alıyoruz. Hafta sonunda öğrencilerin tipli kod yazıp derleyici hatalarını okuyabilmesi hedeflenir. Anlatım önerisi: "Geçen hafta JavaScript'in çekirdeğini öğrendik. Bugün aynı dile bir güvenlik ağı ekliyoruz. TypeScript, yazdığımız kodu çalıştırmadan önce okuyup 'burada bir hata var' diyen bir yardımcıdır. Bu hafta sonunda kırmızı çizgilerden korkmayacak, onları okuyup düzeltebileceksiniz." Dersin başında geçen haftaki alıştırma dosyalarının yanlarında olup olmadığını sorun.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Hedefleri okurken her birine bir mobil bağlam ekleyin: kullanıcı nesnesinin alanını yanlış yazmak, sunucudan null veri gelmesi, bir fonksiyona yanlış tipte argüman geçmek. Bu üç hata türü hafta boyunca tekrar edecek. Hedefleri tahtada tutun ve hafta sonunda öğrencilerle kontrol edin. Her hedefi hafta sonunda bir minik soruyla yoklayacağınızı söyleyin; böylece öğrenciler hedefleri dinlemekle yetinmez, kendilerini sınamak için kullanır. Hedeflerin ara sınavla ilişkisini de kısaca belirtin. Anlatım önerisi: "Bu üç hedef bugünün yol haritası. Birincisi hatayı neden geç fark ettiğimizi anlamak, ikincisi güvenli kod yazmak, üçüncüsü de React Native kodunda karşımıza çıkacak yapıları okuyabilmek." Hedefleri okurken kartlara tek tek işaret edin ve her biri için hafta sonunda kısa bir soru soracağınızı söyleyin.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Süre dağılımı: giriş ve tip güvenliği 55 dk, nesne tipleri 30 dk, sınıflar ve generic 35 dk, uygulama 60 dk. Öğrencilerin geçen haftaki alıştırma dosyalarını yanlarında tutmalarını isteyin; bazı örnekleri onların kodu üzerinden tiplendireceğiz. Derleyici hatalarını okuma alışkanlığının bu haftanın ana kazanımı olduğunu baştan söyleyin. Aralarda kısa kontrol noktaları bırakın ve öğrencilerin kendi bilgisayarlarında her örneği yazmalarını teşvik edin. Mola zamanını ve uygulama saatinin başlangıcını bu slaytta duyurmanız, zaman yönetimini kolaylaştırır. Anlatım önerisi: "Bugünkü ders beş durak. Önce TypeScript'e neden ihtiyaç duyduğumuzu bir hata üzerinden görüyoruz. Sonra tip güvenliğinin araçlarını, ardından nesne şekillerini işliyoruz. Dördüncü durakta sınıflara ve generic'e kısa bir göz atıyoruz, son saatte hepsini bir görev yöneticisi modelinde birleştiriyoruz." Mola ve uygulama saatinin başlangıç zamanını bu slaytta duyurun.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Anlatım önerisi: "İlk bölümde TypeScript'in ne olduğunu, JavaScript'ten farkını ve projeye nasıl eklendiğini konuşacağız. Önce sorunu görelim, sonra çözümü kuralım." Bölüm geçişlerinde öğrencilerin dikkatini toplamak için bir dakikalık soru-cevap yapabilirsiniz: 'Bir uygulamanın çöktüğünü hiç yaşadınız mı?'</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örneği canlı çalıştırın ve hatanın ancak ikinci çağrıda ortaya çıktığını gösterin. Gerçek uygulamada o çağrı nadir kullanılan bir ekranda olabilir ve hata aylarca fark edilmeyebilir. TypeScript'in vaadi, bu tür hataları kod çalışmadan, editörde kırmızı çizgiyle göstermektir. Böylece sınama maliyeti düşer. Anlatım önerisi: "Bu fonksiyon metin bekliyor ve ilk çağrıda her şey yolunda. İkinci çağrıda sayı veriyoruz ve program çöküyor. JavaScript bunu çalışmadan önce söylemiyor." Kodu canlı çalıştırın, ardından öğrencilere 'Bu çağrı nadir kullanılan bir ekranda olsaydı kim fark ederdi?' diye sorun. Cevap, kullanıcı olacaktır.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Anlatım önerisi: "JavaScript'te bir değişkene önce metin, sonra sayı atayabilirsiniz; dil buna ses çıkarmaz. Esneklik güzel görünür ama hatalar için açık kapıdır. Tabloya bakın: ürün adını yanlış büyük harfle yazarsam sonuç undefined olur ve program çalışırken bir yerde patlar. Parametreleri ters verirsem yine hiçbir uyarı gelmez." TypeScript'in bu üç hatayı kod çalışmadan, editörde gösterdiğini anlatın. Öğrencilere kendi yazdıkları bir fonksiyonda parametreleri ters vermenin ne olacağını sorun. Son satırdaki geliştirici desteğini, otomatik tamamlama ve güvenli yeniden adlandırma örnekleriyle canlı gösterin. Önceki slayttaki çökme örneğiyle bağ kurun.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Çalışma anında tip bilgisinin bulunmadığını vurgulayın; bu, öğrencilerin en sık yanlış anladığı noktadır. Uygulamada tip hatası olan kodun yine de çalışabileceğini ve denetimi bilinçli olarak çalıştırmak gerektiğini söyleyin. Editörün kırmızı çizgisi ile derleyicinin hatasının aynı denetimi yaptığını ekleyin. TypeScript sürümünü kütüphane belgesinden doğrulayın. Anlatım önerisi: "TypeScript bir çevirmen gibi çalışır. Siz .ts dosyasını yazarsınız, derleyici tipleri denetler, sonra tipleri siler ve elimizde sade JavaScript kalır. Telefonda çalışan şey her zaman JavaScript'tir." Akış kutularını soldan sağa sırayla gösterin ve 'tipler çalışma anında yoktur' cümlesini tahtaya yazın.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Anlatım önerisi: "Önce ortamı kuruyoruz. Node.js'i geçen hafta kurmuştuk; TypeScript derleyicisi de bir Node aracıdır, o yüzden Node.js gerekir ama Node bilmenize gerek yok. Editör olarak VS Code kullanıyoruz çünkü TypeScript desteği hazır gelir. Sonra tek komutla derleyiciyi kuruyoruz ve sürümünü yazdırarak kurulumu doğruluyoruz." Öğrencilerin komutları kendi terminallerinde çalıştırmasını bekleyin; sürüm numarası çıkmayanlara yardım edin. tsx'i alternatif olarak tanıtın: tipleri bellekte silip dosyayı doğrudan çalıştırır, diskte app.js üretmez ve tip denetimi yapmaz; bu yüzden hata kontrolü için yine tsc gerekir. Global ve yerel kurulum farkını açıklayın. Sürüm numaralarını resmî belgeden doğrulayın.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Bare React Native şablonu tsconfig dosyasını hazır getirir ve ayarlarını kendi içinde yönetir; burada yalnızca Node'da denemek için küçük bir ayar kullanıyoruz. Öğrencilere strict'i hiçbir zaman kapatmamalarını söyleyin. Hata sayısı artsa da her biri gerçek bir olasılıktır. Ayar adlarını ezberletmeyin. Anlatım önerisi: "Kurulum iki komut: typescript paketini ekliyoruz, sonra tsc --init ile ayar dosyasını üretiyoruz. Dosyada tek bir satıra dikkat edin: strict true. Bu satır, bu dersin kuralıdır." Öğrencilerin kendi bilgisayarında komutları çalıştırmasını bekleyin; hata alanları ders içinde yanınızda toplayın.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Anlatım önerisi: "Şimdi hepsini birleştirelim. Önce app.ts dosyasını yazıyoruz, iki satır yeter. Sonra tsc app.ts diyoruz ve klasöre bakıyoruz: yanına app.js geldi. Çalışan şey bu JavaScript dosyası; TypeScript yalnızca yolun başındaki denetçidir." Terminal komutlarını sırayla birlikte yazın: mkdir ile klasör, code ile dosya, tsc ile derleme, ls ile klasör içeriği, node ile çalıştırma. Öğrencilerin her adımı kendi bilgisayarlarında yapmasını isteyin; Windows kullananlara ls yerine dir yazacaklarını söyleyin. Ardından message değişkenine sayı atatıp derleyici hatasını görmelerini, app.js içinde tipin silindiğini incelemelerini söyleyin. tsx kuranlara tsx app.ts denetin: aynı çıktıyı verir ama app.js üretmez ve tip hatasını göstermez. Bu slayt, bundan sonraki bütün örneklerin çalışma biçimidir.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Tip adlarının küçük harfle yazıldığını (string, number) ve büyük harfli String, Number nesne türlerinin kullanılmadığını söyleyin. Öğrencilerin ilk hata mesajını kendi editörlerinde görmesini sağlayın; kırmızı çizginin üzerine gelince açıklamanın çıktığını gösterin. Bu hata biçimi dönem boyunca sürekli karşılarına çıkacak. Anlatım önerisi: "İki nokta üst üste, 'bu değişken şu türde' demektir. week bir sayıdır, ona metin atarsam derleyici itiraz eder." Yorum satırını açtırıp hata mesajını birlikte okuyun. Öğrencilere 'Type X is not assignable to type Y' cümlesini Türkçe söyletin: Y tipine X tipi atanamaz.</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Editörde değişkenin üzerine gelince çıkarılan tipi gösterin; bu, derleyicinin ne düşündüğünü görmenin en hızlı yoludur. Her şeye tip yazmanın kodu kalabalıklaştırdığını, hiç yazmamanın ise güvenliği azalttığını anlatın. Dengeyi bulma alışkanlığı için "belirsizse yaz" kuralını önerin. Anlatım önerisi: "Her yere tip yazmak zorunda değiliz. Derleyici ilk değerden tipi anlar. let count = 0 dediğimizde count artık bir sayıdır." Editörde değişkenin üzerine gelip çıkarılan tipi gösterin. Kuralı tahtaya yazın: başlangıç değeri tipi gösteriyorsa yazma, parametrede mutlaka yaz.</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Tuple'ın yalnızca tanıtım düzeyinde işlendiğini söyleyin; gerçek projelerde nesneler çoğunlukla tercih edilir. Geçen hafta gördüğümüz destructuring ile bağ kurun ve 6. haftada karşılaşılacak useState dönüşünün bir tuple olduğunu ön izleme olarak belirtin. Dizi tiplerinde iki yazımı da okuyabilmelerini isteyin. Anlatım önerisi: "Dizi tipinde köşeli parantez, eleman tipini sabitler. Tuple ise sıralı ve sabit uzunluklu bir çifttir. İleride useState çağırdığımızda dönen şey tam olarak böyle bir çifttir." Tuple'ı yalnızca tanıtım düzeyinde tutun, ayrıntıya girmeyin.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derste any yazılmaz; yukarıdaki satır özellikle yanlış örnek olarak gösterilmiştir. Dış kaynaktan gelen belirsiz veride unknown ve ardından tip doğrulaması kullanılır. Öğrencilerin ödevlerinde any gördüğünüzde sıfır tolerans uygulayacağınızı baştan belirtin. Alternatif olarak uygun tip ya da union tanımlamayı önerin. Anlatım önerisi: "any, derleyiciye 'sus' demektir. Yanlış metot çağırdığımda hiç uyarı almam, uygulama çalışırken çöker. unknown ise 'bu değer ne olursa olsun, önce kontrol et' der." Bu dersin sıfır any kuralını tekrar edin ve any kullanmanın hatayı yok etmediğini, sadece sonraya ertelediğini vurgulayın.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Anlatım önerisi: "İkinci bölümde tipleri kullanarak hatalı durumları imkânsız hâle getireceğiz. Union, null güvenliği, narrowing ve fonksiyon tipleri. Bunlar TypeScript'in asıl gücüdür." Bu bölüm dersin en yoğun kısmıdır; öğrencilere kısa bir mola önerebilirsiniz.</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Literal tip birleşimlerinin enum yerine tercih edildiğini kısaca söyleyin; enum kullanmayacağız. Mobil örnek olarak ekran adları, yükleme durumları ve tema seçeneklerini gösterin: "light" | "dark". Bu yapı navigasyon haftasında ekran adlarını güvenli hâle getirmek için yeniden karşımıza çıkacak. Anlatım önerisi: "Dikey çizgiyi 'veya' diye okuyun. Platform ya android ya da ios olabilir, başka bir şey olamaz. Böylece 'web' yazarsam hata derleme aşamasında çıkar." Ekran adları, tema ve yükleme durumu gibi mobil örnekler verin ve öğrencilerden kendi uygulamalarından bir örnek bulmalarını isteyin.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Hata sonrasında çöken uygulamanın kullanıcı yorumlarındaki karşılığını anlatın. Bu slayt bu haftanın en değerli kazanımını temsil eder. Öğrencilerden yorum satırını açıp derleyici mesajını okumalarını isteyin. Kontrolün hemen sonrasında tip daralmasının nasıl çalıştığını bir sonraki slaytta açıklayacağız. Anlatım önerisi: "Strict modda null ve undefined ayrı tiplerdir. name null olabilir diyorsam önce kontrol etmem gerekir. Kontrolden sonra derleyici artık null olmadığını bilir." Yorum satırını açtırarak hata mesajını okutun. Soru işaretli zincirleme erişimi ve ?? işlecini geçen haftadan hatırlatın.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Editörde value üzerine gelince if bloğunun içinde ve dışında farklı tip göründüğünü canlı gösterin. Bu, "derleyici akışı takip ediyor" fikrini yerleştirir. Narrowing, ayrık birleşimlerle birlikte arayüzde yükleniyor, hata ve başarı durumlarını ayrı göstermenin temelidir; 10. haftada bu yapıyı kullanacağız. Anlatım önerisi: "Narrowing, derleyicinin akışı takip etmesidir. if içinde typeof dediğimde tip sayıya daralır, dışında kalan metindir." Editörde value üzerine gelince tipin bloğa göre değiştiğini gösterin. Öğrencilerden yeni bir koşul ekleyip tipin nasıl değiştiğini izlemelerini isteyin.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yapı veri çekme ekranlarının tipik modelidir. "loading, success, error" boolean bayraklarıyla yönetildiğinde hem yüklenirken hem hatalıyken olma gibi imkânsız durumlar çıkabilir; ayrık birleşim bunu engeller. Kodu tek seferde okutun, ayrıntıya fazla girmeyin. Aynı örneğe 10. haftada geri döneceğiz. Anlatım önerisi: "Bir veri çekme ekranı üç durumdan birindedir: yükleniyor, başarılı, hatalı. Bunu tek tipte ve çelişkisiz anlatıyoruz. Aynı anda hem yükleniyor hem hatalı olamaz." Switch'te bir durumu silip derleyici uyarısını gösterin. Kodu satır satır anlatmayın, yapıyı tanıtın.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Fonksiyonların kendisi, ok biçimi, varsayılan parametre ve rest geçen hafta işlendi; bu slayt yalnızca tip boyutunu ekler. Öğrencilerden fonksiyonları imzası üzerinden okumalarını isteyin: "iki parametre alır, ikincisi isteğe bağlı, metin döndürür". Dönüş tipinin açık yazılması, dışarıdan çağıranlar için okunabilirliği artırır; özellikle dışa açılan fonksiyonlarda önerilir. Anlatım önerisi: "Fonksiyonun imzası bir sözleşmedir: ne alır, ne döndürür. Soru işareti isteğe bağlı demektir, void ise anlamlı değer döndürmez." Öğrencilerin her imzayı 'iki parametre alır, ikincisi isteğe bağlı, metin döndürür' biçiminde sesli okumasını isteyin.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Geçen haftaki callback konusunu tiplerle birleştiren bir slayttır. Ok fonksiyonunun parametresinin tipi yazılmadığı hâlde derleyicinin bildiğini editörde göstererek bağlamsal tiplemeyi tanıtın. Bu özellik, React Native dosyalarında neden her yere tip yazmadığımızı açıklar. Gerekirse tahtada Handler tipini basit bir kutu diyagramıyla çizin. Anlatım önerisi: "Bir fonksiyonu başka bir fonksiyona parametre olarak verebiliyoruz. Handler tipi, o fonksiyonun şeklini anlatır: sayı alır, bir şey döndürmez." Ok fonksiyonunda id tipinin yazılmadığı hâlde bilindiğini gösterin. React Native'deki onPress örneğini ön izleme olarak anın.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Anlatım önerisi: "Üçüncü bölümde nesnelerin şeklini tanımlıyoruz. Props, kullanıcı, ürün gibi her veri parçası bir nesnedir. 4. haftada bu bölümün bilgisini doğrudan kullanacağız." Öğrencilere kendi telefonlarındaki bir kartın hangi alanlardan oluştuğunu sorun.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Props tipleri 4. haftada tam olarak bu yapıyla yazılacak; bu yüzden bu slayt önemli bir hazırlık sağlar. Öğrencilerden yeni bir alan ekleyip hata mesajını okumalarını isteyin. Eski kod tabanlarında I önekini görebileceklerini, ama bu derste kullanılmayacağını açıkça söyleyin. Alan adlarının İngilizce yazılmasının nedenini de belirtin. Anlatım önerisi: "interface, nesnenin sözleşmesidir. User dediğimde id ve name zorunlu, email isteğe bağlıdır. Eksik bir alan bıraktığımda derleyici hemen söyler." Bir alanı silerek hata mesajını gösterin. IUser yazımını görürlerse şaşırmamalarını, ama bu derste kullanılmayacağını belirtin.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örneği kısaca gösterip hangi tipin hangi amaçla yazıldığını söyleyin. Öğrencilere union tiplerinin yalnızca type ile yazılabildiğini, interface'in union tanımlayamadığını bir sonraki slaytın karşılaştırmasına bağlayarak söyleyin. Bu slaytı hızlı geçin; asıl öğretim noktası bir sonraki slayttaki seçim mantığıdır ve oradan sonra pratik örnekler gelir. Anlatım önerisi: "type ile her türlü tipe ad verebiliriz: nesne, çift, seçenek listesi ya da fonksiyon. Uzun bir tipi tek yerde tanımlar, her yerde adıyla kullanırız." Slaytı hızlı geçin; asıl karar bir sonraki slayttaki tablodadır.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tartışma uzun süredir sürdürülür ve iki seçenek birbirine çok yakındır; öğrencileri kural ezberine boğmayın. Önerilen basit kuralı verin ve tutarlılığın önemini vurgulayın. Bir öğrencinin neden iki seçenek olduğunu sorması doğaldır; tarihsel olarak interface'in önce geldiğini ve type'ın sonra güçlendiğini söyleyin. Karar gerekçesini kod incelemesinde sormayı hatırlatın. Anlatım önerisi: "Pratik kural çok basit: nesne şekli için interface, seçenek ve diğer tipler için type. Ekipte başka kural varsa ona uyarız. En önemli şey tutarlı olmaktır." Tabloyu satır satır okutun ve öğrencilerden bir örnek durum söylemelerini isteyin.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readonly'nin yalnızca derleme zamanında denetlendiğini, çalışma anında koruma sağlamadığını söyleyin. 6. haftadaki değişmezlik konusuna kısa bir köprü kurun: değişmez veri yaklaşımı hatalardan korunmayı kolaylaştırır. Gerçek adreslerin ve anahtarların koda gömülmemesi gerektiğini, buradaki adresin örnek olduğunu ve 12. haftada gizli bilgi yönetimine döneceğimizi belirtin. Anlatım önerisi: "Bazı alanlar bir kez belirlenir ve bir daha değişmemelidir: kimlik, adres, yapılandırma. readonly bunu derleyiciyle korur." Atama satırını açtırıp hatayı gösterin. Gerçek adreslerin koda gömülmeyeceğini, buradaki adresin örnek olduğunu mutlaka söyleyin.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Anlatım önerisi: "Dördüncü bölümde iki yeni fikir var: sınıflar ve generic. İkisini de yazmaktan çok okuyabilmek için öğreniyoruz. Karşınıza çıktığında şaşırmayın." Bu bölümde hız yerine kavram netliği önemlidir; sık sık örnek isteyin.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 kavramı da gündelik bir örnekle açıklayın: banka hesabı (kapsülleme), hayvan ve köpek (kalıtım), farklı hayvanların ses çıkarması (çok biçimlilik). Mobil kod tabanlarında sınıflar servis ve model katmanında hâlâ bulunur; kütüphane belgelerinde de karşınıza çıkar. Öğrencilere eski React kodunda class component göreceklerini, ama bu dersin onu kullanmadığını söyleyin. Anlatım önerisi: "Nesne yönelimli düşünmek, veriyi ve davranışı bir arada tutmaktır. Üç fikir var: kapsülleme, kalıtım, çok biçimlilik." Sağdaki üç kartı sırayla anlatın; banka hesabı, hayvan ve ses örneğini kullanın. React Native'de fonksiyon bileşenleri kullanacağımızı yine hatırlatın.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anahtar sözcüğü başlangıç düzeyinde kafa karıştırır; bu nedenle "this, metodu çağıran nesne" tanımını kısa tutun. Constructor parametresinde public yazımının bir kısayol olduğunu ve uzun yazımının alan tanımı ile atama gerektirdiğini gösterin. Sınıfı fonksiyonlarla yazılmış sayaçla karşılaştırarak geçen haftaki closure konusuna bağlayın. Anlatım önerisi: "Sınıf, bir kalıptır. Counter sınıfından new ile nesne üretiriz. this, o anda metodu çağıran nesneyi gösterir." public yazımının kısayol olduğunu gösterin. Öğrencilerden label alanını değiştirip çıktıyı tahmin etmelerini isteyin.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Erişim belirleyicilerinin kullanım amacını anlatın: sınıfın iç yapısını değiştirdiğinizde dışarıdaki kodların bozulmaması. public, private ve protected arasındaki farkı tahtada üç satırla özetleyin; protected'ı yalnızca adıyla tanıtmak yeterlidir. Bu kapsülleme fikri, ilerleyen haftalarda servis sınıfları yazarken işe yarayacak. Anlatım önerisi: "private, bir alanı dışarıdan kapatır. Bakiyeyi doğrudan değiştiremem, ancak deposit ile ve kurala uyarak değiştirebilirim. Bunun adı kapsüllemedir." Yorum satırını açtırıp hatayı okutun. private'ın yalnızca derleme zamanında denetlendiğini unutmayın.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Çok biçimlilik kavramını bu slaytta gösterin: Animal tipli bir değişkene Dog atanabilir ve speak çağrıldığında Dog'un davranışı çalışır. Derin kalıtım hiyerarşilerinden kaçınmayı önerin; mobil kodda genellikle bileşim (composition) tercih edilir. Öğrencilere başka bir alt sınıf yazdırıp çıktısını tahmin ettirebilirsiniz. Anlatım önerisi: "Köpek bir hayvandır. Dog, Animal'in her şeyini devralır ve yalnızca speak davranışını değiştirir." Çok biçimlilik için Animal tipli bir değişkene Dog atayıp speak'i çağırmayı gösterin. Derin hiyerarşilerden kaçındığımızı da söyleyin.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yapının faydasını örnekle anlatın: bugün konsola yazan günlükçü yarın bir sunucuya gönderen günlükçü ile değiştirilebilir; çağıran kod değişmez. Mimari desen ayrıntısına girmeyin; MYO düzeyinde amaç sözleşme fikrini tanıtmaktır. Test kolaylığı için de aynı fikrin kullanıldığını söyleyin. Ardından generic konusuna geçerken ortak bir esneklik ihtiyacını vurgulayın. Anlatım önerisi: "interface sınıfa 'şu yöntemi mutlaka sağla' der. ConsoleLogger bunu sağlar. Yarın günlükçüyü değiştirsem çağıran kod aynı kalır." Mimari ayrıntıya girmeyin; sözleşme fikrini tanıtın.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Generic'i yazmayı değil okumayı hedefliyoruz; derste en az bir tanıtım slaytı yeterlidir. T harfinin gelenek olduğunu, anlamlı ad da verilebileceğini söyleyin. Öğrencilere editörde n ve s değişkenlerinin üzerine gelip çıkarılan tipi göstermelerini isteyin. Bir sonraki slaytta bu fikrin React Native'deki karşılıklarını göreceğiz. Anlatım önerisi: "Generic, tipin parametre olarak verilmesidir. first fonksiyonu sayı dizisinde sayı, metin dizisinde metin döndürür. T yalnızca bir yer tutucudur." Editörde n ve s değişkenlerinin üzerine gelip tiplerini gösterin. Yazmayı değil okumayı hedeflediğimizi tekrar edin.</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Promise konusunun sahibi 10. haftadır; burada yalnızca tipin görünümünü tanıtıyoruz. useState ve useRef örneklerini yalnızca ön izleme olarak gösterin, çalıştırmayın. Öğrencilerin generic'i okuyabilmesi, kütüphane belgelerinde tip imzalarını anlamalarını sağlar. Çok karmaşık generic örneklerinden kaçının; amaç kavram okuryazarlığıdır. Anlatım önerisi: "Generic'i zaten kullandınız: Array&lt;string&gt;, Promise&lt;number&gt;. İleride useState&lt;number&gt;(0) gördüğünüzde köşeli parantezin içindeki şey bir generic parametresidir." Promise konusunun 10. haftada işleneceğini hatırlatın. Karmaşık örneklerden kaçının.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Hata kodlarının numaraları TypeScript sürümüyle değişebilir; ezberletmeyin, mesajı okumayı öğretin. TS18048 eski sürümlerde TS2532 koduyla görünebilir. Her hata türü için öğrencilere kasıtlı olarak bozuk bir satır yazdırıp mesajı yorumlatın. Bu tablo 4. haftada React Native projesindeki hata tablolarıyla birleştirilerek kullanılacak. Anlatım önerisi: "Derleyici hataları ilk bakışta korkutucu görünür ama hepsi aynı kalıbı izler. Mesajı sondan başa okuyun: neye atanamıyor, ne atanmış." Her satır için öğrencilere bozuk bir kod yazdırın ve mesajı yorumlatın. any veya as ile susturmayı kesinlikle önermeyin.</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Uygulama, haftanın bütün kavramlarını birleştirir ve 6. haftada state yönetimiyle yapılacak görev listesi uygulamasının veri modelini hazırlar. Değerlendirme: strict modda hatasız derleme, any kullanılmaması, doğru union kullanımı ve kapsülleme. Çözümü sınıfta karşılaştırmalı olarak inceleyin. Tam föy ayrı bir Uygulama Rehberi olarak hazırlanabilir. Hızlı bitirenler için görevlerin tamamlanma durumuna göre sayım yapan bir yöntem ve tarihe göre sıralama ekleme isteğe bağlı görevi verin. Yavaş ilerleyenlerin yalnızca ilk iki adımı tamamlaması yeterlidir. Anlatım önerisi: "Şimdi bugün öğrendiğimiz her şeyi bir görev yöneticisinde birleştiriyoruz. Önce Task arayüzü, sonra Priority, sonra filtre fonksiyonu, en sonda TaskList sınıfı." Sağdaki diyagramı kullanarak ilişkiyi gösterin. Öğrencilerin adımları sırayla yapıp her adımdan sonra derleyiciyi çalıştırmasını isteyin.</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sorular ara sınavda çıkabilecek türdendir. İlk soru en çok yanlış anlaşılandır: öğrenciler tip hatasız kodun veri hatasız olduğunu düşünür. Son soruda x null olabileceği için length okunamaz; if kontrolü veya ?. ile düzeltilir. Cevapları önce yazılı verdirip sonra derleyicide doğrulayın. Yanlış yanıtlarda ilgili slayda dönün. Anlatım önerisi: "Şimdi kendinizi sınayın. Her soruya önce kâğıda yazın, sonra birlikte cevaplayalım." Cevapları gönüllü öğrencilerden alın, yanlış cevaplarda ilgili slayda dönün. Son kod sorusunu derleyicide birlikte deneyin.</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Özeti öğrencilerden almak için "TypeScript'in sizi kurtardığı bir hata uydurun" etkinliği yapın. Gelecek hafta kurulum ağırlıklı olduğundan Node, JDK ve Android Studio kurulumunu hatırlatın; kurulum yapamayanları ders başında tespit edin. Bu haftanın alıştırma dosyalarını saklamalarını isteyin; 4. haftada props tiplerini yazarken interface bilgisini doğrudan kullanacağız. Çıkış kartı olarak her öğrenciden bir cümleyle bu haftanın en değerli kavramını yazmasını isteyin. Bu yanıtlar, gelecek haftaya başlarken hangi kavramların yeniden vurgulanması gerektiğini belirlemenize yardım eder. Anlatım önerisi: "Bugün TypeScript'in bir güvenlik ağı olduğunu gördük. Hataları çalışma anından derleme anına taşıdık. Gelecek hafta ilk React Native projemizi oluşturacağız." Gelecek hafta için Node.js, JDK ve Android Studio kurulumlarını ders öncesinde yapmalarını söyleyin; kurulumda zorlananların size ulaşmasını isteyin.</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PAK">
    <p:bg>
      <p:bgPr>
        <a:solidFill>
          <a:srgbClr val="F8FAFC"/>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CERIK">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6400800"/>
            <a:ext cx="8229600" cy="274320"/>
          </a:xfrm>
          <a:prstGeom prst="rect">
            <a:avLst/>
          </a:prstGeom>
          <a:noFill/>
          <a:ln/>
        </p:spPr>
        <p:txBody>
          <a:bodyPr wrap="square" lIns="0" tIns="0" rIns="0" bIns="0" rtlCol="0" anchor="ctr"/>
          <a:lstStyle/>
          <a:p>
            <a:pPr marL="0" indent="0">
              <a:buNone/>
            </a:pPr>
            <a:r>
              <a:rPr lang="en-US" sz="1100" dirty="0">
                <a:solidFill>
                  <a:srgbClr val="6B7280"/>
                </a:solidFill>
                <a:latin typeface="Arial" pitchFamily="34" charset="0"/>
                <a:ea typeface="Arial" pitchFamily="34" charset="-122"/>
                <a:cs typeface="Arial" pitchFamily="34" charset="-120"/>
              </a:rPr>
              <a:t>BGP 201 Mobil Programlama · Hafta 3 · TypeScript</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554480"/>
            <a:ext cx="7315200" cy="365760"/>
          </a:xfrm>
          <a:prstGeom prst="rect">
            <a:avLst/>
          </a:prstGeom>
          <a:noFill/>
          <a:ln/>
        </p:spPr>
        <p:txBody>
          <a:bodyPr wrap="square" lIns="0" tIns="0" rIns="0" bIns="0" rtlCol="0" anchor="ctr"/>
          <a:lstStyle/>
          <a:p>
            <a:pPr marL="0" indent="0" algn="l">
              <a:buNone/>
            </a:pPr>
            <a:r>
              <a:rPr lang="en-US" sz="1600" b="1" kern="0" spc="200" dirty="0">
                <a:solidFill>
                  <a:srgbClr val="2563EB"/>
                </a:solidFill>
                <a:latin typeface="Arial" pitchFamily="34" charset="0"/>
                <a:ea typeface="Arial" pitchFamily="34" charset="-122"/>
                <a:cs typeface="Arial" pitchFamily="34" charset="-120"/>
              </a:rPr>
              <a:t>BGP 201 Mobil Programlama · Hafta 3</a:t>
            </a:r>
            <a:endParaRPr lang="en-US" sz="1600" dirty="0"/>
          </a:p>
        </p:txBody>
      </p:sp>
      <p:sp>
        <p:nvSpPr>
          <p:cNvPr id="3" name="Text 1"/>
          <p:cNvSpPr txBox="1"/>
          <p:nvPr/>
        </p:nvSpPr>
        <p:spPr>
          <a:xfrm>
            <a:off x="822960" y="2011680"/>
            <a:ext cx="10332720" cy="1828800"/>
          </a:xfrm>
          <a:prstGeom prst="rect">
            <a:avLst/>
          </a:prstGeom>
          <a:noFill/>
          <a:ln/>
        </p:spPr>
        <p:txBody>
          <a:bodyPr wrap="square" lIns="0" tIns="0" rIns="0" bIns="0" rtlCol="0" anchor="t"/>
          <a:lstStyle/>
          <a:p>
            <a:pPr marL="0" indent="0" algn="l">
              <a:buNone/>
            </a:pPr>
            <a:r>
              <a:rPr lang="en-US" sz="4400" b="1" dirty="0">
                <a:solidFill>
                  <a:srgbClr val="111827"/>
                </a:solidFill>
                <a:latin typeface="Arial" pitchFamily="34" charset="0"/>
                <a:ea typeface="Arial" pitchFamily="34" charset="-122"/>
                <a:cs typeface="Arial" pitchFamily="34" charset="-120"/>
              </a:rPr>
              <a:t>TypeScript: Tip Sistemi, Tip Güvenliği ve Nesne Yönelimli Programlama</a:t>
            </a:r>
            <a:endParaRPr lang="en-US" sz="4400" dirty="0"/>
          </a:p>
        </p:txBody>
      </p:sp>
      <p:sp>
        <p:nvSpPr>
          <p:cNvPr id="4" name="Text 2"/>
          <p:cNvSpPr txBox="1"/>
          <p:nvPr/>
        </p:nvSpPr>
        <p:spPr>
          <a:xfrm>
            <a:off x="822960" y="4023360"/>
            <a:ext cx="9601200" cy="640080"/>
          </a:xfrm>
          <a:prstGeom prst="rect">
            <a:avLst/>
          </a:prstGeom>
          <a:noFill/>
          <a:ln/>
        </p:spPr>
        <p:txBody>
          <a:bodyPr wrap="square" lIns="0" tIns="0" rIns="0" bIns="0" rtlCol="0" anchor="ctr"/>
          <a:lstStyle/>
          <a:p>
            <a:pPr marL="0" indent="0" algn="l">
              <a:buNone/>
            </a:pPr>
            <a:r>
              <a:rPr lang="en-US" sz="2200" dirty="0">
                <a:solidFill>
                  <a:srgbClr val="6B7280"/>
                </a:solidFill>
                <a:latin typeface="Arial" pitchFamily="34" charset="0"/>
                <a:ea typeface="Arial" pitchFamily="34" charset="-122"/>
                <a:cs typeface="Arial" pitchFamily="34" charset="-120"/>
              </a:rPr>
              <a:t>JavaScript'e güvenlik ağı: TypeScript</a:t>
            </a:r>
            <a:endParaRPr lang="en-US" sz="2200" dirty="0"/>
          </a:p>
        </p:txBody>
      </p:sp>
      <p:pic>
        <p:nvPicPr>
          <p:cNvPr id="5" name="Image 0" descr="/tmp/claude-0/-home-claude/bb2dbc6e-f574-5e99-8510-889b704da121/scratchpad/decks/logos/react.png"/>
          <p:cNvPicPr>
            <a:picLocks noChangeAspect="1"/>
          </p:cNvPicPr>
          <p:nvPr/>
        </p:nvPicPr>
        <p:blipFill>
          <a:blip r:embed="rId3"/>
          <a:stretch>
            <a:fillRect/>
          </a:stretch>
        </p:blipFill>
        <p:spPr>
          <a:xfrm>
            <a:off x="822960" y="5394960"/>
            <a:ext cx="548640" cy="548640"/>
          </a:xfrm>
          <a:prstGeom prst="rect">
            <a:avLst/>
          </a:prstGeom>
        </p:spPr>
      </p:pic>
      <p:pic>
        <p:nvPicPr>
          <p:cNvPr id="6" name="Image 1" descr="/tmp/claude-0/-home-claude/bb2dbc6e-f574-5e99-8510-889b704da121/scratchpad/decks/logos/android.png"/>
          <p:cNvPicPr>
            <a:picLocks noChangeAspect="1"/>
          </p:cNvPicPr>
          <p:nvPr/>
        </p:nvPicPr>
        <p:blipFill>
          <a:blip r:embed="rId4"/>
          <a:stretch>
            <a:fillRect/>
          </a:stretch>
        </p:blipFill>
        <p:spPr>
          <a:xfrm>
            <a:off x="1828800" y="5394960"/>
            <a:ext cx="548640" cy="548640"/>
          </a:xfrm>
          <a:prstGeom prst="rect">
            <a:avLst/>
          </a:prstGeom>
        </p:spPr>
      </p:pic>
      <p:pic>
        <p:nvPicPr>
          <p:cNvPr id="7" name="Image 2" descr="/tmp/claude-0/-home-claude/bb2dbc6e-f574-5e99-8510-889b704da121/scratchpad/decks/logos/ios.png"/>
          <p:cNvPicPr>
            <a:picLocks noChangeAspect="1"/>
          </p:cNvPicPr>
          <p:nvPr/>
        </p:nvPicPr>
        <p:blipFill>
          <a:blip r:embed="rId5"/>
          <a:stretch>
            <a:fillRect/>
          </a:stretch>
        </p:blipFill>
        <p:spPr>
          <a:xfrm>
            <a:off x="2834640" y="5394960"/>
            <a:ext cx="548640" cy="548640"/>
          </a:xfrm>
          <a:prstGeom prst="rect">
            <a:avLst/>
          </a:prstGeom>
        </p:spPr>
      </p:pic>
      <p:pic>
        <p:nvPicPr>
          <p:cNvPr id="8" name="Image 3" descr="/tmp/claude-0/-home-claude/bb2dbc6e-f574-5e99-8510-889b704da121/scratchpad/decks/logos/play.png"/>
          <p:cNvPicPr>
            <a:picLocks noChangeAspect="1"/>
          </p:cNvPicPr>
          <p:nvPr/>
        </p:nvPicPr>
        <p:blipFill>
          <a:blip r:embed="rId6"/>
          <a:stretch>
            <a:fillRect/>
          </a:stretch>
        </p:blipFill>
        <p:spPr>
          <a:xfrm>
            <a:off x="3840480" y="5394960"/>
            <a:ext cx="548640" cy="548640"/>
          </a:xfrm>
          <a:prstGeom prst="rect">
            <a:avLst/>
          </a:prstGeom>
        </p:spPr>
      </p:pic>
      <p:pic>
        <p:nvPicPr>
          <p:cNvPr id="9" name="Image 4" descr="/tmp/claude-0/-home-claude/bb2dbc6e-f574-5e99-8510-889b704da121/scratchpad/decks/logos/appstore.png"/>
          <p:cNvPicPr>
            <a:picLocks noChangeAspect="1"/>
          </p:cNvPicPr>
          <p:nvPr/>
        </p:nvPicPr>
        <p:blipFill>
          <a:blip r:embed="rId7"/>
          <a:stretch>
            <a:fillRect/>
          </a:stretch>
        </p:blipFill>
        <p:spPr>
          <a:xfrm>
            <a:off x="4846320" y="5394960"/>
            <a:ext cx="548640" cy="548640"/>
          </a:xfrm>
          <a:prstGeom prst="rect">
            <a:avLst/>
          </a:prstGeom>
        </p:spPr>
      </p:pic>
      <p:pic>
        <p:nvPicPr>
          <p:cNvPr id="10" name="Image 5" descr="/tmp/claude-0/-home-claude/bb2dbc6e-f574-5e99-8510-889b704da121/scratchpad/decks/logos/kotlin.png"/>
          <p:cNvPicPr>
            <a:picLocks noChangeAspect="1"/>
          </p:cNvPicPr>
          <p:nvPr/>
        </p:nvPicPr>
        <p:blipFill>
          <a:blip r:embed="rId8"/>
          <a:stretch>
            <a:fillRect/>
          </a:stretch>
        </p:blipFill>
        <p:spPr>
          <a:xfrm>
            <a:off x="5852160" y="5394960"/>
            <a:ext cx="548640" cy="548640"/>
          </a:xfrm>
          <a:prstGeom prst="rect">
            <a:avLst/>
          </a:prstGeom>
        </p:spPr>
      </p:pic>
      <p:pic>
        <p:nvPicPr>
          <p:cNvPr id="11" name="Image 6" descr="/tmp/claude-0/-home-claude/bb2dbc6e-f574-5e99-8510-889b704da121/scratchpad/decks/logos/flutter.png"/>
          <p:cNvPicPr>
            <a:picLocks noChangeAspect="1"/>
          </p:cNvPicPr>
          <p:nvPr/>
        </p:nvPicPr>
        <p:blipFill>
          <a:blip r:embed="rId9"/>
          <a:stretch>
            <a:fillRect/>
          </a:stretch>
        </p:blipFill>
        <p:spPr>
          <a:xfrm>
            <a:off x="6858000" y="5394960"/>
            <a:ext cx="548640" cy="548640"/>
          </a:xfrm>
          <a:prstGeom prst="rect">
            <a:avLst/>
          </a:prstGeom>
        </p:spPr>
      </p:pic>
      <p:pic>
        <p:nvPicPr>
          <p:cNvPr id="12" name="Image 7" descr="/tmp/claude-0/-home-claude/bb2dbc6e-f574-5e99-8510-889b704da121/scratchpad/decks/logos/swift.png"/>
          <p:cNvPicPr>
            <a:picLocks noChangeAspect="1"/>
          </p:cNvPicPr>
          <p:nvPr/>
        </p:nvPicPr>
        <p:blipFill>
          <a:blip r:embed="rId10"/>
          <a:stretch>
            <a:fillRect/>
          </a:stretch>
        </p:blipFill>
        <p:spPr>
          <a:xfrm>
            <a:off x="7863840" y="5394960"/>
            <a:ext cx="548640" cy="548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Bu Hafta Neyi Öğreneceğiz?</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828800"/>
            <a:ext cx="3474720" cy="3474720"/>
          </a:xfrm>
          <a:prstGeom prst="roundRect">
            <a:avLst>
              <a:gd name="adj" fmla="val 2632"/>
            </a:avLst>
          </a:prstGeom>
          <a:solidFill>
            <a:srgbClr val="EFF6FF"/>
          </a:solidFill>
          <a:ln w="9525">
            <a:solidFill>
              <a:srgbClr val="EFF6FF"/>
            </a:solidFill>
            <a:prstDash val="solid"/>
          </a:ln>
        </p:spPr>
      </p:sp>
      <p:sp>
        <p:nvSpPr>
          <p:cNvPr id="5" name="Text 3"/>
          <p:cNvSpPr txBox="1"/>
          <p:nvPr/>
        </p:nvSpPr>
        <p:spPr>
          <a:xfrm>
            <a:off x="1005840" y="2057400"/>
            <a:ext cx="914400" cy="822960"/>
          </a:xfrm>
          <a:prstGeom prst="rect">
            <a:avLst/>
          </a:prstGeom>
          <a:noFill/>
          <a:ln/>
        </p:spPr>
        <p:txBody>
          <a:bodyPr wrap="square" lIns="0" tIns="0" rIns="0" bIns="0" rtlCol="0" anchor="ctr"/>
          <a:lstStyle/>
          <a:p>
            <a:pPr marL="0" indent="0" algn="l">
              <a:buNone/>
            </a:pPr>
            <a:r>
              <a:rPr lang="en-US" sz="4800" b="1" dirty="0">
                <a:solidFill>
                  <a:srgbClr val="2563EB"/>
                </a:solidFill>
                <a:latin typeface="Arial" pitchFamily="34" charset="0"/>
                <a:ea typeface="Arial" pitchFamily="34" charset="-122"/>
                <a:cs typeface="Arial" pitchFamily="34" charset="-120"/>
              </a:rPr>
              <a:t>1</a:t>
            </a:r>
            <a:endParaRPr lang="en-US" sz="4800" dirty="0"/>
          </a:p>
        </p:txBody>
      </p:sp>
      <p:sp>
        <p:nvSpPr>
          <p:cNvPr id="6" name="Text 4"/>
          <p:cNvSpPr txBox="1"/>
          <p:nvPr/>
        </p:nvSpPr>
        <p:spPr>
          <a:xfrm>
            <a:off x="1005840" y="3017520"/>
            <a:ext cx="2926080" cy="2194560"/>
          </a:xfrm>
          <a:prstGeom prst="rect">
            <a:avLst/>
          </a:prstGeom>
          <a:noFill/>
          <a:ln/>
        </p:spPr>
        <p:txBody>
          <a:bodyPr wrap="square" lIns="0" tIns="0" rIns="0" bIns="0" rtlCol="0" anchor="t"/>
          <a:lstStyle/>
          <a:p>
            <a:pPr marL="0" indent="0" algn="l">
              <a:buNone/>
            </a:pPr>
            <a:r>
              <a:rPr lang="en-US" sz="1900" dirty="0">
                <a:solidFill>
                  <a:srgbClr val="111827"/>
                </a:solidFill>
                <a:latin typeface="Arial" pitchFamily="34" charset="0"/>
                <a:ea typeface="Arial" pitchFamily="34" charset="-122"/>
                <a:cs typeface="Arial" pitchFamily="34" charset="-120"/>
              </a:rPr>
              <a:t>JavaScript kodunun hangi hataları çalışma anında verdiğini ve TypeScript'in bunları derleme anında nasıl yakaladığını açıklarsınız.</a:t>
            </a:r>
            <a:endParaRPr lang="en-US" sz="1900" dirty="0"/>
          </a:p>
        </p:txBody>
      </p:sp>
      <p:sp>
        <p:nvSpPr>
          <p:cNvPr id="7" name="Shape 5"/>
          <p:cNvSpPr/>
          <p:nvPr/>
        </p:nvSpPr>
        <p:spPr>
          <a:xfrm>
            <a:off x="4480560" y="1828800"/>
            <a:ext cx="3474720" cy="3474720"/>
          </a:xfrm>
          <a:prstGeom prst="roundRect">
            <a:avLst>
              <a:gd name="adj" fmla="val 2632"/>
            </a:avLst>
          </a:prstGeom>
          <a:solidFill>
            <a:srgbClr val="EFF6FF"/>
          </a:solidFill>
          <a:ln w="9525">
            <a:solidFill>
              <a:srgbClr val="EFF6FF"/>
            </a:solidFill>
            <a:prstDash val="solid"/>
          </a:ln>
        </p:spPr>
      </p:sp>
      <p:sp>
        <p:nvSpPr>
          <p:cNvPr id="8" name="Text 6"/>
          <p:cNvSpPr txBox="1"/>
          <p:nvPr/>
        </p:nvSpPr>
        <p:spPr>
          <a:xfrm>
            <a:off x="4754880" y="2057400"/>
            <a:ext cx="914400" cy="822960"/>
          </a:xfrm>
          <a:prstGeom prst="rect">
            <a:avLst/>
          </a:prstGeom>
          <a:noFill/>
          <a:ln/>
        </p:spPr>
        <p:txBody>
          <a:bodyPr wrap="square" lIns="0" tIns="0" rIns="0" bIns="0" rtlCol="0" anchor="ctr"/>
          <a:lstStyle/>
          <a:p>
            <a:pPr marL="0" indent="0" algn="l">
              <a:buNone/>
            </a:pPr>
            <a:r>
              <a:rPr lang="en-US" sz="4800" b="1" dirty="0">
                <a:solidFill>
                  <a:srgbClr val="2563EB"/>
                </a:solidFill>
                <a:latin typeface="Arial" pitchFamily="34" charset="0"/>
                <a:ea typeface="Arial" pitchFamily="34" charset="-122"/>
                <a:cs typeface="Arial" pitchFamily="34" charset="-120"/>
              </a:rPr>
              <a:t>2</a:t>
            </a:r>
            <a:endParaRPr lang="en-US" sz="4800" dirty="0"/>
          </a:p>
        </p:txBody>
      </p:sp>
      <p:sp>
        <p:nvSpPr>
          <p:cNvPr id="9" name="Text 7"/>
          <p:cNvSpPr txBox="1"/>
          <p:nvPr/>
        </p:nvSpPr>
        <p:spPr>
          <a:xfrm>
            <a:off x="4754880" y="3017520"/>
            <a:ext cx="2926080" cy="2194560"/>
          </a:xfrm>
          <a:prstGeom prst="rect">
            <a:avLst/>
          </a:prstGeom>
          <a:noFill/>
          <a:ln/>
        </p:spPr>
        <p:txBody>
          <a:bodyPr wrap="square" lIns="0" tIns="0" rIns="0" bIns="0" rtlCol="0" anchor="t"/>
          <a:lstStyle/>
          <a:p>
            <a:pPr marL="0" indent="0" algn="l">
              <a:buNone/>
            </a:pPr>
            <a:r>
              <a:rPr lang="en-US" sz="1900" dirty="0">
                <a:solidFill>
                  <a:srgbClr val="111827"/>
                </a:solidFill>
                <a:latin typeface="Arial" pitchFamily="34" charset="0"/>
                <a:ea typeface="Arial" pitchFamily="34" charset="-122"/>
                <a:cs typeface="Arial" pitchFamily="34" charset="-120"/>
              </a:rPr>
              <a:t>Temel tipler, union, null güvenliği, narrowing ve fonksiyon tipleriyle güvenli kod yazarsınız.</a:t>
            </a:r>
            <a:endParaRPr lang="en-US" sz="1900" dirty="0"/>
          </a:p>
        </p:txBody>
      </p:sp>
      <p:sp>
        <p:nvSpPr>
          <p:cNvPr id="10" name="Shape 8"/>
          <p:cNvSpPr/>
          <p:nvPr/>
        </p:nvSpPr>
        <p:spPr>
          <a:xfrm>
            <a:off x="8229600" y="1828800"/>
            <a:ext cx="3474720" cy="3474720"/>
          </a:xfrm>
          <a:prstGeom prst="roundRect">
            <a:avLst>
              <a:gd name="adj" fmla="val 2632"/>
            </a:avLst>
          </a:prstGeom>
          <a:solidFill>
            <a:srgbClr val="EFF6FF"/>
          </a:solidFill>
          <a:ln w="9525">
            <a:solidFill>
              <a:srgbClr val="EFF6FF"/>
            </a:solidFill>
            <a:prstDash val="solid"/>
          </a:ln>
        </p:spPr>
      </p:sp>
      <p:sp>
        <p:nvSpPr>
          <p:cNvPr id="11" name="Text 9"/>
          <p:cNvSpPr txBox="1"/>
          <p:nvPr/>
        </p:nvSpPr>
        <p:spPr>
          <a:xfrm>
            <a:off x="8503920" y="2057400"/>
            <a:ext cx="914400" cy="822960"/>
          </a:xfrm>
          <a:prstGeom prst="rect">
            <a:avLst/>
          </a:prstGeom>
          <a:noFill/>
          <a:ln/>
        </p:spPr>
        <p:txBody>
          <a:bodyPr wrap="square" lIns="0" tIns="0" rIns="0" bIns="0" rtlCol="0" anchor="ctr"/>
          <a:lstStyle/>
          <a:p>
            <a:pPr marL="0" indent="0" algn="l">
              <a:buNone/>
            </a:pPr>
            <a:r>
              <a:rPr lang="en-US" sz="4800" b="1" dirty="0">
                <a:solidFill>
                  <a:srgbClr val="2563EB"/>
                </a:solidFill>
                <a:latin typeface="Arial" pitchFamily="34" charset="0"/>
                <a:ea typeface="Arial" pitchFamily="34" charset="-122"/>
                <a:cs typeface="Arial" pitchFamily="34" charset="-120"/>
              </a:rPr>
              <a:t>3</a:t>
            </a:r>
            <a:endParaRPr lang="en-US" sz="4800" dirty="0"/>
          </a:p>
        </p:txBody>
      </p:sp>
      <p:sp>
        <p:nvSpPr>
          <p:cNvPr id="12" name="Text 10"/>
          <p:cNvSpPr txBox="1"/>
          <p:nvPr/>
        </p:nvSpPr>
        <p:spPr>
          <a:xfrm>
            <a:off x="8503920" y="3017520"/>
            <a:ext cx="2926080" cy="2194560"/>
          </a:xfrm>
          <a:prstGeom prst="rect">
            <a:avLst/>
          </a:prstGeom>
          <a:noFill/>
          <a:ln/>
        </p:spPr>
        <p:txBody>
          <a:bodyPr wrap="square" lIns="0" tIns="0" rIns="0" bIns="0" rtlCol="0" anchor="t"/>
          <a:lstStyle/>
          <a:p>
            <a:pPr marL="0" indent="0" algn="l">
              <a:buNone/>
            </a:pPr>
            <a:r>
              <a:rPr lang="en-US" sz="1900" dirty="0">
                <a:solidFill>
                  <a:srgbClr val="111827"/>
                </a:solidFill>
                <a:latin typeface="Arial" pitchFamily="34" charset="0"/>
                <a:ea typeface="Arial" pitchFamily="34" charset="-122"/>
                <a:cs typeface="Arial" pitchFamily="34" charset="-120"/>
              </a:rPr>
              <a:t>interface, type, sınıf ve generic yapılarını tanır, React Native kodunda karşılaştığınızda okuyabilirsiniz.</a:t>
            </a:r>
            <a:endParaRPr lang="en-US" sz="19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err="1">
                <a:solidFill>
                  <a:srgbClr val="111827"/>
                </a:solidFill>
                <a:latin typeface="Arial" pitchFamily="34" charset="0"/>
                <a:ea typeface="Arial" pitchFamily="34" charset="-122"/>
                <a:cs typeface="Arial" pitchFamily="34" charset="-120"/>
              </a:rPr>
              <a:t>Ders</a:t>
            </a:r>
            <a:r>
              <a:rPr lang="en-US" sz="3200" b="1" dirty="0">
                <a:solidFill>
                  <a:srgbClr val="111827"/>
                </a:solidFill>
                <a:latin typeface="Arial" pitchFamily="34" charset="0"/>
                <a:ea typeface="Arial" pitchFamily="34" charset="-122"/>
                <a:cs typeface="Arial" pitchFamily="34" charset="-120"/>
              </a:rPr>
              <a:t> Akışı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1989734" cy="1051560"/>
          </a:xfrm>
          <a:prstGeom prst="roundRect">
            <a:avLst>
              <a:gd name="adj" fmla="val 8696"/>
            </a:avLst>
          </a:prstGeom>
          <a:solidFill>
            <a:srgbClr val="EFF6FF"/>
          </a:solidFill>
          <a:ln w="9525">
            <a:solidFill>
              <a:srgbClr val="EFF6FF"/>
            </a:solidFill>
            <a:prstDash val="solid"/>
          </a:ln>
        </p:spPr>
      </p:sp>
      <p:sp>
        <p:nvSpPr>
          <p:cNvPr id="5" name="Text 3"/>
          <p:cNvSpPr txBox="1"/>
          <p:nvPr/>
        </p:nvSpPr>
        <p:spPr>
          <a:xfrm>
            <a:off x="868680" y="1737360"/>
            <a:ext cx="1715414"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1</a:t>
            </a:r>
            <a:endParaRPr lang="en-US" sz="1200" dirty="0"/>
          </a:p>
          <a:p>
            <a:pPr marL="0" indent="0" algn="l">
              <a:buNone/>
            </a:pPr>
            <a:r>
              <a:rPr lang="en-US" sz="1400" b="1" dirty="0">
                <a:solidFill>
                  <a:srgbClr val="111827"/>
                </a:solidFill>
                <a:latin typeface="Arial" pitchFamily="34" charset="0"/>
                <a:ea typeface="Arial" pitchFamily="34" charset="-122"/>
                <a:cs typeface="Arial" pitchFamily="34" charset="-120"/>
              </a:rPr>
              <a:t>JS'ten TS'e</a:t>
            </a:r>
            <a:endParaRPr lang="en-US" sz="1200" dirty="0"/>
          </a:p>
        </p:txBody>
      </p:sp>
      <p:sp>
        <p:nvSpPr>
          <p:cNvPr id="6" name="Text 4"/>
          <p:cNvSpPr txBox="1"/>
          <p:nvPr/>
        </p:nvSpPr>
        <p:spPr>
          <a:xfrm>
            <a:off x="2721254"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7" name="Shape 5"/>
          <p:cNvSpPr/>
          <p:nvPr/>
        </p:nvSpPr>
        <p:spPr>
          <a:xfrm>
            <a:off x="2977286" y="1645920"/>
            <a:ext cx="1989734" cy="1051560"/>
          </a:xfrm>
          <a:prstGeom prst="roundRect">
            <a:avLst>
              <a:gd name="adj" fmla="val 8696"/>
            </a:avLst>
          </a:prstGeom>
          <a:solidFill>
            <a:srgbClr val="EFF6FF"/>
          </a:solidFill>
          <a:ln w="9525">
            <a:solidFill>
              <a:srgbClr val="EFF6FF"/>
            </a:solidFill>
            <a:prstDash val="solid"/>
          </a:ln>
        </p:spPr>
      </p:sp>
      <p:sp>
        <p:nvSpPr>
          <p:cNvPr id="8" name="Text 6"/>
          <p:cNvSpPr txBox="1"/>
          <p:nvPr/>
        </p:nvSpPr>
        <p:spPr>
          <a:xfrm>
            <a:off x="3114446" y="1737360"/>
            <a:ext cx="1715414"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2</a:t>
            </a:r>
            <a:endParaRPr lang="en-US" sz="1200" dirty="0"/>
          </a:p>
          <a:p>
            <a:pPr marL="0" indent="0" algn="l">
              <a:buNone/>
            </a:pPr>
            <a:r>
              <a:rPr lang="en-US" sz="1400" b="1" dirty="0">
                <a:solidFill>
                  <a:srgbClr val="111827"/>
                </a:solidFill>
                <a:latin typeface="Arial" pitchFamily="34" charset="0"/>
                <a:ea typeface="Arial" pitchFamily="34" charset="-122"/>
                <a:cs typeface="Arial" pitchFamily="34" charset="-120"/>
              </a:rPr>
              <a:t>Tip güvenliği</a:t>
            </a:r>
            <a:endParaRPr lang="en-US" sz="1200" dirty="0"/>
          </a:p>
        </p:txBody>
      </p:sp>
      <p:sp>
        <p:nvSpPr>
          <p:cNvPr id="9" name="Text 7"/>
          <p:cNvSpPr txBox="1"/>
          <p:nvPr/>
        </p:nvSpPr>
        <p:spPr>
          <a:xfrm>
            <a:off x="4967021"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0" name="Shape 8"/>
          <p:cNvSpPr/>
          <p:nvPr/>
        </p:nvSpPr>
        <p:spPr>
          <a:xfrm>
            <a:off x="5223053" y="1645920"/>
            <a:ext cx="1989734" cy="1051560"/>
          </a:xfrm>
          <a:prstGeom prst="roundRect">
            <a:avLst>
              <a:gd name="adj" fmla="val 8696"/>
            </a:avLst>
          </a:prstGeom>
          <a:solidFill>
            <a:srgbClr val="EFF6FF"/>
          </a:solidFill>
          <a:ln w="9525">
            <a:solidFill>
              <a:srgbClr val="EFF6FF"/>
            </a:solidFill>
            <a:prstDash val="solid"/>
          </a:ln>
        </p:spPr>
      </p:sp>
      <p:sp>
        <p:nvSpPr>
          <p:cNvPr id="11" name="Text 9"/>
          <p:cNvSpPr txBox="1"/>
          <p:nvPr/>
        </p:nvSpPr>
        <p:spPr>
          <a:xfrm>
            <a:off x="5360213" y="1737360"/>
            <a:ext cx="1715414"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3</a:t>
            </a:r>
            <a:endParaRPr lang="en-US" sz="1200" dirty="0"/>
          </a:p>
          <a:p>
            <a:pPr marL="0" indent="0" algn="l">
              <a:buNone/>
            </a:pPr>
            <a:r>
              <a:rPr lang="en-US" sz="1400" b="1" dirty="0">
                <a:solidFill>
                  <a:srgbClr val="111827"/>
                </a:solidFill>
                <a:latin typeface="Arial" pitchFamily="34" charset="0"/>
                <a:ea typeface="Arial" pitchFamily="34" charset="-122"/>
                <a:cs typeface="Arial" pitchFamily="34" charset="-120"/>
              </a:rPr>
              <a:t>Nesne tipleri</a:t>
            </a:r>
            <a:endParaRPr lang="en-US" sz="1200" dirty="0"/>
          </a:p>
        </p:txBody>
      </p:sp>
      <p:sp>
        <p:nvSpPr>
          <p:cNvPr id="12" name="Text 10"/>
          <p:cNvSpPr txBox="1"/>
          <p:nvPr/>
        </p:nvSpPr>
        <p:spPr>
          <a:xfrm>
            <a:off x="7212787"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3" name="Shape 11"/>
          <p:cNvSpPr/>
          <p:nvPr/>
        </p:nvSpPr>
        <p:spPr>
          <a:xfrm>
            <a:off x="7468819" y="1645920"/>
            <a:ext cx="1989734" cy="1051560"/>
          </a:xfrm>
          <a:prstGeom prst="roundRect">
            <a:avLst>
              <a:gd name="adj" fmla="val 8696"/>
            </a:avLst>
          </a:prstGeom>
          <a:solidFill>
            <a:srgbClr val="EFF6FF"/>
          </a:solidFill>
          <a:ln w="9525">
            <a:solidFill>
              <a:srgbClr val="EFF6FF"/>
            </a:solidFill>
            <a:prstDash val="solid"/>
          </a:ln>
        </p:spPr>
      </p:sp>
      <p:sp>
        <p:nvSpPr>
          <p:cNvPr id="14" name="Text 12"/>
          <p:cNvSpPr txBox="1"/>
          <p:nvPr/>
        </p:nvSpPr>
        <p:spPr>
          <a:xfrm>
            <a:off x="7605979" y="1737360"/>
            <a:ext cx="1715414"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4</a:t>
            </a:r>
            <a:endParaRPr lang="en-US" sz="1200" dirty="0"/>
          </a:p>
          <a:p>
            <a:pPr marL="0" indent="0" algn="l">
              <a:buNone/>
            </a:pPr>
            <a:r>
              <a:rPr lang="en-US" sz="1400" b="1" dirty="0">
                <a:solidFill>
                  <a:srgbClr val="111827"/>
                </a:solidFill>
                <a:latin typeface="Arial" pitchFamily="34" charset="0"/>
                <a:ea typeface="Arial" pitchFamily="34" charset="-122"/>
                <a:cs typeface="Arial" pitchFamily="34" charset="-120"/>
              </a:rPr>
              <a:t>Sınıflar ve generic</a:t>
            </a:r>
            <a:endParaRPr lang="en-US" sz="1200" dirty="0"/>
          </a:p>
        </p:txBody>
      </p:sp>
      <p:sp>
        <p:nvSpPr>
          <p:cNvPr id="15" name="Text 13"/>
          <p:cNvSpPr txBox="1"/>
          <p:nvPr/>
        </p:nvSpPr>
        <p:spPr>
          <a:xfrm>
            <a:off x="9458554"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6" name="Shape 14"/>
          <p:cNvSpPr/>
          <p:nvPr/>
        </p:nvSpPr>
        <p:spPr>
          <a:xfrm>
            <a:off x="9714586" y="1645920"/>
            <a:ext cx="1989734" cy="1051560"/>
          </a:xfrm>
          <a:prstGeom prst="roundRect">
            <a:avLst>
              <a:gd name="adj" fmla="val 8696"/>
            </a:avLst>
          </a:prstGeom>
          <a:solidFill>
            <a:srgbClr val="2563EB"/>
          </a:solidFill>
          <a:ln w="9525">
            <a:solidFill>
              <a:srgbClr val="2563EB"/>
            </a:solidFill>
            <a:prstDash val="solid"/>
          </a:ln>
        </p:spPr>
      </p:sp>
      <p:sp>
        <p:nvSpPr>
          <p:cNvPr id="17" name="Text 15"/>
          <p:cNvSpPr txBox="1"/>
          <p:nvPr/>
        </p:nvSpPr>
        <p:spPr>
          <a:xfrm>
            <a:off x="9851746" y="1737360"/>
            <a:ext cx="1715414" cy="868680"/>
          </a:xfrm>
          <a:prstGeom prst="rect">
            <a:avLst/>
          </a:prstGeom>
          <a:noFill/>
          <a:ln/>
        </p:spPr>
        <p:txBody>
          <a:bodyPr wrap="square" lIns="0" tIns="0" rIns="0" bIns="0" rtlCol="0" anchor="ctr">
            <a:normAutofit/>
          </a:bodyPr>
          <a:lstStyle/>
          <a:p>
            <a:pPr marL="0" indent="0" algn="l">
              <a:buNone/>
            </a:pPr>
            <a:r>
              <a:rPr lang="en-US" sz="1200" b="1" dirty="0">
                <a:solidFill>
                  <a:srgbClr val="FFFFFF"/>
                </a:solidFill>
                <a:latin typeface="Arial" pitchFamily="34" charset="0"/>
                <a:ea typeface="Arial" pitchFamily="34" charset="-122"/>
                <a:cs typeface="Arial" pitchFamily="34" charset="-120"/>
              </a:rPr>
              <a:t>5</a:t>
            </a:r>
            <a:endParaRPr lang="en-US" sz="1200" dirty="0"/>
          </a:p>
          <a:p>
            <a:pPr marL="0" indent="0" algn="l">
              <a:buNone/>
            </a:pPr>
            <a:r>
              <a:rPr lang="en-US" sz="1400" b="1" dirty="0">
                <a:solidFill>
                  <a:srgbClr val="FFFFFF"/>
                </a:solidFill>
                <a:latin typeface="Arial" pitchFamily="34" charset="0"/>
                <a:ea typeface="Arial" pitchFamily="34" charset="-122"/>
                <a:cs typeface="Arial" pitchFamily="34" charset="-120"/>
              </a:rPr>
              <a:t>Uygulama</a:t>
            </a:r>
            <a:endParaRPr lang="en-US" sz="1200" dirty="0"/>
          </a:p>
        </p:txBody>
      </p:sp>
      <p:sp>
        <p:nvSpPr>
          <p:cNvPr id="18" name="Text 16"/>
          <p:cNvSpPr txBox="1"/>
          <p:nvPr/>
        </p:nvSpPr>
        <p:spPr>
          <a:xfrm>
            <a:off x="731520" y="3017520"/>
            <a:ext cx="10972800" cy="3291840"/>
          </a:xfrm>
          <a:prstGeom prst="rect">
            <a:avLst/>
          </a:prstGeom>
          <a:noFill/>
          <a:ln/>
        </p:spPr>
        <p:txBody>
          <a:bodyPr wrap="square" lIns="0" tIns="0" rIns="0" bIns="0" rtlCol="0" anchor="t"/>
          <a:lstStyle/>
          <a:p>
            <a:pPr marL="0" indent="0" algn="just">
              <a:spcAft>
                <a:spcPts val="800"/>
              </a:spcAft>
              <a:buNone/>
            </a:pPr>
            <a:r>
              <a:rPr lang="en-US" sz="2200" dirty="0">
                <a:solidFill>
                  <a:srgbClr val="111827"/>
                </a:solidFill>
                <a:latin typeface="Arial" pitchFamily="34" charset="0"/>
                <a:ea typeface="Arial" pitchFamily="34" charset="-122"/>
                <a:cs typeface="Arial" pitchFamily="34" charset="-120"/>
              </a:rPr>
              <a:t>Önce TypeScript'in neden var olduğunu bir hata örneğiyle görüyoruz. Sonra tip güvenliğinin temel araçlarını, ardından nesne şekillerini tanımlayan interface ve type yapılarını işliyoruz. Dördüncü bölümde sınıflar ve generic'e kısa bir giriş yapıyoruz. Son saatte bir görev yönetimi modelini tiplerle yazıyorsunuz.</a:t>
            </a:r>
            <a:endParaRPr lang="en-US" sz="22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822960" y="2194560"/>
            <a:ext cx="7315200" cy="365760"/>
          </a:xfrm>
          <a:prstGeom prst="rect">
            <a:avLst/>
          </a:prstGeom>
          <a:noFill/>
          <a:ln/>
        </p:spPr>
        <p:txBody>
          <a:bodyPr wrap="square" lIns="0" tIns="0" rIns="0" bIns="0" rtlCol="0" anchor="ctr"/>
          <a:lstStyle/>
          <a:p>
            <a:pPr marL="0" indent="0" algn="l">
              <a:buNone/>
            </a:pPr>
            <a:r>
              <a:rPr lang="en-US" sz="1600" b="1" kern="0" spc="400" dirty="0">
                <a:solidFill>
                  <a:srgbClr val="2563EB"/>
                </a:solidFill>
                <a:latin typeface="Arial" pitchFamily="34" charset="0"/>
                <a:ea typeface="Arial" pitchFamily="34" charset="-122"/>
                <a:cs typeface="Arial" pitchFamily="34" charset="-120"/>
              </a:rPr>
              <a:t>BÖLÜM 1</a:t>
            </a:r>
            <a:endParaRPr lang="en-US" sz="1600" dirty="0"/>
          </a:p>
        </p:txBody>
      </p:sp>
      <p:sp>
        <p:nvSpPr>
          <p:cNvPr id="3" name="Text 1"/>
          <p:cNvSpPr txBox="1"/>
          <p:nvPr/>
        </p:nvSpPr>
        <p:spPr>
          <a:xfrm>
            <a:off x="822960" y="2651760"/>
            <a:ext cx="10058400" cy="1371600"/>
          </a:xfrm>
          <a:prstGeom prst="rect">
            <a:avLst/>
          </a:prstGeom>
          <a:noFill/>
          <a:ln/>
        </p:spPr>
        <p:txBody>
          <a:bodyPr wrap="square" lIns="0" tIns="0" rIns="0" bIns="0" rtlCol="0" anchor="t"/>
          <a:lstStyle/>
          <a:p>
            <a:pPr marL="0" indent="0" algn="l">
              <a:buNone/>
            </a:pPr>
            <a:r>
              <a:rPr lang="en-US" sz="4400" b="1" dirty="0">
                <a:solidFill>
                  <a:srgbClr val="111827"/>
                </a:solidFill>
                <a:latin typeface="Arial" pitchFamily="34" charset="0"/>
                <a:ea typeface="Arial" pitchFamily="34" charset="-122"/>
                <a:cs typeface="Arial" pitchFamily="34" charset="-120"/>
              </a:rPr>
              <a:t>TypeScript'e Geçiş</a:t>
            </a:r>
            <a:endParaRPr lang="en-US" sz="4400" dirty="0"/>
          </a:p>
        </p:txBody>
      </p:sp>
      <p:sp>
        <p:nvSpPr>
          <p:cNvPr id="4" name="Text 2"/>
          <p:cNvSpPr txBox="1"/>
          <p:nvPr/>
        </p:nvSpPr>
        <p:spPr>
          <a:xfrm>
            <a:off x="822960" y="4114800"/>
            <a:ext cx="9144000" cy="548640"/>
          </a:xfrm>
          <a:prstGeom prst="rect">
            <a:avLst/>
          </a:prstGeom>
          <a:noFill/>
          <a:ln/>
        </p:spPr>
        <p:txBody>
          <a:bodyPr wrap="square" lIns="0" tIns="0" rIns="0" bIns="0" rtlCol="0" anchor="ctr"/>
          <a:lstStyle/>
          <a:p>
            <a:pPr marL="0" indent="0" algn="l">
              <a:buNone/>
            </a:pPr>
            <a:r>
              <a:rPr lang="en-US" sz="2200" dirty="0">
                <a:solidFill>
                  <a:srgbClr val="6B7280"/>
                </a:solidFill>
                <a:latin typeface="Arial" pitchFamily="34" charset="0"/>
                <a:ea typeface="Arial" pitchFamily="34" charset="-122"/>
                <a:cs typeface="Arial" pitchFamily="34" charset="-120"/>
              </a:rPr>
              <a:t>Neden, nasıl, hangi ayarlarla</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JavaScript'in Yakalamadığı Hata</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1911096"/>
          </a:xfrm>
          <a:prstGeom prst="roundRect">
            <a:avLst>
              <a:gd name="adj" fmla="val 478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JS</a:t>
            </a:r>
            <a:endParaRPr lang="en-US" sz="1100" dirty="0"/>
          </a:p>
        </p:txBody>
      </p:sp>
      <p:sp>
        <p:nvSpPr>
          <p:cNvPr id="6" name="Text 4"/>
          <p:cNvSpPr txBox="1"/>
          <p:nvPr/>
        </p:nvSpPr>
        <p:spPr>
          <a:xfrm>
            <a:off x="960120" y="2103120"/>
            <a:ext cx="6309360" cy="1362456"/>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function</a:t>
            </a:r>
            <a:r>
              <a:rPr lang="en-US" sz="1600" dirty="0">
                <a:solidFill>
                  <a:srgbClr val="111827"/>
                </a:solidFill>
                <a:latin typeface="Courier New" pitchFamily="34" charset="0"/>
                <a:ea typeface="Courier New" pitchFamily="34" charset="-122"/>
                <a:cs typeface="Courier New" pitchFamily="34" charset="-120"/>
              </a:rPr>
              <a:t> shout(text)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text.toUpperCase();</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console.log(shout(</a:t>
            </a:r>
            <a:r>
              <a:rPr lang="en-US" sz="1600" dirty="0">
                <a:solidFill>
                  <a:srgbClr val="047857"/>
                </a:solidFill>
                <a:latin typeface="Courier New" pitchFamily="34" charset="0"/>
                <a:ea typeface="Courier New" pitchFamily="34" charset="-122"/>
                <a:cs typeface="Courier New" pitchFamily="34" charset="-120"/>
              </a:rPr>
              <a:t>"merhaba"</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console.log(shout(</a:t>
            </a:r>
            <a:r>
              <a:rPr lang="en-US" sz="1600" dirty="0">
                <a:solidFill>
                  <a:srgbClr val="B45309"/>
                </a:solidFill>
                <a:latin typeface="Courier New" pitchFamily="34" charset="0"/>
                <a:ea typeface="Courier New" pitchFamily="34" charset="-122"/>
                <a:cs typeface="Courier New" pitchFamily="34" charset="-120"/>
              </a:rPr>
              <a:t>42</a:t>
            </a:r>
            <a:r>
              <a:rPr lang="en-US" sz="1600" dirty="0">
                <a:solidFill>
                  <a:srgbClr val="111827"/>
                </a:solidFill>
                <a:latin typeface="Courier New" pitchFamily="34" charset="0"/>
                <a:ea typeface="Courier New" pitchFamily="34" charset="-122"/>
                <a:cs typeface="Courier New" pitchFamily="34" charset="-120"/>
              </a:rPr>
              <a:t>));  </a:t>
            </a:r>
            <a:r>
              <a:rPr lang="en-US" sz="1600" i="1" dirty="0">
                <a:solidFill>
                  <a:srgbClr val="6B7280"/>
                </a:solidFill>
                <a:latin typeface="Courier New" pitchFamily="34" charset="0"/>
                <a:ea typeface="Courier New" pitchFamily="34" charset="-122"/>
                <a:cs typeface="Courier New" pitchFamily="34" charset="-120"/>
              </a:rPr>
              <a:t>// çalışırken çöker</a:t>
            </a:r>
            <a:endParaRPr lang="en-US" sz="1600" dirty="0"/>
          </a:p>
        </p:txBody>
      </p:sp>
      <p:sp>
        <p:nvSpPr>
          <p:cNvPr id="7" name="Shape 5"/>
          <p:cNvSpPr/>
          <p:nvPr/>
        </p:nvSpPr>
        <p:spPr>
          <a:xfrm>
            <a:off x="731520" y="3694176"/>
            <a:ext cx="6766560" cy="987552"/>
          </a:xfrm>
          <a:prstGeom prst="roundRect">
            <a:avLst>
              <a:gd name="adj" fmla="val 9259"/>
            </a:avLst>
          </a:prstGeom>
          <a:solidFill>
            <a:srgbClr val="EFF6FF"/>
          </a:solidFill>
          <a:ln w="9525">
            <a:solidFill>
              <a:srgbClr val="EFF6FF"/>
            </a:solidFill>
            <a:prstDash val="solid"/>
          </a:ln>
        </p:spPr>
      </p:sp>
      <p:sp>
        <p:nvSpPr>
          <p:cNvPr id="8" name="Text 6"/>
          <p:cNvSpPr txBox="1"/>
          <p:nvPr/>
        </p:nvSpPr>
        <p:spPr>
          <a:xfrm>
            <a:off x="932688" y="3822192"/>
            <a:ext cx="6364224" cy="7315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İlk çağrı MERHABA yazar, ikinci çağrı "text.toUpperCase is not a function" hatasıyla durur.</a:t>
            </a:r>
            <a:endParaRPr lang="en-US" sz="1100" dirty="0"/>
          </a:p>
        </p:txBody>
      </p:sp>
      <p:sp>
        <p:nvSpPr>
          <p:cNvPr id="9" name="Text 7"/>
          <p:cNvSpPr txBox="1"/>
          <p:nvPr/>
        </p:nvSpPr>
        <p:spPr>
          <a:xfrm>
            <a:off x="7772400" y="1645920"/>
            <a:ext cx="3931920" cy="235915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tip hatasının kullanıcıya ulaşana kadar fark edilmediğini görmektir.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Fonksiyon metin bekliyor ama JavaScript bunu denetlemez. Sayı verildiğinde toUpperCase bulunamaz ve program çalışma anında hata verir.</a:t>
            </a:r>
            <a:endParaRPr lang="en-US" sz="1800" dirty="0"/>
          </a:p>
        </p:txBody>
      </p:sp>
      <p:sp>
        <p:nvSpPr>
          <p:cNvPr id="10" name="Shape 8"/>
          <p:cNvSpPr/>
          <p:nvPr/>
        </p:nvSpPr>
        <p:spPr>
          <a:xfrm>
            <a:off x="7772400" y="4142232"/>
            <a:ext cx="3931920" cy="1170432"/>
          </a:xfrm>
          <a:prstGeom prst="roundRect">
            <a:avLst>
              <a:gd name="adj" fmla="val 7813"/>
            </a:avLst>
          </a:prstGeom>
          <a:solidFill>
            <a:srgbClr val="EFF6FF"/>
          </a:solidFill>
          <a:ln w="9525">
            <a:solidFill>
              <a:srgbClr val="EFF6FF"/>
            </a:solidFill>
            <a:prstDash val="solid"/>
          </a:ln>
        </p:spPr>
      </p:sp>
      <p:sp>
        <p:nvSpPr>
          <p:cNvPr id="11" name="Text 9"/>
          <p:cNvSpPr txBox="1"/>
          <p:nvPr/>
        </p:nvSpPr>
        <p:spPr>
          <a:xfrm>
            <a:off x="7973568" y="4270248"/>
            <a:ext cx="3529584" cy="91440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Mobil uygulamada bu hata, kullanıcının ekranda uygulamanın aniden kapanmasını görmesi demektir.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Neden TypeScript?</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3819608257"/>
              </p:ext>
            </p:extLst>
          </p:nvPr>
        </p:nvGraphicFramePr>
        <p:xfrm>
          <a:off x="731520" y="1554480"/>
          <a:ext cx="10972800" cy="3474720"/>
        </p:xfrm>
        <a:graphic>
          <a:graphicData uri="http://schemas.openxmlformats.org/drawingml/2006/table">
            <a:tbl>
              <a:tblPr/>
              <a:tblGrid>
                <a:gridCol w="2893153">
                  <a:extLst>
                    <a:ext uri="{9D8B030D-6E8A-4147-A177-3AD203B41FA5}">
                      <a16:colId xmlns:a16="http://schemas.microsoft.com/office/drawing/2014/main" val="20000"/>
                    </a:ext>
                  </a:extLst>
                </a:gridCol>
                <a:gridCol w="3891827">
                  <a:extLst>
                    <a:ext uri="{9D8B030D-6E8A-4147-A177-3AD203B41FA5}">
                      <a16:colId xmlns:a16="http://schemas.microsoft.com/office/drawing/2014/main" val="20001"/>
                    </a:ext>
                  </a:extLst>
                </a:gridCol>
                <a:gridCol w="4187820">
                  <a:extLst>
                    <a:ext uri="{9D8B030D-6E8A-4147-A177-3AD203B41FA5}">
                      <a16:colId xmlns:a16="http://schemas.microsoft.com/office/drawing/2014/main" val="20002"/>
                    </a:ext>
                  </a:extLst>
                </a:gridCol>
              </a:tblGrid>
              <a:tr h="475488">
                <a:tc>
                  <a:txBody>
                    <a:bodyPr/>
                    <a:lstStyle/>
                    <a:p>
                      <a:pPr marL="0" indent="0">
                        <a:buNone/>
                      </a:pPr>
                      <a:r>
                        <a:rPr lang="en-US" sz="1400" b="1" dirty="0">
                          <a:solidFill>
                            <a:srgbClr val="2563EB"/>
                          </a:solidFill>
                        </a:rPr>
                        <a:t>Sorun</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JavaScript'te</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TypeScript'te</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extLst>
                  <a:ext uri="{0D108BD9-81ED-4DB2-BD59-A6C34878D82A}">
                    <a16:rowId xmlns:a16="http://schemas.microsoft.com/office/drawing/2014/main" val="10000"/>
                  </a:ext>
                </a:extLst>
              </a:tr>
              <a:tr h="749808">
                <a:tc>
                  <a:txBody>
                    <a:bodyPr/>
                    <a:lstStyle/>
                    <a:p>
                      <a:pPr marL="0" indent="0">
                        <a:buNone/>
                      </a:pPr>
                      <a:r>
                        <a:rPr lang="en-US" sz="1800" b="1" dirty="0">
                          <a:solidFill>
                            <a:srgbClr val="111827"/>
                          </a:solidFill>
                        </a:rPr>
                        <a:t>Yazım hatası</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product.Name yazmak undefined döndürür</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Editörde kırmızı çizgi çıkar</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749808">
                <a:tc>
                  <a:txBody>
                    <a:bodyPr/>
                    <a:lstStyle/>
                    <a:p>
                      <a:pPr marL="0" indent="0">
                        <a:buNone/>
                      </a:pPr>
                      <a:r>
                        <a:rPr lang="en-US" sz="1800" b="1" dirty="0">
                          <a:solidFill>
                            <a:srgbClr val="111827"/>
                          </a:solidFill>
                        </a:rPr>
                        <a:t>Yanlış argüman sırası</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showProduct(price, name) hata vermez</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Parametre tipi uyuşmaz, derleyici uyarır</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749808">
                <a:tc>
                  <a:txBody>
                    <a:bodyPr/>
                    <a:lstStyle/>
                    <a:p>
                      <a:pPr marL="0" indent="0">
                        <a:buNone/>
                      </a:pPr>
                      <a:r>
                        <a:rPr lang="en-US" sz="1800" b="1" dirty="0">
                          <a:solidFill>
                            <a:srgbClr val="111827"/>
                          </a:solidFill>
                        </a:rPr>
                        <a:t>Çağrılamayan değer</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TypeError: undefined is not a function</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Çağrılamayan değer derlenmez</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749808">
                <a:tc>
                  <a:txBody>
                    <a:bodyPr/>
                    <a:lstStyle/>
                    <a:p>
                      <a:pPr marL="0" indent="0">
                        <a:buNone/>
                      </a:pPr>
                      <a:r>
                        <a:rPr lang="en-US" sz="1800" b="1" dirty="0">
                          <a:solidFill>
                            <a:srgbClr val="111827"/>
                          </a:solidFill>
                        </a:rPr>
                        <a:t>Geliştirici desteği</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Sınırlı otomatik tamamlama</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Tamamlama, kodda gezinme, yeniden adlandırma</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Shape 2"/>
          <p:cNvSpPr/>
          <p:nvPr/>
        </p:nvSpPr>
        <p:spPr>
          <a:xfrm>
            <a:off x="731520" y="5160030"/>
            <a:ext cx="10972800" cy="1018032"/>
          </a:xfrm>
          <a:prstGeom prst="roundRect">
            <a:avLst>
              <a:gd name="adj" fmla="val 8982"/>
            </a:avLst>
          </a:prstGeom>
          <a:solidFill>
            <a:srgbClr val="EFF6FF"/>
          </a:solidFill>
          <a:ln w="9525">
            <a:solidFill>
              <a:srgbClr val="EFF6FF"/>
            </a:solidFill>
            <a:prstDash val="solid"/>
          </a:ln>
        </p:spPr>
      </p:sp>
      <p:sp>
        <p:nvSpPr>
          <p:cNvPr id="6" name="Text 3"/>
          <p:cNvSpPr txBox="1"/>
          <p:nvPr/>
        </p:nvSpPr>
        <p:spPr>
          <a:xfrm>
            <a:off x="932688" y="5303520"/>
            <a:ext cx="10570464" cy="981456"/>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AÇIKLAMA</a:t>
            </a:r>
            <a:endParaRPr lang="en-US" sz="1100" dirty="0"/>
          </a:p>
          <a:p>
            <a:pPr marL="0" indent="0" algn="l">
              <a:buNone/>
            </a:pPr>
            <a:r>
              <a:rPr lang="en-US" sz="1600" dirty="0">
                <a:solidFill>
                  <a:srgbClr val="111827"/>
                </a:solidFill>
                <a:latin typeface="Arial" pitchFamily="34" charset="0"/>
                <a:ea typeface="Arial" pitchFamily="34" charset="-122"/>
                <a:cs typeface="Arial" pitchFamily="34" charset="-120"/>
              </a:rPr>
              <a:t>JavaScript dinamik tipli bir dildir: değişkenin değil, değerin tipi vardır. let box = "hello"; satırından sonra box = 100; yazmak geçerlidir.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TypeScript Nedir, Nasıl Çalışır?</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2551176" cy="1051560"/>
          </a:xfrm>
          <a:prstGeom prst="roundRect">
            <a:avLst>
              <a:gd name="adj" fmla="val 8696"/>
            </a:avLst>
          </a:prstGeom>
          <a:solidFill>
            <a:srgbClr val="EFF6FF"/>
          </a:solidFill>
          <a:ln w="9525">
            <a:solidFill>
              <a:srgbClr val="EFF6FF"/>
            </a:solidFill>
            <a:prstDash val="solid"/>
          </a:ln>
        </p:spPr>
      </p:sp>
      <p:sp>
        <p:nvSpPr>
          <p:cNvPr id="5" name="Text 3"/>
          <p:cNvSpPr txBox="1"/>
          <p:nvPr/>
        </p:nvSpPr>
        <p:spPr>
          <a:xfrm>
            <a:off x="868680" y="1737360"/>
            <a:ext cx="2276856"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1</a:t>
            </a:r>
            <a:endParaRPr lang="en-US" sz="1200" dirty="0"/>
          </a:p>
          <a:p>
            <a:pPr marL="0" indent="0" algn="l">
              <a:buNone/>
            </a:pPr>
            <a:r>
              <a:rPr lang="en-US" sz="1600" b="1" dirty="0">
                <a:solidFill>
                  <a:srgbClr val="111827"/>
                </a:solidFill>
                <a:latin typeface="Arial" pitchFamily="34" charset="0"/>
                <a:ea typeface="Arial" pitchFamily="34" charset="-122"/>
                <a:cs typeface="Arial" pitchFamily="34" charset="-120"/>
              </a:rPr>
              <a:t>.ts dosyası</a:t>
            </a:r>
            <a:endParaRPr lang="en-US" sz="1200" dirty="0"/>
          </a:p>
        </p:txBody>
      </p:sp>
      <p:sp>
        <p:nvSpPr>
          <p:cNvPr id="6" name="Text 4"/>
          <p:cNvSpPr txBox="1"/>
          <p:nvPr/>
        </p:nvSpPr>
        <p:spPr>
          <a:xfrm>
            <a:off x="3282696"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7" name="Shape 5"/>
          <p:cNvSpPr/>
          <p:nvPr/>
        </p:nvSpPr>
        <p:spPr>
          <a:xfrm>
            <a:off x="3538728" y="1645920"/>
            <a:ext cx="2551176" cy="1051560"/>
          </a:xfrm>
          <a:prstGeom prst="roundRect">
            <a:avLst>
              <a:gd name="adj" fmla="val 8696"/>
            </a:avLst>
          </a:prstGeom>
          <a:solidFill>
            <a:srgbClr val="EFF6FF"/>
          </a:solidFill>
          <a:ln w="9525">
            <a:solidFill>
              <a:srgbClr val="EFF6FF"/>
            </a:solidFill>
            <a:prstDash val="solid"/>
          </a:ln>
        </p:spPr>
      </p:sp>
      <p:sp>
        <p:nvSpPr>
          <p:cNvPr id="8" name="Text 6"/>
          <p:cNvSpPr txBox="1"/>
          <p:nvPr/>
        </p:nvSpPr>
        <p:spPr>
          <a:xfrm>
            <a:off x="3675888" y="1737360"/>
            <a:ext cx="2276856"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2</a:t>
            </a:r>
            <a:endParaRPr lang="en-US" sz="1200" dirty="0"/>
          </a:p>
          <a:p>
            <a:pPr marL="0" indent="0" algn="l">
              <a:buNone/>
            </a:pPr>
            <a:r>
              <a:rPr lang="en-US" sz="1600" b="1" dirty="0">
                <a:solidFill>
                  <a:srgbClr val="111827"/>
                </a:solidFill>
                <a:latin typeface="Arial" pitchFamily="34" charset="0"/>
                <a:ea typeface="Arial" pitchFamily="34" charset="-122"/>
                <a:cs typeface="Arial" pitchFamily="34" charset="-120"/>
              </a:rPr>
              <a:t>Tip denetimi</a:t>
            </a:r>
            <a:endParaRPr lang="en-US" sz="1200" dirty="0"/>
          </a:p>
        </p:txBody>
      </p:sp>
      <p:sp>
        <p:nvSpPr>
          <p:cNvPr id="9" name="Text 7"/>
          <p:cNvSpPr txBox="1"/>
          <p:nvPr/>
        </p:nvSpPr>
        <p:spPr>
          <a:xfrm>
            <a:off x="6089904"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0" name="Shape 8"/>
          <p:cNvSpPr/>
          <p:nvPr/>
        </p:nvSpPr>
        <p:spPr>
          <a:xfrm>
            <a:off x="6345936" y="1645920"/>
            <a:ext cx="2551176" cy="1051560"/>
          </a:xfrm>
          <a:prstGeom prst="roundRect">
            <a:avLst>
              <a:gd name="adj" fmla="val 8696"/>
            </a:avLst>
          </a:prstGeom>
          <a:solidFill>
            <a:srgbClr val="EFF6FF"/>
          </a:solidFill>
          <a:ln w="9525">
            <a:solidFill>
              <a:srgbClr val="EFF6FF"/>
            </a:solidFill>
            <a:prstDash val="solid"/>
          </a:ln>
        </p:spPr>
      </p:sp>
      <p:sp>
        <p:nvSpPr>
          <p:cNvPr id="11" name="Text 9"/>
          <p:cNvSpPr txBox="1"/>
          <p:nvPr/>
        </p:nvSpPr>
        <p:spPr>
          <a:xfrm>
            <a:off x="6483096" y="1737360"/>
            <a:ext cx="2276856"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3</a:t>
            </a:r>
            <a:endParaRPr lang="en-US" sz="1200" dirty="0"/>
          </a:p>
          <a:p>
            <a:pPr marL="0" indent="0" algn="l">
              <a:buNone/>
            </a:pPr>
            <a:r>
              <a:rPr lang="en-US" sz="1600" b="1" dirty="0">
                <a:solidFill>
                  <a:srgbClr val="111827"/>
                </a:solidFill>
                <a:latin typeface="Arial" pitchFamily="34" charset="0"/>
                <a:ea typeface="Arial" pitchFamily="34" charset="-122"/>
                <a:cs typeface="Arial" pitchFamily="34" charset="-120"/>
              </a:rPr>
              <a:t>Tipler silinir</a:t>
            </a:r>
            <a:endParaRPr lang="en-US" sz="1200" dirty="0"/>
          </a:p>
        </p:txBody>
      </p:sp>
      <p:sp>
        <p:nvSpPr>
          <p:cNvPr id="12" name="Text 10"/>
          <p:cNvSpPr txBox="1"/>
          <p:nvPr/>
        </p:nvSpPr>
        <p:spPr>
          <a:xfrm>
            <a:off x="8897112"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3" name="Shape 11"/>
          <p:cNvSpPr/>
          <p:nvPr/>
        </p:nvSpPr>
        <p:spPr>
          <a:xfrm>
            <a:off x="9153144" y="1645920"/>
            <a:ext cx="2551176" cy="1051560"/>
          </a:xfrm>
          <a:prstGeom prst="roundRect">
            <a:avLst>
              <a:gd name="adj" fmla="val 8696"/>
            </a:avLst>
          </a:prstGeom>
          <a:solidFill>
            <a:srgbClr val="2563EB"/>
          </a:solidFill>
          <a:ln w="9525">
            <a:solidFill>
              <a:srgbClr val="2563EB"/>
            </a:solidFill>
            <a:prstDash val="solid"/>
          </a:ln>
        </p:spPr>
      </p:sp>
      <p:sp>
        <p:nvSpPr>
          <p:cNvPr id="14" name="Text 12"/>
          <p:cNvSpPr txBox="1"/>
          <p:nvPr/>
        </p:nvSpPr>
        <p:spPr>
          <a:xfrm>
            <a:off x="9290304" y="1737360"/>
            <a:ext cx="2276856" cy="868680"/>
          </a:xfrm>
          <a:prstGeom prst="rect">
            <a:avLst/>
          </a:prstGeom>
          <a:noFill/>
          <a:ln/>
        </p:spPr>
        <p:txBody>
          <a:bodyPr wrap="square" lIns="0" tIns="0" rIns="0" bIns="0" rtlCol="0" anchor="ctr">
            <a:normAutofit/>
          </a:bodyPr>
          <a:lstStyle/>
          <a:p>
            <a:pPr marL="0" indent="0" algn="l">
              <a:buNone/>
            </a:pPr>
            <a:r>
              <a:rPr lang="en-US" sz="1200" b="1" dirty="0">
                <a:solidFill>
                  <a:srgbClr val="FFFFFF"/>
                </a:solidFill>
                <a:latin typeface="Arial" pitchFamily="34" charset="0"/>
                <a:ea typeface="Arial" pitchFamily="34" charset="-122"/>
                <a:cs typeface="Arial" pitchFamily="34" charset="-120"/>
              </a:rPr>
              <a:t>4</a:t>
            </a:r>
            <a:endParaRPr lang="en-US" sz="1200" dirty="0"/>
          </a:p>
          <a:p>
            <a:pPr marL="0" indent="0" algn="l">
              <a:buNone/>
            </a:pPr>
            <a:r>
              <a:rPr lang="en-US" sz="1600" b="1" dirty="0">
                <a:solidFill>
                  <a:srgbClr val="FFFFFF"/>
                </a:solidFill>
                <a:latin typeface="Arial" pitchFamily="34" charset="0"/>
                <a:ea typeface="Arial" pitchFamily="34" charset="-122"/>
                <a:cs typeface="Arial" pitchFamily="34" charset="-120"/>
              </a:rPr>
              <a:t>.js çalışır</a:t>
            </a:r>
            <a:endParaRPr lang="en-US" sz="1200" dirty="0"/>
          </a:p>
        </p:txBody>
      </p:sp>
      <p:sp>
        <p:nvSpPr>
          <p:cNvPr id="15" name="Text 13"/>
          <p:cNvSpPr txBox="1"/>
          <p:nvPr/>
        </p:nvSpPr>
        <p:spPr>
          <a:xfrm>
            <a:off x="731520" y="3017520"/>
            <a:ext cx="6766560" cy="3291840"/>
          </a:xfrm>
          <a:prstGeom prst="rect">
            <a:avLst/>
          </a:prstGeom>
          <a:noFill/>
          <a:ln/>
        </p:spPr>
        <p:txBody>
          <a:bodyPr wrap="square" lIns="0" tIns="0" rIns="0" bIns="0" rtlCol="0" anchor="t"/>
          <a:lstStyle/>
          <a:p>
            <a:pPr marL="0" indent="0" algn="l">
              <a:spcAft>
                <a:spcPts val="800"/>
              </a:spcAft>
              <a:buNone/>
            </a:pPr>
            <a:r>
              <a:rPr lang="en-US" sz="2200" dirty="0">
                <a:solidFill>
                  <a:srgbClr val="111827"/>
                </a:solidFill>
                <a:latin typeface="Arial" pitchFamily="34" charset="0"/>
                <a:ea typeface="Arial" pitchFamily="34" charset="-122"/>
                <a:cs typeface="Arial" pitchFamily="34" charset="-120"/>
              </a:rPr>
              <a:t>TypeScript, JavaScript'e statik tip ekleyen bir dildir. Derleyici kodu önce denetler, ardından tipleri silerek sade JavaScript üretir; çalışma anında tip bilgisi yoktur. React Native'de Metro tipleri yalnızca siler ve denetim yapmaz; tip denetimi için ayrıca npx tsc --noEmit çalıştırılır.</a:t>
            </a:r>
            <a:endParaRPr lang="en-US" sz="2200" dirty="0"/>
          </a:p>
        </p:txBody>
      </p:sp>
      <p:sp>
        <p:nvSpPr>
          <p:cNvPr id="16" name="Shape 14"/>
          <p:cNvSpPr/>
          <p:nvPr/>
        </p:nvSpPr>
        <p:spPr>
          <a:xfrm>
            <a:off x="7863840" y="3017520"/>
            <a:ext cx="3657600" cy="1463040"/>
          </a:xfrm>
          <a:prstGeom prst="roundRect">
            <a:avLst>
              <a:gd name="adj" fmla="val 6250"/>
            </a:avLst>
          </a:prstGeom>
          <a:solidFill>
            <a:srgbClr val="FFFFFF"/>
          </a:solidFill>
          <a:ln w="15875">
            <a:solidFill>
              <a:srgbClr val="CBD5E1"/>
            </a:solidFill>
            <a:prstDash val="solid"/>
          </a:ln>
        </p:spPr>
      </p:sp>
      <p:pic>
        <p:nvPicPr>
          <p:cNvPr id="17" name="Image 0" descr="/tmp/claude-0/-home-claude/bb2dbc6e-f574-5e99-8510-889b704da121/scratchpad/decks/logos/ts.png"/>
          <p:cNvPicPr>
            <a:picLocks noChangeAspect="1"/>
          </p:cNvPicPr>
          <p:nvPr/>
        </p:nvPicPr>
        <p:blipFill>
          <a:blip r:embed="rId3"/>
          <a:stretch>
            <a:fillRect/>
          </a:stretch>
        </p:blipFill>
        <p:spPr>
          <a:xfrm>
            <a:off x="8823960" y="3246120"/>
            <a:ext cx="731520" cy="731520"/>
          </a:xfrm>
          <a:prstGeom prst="rect">
            <a:avLst/>
          </a:prstGeom>
        </p:spPr>
      </p:pic>
      <p:pic>
        <p:nvPicPr>
          <p:cNvPr id="18" name="Image 1" descr="/tmp/claude-0/-home-claude/bb2dbc6e-f574-5e99-8510-889b704da121/scratchpad/decks/logos/js.png"/>
          <p:cNvPicPr>
            <a:picLocks noChangeAspect="1"/>
          </p:cNvPicPr>
          <p:nvPr/>
        </p:nvPicPr>
        <p:blipFill>
          <a:blip r:embed="rId4"/>
          <a:stretch>
            <a:fillRect/>
          </a:stretch>
        </p:blipFill>
        <p:spPr>
          <a:xfrm>
            <a:off x="9829800" y="3246120"/>
            <a:ext cx="731520" cy="731520"/>
          </a:xfrm>
          <a:prstGeom prst="rect">
            <a:avLst/>
          </a:prstGeom>
        </p:spPr>
      </p:pic>
      <p:sp>
        <p:nvSpPr>
          <p:cNvPr id="19" name="Text 15"/>
          <p:cNvSpPr txBox="1"/>
          <p:nvPr/>
        </p:nvSpPr>
        <p:spPr>
          <a:xfrm>
            <a:off x="7863840" y="4069080"/>
            <a:ext cx="3657600" cy="457200"/>
          </a:xfrm>
          <a:prstGeom prst="rect">
            <a:avLst/>
          </a:prstGeom>
          <a:noFill/>
          <a:ln/>
        </p:spPr>
        <p:txBody>
          <a:bodyPr wrap="square" lIns="0" tIns="0" rIns="0" bIns="0" rtlCol="0" anchor="ctr"/>
          <a:lstStyle/>
          <a:p>
            <a:pPr marL="0" indent="0" algn="ctr">
              <a:buNone/>
            </a:pPr>
            <a:r>
              <a:rPr lang="en-US" sz="1400" b="1" dirty="0">
                <a:solidFill>
                  <a:srgbClr val="111827"/>
                </a:solidFill>
                <a:latin typeface="Arial" pitchFamily="34" charset="0"/>
                <a:ea typeface="Arial" pitchFamily="34" charset="-122"/>
                <a:cs typeface="Arial" pitchFamily="34" charset="-120"/>
              </a:rPr>
              <a:t>TypeScript → JavaScript</a:t>
            </a:r>
            <a:endParaRPr lang="en-US" sz="1400" dirty="0"/>
          </a:p>
        </p:txBody>
      </p:sp>
      <p:sp>
        <p:nvSpPr>
          <p:cNvPr id="20" name="Shape 16"/>
          <p:cNvSpPr/>
          <p:nvPr/>
        </p:nvSpPr>
        <p:spPr>
          <a:xfrm>
            <a:off x="7863840" y="4663440"/>
            <a:ext cx="3657600" cy="1383792"/>
          </a:xfrm>
          <a:prstGeom prst="roundRect">
            <a:avLst>
              <a:gd name="adj" fmla="val 6608"/>
            </a:avLst>
          </a:prstGeom>
          <a:solidFill>
            <a:srgbClr val="EFF6FF"/>
          </a:solidFill>
          <a:ln w="9525">
            <a:solidFill>
              <a:srgbClr val="EFF6FF"/>
            </a:solidFill>
            <a:prstDash val="solid"/>
          </a:ln>
        </p:spPr>
      </p:sp>
      <p:sp>
        <p:nvSpPr>
          <p:cNvPr id="21" name="Text 17"/>
          <p:cNvSpPr txBox="1"/>
          <p:nvPr/>
        </p:nvSpPr>
        <p:spPr>
          <a:xfrm>
            <a:off x="8065008" y="4791456"/>
            <a:ext cx="3255264" cy="112776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Tip denetimi geçse bile sunucudan gelen veri tipine uymayabilir; TypeScript, çalışma anındaki veriyi doğrulamaz.</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Geliştirme Ortamı Kurulumu</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972800" cy="2962656"/>
        </p:xfrm>
        <a:graphic>
          <a:graphicData uri="http://schemas.openxmlformats.org/drawingml/2006/table">
            <a:tbl>
              <a:tblPr/>
              <a:tblGrid>
                <a:gridCol w="2553989">
                  <a:extLst>
                    <a:ext uri="{9D8B030D-6E8A-4147-A177-3AD203B41FA5}">
                      <a16:colId xmlns:a16="http://schemas.microsoft.com/office/drawing/2014/main" val="20000"/>
                    </a:ext>
                  </a:extLst>
                </a:gridCol>
                <a:gridCol w="5226325">
                  <a:extLst>
                    <a:ext uri="{9D8B030D-6E8A-4147-A177-3AD203B41FA5}">
                      <a16:colId xmlns:a16="http://schemas.microsoft.com/office/drawing/2014/main" val="20001"/>
                    </a:ext>
                  </a:extLst>
                </a:gridCol>
                <a:gridCol w="3192486">
                  <a:extLst>
                    <a:ext uri="{9D8B030D-6E8A-4147-A177-3AD203B41FA5}">
                      <a16:colId xmlns:a16="http://schemas.microsoft.com/office/drawing/2014/main" val="20002"/>
                    </a:ext>
                  </a:extLst>
                </a:gridCol>
              </a:tblGrid>
              <a:tr h="402336">
                <a:tc>
                  <a:txBody>
                    <a:bodyPr/>
                    <a:lstStyle/>
                    <a:p>
                      <a:pPr marL="0" indent="0">
                        <a:buNone/>
                      </a:pPr>
                      <a:r>
                        <a:rPr lang="en-US" sz="1400" b="1" dirty="0">
                          <a:solidFill>
                            <a:srgbClr val="2563EB"/>
                          </a:solidFill>
                        </a:rPr>
                        <a:t>Araç</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Ne işe yarar</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Komut</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extLst>
                  <a:ext uri="{0D108BD9-81ED-4DB2-BD59-A6C34878D82A}">
                    <a16:rowId xmlns:a16="http://schemas.microsoft.com/office/drawing/2014/main" val="10000"/>
                  </a:ext>
                </a:extLst>
              </a:tr>
              <a:tr h="676656">
                <a:tc>
                  <a:txBody>
                    <a:bodyPr/>
                    <a:lstStyle/>
                    <a:p>
                      <a:pPr marL="0" indent="0">
                        <a:buNone/>
                      </a:pPr>
                      <a:r>
                        <a:rPr lang="en-US" sz="1800" b="1" dirty="0">
                          <a:solidFill>
                            <a:srgbClr val="111827"/>
                          </a:solidFill>
                        </a:rPr>
                        <a:t>Node.js</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TypeScript araçlarını çalıştıran ortam; Node bilgisi gerekmez</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node --version</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buNone/>
                      </a:pPr>
                      <a:r>
                        <a:rPr lang="en-US" sz="1800" b="1" dirty="0">
                          <a:solidFill>
                            <a:srgbClr val="111827"/>
                          </a:solidFill>
                        </a:rPr>
                        <a:t>VS Code</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Yerleşik TypeScript desteği olan editör</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code --version</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buNone/>
                      </a:pPr>
                      <a:r>
                        <a:rPr lang="en-US" sz="1800" b="1" dirty="0">
                          <a:solidFill>
                            <a:srgbClr val="111827"/>
                          </a:solidFill>
                        </a:rPr>
                        <a:t>typescript (tsc)</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TypeScript'i JavaScript'e derler</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npm install -g typescript</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buNone/>
                      </a:pPr>
                      <a:r>
                        <a:rPr lang="en-US" sz="1800" b="1" dirty="0">
                          <a:solidFill>
                            <a:srgbClr val="111827"/>
                          </a:solidFill>
                        </a:rPr>
                        <a:t>Sürüm kontrolü</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Kurulumun çalıştığını doğrular</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tsc --version</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676656">
                <a:tc>
                  <a:txBody>
                    <a:bodyPr/>
                    <a:lstStyle/>
                    <a:p>
                      <a:pPr marL="0" indent="0">
                        <a:buNone/>
                      </a:pPr>
                      <a:r>
                        <a:rPr lang="en-US" sz="1800" b="1" dirty="0">
                          <a:solidFill>
                            <a:srgbClr val="111827"/>
                          </a:solidFill>
                        </a:rPr>
                        <a:t>tsx (alternatif)</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.ts dosyasını .js üretmeden doğrudan çalıştırır; tipleri denetlemez</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npm install -g tsx</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Shape 2"/>
          <p:cNvSpPr/>
          <p:nvPr/>
        </p:nvSpPr>
        <p:spPr>
          <a:xfrm>
            <a:off x="731520" y="4882896"/>
            <a:ext cx="10972800" cy="1018032"/>
          </a:xfrm>
          <a:prstGeom prst="roundRect">
            <a:avLst>
              <a:gd name="adj" fmla="val 8982"/>
            </a:avLst>
          </a:prstGeom>
          <a:solidFill>
            <a:srgbClr val="EFF6FF"/>
          </a:solidFill>
          <a:ln w="9525">
            <a:solidFill>
              <a:srgbClr val="EFF6FF"/>
            </a:solidFill>
            <a:prstDash val="solid"/>
          </a:ln>
        </p:spPr>
      </p:sp>
      <p:sp>
        <p:nvSpPr>
          <p:cNvPr id="6" name="Text 3"/>
          <p:cNvSpPr txBox="1"/>
          <p:nvPr/>
        </p:nvSpPr>
        <p:spPr>
          <a:xfrm>
            <a:off x="932688" y="5010912"/>
            <a:ext cx="10570464" cy="76200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600" dirty="0">
                <a:solidFill>
                  <a:srgbClr val="111827"/>
                </a:solidFill>
                <a:latin typeface="Arial" pitchFamily="34" charset="0"/>
                <a:ea typeface="Arial" pitchFamily="34" charset="-122"/>
                <a:cs typeface="Arial" pitchFamily="34" charset="-120"/>
              </a:rPr>
              <a:t>Derste kolaylık için global kurulum kullanılır. Gerçek projelerde typescript projeye yerel kurulur ve npx tsc ile çalıştırılır; bir sonraki slaytta bu yolu göreceğiz.</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Kurulum ve tsconfig: strict Modu</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401214"/>
          </a:xfrm>
          <a:prstGeom prst="roundRect">
            <a:avLst>
              <a:gd name="adj" fmla="val 3808"/>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JSON</a:t>
            </a:r>
            <a:endParaRPr lang="en-US" sz="1100" dirty="0"/>
          </a:p>
        </p:txBody>
      </p:sp>
      <p:sp>
        <p:nvSpPr>
          <p:cNvPr id="6" name="Text 4"/>
          <p:cNvSpPr txBox="1"/>
          <p:nvPr/>
        </p:nvSpPr>
        <p:spPr>
          <a:xfrm>
            <a:off x="960120" y="2103120"/>
            <a:ext cx="6309360" cy="1852574"/>
          </a:xfrm>
          <a:prstGeom prst="rect">
            <a:avLst/>
          </a:prstGeom>
          <a:noFill/>
          <a:ln/>
        </p:spPr>
        <p:txBody>
          <a:bodyPr wrap="square" lIns="0" tIns="0" rIns="0" bIns="0" rtlCol="0" anchor="t"/>
          <a:lstStyle/>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"compilerOptions"</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"target"</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"ES2020"</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"module"</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"commonjs"</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"strict"</a:t>
            </a: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true</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4184294"/>
            <a:ext cx="6766560" cy="987552"/>
          </a:xfrm>
          <a:prstGeom prst="roundRect">
            <a:avLst>
              <a:gd name="adj" fmla="val 9259"/>
            </a:avLst>
          </a:prstGeom>
          <a:solidFill>
            <a:srgbClr val="EFF6FF"/>
          </a:solidFill>
          <a:ln w="9525">
            <a:solidFill>
              <a:srgbClr val="EFF6FF"/>
            </a:solidFill>
            <a:prstDash val="solid"/>
          </a:ln>
        </p:spPr>
      </p:sp>
      <p:sp>
        <p:nvSpPr>
          <p:cNvPr id="8" name="Text 6"/>
          <p:cNvSpPr txBox="1"/>
          <p:nvPr/>
        </p:nvSpPr>
        <p:spPr>
          <a:xfrm>
            <a:off x="932688" y="4312310"/>
            <a:ext cx="6364224" cy="7315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npx tsc dosya.ts komutu kuralları denetler, hata yoksa aynı klasörde dosya.js üretir.</a:t>
            </a:r>
            <a:endParaRPr lang="en-US" sz="1100" dirty="0"/>
          </a:p>
        </p:txBody>
      </p:sp>
      <p:sp>
        <p:nvSpPr>
          <p:cNvPr id="9" name="Text 7"/>
          <p:cNvSpPr txBox="1"/>
          <p:nvPr/>
        </p:nvSpPr>
        <p:spPr>
          <a:xfrm>
            <a:off x="7772400" y="1645920"/>
            <a:ext cx="3931920" cy="345643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Projede önce npm install --save-dev typescript, ardından npx tsc --init komutlarını çalıştırırız; ikinci komut tsconfig.json dosyasını üretir. Bu derste her zaman strict seçeneği açık olacaktır.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strict, null denetimi ve örtük any yasağı dahil bir dizi sıkı kuralı birlikte açar. Daha az kuralla başlamak rahat görünür ama güvenlik kazancını büyük ölçüde yitirir.</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Uygulama: Hello World ve Derleme Süreci</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2551176" cy="1051560"/>
          </a:xfrm>
          <a:prstGeom prst="roundRect">
            <a:avLst>
              <a:gd name="adj" fmla="val 8696"/>
            </a:avLst>
          </a:prstGeom>
          <a:solidFill>
            <a:srgbClr val="EFF6FF"/>
          </a:solidFill>
          <a:ln w="9525">
            <a:solidFill>
              <a:srgbClr val="EFF6FF"/>
            </a:solidFill>
            <a:prstDash val="solid"/>
          </a:ln>
        </p:spPr>
      </p:sp>
      <p:sp>
        <p:nvSpPr>
          <p:cNvPr id="5" name="Text 3"/>
          <p:cNvSpPr txBox="1"/>
          <p:nvPr/>
        </p:nvSpPr>
        <p:spPr>
          <a:xfrm>
            <a:off x="868680" y="1737360"/>
            <a:ext cx="2276856"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1</a:t>
            </a:r>
            <a:endParaRPr lang="en-US" sz="1200" dirty="0"/>
          </a:p>
          <a:p>
            <a:pPr marL="0" indent="0" algn="l">
              <a:buNone/>
            </a:pPr>
            <a:r>
              <a:rPr lang="en-US" sz="1600" b="1" dirty="0">
                <a:solidFill>
                  <a:srgbClr val="111827"/>
                </a:solidFill>
                <a:latin typeface="Arial" pitchFamily="34" charset="0"/>
                <a:ea typeface="Arial" pitchFamily="34" charset="-122"/>
                <a:cs typeface="Arial" pitchFamily="34" charset="-120"/>
              </a:rPr>
              <a:t>app.ts yaz</a:t>
            </a:r>
            <a:endParaRPr lang="en-US" sz="1200" dirty="0"/>
          </a:p>
        </p:txBody>
      </p:sp>
      <p:sp>
        <p:nvSpPr>
          <p:cNvPr id="6" name="Text 4"/>
          <p:cNvSpPr txBox="1"/>
          <p:nvPr/>
        </p:nvSpPr>
        <p:spPr>
          <a:xfrm>
            <a:off x="3282696"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7" name="Shape 5"/>
          <p:cNvSpPr/>
          <p:nvPr/>
        </p:nvSpPr>
        <p:spPr>
          <a:xfrm>
            <a:off x="3538728" y="1645920"/>
            <a:ext cx="2551176" cy="1051560"/>
          </a:xfrm>
          <a:prstGeom prst="roundRect">
            <a:avLst>
              <a:gd name="adj" fmla="val 8696"/>
            </a:avLst>
          </a:prstGeom>
          <a:solidFill>
            <a:srgbClr val="EFF6FF"/>
          </a:solidFill>
          <a:ln w="9525">
            <a:solidFill>
              <a:srgbClr val="EFF6FF"/>
            </a:solidFill>
            <a:prstDash val="solid"/>
          </a:ln>
        </p:spPr>
      </p:sp>
      <p:sp>
        <p:nvSpPr>
          <p:cNvPr id="8" name="Text 6"/>
          <p:cNvSpPr txBox="1"/>
          <p:nvPr/>
        </p:nvSpPr>
        <p:spPr>
          <a:xfrm>
            <a:off x="3675888" y="1737360"/>
            <a:ext cx="2276856"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2</a:t>
            </a:r>
            <a:endParaRPr lang="en-US" sz="1200" dirty="0"/>
          </a:p>
          <a:p>
            <a:pPr marL="0" indent="0" algn="l">
              <a:buNone/>
            </a:pPr>
            <a:r>
              <a:rPr lang="en-US" sz="1600" b="1" dirty="0">
                <a:solidFill>
                  <a:srgbClr val="111827"/>
                </a:solidFill>
                <a:latin typeface="Arial" pitchFamily="34" charset="0"/>
                <a:ea typeface="Arial" pitchFamily="34" charset="-122"/>
                <a:cs typeface="Arial" pitchFamily="34" charset="-120"/>
              </a:rPr>
              <a:t>tsc ile derle</a:t>
            </a:r>
            <a:endParaRPr lang="en-US" sz="1200" dirty="0"/>
          </a:p>
        </p:txBody>
      </p:sp>
      <p:sp>
        <p:nvSpPr>
          <p:cNvPr id="9" name="Text 7"/>
          <p:cNvSpPr txBox="1"/>
          <p:nvPr/>
        </p:nvSpPr>
        <p:spPr>
          <a:xfrm>
            <a:off x="6089904"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0" name="Shape 8"/>
          <p:cNvSpPr/>
          <p:nvPr/>
        </p:nvSpPr>
        <p:spPr>
          <a:xfrm>
            <a:off x="6345936" y="1645920"/>
            <a:ext cx="2551176" cy="1051560"/>
          </a:xfrm>
          <a:prstGeom prst="roundRect">
            <a:avLst>
              <a:gd name="adj" fmla="val 8696"/>
            </a:avLst>
          </a:prstGeom>
          <a:solidFill>
            <a:srgbClr val="EFF6FF"/>
          </a:solidFill>
          <a:ln w="9525">
            <a:solidFill>
              <a:srgbClr val="EFF6FF"/>
            </a:solidFill>
            <a:prstDash val="solid"/>
          </a:ln>
        </p:spPr>
      </p:sp>
      <p:sp>
        <p:nvSpPr>
          <p:cNvPr id="11" name="Text 9"/>
          <p:cNvSpPr txBox="1"/>
          <p:nvPr/>
        </p:nvSpPr>
        <p:spPr>
          <a:xfrm>
            <a:off x="6483096" y="1737360"/>
            <a:ext cx="2276856"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3</a:t>
            </a:r>
            <a:endParaRPr lang="en-US" sz="1200" dirty="0"/>
          </a:p>
          <a:p>
            <a:pPr marL="0" indent="0" algn="l">
              <a:buNone/>
            </a:pPr>
            <a:r>
              <a:rPr lang="en-US" sz="1600" b="1" dirty="0">
                <a:solidFill>
                  <a:srgbClr val="111827"/>
                </a:solidFill>
                <a:latin typeface="Arial" pitchFamily="34" charset="0"/>
                <a:ea typeface="Arial" pitchFamily="34" charset="-122"/>
                <a:cs typeface="Arial" pitchFamily="34" charset="-120"/>
              </a:rPr>
              <a:t>app.js oluşur</a:t>
            </a:r>
            <a:endParaRPr lang="en-US" sz="1200" dirty="0"/>
          </a:p>
        </p:txBody>
      </p:sp>
      <p:sp>
        <p:nvSpPr>
          <p:cNvPr id="12" name="Text 10"/>
          <p:cNvSpPr txBox="1"/>
          <p:nvPr/>
        </p:nvSpPr>
        <p:spPr>
          <a:xfrm>
            <a:off x="8897112"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3" name="Shape 11"/>
          <p:cNvSpPr/>
          <p:nvPr/>
        </p:nvSpPr>
        <p:spPr>
          <a:xfrm>
            <a:off x="9153144" y="1645920"/>
            <a:ext cx="2551176" cy="1051560"/>
          </a:xfrm>
          <a:prstGeom prst="roundRect">
            <a:avLst>
              <a:gd name="adj" fmla="val 8696"/>
            </a:avLst>
          </a:prstGeom>
          <a:solidFill>
            <a:srgbClr val="2563EB"/>
          </a:solidFill>
          <a:ln w="9525">
            <a:solidFill>
              <a:srgbClr val="2563EB"/>
            </a:solidFill>
            <a:prstDash val="solid"/>
          </a:ln>
        </p:spPr>
      </p:sp>
      <p:sp>
        <p:nvSpPr>
          <p:cNvPr id="14" name="Text 12"/>
          <p:cNvSpPr txBox="1"/>
          <p:nvPr/>
        </p:nvSpPr>
        <p:spPr>
          <a:xfrm>
            <a:off x="9290304" y="1737360"/>
            <a:ext cx="2276856" cy="868680"/>
          </a:xfrm>
          <a:prstGeom prst="rect">
            <a:avLst/>
          </a:prstGeom>
          <a:noFill/>
          <a:ln/>
        </p:spPr>
        <p:txBody>
          <a:bodyPr wrap="square" lIns="0" tIns="0" rIns="0" bIns="0" rtlCol="0" anchor="ctr">
            <a:normAutofit/>
          </a:bodyPr>
          <a:lstStyle/>
          <a:p>
            <a:pPr marL="0" indent="0" algn="l">
              <a:buNone/>
            </a:pPr>
            <a:r>
              <a:rPr lang="en-US" sz="1200" b="1" dirty="0">
                <a:solidFill>
                  <a:srgbClr val="FFFFFF"/>
                </a:solidFill>
                <a:latin typeface="Arial" pitchFamily="34" charset="0"/>
                <a:ea typeface="Arial" pitchFamily="34" charset="-122"/>
                <a:cs typeface="Arial" pitchFamily="34" charset="-120"/>
              </a:rPr>
              <a:t>4</a:t>
            </a:r>
            <a:endParaRPr lang="en-US" sz="1200" dirty="0"/>
          </a:p>
          <a:p>
            <a:pPr marL="0" indent="0" algn="l">
              <a:buNone/>
            </a:pPr>
            <a:r>
              <a:rPr lang="en-US" sz="1600" b="1" dirty="0">
                <a:solidFill>
                  <a:srgbClr val="FFFFFF"/>
                </a:solidFill>
                <a:latin typeface="Arial" pitchFamily="34" charset="0"/>
                <a:ea typeface="Arial" pitchFamily="34" charset="-122"/>
                <a:cs typeface="Arial" pitchFamily="34" charset="-120"/>
              </a:rPr>
              <a:t>node ile çalıştır</a:t>
            </a:r>
            <a:endParaRPr lang="en-US" sz="1200" dirty="0"/>
          </a:p>
        </p:txBody>
      </p:sp>
      <p:sp>
        <p:nvSpPr>
          <p:cNvPr id="15" name="Shape 13"/>
          <p:cNvSpPr/>
          <p:nvPr/>
        </p:nvSpPr>
        <p:spPr>
          <a:xfrm>
            <a:off x="731520" y="3017520"/>
            <a:ext cx="4206240" cy="1325880"/>
          </a:xfrm>
          <a:prstGeom prst="roundRect">
            <a:avLst>
              <a:gd name="adj" fmla="val 6897"/>
            </a:avLst>
          </a:prstGeom>
          <a:solidFill>
            <a:srgbClr val="F3F4F6"/>
          </a:solidFill>
          <a:ln w="9525">
            <a:solidFill>
              <a:srgbClr val="E5E7EB"/>
            </a:solidFill>
            <a:prstDash val="solid"/>
          </a:ln>
        </p:spPr>
      </p:sp>
      <p:sp>
        <p:nvSpPr>
          <p:cNvPr id="16" name="Text 14"/>
          <p:cNvSpPr txBox="1"/>
          <p:nvPr/>
        </p:nvSpPr>
        <p:spPr>
          <a:xfrm>
            <a:off x="3931920" y="3090672"/>
            <a:ext cx="82296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a:t>
            </a:r>
            <a:endParaRPr lang="en-US" sz="1100" dirty="0"/>
          </a:p>
        </p:txBody>
      </p:sp>
      <p:sp>
        <p:nvSpPr>
          <p:cNvPr id="17" name="Text 15"/>
          <p:cNvSpPr txBox="1"/>
          <p:nvPr/>
        </p:nvSpPr>
        <p:spPr>
          <a:xfrm>
            <a:off x="914400" y="3383280"/>
            <a:ext cx="3931920" cy="914400"/>
          </a:xfrm>
          <a:prstGeom prst="rect">
            <a:avLst/>
          </a:prstGeom>
          <a:noFill/>
          <a:ln/>
        </p:spPr>
        <p:txBody>
          <a:bodyPr wrap="square" lIns="0" tIns="0" rIns="0" bIns="0" rtlCol="0" anchor="t"/>
          <a:lstStyle/>
          <a:p>
            <a:pPr marL="0" indent="0" algn="l">
              <a:buNone/>
            </a:pPr>
            <a:r>
              <a:rPr lang="en-US" sz="1200" i="1" dirty="0">
                <a:solidFill>
                  <a:srgbClr val="6B7280"/>
                </a:solidFill>
                <a:latin typeface="Courier New" pitchFamily="34" charset="0"/>
                <a:ea typeface="Courier New" pitchFamily="34" charset="-122"/>
                <a:cs typeface="Courier New" pitchFamily="34" charset="-120"/>
              </a:rPr>
              <a:t>// app.ts</a:t>
            </a:r>
            <a:endParaRPr lang="en-US" sz="1200" dirty="0"/>
          </a:p>
          <a:p>
            <a:pPr marL="0" indent="0" algn="l">
              <a:buNone/>
            </a:pPr>
            <a:r>
              <a:rPr lang="en-US" sz="1200" b="1" dirty="0">
                <a:solidFill>
                  <a:srgbClr val="2563EB"/>
                </a:solidFill>
                <a:latin typeface="Courier New" pitchFamily="34" charset="0"/>
                <a:ea typeface="Courier New" pitchFamily="34" charset="-122"/>
                <a:cs typeface="Courier New" pitchFamily="34" charset="-120"/>
              </a:rPr>
              <a:t>let</a:t>
            </a:r>
            <a:r>
              <a:rPr lang="en-US" sz="1200" dirty="0">
                <a:solidFill>
                  <a:srgbClr val="111827"/>
                </a:solidFill>
                <a:latin typeface="Courier New" pitchFamily="34" charset="0"/>
                <a:ea typeface="Courier New" pitchFamily="34" charset="-122"/>
                <a:cs typeface="Courier New" pitchFamily="34" charset="-120"/>
              </a:rPr>
              <a:t> message: string = </a:t>
            </a:r>
            <a:r>
              <a:rPr lang="en-US" sz="1200" dirty="0">
                <a:solidFill>
                  <a:srgbClr val="047857"/>
                </a:solidFill>
                <a:latin typeface="Courier New" pitchFamily="34" charset="0"/>
                <a:ea typeface="Courier New" pitchFamily="34" charset="-122"/>
                <a:cs typeface="Courier New" pitchFamily="34" charset="-120"/>
              </a:rPr>
              <a:t>"Hello, World!"</a:t>
            </a:r>
            <a:r>
              <a:rPr lang="en-US" sz="1200" dirty="0">
                <a:solidFill>
                  <a:srgbClr val="111827"/>
                </a:solidFill>
                <a:latin typeface="Courier New" pitchFamily="34" charset="0"/>
                <a:ea typeface="Courier New" pitchFamily="34" charset="-122"/>
                <a:cs typeface="Courier New" pitchFamily="34" charset="-120"/>
              </a:rPr>
              <a:t>;</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console.log(message);</a:t>
            </a:r>
            <a:endParaRPr lang="en-US" sz="1200" dirty="0"/>
          </a:p>
        </p:txBody>
      </p:sp>
      <p:sp>
        <p:nvSpPr>
          <p:cNvPr id="18" name="Shape 16"/>
          <p:cNvSpPr/>
          <p:nvPr/>
        </p:nvSpPr>
        <p:spPr>
          <a:xfrm>
            <a:off x="731520" y="4480560"/>
            <a:ext cx="4206240" cy="1124712"/>
          </a:xfrm>
          <a:prstGeom prst="roundRect">
            <a:avLst>
              <a:gd name="adj" fmla="val 8130"/>
            </a:avLst>
          </a:prstGeom>
          <a:solidFill>
            <a:srgbClr val="EFF6FF"/>
          </a:solidFill>
          <a:ln w="9525">
            <a:solidFill>
              <a:srgbClr val="EFF6FF"/>
            </a:solidFill>
            <a:prstDash val="solid"/>
          </a:ln>
        </p:spPr>
      </p:sp>
      <p:sp>
        <p:nvSpPr>
          <p:cNvPr id="19" name="Text 17"/>
          <p:cNvSpPr txBox="1"/>
          <p:nvPr/>
        </p:nvSpPr>
        <p:spPr>
          <a:xfrm>
            <a:off x="932688" y="4608576"/>
            <a:ext cx="3803904" cy="86868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KOD MANTIĞI</a:t>
            </a:r>
            <a:endParaRPr lang="en-US" sz="1100" dirty="0"/>
          </a:p>
          <a:p>
            <a:pPr marL="0" indent="0" algn="l">
              <a:buNone/>
            </a:pPr>
            <a:r>
              <a:rPr lang="en-US" sz="1300" dirty="0">
                <a:solidFill>
                  <a:srgbClr val="111827"/>
                </a:solidFill>
                <a:latin typeface="Arial" pitchFamily="34" charset="0"/>
                <a:ea typeface="Arial" pitchFamily="34" charset="-122"/>
                <a:cs typeface="Arial" pitchFamily="34" charset="-120"/>
              </a:rPr>
              <a:t>tsc app.ts tipleri denetler ve app.js üretir; node app.js üretilen JavaScript dosyasını çalıştırır.</a:t>
            </a:r>
            <a:endParaRPr lang="en-US" sz="1100" dirty="0"/>
          </a:p>
        </p:txBody>
      </p:sp>
      <p:sp>
        <p:nvSpPr>
          <p:cNvPr id="20" name="Shape 18"/>
          <p:cNvSpPr/>
          <p:nvPr/>
        </p:nvSpPr>
        <p:spPr>
          <a:xfrm>
            <a:off x="5212080" y="3017520"/>
            <a:ext cx="6492240" cy="2880360"/>
          </a:xfrm>
          <a:prstGeom prst="roundRect">
            <a:avLst>
              <a:gd name="adj" fmla="val 3175"/>
            </a:avLst>
          </a:prstGeom>
          <a:solidFill>
            <a:srgbClr val="F3F4F6"/>
          </a:solidFill>
          <a:ln w="9525">
            <a:solidFill>
              <a:srgbClr val="E5E7EB"/>
            </a:solidFill>
            <a:prstDash val="solid"/>
          </a:ln>
        </p:spPr>
      </p:sp>
      <p:sp>
        <p:nvSpPr>
          <p:cNvPr id="21" name="Text 19"/>
          <p:cNvSpPr txBox="1"/>
          <p:nvPr/>
        </p:nvSpPr>
        <p:spPr>
          <a:xfrm>
            <a:off x="5394960" y="3108960"/>
            <a:ext cx="2743200" cy="228600"/>
          </a:xfrm>
          <a:prstGeom prst="rect">
            <a:avLst/>
          </a:prstGeom>
          <a:noFill/>
          <a:ln/>
        </p:spPr>
        <p:txBody>
          <a:bodyPr wrap="square" lIns="0" tIns="0" rIns="0" bIns="0" rtlCol="0" anchor="ctr"/>
          <a:lstStyle/>
          <a:p>
            <a:pPr marL="0" indent="0" algn="l">
              <a:buNone/>
            </a:pPr>
            <a:r>
              <a:rPr lang="en-US" sz="1100" b="1" dirty="0">
                <a:solidFill>
                  <a:srgbClr val="6B7280"/>
                </a:solidFill>
                <a:latin typeface="Arial" pitchFamily="34" charset="0"/>
                <a:ea typeface="Arial" pitchFamily="34" charset="-122"/>
                <a:cs typeface="Arial" pitchFamily="34" charset="-120"/>
              </a:rPr>
              <a:t>TERMİNAL</a:t>
            </a:r>
            <a:endParaRPr lang="en-US" sz="1100" dirty="0"/>
          </a:p>
        </p:txBody>
      </p:sp>
      <p:sp>
        <p:nvSpPr>
          <p:cNvPr id="22" name="Text 20"/>
          <p:cNvSpPr txBox="1"/>
          <p:nvPr/>
        </p:nvSpPr>
        <p:spPr>
          <a:xfrm>
            <a:off x="5394960" y="3383280"/>
            <a:ext cx="6126480" cy="2468880"/>
          </a:xfrm>
          <a:prstGeom prst="rect">
            <a:avLst/>
          </a:prstGeom>
          <a:noFill/>
          <a:ln/>
        </p:spPr>
        <p:txBody>
          <a:bodyPr wrap="square" lIns="0" tIns="0" rIns="0" bIns="0" rtlCol="0" anchor="t"/>
          <a:lstStyle/>
          <a:p>
            <a:pPr marL="0" indent="0" algn="l">
              <a:buNone/>
            </a:pPr>
            <a:r>
              <a:rPr lang="en-US" sz="1300" i="1" dirty="0">
                <a:solidFill>
                  <a:srgbClr val="6B7280"/>
                </a:solidFill>
                <a:latin typeface="Courier New" pitchFamily="34" charset="0"/>
                <a:ea typeface="Courier New" pitchFamily="34" charset="-122"/>
                <a:cs typeface="Courier New" pitchFamily="34" charset="-120"/>
              </a:rPr>
              <a:t>1. Klasör oluştur ve içine gir</a:t>
            </a:r>
            <a:endParaRPr lang="en-US" sz="1300" dirty="0"/>
          </a:p>
          <a:p>
            <a:pPr marL="0" indent="0" algn="l">
              <a:buNone/>
            </a:pPr>
            <a:r>
              <a:rPr lang="en-US" sz="1300" b="1" dirty="0">
                <a:solidFill>
                  <a:srgbClr val="2563EB"/>
                </a:solidFill>
                <a:latin typeface="Courier New" pitchFamily="34" charset="0"/>
                <a:ea typeface="Courier New" pitchFamily="34" charset="-122"/>
                <a:cs typeface="Courier New" pitchFamily="34" charset="-120"/>
              </a:rPr>
              <a:t>$ mkdir ilk-ts &amp;&amp; cd ilk-ts</a:t>
            </a:r>
            <a:endParaRPr lang="en-US" sz="1300" dirty="0"/>
          </a:p>
          <a:p>
            <a:pPr marL="0" indent="0" algn="l">
              <a:buNone/>
            </a:pPr>
            <a:r>
              <a:rPr lang="en-US" sz="1300" i="1" dirty="0">
                <a:solidFill>
                  <a:srgbClr val="6B7280"/>
                </a:solidFill>
                <a:latin typeface="Courier New" pitchFamily="34" charset="0"/>
                <a:ea typeface="Courier New" pitchFamily="34" charset="-122"/>
                <a:cs typeface="Courier New" pitchFamily="34" charset="-120"/>
              </a:rPr>
              <a:t>2. Dosyayı oluştur ve yukarıdaki kodu yaz</a:t>
            </a:r>
            <a:endParaRPr lang="en-US" sz="1300" dirty="0"/>
          </a:p>
          <a:p>
            <a:pPr marL="0" indent="0" algn="l">
              <a:buNone/>
            </a:pPr>
            <a:r>
              <a:rPr lang="en-US" sz="1300" b="1" dirty="0">
                <a:solidFill>
                  <a:srgbClr val="2563EB"/>
                </a:solidFill>
                <a:latin typeface="Courier New" pitchFamily="34" charset="0"/>
                <a:ea typeface="Courier New" pitchFamily="34" charset="-122"/>
                <a:cs typeface="Courier New" pitchFamily="34" charset="-120"/>
              </a:rPr>
              <a:t>$ code app.ts</a:t>
            </a:r>
            <a:endParaRPr lang="en-US" sz="1300" dirty="0"/>
          </a:p>
          <a:p>
            <a:pPr marL="0" indent="0" algn="l">
              <a:buNone/>
            </a:pPr>
            <a:r>
              <a:rPr lang="en-US" sz="1300" i="1" dirty="0">
                <a:solidFill>
                  <a:srgbClr val="6B7280"/>
                </a:solidFill>
                <a:latin typeface="Courier New" pitchFamily="34" charset="0"/>
                <a:ea typeface="Courier New" pitchFamily="34" charset="-122"/>
                <a:cs typeface="Courier New" pitchFamily="34" charset="-120"/>
              </a:rPr>
              <a:t>3. Derle (tipler denetlenir, app.js üretilir)</a:t>
            </a:r>
            <a:endParaRPr lang="en-US" sz="1300" dirty="0"/>
          </a:p>
          <a:p>
            <a:pPr marL="0" indent="0" algn="l">
              <a:buNone/>
            </a:pPr>
            <a:r>
              <a:rPr lang="en-US" sz="1300" b="1" dirty="0">
                <a:solidFill>
                  <a:srgbClr val="2563EB"/>
                </a:solidFill>
                <a:latin typeface="Courier New" pitchFamily="34" charset="0"/>
                <a:ea typeface="Courier New" pitchFamily="34" charset="-122"/>
                <a:cs typeface="Courier New" pitchFamily="34" charset="-120"/>
              </a:rPr>
              <a:t>$ tsc app.ts</a:t>
            </a:r>
            <a:endParaRPr lang="en-US" sz="1300" dirty="0"/>
          </a:p>
          <a:p>
            <a:pPr marL="0" indent="0" algn="l">
              <a:buNone/>
            </a:pPr>
            <a:r>
              <a:rPr lang="en-US" sz="1300" i="1" dirty="0">
                <a:solidFill>
                  <a:srgbClr val="6B7280"/>
                </a:solidFill>
                <a:latin typeface="Courier New" pitchFamily="34" charset="0"/>
                <a:ea typeface="Courier New" pitchFamily="34" charset="-122"/>
                <a:cs typeface="Courier New" pitchFamily="34" charset="-120"/>
              </a:rPr>
              <a:t>4. Klasörü listele</a:t>
            </a:r>
            <a:endParaRPr lang="en-US" sz="1300" dirty="0"/>
          </a:p>
          <a:p>
            <a:pPr marL="0" indent="0" algn="l">
              <a:buNone/>
            </a:pPr>
            <a:r>
              <a:rPr lang="en-US" sz="1300" b="1" dirty="0">
                <a:solidFill>
                  <a:srgbClr val="2563EB"/>
                </a:solidFill>
                <a:latin typeface="Courier New" pitchFamily="34" charset="0"/>
                <a:ea typeface="Courier New" pitchFamily="34" charset="-122"/>
                <a:cs typeface="Courier New" pitchFamily="34" charset="-120"/>
              </a:rPr>
              <a:t>$ ls</a:t>
            </a:r>
            <a:endParaRPr lang="en-US" sz="1300" dirty="0"/>
          </a:p>
          <a:p>
            <a:pPr marL="0" indent="0" algn="l">
              <a:buNone/>
            </a:pPr>
            <a:r>
              <a:rPr lang="en-US" sz="1300" dirty="0">
                <a:solidFill>
                  <a:srgbClr val="111827"/>
                </a:solidFill>
                <a:latin typeface="Courier New" pitchFamily="34" charset="0"/>
                <a:ea typeface="Courier New" pitchFamily="34" charset="-122"/>
                <a:cs typeface="Courier New" pitchFamily="34" charset="-120"/>
              </a:rPr>
              <a:t>app.js  app.ts</a:t>
            </a:r>
            <a:endParaRPr lang="en-US" sz="1300" dirty="0"/>
          </a:p>
          <a:p>
            <a:pPr marL="0" indent="0" algn="l">
              <a:buNone/>
            </a:pPr>
            <a:r>
              <a:rPr lang="en-US" sz="1300" i="1" dirty="0">
                <a:solidFill>
                  <a:srgbClr val="6B7280"/>
                </a:solidFill>
                <a:latin typeface="Courier New" pitchFamily="34" charset="0"/>
                <a:ea typeface="Courier New" pitchFamily="34" charset="-122"/>
                <a:cs typeface="Courier New" pitchFamily="34" charset="-120"/>
              </a:rPr>
              <a:t>5. Üretilen JavaScript'i çalıştır</a:t>
            </a:r>
            <a:endParaRPr lang="en-US" sz="1300" dirty="0"/>
          </a:p>
          <a:p>
            <a:pPr marL="0" indent="0" algn="l">
              <a:buNone/>
            </a:pPr>
            <a:r>
              <a:rPr lang="en-US" sz="1300" b="1" dirty="0">
                <a:solidFill>
                  <a:srgbClr val="2563EB"/>
                </a:solidFill>
                <a:latin typeface="Courier New" pitchFamily="34" charset="0"/>
                <a:ea typeface="Courier New" pitchFamily="34" charset="-122"/>
                <a:cs typeface="Courier New" pitchFamily="34" charset="-120"/>
              </a:rPr>
              <a:t>$ node app.js</a:t>
            </a:r>
            <a:endParaRPr lang="en-US" sz="1300" dirty="0"/>
          </a:p>
          <a:p>
            <a:pPr marL="0" indent="0" algn="l">
              <a:buNone/>
            </a:pPr>
            <a:r>
              <a:rPr lang="en-US" sz="1300" b="1" dirty="0">
                <a:solidFill>
                  <a:srgbClr val="111827"/>
                </a:solidFill>
                <a:latin typeface="Courier New" pitchFamily="34" charset="0"/>
                <a:ea typeface="Courier New" pitchFamily="34" charset="-122"/>
                <a:cs typeface="Courier New" pitchFamily="34" charset="-120"/>
              </a:rPr>
              <a:t>Hello, World!</a:t>
            </a:r>
            <a:endParaRPr lang="en-US" sz="1300" dirty="0"/>
          </a:p>
        </p:txBody>
      </p:sp>
      <p:sp>
        <p:nvSpPr>
          <p:cNvPr id="23" name="Text 21"/>
          <p:cNvSpPr txBox="1"/>
          <p:nvPr/>
        </p:nvSpPr>
        <p:spPr>
          <a:xfrm>
            <a:off x="5212080" y="5943600"/>
            <a:ext cx="6492240" cy="274320"/>
          </a:xfrm>
          <a:prstGeom prst="rect">
            <a:avLst/>
          </a:prstGeom>
          <a:noFill/>
          <a:ln/>
        </p:spPr>
        <p:txBody>
          <a:bodyPr wrap="square" lIns="0" tIns="0" rIns="0" bIns="0" rtlCol="0" anchor="ctr"/>
          <a:lstStyle/>
          <a:p>
            <a:pPr marL="0" indent="0" algn="l">
              <a:buNone/>
            </a:pPr>
            <a:r>
              <a:rPr lang="en-US" sz="1200" dirty="0">
                <a:solidFill>
                  <a:srgbClr val="6B7280"/>
                </a:solidFill>
                <a:latin typeface="Arial" pitchFamily="34" charset="0"/>
                <a:ea typeface="Arial" pitchFamily="34" charset="-122"/>
                <a:cs typeface="Arial" pitchFamily="34" charset="-120"/>
              </a:rPr>
              <a:t>Alternatif: tsx app.ts (</a:t>
            </a:r>
            <a:r>
              <a:rPr lang="en-US" sz="1200" dirty="0" err="1">
                <a:solidFill>
                  <a:srgbClr val="6B7280"/>
                </a:solidFill>
                <a:latin typeface="Arial" pitchFamily="34" charset="0"/>
                <a:ea typeface="Arial" pitchFamily="34" charset="-122"/>
                <a:cs typeface="Arial" pitchFamily="34" charset="-120"/>
              </a:rPr>
              <a:t>app.js</a:t>
            </a:r>
            <a:r>
              <a:rPr lang="en-US" sz="1200" dirty="0">
                <a:solidFill>
                  <a:srgbClr val="6B7280"/>
                </a:solidFill>
                <a:latin typeface="Arial" pitchFamily="34" charset="0"/>
                <a:ea typeface="Arial" pitchFamily="34" charset="-122"/>
                <a:cs typeface="Arial" pitchFamily="34" charset="-120"/>
              </a:rPr>
              <a:t> </a:t>
            </a:r>
            <a:r>
              <a:rPr lang="en-US" sz="1200" dirty="0" err="1">
                <a:solidFill>
                  <a:srgbClr val="6B7280"/>
                </a:solidFill>
                <a:latin typeface="Arial" pitchFamily="34" charset="0"/>
                <a:ea typeface="Arial" pitchFamily="34" charset="-122"/>
                <a:cs typeface="Arial" pitchFamily="34" charset="-120"/>
              </a:rPr>
              <a:t>üretmez</a:t>
            </a:r>
            <a:r>
              <a:rPr lang="en-US" sz="1200" dirty="0">
                <a:solidFill>
                  <a:srgbClr val="6B7280"/>
                </a:solidFill>
                <a:latin typeface="Arial" pitchFamily="34" charset="0"/>
                <a:ea typeface="Arial" pitchFamily="34" charset="-122"/>
                <a:cs typeface="Arial" pitchFamily="34" charset="-120"/>
              </a:rPr>
              <a:t>)</a:t>
            </a:r>
            <a:endParaRPr lang="en-US" sz="12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Temel Tipler</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156155"/>
          </a:xfrm>
          <a:prstGeom prst="roundRect">
            <a:avLst>
              <a:gd name="adj" fmla="val 4241"/>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a:t>
            </a:r>
            <a:endParaRPr lang="en-US" sz="1100" dirty="0"/>
          </a:p>
        </p:txBody>
      </p:sp>
      <p:sp>
        <p:nvSpPr>
          <p:cNvPr id="6" name="Text 4"/>
          <p:cNvSpPr txBox="1"/>
          <p:nvPr/>
        </p:nvSpPr>
        <p:spPr>
          <a:xfrm>
            <a:off x="960120" y="2103120"/>
            <a:ext cx="6309360" cy="1607515"/>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title: string = </a:t>
            </a:r>
            <a:r>
              <a:rPr lang="en-US" sz="1600" dirty="0">
                <a:solidFill>
                  <a:srgbClr val="047857"/>
                </a:solidFill>
                <a:latin typeface="Courier New" pitchFamily="34" charset="0"/>
                <a:ea typeface="Courier New" pitchFamily="34" charset="-122"/>
                <a:cs typeface="Courier New" pitchFamily="34" charset="-120"/>
              </a:rPr>
              <a:t>"Mobil Programlama"</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let</a:t>
            </a:r>
            <a:r>
              <a:rPr lang="en-US" sz="1600" dirty="0">
                <a:solidFill>
                  <a:srgbClr val="111827"/>
                </a:solidFill>
                <a:latin typeface="Courier New" pitchFamily="34" charset="0"/>
                <a:ea typeface="Courier New" pitchFamily="34" charset="-122"/>
                <a:cs typeface="Courier New" pitchFamily="34" charset="-120"/>
              </a:rPr>
              <a:t> week: number = </a:t>
            </a:r>
            <a:r>
              <a:rPr lang="en-US" sz="1600" dirty="0">
                <a:solidFill>
                  <a:srgbClr val="B45309"/>
                </a:solidFill>
                <a:latin typeface="Courier New" pitchFamily="34" charset="0"/>
                <a:ea typeface="Courier New" pitchFamily="34" charset="-122"/>
                <a:cs typeface="Courier New" pitchFamily="34" charset="-120"/>
              </a:rPr>
              <a:t>3</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isOnline: boolean = </a:t>
            </a:r>
            <a:r>
              <a:rPr lang="en-US" sz="1600" b="1" dirty="0">
                <a:solidFill>
                  <a:srgbClr val="2563EB"/>
                </a:solidFill>
                <a:latin typeface="Courier New" pitchFamily="34" charset="0"/>
                <a:ea typeface="Courier New" pitchFamily="34" charset="-122"/>
                <a:cs typeface="Courier New" pitchFamily="34" charset="-120"/>
              </a:rPr>
              <a:t>true</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let</a:t>
            </a:r>
            <a:r>
              <a:rPr lang="en-US" sz="1600" dirty="0">
                <a:solidFill>
                  <a:srgbClr val="111827"/>
                </a:solidFill>
                <a:latin typeface="Courier New" pitchFamily="34" charset="0"/>
                <a:ea typeface="Courier New" pitchFamily="34" charset="-122"/>
                <a:cs typeface="Courier New" pitchFamily="34" charset="-120"/>
              </a:rPr>
              <a:t> nickname: string | </a:t>
            </a:r>
            <a:r>
              <a:rPr lang="en-US" sz="1600" b="1" dirty="0">
                <a:solidFill>
                  <a:srgbClr val="2563EB"/>
                </a:solidFill>
                <a:latin typeface="Courier New" pitchFamily="34" charset="0"/>
                <a:ea typeface="Courier New" pitchFamily="34" charset="-122"/>
                <a:cs typeface="Courier New" pitchFamily="34" charset="-120"/>
              </a:rPr>
              <a:t>undefined</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i="1" dirty="0">
                <a:solidFill>
                  <a:srgbClr val="6B7280"/>
                </a:solidFill>
                <a:latin typeface="Courier New" pitchFamily="34" charset="0"/>
                <a:ea typeface="Courier New" pitchFamily="34" charset="-122"/>
                <a:cs typeface="Courier New" pitchFamily="34" charset="-120"/>
              </a:rPr>
              <a:t>// week = "üç";  // Hata: string, number değil</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console.log(title, week, isOnline, nickname);</a:t>
            </a:r>
            <a:endParaRPr lang="en-US" sz="1600" dirty="0"/>
          </a:p>
        </p:txBody>
      </p:sp>
      <p:sp>
        <p:nvSpPr>
          <p:cNvPr id="7" name="Shape 5"/>
          <p:cNvSpPr/>
          <p:nvPr/>
        </p:nvSpPr>
        <p:spPr>
          <a:xfrm>
            <a:off x="731520" y="3939235"/>
            <a:ext cx="6766560" cy="1216152"/>
          </a:xfrm>
          <a:prstGeom prst="roundRect">
            <a:avLst>
              <a:gd name="adj" fmla="val 7519"/>
            </a:avLst>
          </a:prstGeom>
          <a:solidFill>
            <a:srgbClr val="EFF6FF"/>
          </a:solidFill>
          <a:ln w="9525">
            <a:solidFill>
              <a:srgbClr val="EFF6FF"/>
            </a:solidFill>
            <a:prstDash val="solid"/>
          </a:ln>
        </p:spPr>
      </p:sp>
      <p:sp>
        <p:nvSpPr>
          <p:cNvPr id="8" name="Text 6"/>
          <p:cNvSpPr txBox="1"/>
          <p:nvPr/>
        </p:nvSpPr>
        <p:spPr>
          <a:xfrm>
            <a:off x="932688" y="4067251"/>
            <a:ext cx="6364224" cy="9601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Yorum satırı açılırsa editör "Type 'string' is not assignable to type 'number'" uyarısı gösterir; kod olduğu gibi çalıştırılırsa çıktı "Mobil Programlama 3 true undefined" olur.</a:t>
            </a:r>
            <a:endParaRPr lang="en-US" sz="1100" dirty="0"/>
          </a:p>
        </p:txBody>
      </p:sp>
      <p:sp>
        <p:nvSpPr>
          <p:cNvPr id="9" name="Text 7"/>
          <p:cNvSpPr txBox="1"/>
          <p:nvPr/>
        </p:nvSpPr>
        <p:spPr>
          <a:xfrm>
            <a:off x="7772400" y="1645920"/>
            <a:ext cx="3931920" cy="235915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değişkenin hangi tür veri taşıyacağını açıkça söylemektir.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İki nokta üst üste sonrasındaki yazı tipi belirtir. Tanımlanan tipe uymayan atama derleme hatası verir. Değer atanmamış nickname değişkeni undefined olabileceği için tipine undefined eklenmiştir.</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Tip Çıkarımı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646274"/>
          </a:xfrm>
          <a:prstGeom prst="roundRect">
            <a:avLst>
              <a:gd name="adj" fmla="val 345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a:t>
            </a:r>
            <a:endParaRPr lang="en-US" sz="1100" dirty="0"/>
          </a:p>
        </p:txBody>
      </p:sp>
      <p:sp>
        <p:nvSpPr>
          <p:cNvPr id="6" name="Text 4"/>
          <p:cNvSpPr txBox="1"/>
          <p:nvPr/>
        </p:nvSpPr>
        <p:spPr>
          <a:xfrm>
            <a:off x="960120" y="2103120"/>
            <a:ext cx="6309360" cy="2097634"/>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let</a:t>
            </a:r>
            <a:r>
              <a:rPr lang="en-US" sz="1600" dirty="0">
                <a:solidFill>
                  <a:srgbClr val="111827"/>
                </a:solidFill>
                <a:latin typeface="Courier New" pitchFamily="34" charset="0"/>
                <a:ea typeface="Courier New" pitchFamily="34" charset="-122"/>
                <a:cs typeface="Courier New" pitchFamily="34" charset="-120"/>
              </a:rPr>
              <a:t> count = </a:t>
            </a:r>
            <a:r>
              <a:rPr lang="en-US" sz="1600" dirty="0">
                <a:solidFill>
                  <a:srgbClr val="B45309"/>
                </a:solidFill>
                <a:latin typeface="Courier New" pitchFamily="34" charset="0"/>
                <a:ea typeface="Courier New" pitchFamily="34" charset="-122"/>
                <a:cs typeface="Courier New" pitchFamily="34" charset="-120"/>
              </a:rPr>
              <a:t>0</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city = </a:t>
            </a:r>
            <a:r>
              <a:rPr lang="en-US" sz="1600" dirty="0">
                <a:solidFill>
                  <a:srgbClr val="047857"/>
                </a:solidFill>
                <a:latin typeface="Courier New" pitchFamily="34" charset="0"/>
                <a:ea typeface="Courier New" pitchFamily="34" charset="-122"/>
                <a:cs typeface="Courier New" pitchFamily="34" charset="-120"/>
              </a:rPr>
              <a:t>"İzmir"</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scores = [</a:t>
            </a:r>
            <a:r>
              <a:rPr lang="en-US" sz="1600" dirty="0">
                <a:solidFill>
                  <a:srgbClr val="B45309"/>
                </a:solidFill>
                <a:latin typeface="Courier New" pitchFamily="34" charset="0"/>
                <a:ea typeface="Courier New" pitchFamily="34" charset="-122"/>
                <a:cs typeface="Courier New" pitchFamily="34" charset="-120"/>
              </a:rPr>
              <a:t>90</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B45309"/>
                </a:solidFill>
                <a:latin typeface="Courier New" pitchFamily="34" charset="0"/>
                <a:ea typeface="Courier New" pitchFamily="34" charset="-122"/>
                <a:cs typeface="Courier New" pitchFamily="34" charset="-120"/>
              </a:rPr>
              <a:t>75</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i="1" dirty="0">
                <a:solidFill>
                  <a:srgbClr val="6B7280"/>
                </a:solidFill>
                <a:latin typeface="Courier New" pitchFamily="34" charset="0"/>
                <a:ea typeface="Courier New" pitchFamily="34" charset="-122"/>
                <a:cs typeface="Courier New" pitchFamily="34" charset="-120"/>
              </a:rPr>
              <a:t>// count = "bir";  // Hata: string atanamaz</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function</a:t>
            </a:r>
            <a:r>
              <a:rPr lang="en-US" sz="1600" dirty="0">
                <a:solidFill>
                  <a:srgbClr val="111827"/>
                </a:solidFill>
                <a:latin typeface="Courier New" pitchFamily="34" charset="0"/>
                <a:ea typeface="Courier New" pitchFamily="34" charset="-122"/>
                <a:cs typeface="Courier New" pitchFamily="34" charset="-120"/>
              </a:rPr>
              <a:t> double(n: number)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n * </a:t>
            </a:r>
            <a:r>
              <a:rPr lang="en-US" sz="1600" dirty="0">
                <a:solidFill>
                  <a:srgbClr val="B45309"/>
                </a:solidFill>
                <a:latin typeface="Courier New" pitchFamily="34" charset="0"/>
                <a:ea typeface="Courier New" pitchFamily="34" charset="-122"/>
                <a:cs typeface="Courier New" pitchFamily="34" charset="-120"/>
              </a:rPr>
              <a:t>2</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console.log(double(count), city, scores);</a:t>
            </a:r>
            <a:endParaRPr lang="en-US" sz="1600" dirty="0"/>
          </a:p>
        </p:txBody>
      </p:sp>
      <p:sp>
        <p:nvSpPr>
          <p:cNvPr id="7" name="Shape 5"/>
          <p:cNvSpPr/>
          <p:nvPr/>
        </p:nvSpPr>
        <p:spPr>
          <a:xfrm>
            <a:off x="731520" y="4429354"/>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4557370"/>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Çıktı "0 İzmir [ 90, 75 ]" olur.</a:t>
            </a:r>
            <a:endParaRPr lang="en-US" sz="1100" dirty="0"/>
          </a:p>
        </p:txBody>
      </p:sp>
      <p:sp>
        <p:nvSpPr>
          <p:cNvPr id="9" name="Text 7"/>
          <p:cNvSpPr txBox="1"/>
          <p:nvPr/>
        </p:nvSpPr>
        <p:spPr>
          <a:xfrm>
            <a:off x="7772400" y="1645920"/>
            <a:ext cx="3931920" cy="373075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her yere tip yazmanın gerekmediğini görmektir.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Derleyici ilk değerden tipi çıkarır: count number, city sabit bir metin, scores number dizisidir. Fonksiyonda parametre tipi yazılmalıdır; dönüş tipi gövdeden çıkarılır.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Seçim mantığı: </a:t>
            </a:r>
            <a:r>
              <a:rPr lang="en-US" sz="1800" dirty="0">
                <a:solidFill>
                  <a:srgbClr val="111827"/>
                </a:solidFill>
                <a:latin typeface="Arial" pitchFamily="34" charset="0"/>
                <a:ea typeface="Arial" pitchFamily="34" charset="-122"/>
                <a:cs typeface="Arial" pitchFamily="34" charset="-120"/>
              </a:rPr>
              <a:t>Başlangıç değeri tipi açıkça gösteriyorsa yazmayın; fonksiyon parametresi, değişkene sonradan değer atanan durumlar ve dışa açılan arayüzlerde tipi yazın.</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Dizi ve Tuple</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401214"/>
          </a:xfrm>
          <a:prstGeom prst="roundRect">
            <a:avLst>
              <a:gd name="adj" fmla="val 3808"/>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a:t>
            </a:r>
            <a:endParaRPr lang="en-US" sz="1100" dirty="0"/>
          </a:p>
        </p:txBody>
      </p:sp>
      <p:sp>
        <p:nvSpPr>
          <p:cNvPr id="6" name="Text 4"/>
          <p:cNvSpPr txBox="1"/>
          <p:nvPr/>
        </p:nvSpPr>
        <p:spPr>
          <a:xfrm>
            <a:off x="960120" y="2103120"/>
            <a:ext cx="6309360" cy="1852574"/>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names: string[] = [</a:t>
            </a:r>
            <a:r>
              <a:rPr lang="en-US" sz="1600" dirty="0">
                <a:solidFill>
                  <a:srgbClr val="047857"/>
                </a:solidFill>
                <a:latin typeface="Courier New" pitchFamily="34" charset="0"/>
                <a:ea typeface="Courier New" pitchFamily="34" charset="-122"/>
                <a:cs typeface="Courier New" pitchFamily="34" charset="-120"/>
              </a:rPr>
              <a:t>"Ali"</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"Ece"</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ids: Array&lt;number&gt; = [</a:t>
            </a:r>
            <a:r>
              <a:rPr lang="en-US" sz="1600" dirty="0">
                <a:solidFill>
                  <a:srgbClr val="B45309"/>
                </a:solidFill>
                <a:latin typeface="Courier New" pitchFamily="34" charset="0"/>
                <a:ea typeface="Courier New" pitchFamily="34" charset="-122"/>
                <a:cs typeface="Courier New" pitchFamily="34" charset="-120"/>
              </a:rPr>
              <a:t>1</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B45309"/>
                </a:solidFill>
                <a:latin typeface="Courier New" pitchFamily="34" charset="0"/>
                <a:ea typeface="Courier New" pitchFamily="34" charset="-122"/>
                <a:cs typeface="Courier New" pitchFamily="34" charset="-120"/>
              </a:rPr>
              <a:t>2</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pair: [string, number] = [</a:t>
            </a:r>
            <a:r>
              <a:rPr lang="en-US" sz="1600" dirty="0">
                <a:solidFill>
                  <a:srgbClr val="047857"/>
                </a:solidFill>
                <a:latin typeface="Courier New" pitchFamily="34" charset="0"/>
                <a:ea typeface="Courier New" pitchFamily="34" charset="-122"/>
                <a:cs typeface="Courier New" pitchFamily="34" charset="-120"/>
              </a:rPr>
              <a:t>"Ali"</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B45309"/>
                </a:solidFill>
                <a:latin typeface="Courier New" pitchFamily="34" charset="0"/>
                <a:ea typeface="Courier New" pitchFamily="34" charset="-122"/>
                <a:cs typeface="Courier New" pitchFamily="34" charset="-120"/>
              </a:rPr>
              <a:t>20</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[who, age] = pair;</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names.push(</a:t>
            </a:r>
            <a:r>
              <a:rPr lang="en-US" sz="1600" dirty="0">
                <a:solidFill>
                  <a:srgbClr val="047857"/>
                </a:solidFill>
                <a:latin typeface="Courier New" pitchFamily="34" charset="0"/>
                <a:ea typeface="Courier New" pitchFamily="34" charset="-122"/>
                <a:cs typeface="Courier New" pitchFamily="34" charset="-120"/>
              </a:rPr>
              <a:t>"Can"</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i="1" dirty="0">
                <a:solidFill>
                  <a:srgbClr val="6B7280"/>
                </a:solidFill>
                <a:latin typeface="Courier New" pitchFamily="34" charset="0"/>
                <a:ea typeface="Courier New" pitchFamily="34" charset="-122"/>
                <a:cs typeface="Courier New" pitchFamily="34" charset="-120"/>
              </a:rPr>
              <a:t>// names.push(5);  // Hata: number eklenemez</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console.log(who, age, ids);</a:t>
            </a:r>
            <a:endParaRPr lang="en-US" sz="1600" dirty="0"/>
          </a:p>
        </p:txBody>
      </p:sp>
      <p:sp>
        <p:nvSpPr>
          <p:cNvPr id="7" name="Shape 5"/>
          <p:cNvSpPr/>
          <p:nvPr/>
        </p:nvSpPr>
        <p:spPr>
          <a:xfrm>
            <a:off x="731520" y="4184294"/>
            <a:ext cx="6766560" cy="987552"/>
          </a:xfrm>
          <a:prstGeom prst="roundRect">
            <a:avLst>
              <a:gd name="adj" fmla="val 9259"/>
            </a:avLst>
          </a:prstGeom>
          <a:solidFill>
            <a:srgbClr val="EFF6FF"/>
          </a:solidFill>
          <a:ln w="9525">
            <a:solidFill>
              <a:srgbClr val="EFF6FF"/>
            </a:solidFill>
            <a:prstDash val="solid"/>
          </a:ln>
        </p:spPr>
      </p:sp>
      <p:sp>
        <p:nvSpPr>
          <p:cNvPr id="8" name="Text 6"/>
          <p:cNvSpPr txBox="1"/>
          <p:nvPr/>
        </p:nvSpPr>
        <p:spPr>
          <a:xfrm>
            <a:off x="932688" y="4312310"/>
            <a:ext cx="6364224" cy="7315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Çıktı "Ali 20 [ 1, 2 ]" olur; names.push(5) satırı derleme hatası verir.</a:t>
            </a:r>
            <a:endParaRPr lang="en-US" sz="1100" dirty="0"/>
          </a:p>
        </p:txBody>
      </p:sp>
      <p:sp>
        <p:nvSpPr>
          <p:cNvPr id="9" name="Text 7"/>
          <p:cNvSpPr txBox="1"/>
          <p:nvPr/>
        </p:nvSpPr>
        <p:spPr>
          <a:xfrm>
            <a:off x="7772400" y="1645920"/>
            <a:ext cx="3931920" cy="263347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dizinin eleman tipini sabitlemek ve sabit uzunluklu karışık tipli yapıyı tanımaktır.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string[] ve Array&lt;string&gt; aynı anlama gelir. Tuple, her konumun tipini ayrı ayrı sabitler. Tuple'ı destructuring ile açabiliriz; bu yapı useState'in döndürdüğü diziye çok benzer.</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any ve unknown</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401214"/>
          </a:xfrm>
          <a:prstGeom prst="roundRect">
            <a:avLst>
              <a:gd name="adj" fmla="val 3808"/>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a:t>
            </a:r>
            <a:endParaRPr lang="en-US" sz="1100" dirty="0"/>
          </a:p>
        </p:txBody>
      </p:sp>
      <p:sp>
        <p:nvSpPr>
          <p:cNvPr id="6" name="Text 4"/>
          <p:cNvSpPr txBox="1"/>
          <p:nvPr/>
        </p:nvSpPr>
        <p:spPr>
          <a:xfrm>
            <a:off x="960120" y="2103120"/>
            <a:ext cx="6309360" cy="1852574"/>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let</a:t>
            </a:r>
            <a:r>
              <a:rPr lang="en-US" sz="1600" dirty="0">
                <a:solidFill>
                  <a:srgbClr val="111827"/>
                </a:solidFill>
                <a:latin typeface="Courier New" pitchFamily="34" charset="0"/>
                <a:ea typeface="Courier New" pitchFamily="34" charset="-122"/>
                <a:cs typeface="Courier New" pitchFamily="34" charset="-120"/>
              </a:rPr>
              <a:t> a: any = </a:t>
            </a:r>
            <a:r>
              <a:rPr lang="en-US" sz="1600" dirty="0">
                <a:solidFill>
                  <a:srgbClr val="047857"/>
                </a:solidFill>
                <a:latin typeface="Courier New" pitchFamily="34" charset="0"/>
                <a:ea typeface="Courier New" pitchFamily="34" charset="-122"/>
                <a:cs typeface="Courier New" pitchFamily="34" charset="-120"/>
              </a:rPr>
              <a:t>"metin"</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a.olmayanMetot();           </a:t>
            </a:r>
            <a:r>
              <a:rPr lang="en-US" sz="1600" i="1" dirty="0">
                <a:solidFill>
                  <a:srgbClr val="6B7280"/>
                </a:solidFill>
                <a:latin typeface="Courier New" pitchFamily="34" charset="0"/>
                <a:ea typeface="Courier New" pitchFamily="34" charset="-122"/>
                <a:cs typeface="Courier New" pitchFamily="34" charset="-120"/>
              </a:rPr>
              <a:t>// YANLIŞ ÖRNEK</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let</a:t>
            </a:r>
            <a:r>
              <a:rPr lang="en-US" sz="1600" dirty="0">
                <a:solidFill>
                  <a:srgbClr val="111827"/>
                </a:solidFill>
                <a:latin typeface="Courier New" pitchFamily="34" charset="0"/>
                <a:ea typeface="Courier New" pitchFamily="34" charset="-122"/>
                <a:cs typeface="Courier New" pitchFamily="34" charset="-120"/>
              </a:rPr>
              <a:t> u: unknown = </a:t>
            </a:r>
            <a:r>
              <a:rPr lang="en-US" sz="1600" dirty="0">
                <a:solidFill>
                  <a:srgbClr val="047857"/>
                </a:solidFill>
                <a:latin typeface="Courier New" pitchFamily="34" charset="0"/>
                <a:ea typeface="Courier New" pitchFamily="34" charset="-122"/>
                <a:cs typeface="Courier New" pitchFamily="34" charset="-120"/>
              </a:rPr>
              <a:t>"metin"</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i="1" dirty="0">
                <a:solidFill>
                  <a:srgbClr val="6B7280"/>
                </a:solidFill>
                <a:latin typeface="Courier New" pitchFamily="34" charset="0"/>
                <a:ea typeface="Courier New" pitchFamily="34" charset="-122"/>
                <a:cs typeface="Courier New" pitchFamily="34" charset="-120"/>
              </a:rPr>
              <a:t>// u.toUpperCase();   // Hata: önce doğrula</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if</a:t>
            </a:r>
            <a:r>
              <a:rPr lang="en-US" sz="1600" dirty="0">
                <a:solidFill>
                  <a:srgbClr val="111827"/>
                </a:solidFill>
                <a:latin typeface="Courier New" pitchFamily="34" charset="0"/>
                <a:ea typeface="Courier New" pitchFamily="34" charset="-122"/>
                <a:cs typeface="Courier New" pitchFamily="34" charset="-120"/>
              </a:rPr>
              <a:t> (typeof u === </a:t>
            </a:r>
            <a:r>
              <a:rPr lang="en-US" sz="1600" dirty="0">
                <a:solidFill>
                  <a:srgbClr val="047857"/>
                </a:solidFill>
                <a:latin typeface="Courier New" pitchFamily="34" charset="0"/>
                <a:ea typeface="Courier New" pitchFamily="34" charset="-122"/>
                <a:cs typeface="Courier New" pitchFamily="34" charset="-120"/>
              </a:rPr>
              <a:t>"string"</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console.log(u.toUpperCase());</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4184294"/>
            <a:ext cx="6766560" cy="987552"/>
          </a:xfrm>
          <a:prstGeom prst="roundRect">
            <a:avLst>
              <a:gd name="adj" fmla="val 9259"/>
            </a:avLst>
          </a:prstGeom>
          <a:solidFill>
            <a:srgbClr val="EFF6FF"/>
          </a:solidFill>
          <a:ln w="9525">
            <a:solidFill>
              <a:srgbClr val="EFF6FF"/>
            </a:solidFill>
            <a:prstDash val="solid"/>
          </a:ln>
        </p:spPr>
      </p:sp>
      <p:sp>
        <p:nvSpPr>
          <p:cNvPr id="8" name="Text 6"/>
          <p:cNvSpPr txBox="1"/>
          <p:nvPr/>
        </p:nvSpPr>
        <p:spPr>
          <a:xfrm>
            <a:off x="932688" y="4312310"/>
            <a:ext cx="6364224" cy="7315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İlk iki satır derlenir ancak çalıştırılırsa hata verir; unknown kullanan blok METİN yazdırır.</a:t>
            </a:r>
            <a:endParaRPr lang="en-US" sz="1100" dirty="0"/>
          </a:p>
        </p:txBody>
      </p:sp>
      <p:sp>
        <p:nvSpPr>
          <p:cNvPr id="9" name="Text 7"/>
          <p:cNvSpPr txBox="1"/>
          <p:nvPr/>
        </p:nvSpPr>
        <p:spPr>
          <a:xfrm>
            <a:off x="7772400" y="1645920"/>
            <a:ext cx="3931920" cy="235915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any'nin güvenliği neden kapattığını ve yerine unknown'ın nasıl kullanıldığını görmektir.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any, derleyiciyi susturur; yanlış metot çağrısı derlenir ve çalışırken çöker. unknown ise her değeri alır ama kullanmadan önce tipin doğrulanmasını zorunlu kılar.</a:t>
            </a:r>
            <a:endParaRPr lang="en-US" sz="1800" dirty="0"/>
          </a:p>
        </p:txBody>
      </p:sp>
      <p:sp>
        <p:nvSpPr>
          <p:cNvPr id="10" name="Shape 8"/>
          <p:cNvSpPr/>
          <p:nvPr/>
        </p:nvSpPr>
        <p:spPr>
          <a:xfrm>
            <a:off x="7772400" y="4142232"/>
            <a:ext cx="3931920" cy="1170432"/>
          </a:xfrm>
          <a:prstGeom prst="roundRect">
            <a:avLst>
              <a:gd name="adj" fmla="val 7813"/>
            </a:avLst>
          </a:prstGeom>
          <a:solidFill>
            <a:srgbClr val="EFF6FF"/>
          </a:solidFill>
          <a:ln w="9525">
            <a:solidFill>
              <a:srgbClr val="EFF6FF"/>
            </a:solidFill>
            <a:prstDash val="solid"/>
          </a:ln>
        </p:spPr>
      </p:sp>
      <p:sp>
        <p:nvSpPr>
          <p:cNvPr id="11" name="Text 9"/>
          <p:cNvSpPr txBox="1"/>
          <p:nvPr/>
        </p:nvSpPr>
        <p:spPr>
          <a:xfrm>
            <a:off x="7973568" y="4270248"/>
            <a:ext cx="3529584" cy="914400"/>
          </a:xfrm>
          <a:prstGeom prst="rect">
            <a:avLst/>
          </a:prstGeom>
          <a:noFill/>
          <a:ln/>
        </p:spPr>
        <p:txBody>
          <a:bodyPr wrap="square" lIns="0" tIns="0" rIns="0" bIns="0" rtlCol="0" anchor="t"/>
          <a:lstStyle/>
          <a:p>
            <a:pPr marL="0" indent="0" algn="l">
              <a:buNone/>
            </a:pPr>
            <a:r>
              <a:rPr lang="en-US" sz="1100" b="1" dirty="0">
                <a:solidFill>
                  <a:srgbClr val="B91C1C"/>
                </a:solidFill>
                <a:latin typeface="Arial" pitchFamily="34" charset="0"/>
                <a:ea typeface="Arial" pitchFamily="34" charset="-122"/>
                <a:cs typeface="Arial" pitchFamily="34" charset="-120"/>
              </a:rPr>
              <a:t>SIK YAPILAN HATA</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Derleyici hatasından kurtulmak için tipi any yapmak; hata gitmez, yalnızca çalışma anına ertelenir.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822960" y="2194560"/>
            <a:ext cx="7315200" cy="365760"/>
          </a:xfrm>
          <a:prstGeom prst="rect">
            <a:avLst/>
          </a:prstGeom>
          <a:noFill/>
          <a:ln/>
        </p:spPr>
        <p:txBody>
          <a:bodyPr wrap="square" lIns="0" tIns="0" rIns="0" bIns="0" rtlCol="0" anchor="ctr"/>
          <a:lstStyle/>
          <a:p>
            <a:pPr marL="0" indent="0" algn="l">
              <a:buNone/>
            </a:pPr>
            <a:r>
              <a:rPr lang="en-US" sz="1600" b="1" kern="0" spc="400" dirty="0">
                <a:solidFill>
                  <a:srgbClr val="2563EB"/>
                </a:solidFill>
                <a:latin typeface="Arial" pitchFamily="34" charset="0"/>
                <a:ea typeface="Arial" pitchFamily="34" charset="-122"/>
                <a:cs typeface="Arial" pitchFamily="34" charset="-120"/>
              </a:rPr>
              <a:t>BÖLÜM 2</a:t>
            </a:r>
            <a:endParaRPr lang="en-US" sz="1600" dirty="0"/>
          </a:p>
        </p:txBody>
      </p:sp>
      <p:sp>
        <p:nvSpPr>
          <p:cNvPr id="3" name="Text 1"/>
          <p:cNvSpPr txBox="1"/>
          <p:nvPr/>
        </p:nvSpPr>
        <p:spPr>
          <a:xfrm>
            <a:off x="822960" y="2651760"/>
            <a:ext cx="10058400" cy="1371600"/>
          </a:xfrm>
          <a:prstGeom prst="rect">
            <a:avLst/>
          </a:prstGeom>
          <a:noFill/>
          <a:ln/>
        </p:spPr>
        <p:txBody>
          <a:bodyPr wrap="square" lIns="0" tIns="0" rIns="0" bIns="0" rtlCol="0" anchor="t"/>
          <a:lstStyle/>
          <a:p>
            <a:pPr marL="0" indent="0" algn="l">
              <a:buNone/>
            </a:pPr>
            <a:r>
              <a:rPr lang="en-US" sz="4400" b="1" dirty="0">
                <a:solidFill>
                  <a:srgbClr val="111827"/>
                </a:solidFill>
                <a:latin typeface="Arial" pitchFamily="34" charset="0"/>
                <a:ea typeface="Arial" pitchFamily="34" charset="-122"/>
                <a:cs typeface="Arial" pitchFamily="34" charset="-120"/>
              </a:rPr>
              <a:t>Tip Güvenliği</a:t>
            </a:r>
            <a:endParaRPr lang="en-US" sz="4400" dirty="0"/>
          </a:p>
        </p:txBody>
      </p:sp>
      <p:sp>
        <p:nvSpPr>
          <p:cNvPr id="4" name="Text 2"/>
          <p:cNvSpPr txBox="1"/>
          <p:nvPr/>
        </p:nvSpPr>
        <p:spPr>
          <a:xfrm>
            <a:off x="822960" y="4114800"/>
            <a:ext cx="9144000" cy="548640"/>
          </a:xfrm>
          <a:prstGeom prst="rect">
            <a:avLst/>
          </a:prstGeom>
          <a:noFill/>
          <a:ln/>
        </p:spPr>
        <p:txBody>
          <a:bodyPr wrap="square" lIns="0" tIns="0" rIns="0" bIns="0" rtlCol="0" anchor="ctr"/>
          <a:lstStyle/>
          <a:p>
            <a:pPr marL="0" indent="0" algn="l">
              <a:buNone/>
            </a:pPr>
            <a:r>
              <a:rPr lang="en-US" sz="2200" dirty="0">
                <a:solidFill>
                  <a:srgbClr val="6B7280"/>
                </a:solidFill>
                <a:latin typeface="Arial" pitchFamily="34" charset="0"/>
                <a:ea typeface="Arial" pitchFamily="34" charset="-122"/>
                <a:cs typeface="Arial" pitchFamily="34" charset="-120"/>
              </a:rPr>
              <a:t>Union, null güvenliği, narrowing, fonksiyon tipleri</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Union ve Literal Tipler</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401214"/>
          </a:xfrm>
          <a:prstGeom prst="roundRect">
            <a:avLst>
              <a:gd name="adj" fmla="val 3808"/>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a:t>
            </a:r>
            <a:endParaRPr lang="en-US" sz="1100" dirty="0"/>
          </a:p>
        </p:txBody>
      </p:sp>
      <p:sp>
        <p:nvSpPr>
          <p:cNvPr id="6" name="Text 4"/>
          <p:cNvSpPr txBox="1"/>
          <p:nvPr/>
        </p:nvSpPr>
        <p:spPr>
          <a:xfrm>
            <a:off x="960120" y="2103120"/>
            <a:ext cx="6309360" cy="1852574"/>
          </a:xfrm>
          <a:prstGeom prst="rect">
            <a:avLst/>
          </a:prstGeom>
          <a:noFill/>
          <a:ln/>
        </p:spPr>
        <p:txBody>
          <a:bodyPr wrap="square" lIns="0" tIns="0" rIns="0" bIns="0" rtlCol="0" anchor="t"/>
          <a:lstStyle/>
          <a:p>
            <a:pPr marL="0" indent="0" algn="l">
              <a:buNone/>
            </a:pPr>
            <a:r>
              <a:rPr lang="en-US" sz="1600" dirty="0">
                <a:solidFill>
                  <a:srgbClr val="111827"/>
                </a:solidFill>
                <a:latin typeface="Courier New" pitchFamily="34" charset="0"/>
                <a:ea typeface="Courier New" pitchFamily="34" charset="-122"/>
                <a:cs typeface="Courier New" pitchFamily="34" charset="-120"/>
              </a:rPr>
              <a:t>type Platform = </a:t>
            </a:r>
            <a:r>
              <a:rPr lang="en-US" sz="1600" dirty="0">
                <a:solidFill>
                  <a:srgbClr val="047857"/>
                </a:solidFill>
                <a:latin typeface="Courier New" pitchFamily="34" charset="0"/>
                <a:ea typeface="Courier New" pitchFamily="34" charset="-122"/>
                <a:cs typeface="Courier New" pitchFamily="34" charset="-120"/>
              </a:rPr>
              <a:t>"android"</a:t>
            </a:r>
            <a:r>
              <a:rPr lang="en-US" sz="1600" dirty="0">
                <a:solidFill>
                  <a:srgbClr val="111827"/>
                </a:solidFill>
                <a:latin typeface="Courier New" pitchFamily="34" charset="0"/>
                <a:ea typeface="Courier New" pitchFamily="34" charset="-122"/>
                <a:cs typeface="Courier New" pitchFamily="34" charset="-120"/>
              </a:rPr>
              <a:t> | </a:t>
            </a:r>
            <a:r>
              <a:rPr lang="en-US" sz="1600" dirty="0">
                <a:solidFill>
                  <a:srgbClr val="047857"/>
                </a:solidFill>
                <a:latin typeface="Courier New" pitchFamily="34" charset="0"/>
                <a:ea typeface="Courier New" pitchFamily="34" charset="-122"/>
                <a:cs typeface="Courier New" pitchFamily="34" charset="-120"/>
              </a:rPr>
              <a:t>"ios"</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type Id = number | string;</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function</a:t>
            </a:r>
            <a:r>
              <a:rPr lang="en-US" sz="1600" dirty="0">
                <a:solidFill>
                  <a:srgbClr val="111827"/>
                </a:solidFill>
                <a:latin typeface="Courier New" pitchFamily="34" charset="0"/>
                <a:ea typeface="Courier New" pitchFamily="34" charset="-122"/>
                <a:cs typeface="Courier New" pitchFamily="34" charset="-120"/>
              </a:rPr>
              <a:t> open(p: Platform, id: Id)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console.log(</a:t>
            </a:r>
            <a:r>
              <a:rPr lang="en-US" sz="1600" dirty="0">
                <a:solidFill>
                  <a:srgbClr val="047857"/>
                </a:solidFill>
                <a:latin typeface="Courier New" pitchFamily="34" charset="0"/>
                <a:ea typeface="Courier New" pitchFamily="34" charset="-122"/>
                <a:cs typeface="Courier New" pitchFamily="34" charset="-120"/>
              </a:rPr>
              <a:t>`${p}: ${id}`</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open(</a:t>
            </a:r>
            <a:r>
              <a:rPr lang="en-US" sz="1600" dirty="0">
                <a:solidFill>
                  <a:srgbClr val="047857"/>
                </a:solidFill>
                <a:latin typeface="Courier New" pitchFamily="34" charset="0"/>
                <a:ea typeface="Courier New" pitchFamily="34" charset="-122"/>
                <a:cs typeface="Courier New" pitchFamily="34" charset="-120"/>
              </a:rPr>
              <a:t>"android"</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B45309"/>
                </a:solidFill>
                <a:latin typeface="Courier New" pitchFamily="34" charset="0"/>
                <a:ea typeface="Courier New" pitchFamily="34" charset="-122"/>
                <a:cs typeface="Courier New" pitchFamily="34" charset="-120"/>
              </a:rPr>
              <a:t>7</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i="1" dirty="0">
                <a:solidFill>
                  <a:srgbClr val="6B7280"/>
                </a:solidFill>
                <a:latin typeface="Courier New" pitchFamily="34" charset="0"/>
                <a:ea typeface="Courier New" pitchFamily="34" charset="-122"/>
                <a:cs typeface="Courier New" pitchFamily="34" charset="-120"/>
              </a:rPr>
              <a:t>// open("web", 7);  // Hata: "web" Platform değil</a:t>
            </a:r>
            <a:endParaRPr lang="en-US" sz="1600" dirty="0"/>
          </a:p>
        </p:txBody>
      </p:sp>
      <p:sp>
        <p:nvSpPr>
          <p:cNvPr id="7" name="Shape 5"/>
          <p:cNvSpPr/>
          <p:nvPr/>
        </p:nvSpPr>
        <p:spPr>
          <a:xfrm>
            <a:off x="731520" y="4184294"/>
            <a:ext cx="6766560" cy="987552"/>
          </a:xfrm>
          <a:prstGeom prst="roundRect">
            <a:avLst>
              <a:gd name="adj" fmla="val 9259"/>
            </a:avLst>
          </a:prstGeom>
          <a:solidFill>
            <a:srgbClr val="EFF6FF"/>
          </a:solidFill>
          <a:ln w="9525">
            <a:solidFill>
              <a:srgbClr val="EFF6FF"/>
            </a:solidFill>
            <a:prstDash val="solid"/>
          </a:ln>
        </p:spPr>
      </p:sp>
      <p:sp>
        <p:nvSpPr>
          <p:cNvPr id="8" name="Text 6"/>
          <p:cNvSpPr txBox="1"/>
          <p:nvPr/>
        </p:nvSpPr>
        <p:spPr>
          <a:xfrm>
            <a:off x="932688" y="4312310"/>
            <a:ext cx="6364224" cy="7315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Çıktı "android: 7" olur; "web" yazan satır açılırsa derleyici uyarı verir.</a:t>
            </a:r>
            <a:endParaRPr lang="en-US" sz="1100" dirty="0"/>
          </a:p>
        </p:txBody>
      </p:sp>
      <p:sp>
        <p:nvSpPr>
          <p:cNvPr id="9" name="Text 7"/>
          <p:cNvSpPr txBox="1"/>
          <p:nvPr/>
        </p:nvSpPr>
        <p:spPr>
          <a:xfrm>
            <a:off x="7772400" y="1645920"/>
            <a:ext cx="3931920" cy="263347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bir değerin yalnızca belirli seçeneklerden biri olmasını sağlamaktır.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Dikey çizgi "veya" anlamına gelir. Literal tip, değerin kendisini tip yapar; böylece yazım hatası daha derleme aşamasında yakalanır. type ile takma ad vererek tekrar eden tipi tek yerde tanımlarız.</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null ve undefined Güvenliği</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3136392"/>
          </a:xfrm>
          <a:prstGeom prst="roundRect">
            <a:avLst>
              <a:gd name="adj" fmla="val 291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a:t>
            </a:r>
            <a:endParaRPr lang="en-US" sz="1100" dirty="0"/>
          </a:p>
        </p:txBody>
      </p:sp>
      <p:sp>
        <p:nvSpPr>
          <p:cNvPr id="6" name="Text 4"/>
          <p:cNvSpPr txBox="1"/>
          <p:nvPr/>
        </p:nvSpPr>
        <p:spPr>
          <a:xfrm>
            <a:off x="960120" y="2103120"/>
            <a:ext cx="6309360" cy="2587752"/>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function</a:t>
            </a:r>
            <a:r>
              <a:rPr lang="en-US" sz="1600" dirty="0">
                <a:solidFill>
                  <a:srgbClr val="111827"/>
                </a:solidFill>
                <a:latin typeface="Courier New" pitchFamily="34" charset="0"/>
                <a:ea typeface="Courier New" pitchFamily="34" charset="-122"/>
                <a:cs typeface="Courier New" pitchFamily="34" charset="-120"/>
              </a:rPr>
              <a:t> initial(name: string | </a:t>
            </a:r>
            <a:r>
              <a:rPr lang="en-US" sz="1600" b="1" dirty="0">
                <a:solidFill>
                  <a:srgbClr val="2563EB"/>
                </a:solidFill>
                <a:latin typeface="Courier New" pitchFamily="34" charset="0"/>
                <a:ea typeface="Courier New" pitchFamily="34" charset="-122"/>
                <a:cs typeface="Courier New" pitchFamily="34" charset="-120"/>
              </a:rPr>
              <a:t>null</a:t>
            </a:r>
            <a:r>
              <a:rPr lang="en-US" sz="1600" dirty="0">
                <a:solidFill>
                  <a:srgbClr val="111827"/>
                </a:solidFill>
                <a:latin typeface="Courier New" pitchFamily="34" charset="0"/>
                <a:ea typeface="Courier New" pitchFamily="34" charset="-122"/>
                <a:cs typeface="Courier New" pitchFamily="34" charset="-120"/>
              </a:rPr>
              <a:t>): string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i="1" dirty="0">
                <a:solidFill>
                  <a:srgbClr val="6B7280"/>
                </a:solidFill>
                <a:latin typeface="Courier New" pitchFamily="34" charset="0"/>
                <a:ea typeface="Courier New" pitchFamily="34" charset="-122"/>
                <a:cs typeface="Courier New" pitchFamily="34" charset="-120"/>
              </a:rPr>
              <a:t>// return name[0];  // Hata: name null olabilir</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if</a:t>
            </a:r>
            <a:r>
              <a:rPr lang="en-US" sz="1600" dirty="0">
                <a:solidFill>
                  <a:srgbClr val="111827"/>
                </a:solidFill>
                <a:latin typeface="Courier New" pitchFamily="34" charset="0"/>
                <a:ea typeface="Courier New" pitchFamily="34" charset="-122"/>
                <a:cs typeface="Courier New" pitchFamily="34" charset="-120"/>
              </a:rPr>
              <a:t> (name === </a:t>
            </a:r>
            <a:r>
              <a:rPr lang="en-US" sz="1600" b="1" dirty="0">
                <a:solidFill>
                  <a:srgbClr val="2563EB"/>
                </a:solidFill>
                <a:latin typeface="Courier New" pitchFamily="34" charset="0"/>
                <a:ea typeface="Courier New" pitchFamily="34" charset="-122"/>
                <a:cs typeface="Courier New" pitchFamily="34" charset="-120"/>
              </a:rPr>
              <a:t>null</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name[</a:t>
            </a:r>
            <a:r>
              <a:rPr lang="en-US" sz="1600" dirty="0">
                <a:solidFill>
                  <a:srgbClr val="B45309"/>
                </a:solidFill>
                <a:latin typeface="Courier New" pitchFamily="34" charset="0"/>
                <a:ea typeface="Courier New" pitchFamily="34" charset="-122"/>
                <a:cs typeface="Courier New" pitchFamily="34" charset="-120"/>
              </a:rPr>
              <a:t>0</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user: { address?: { city: string } } = {};</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city = user.address?.city ?? </a:t>
            </a:r>
            <a:r>
              <a:rPr lang="en-US" sz="1600" dirty="0">
                <a:solidFill>
                  <a:srgbClr val="047857"/>
                </a:solidFill>
                <a:latin typeface="Courier New" pitchFamily="34" charset="0"/>
                <a:ea typeface="Courier New" pitchFamily="34" charset="-122"/>
                <a:cs typeface="Courier New" pitchFamily="34" charset="-120"/>
              </a:rPr>
              <a:t>"Yok"</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console.log(initial(</a:t>
            </a:r>
            <a:r>
              <a:rPr lang="en-US" sz="1600" dirty="0">
                <a:solidFill>
                  <a:srgbClr val="047857"/>
                </a:solidFill>
                <a:latin typeface="Courier New" pitchFamily="34" charset="0"/>
                <a:ea typeface="Courier New" pitchFamily="34" charset="-122"/>
                <a:cs typeface="Courier New" pitchFamily="34" charset="-120"/>
              </a:rPr>
              <a:t>"Ece"</a:t>
            </a:r>
            <a:r>
              <a:rPr lang="en-US" sz="1600" dirty="0">
                <a:solidFill>
                  <a:srgbClr val="111827"/>
                </a:solidFill>
                <a:latin typeface="Courier New" pitchFamily="34" charset="0"/>
                <a:ea typeface="Courier New" pitchFamily="34" charset="-122"/>
                <a:cs typeface="Courier New" pitchFamily="34" charset="-120"/>
              </a:rPr>
              <a:t>), city);</a:t>
            </a:r>
            <a:endParaRPr lang="en-US" sz="1600" dirty="0"/>
          </a:p>
        </p:txBody>
      </p:sp>
      <p:sp>
        <p:nvSpPr>
          <p:cNvPr id="7" name="Shape 5"/>
          <p:cNvSpPr/>
          <p:nvPr/>
        </p:nvSpPr>
        <p:spPr>
          <a:xfrm>
            <a:off x="731520" y="4919472"/>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5047488"/>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Çıktı "E Yok" olur.</a:t>
            </a:r>
            <a:endParaRPr lang="en-US" sz="1100" dirty="0"/>
          </a:p>
        </p:txBody>
      </p:sp>
      <p:sp>
        <p:nvSpPr>
          <p:cNvPr id="9" name="Text 7"/>
          <p:cNvSpPr txBox="1"/>
          <p:nvPr/>
        </p:nvSpPr>
        <p:spPr>
          <a:xfrm>
            <a:off x="7772400" y="1645920"/>
            <a:ext cx="3931920" cy="263347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olmayan değerin özelliğine erişimi derleme anında engellemektir.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Strict modda null ve undefined ayrı tiplerdir ve açıkça belirtilmedikçe kabul edilmez. Kontrol yaptıktan sonra derleyici değerin artık null olmadığını bilir. ?. ve ?? işleçleri geçen haftaki gibi çalışır.</a:t>
            </a:r>
            <a:endParaRPr lang="en-US" sz="1800" dirty="0"/>
          </a:p>
        </p:txBody>
      </p:sp>
      <p:sp>
        <p:nvSpPr>
          <p:cNvPr id="10" name="Shape 8"/>
          <p:cNvSpPr/>
          <p:nvPr/>
        </p:nvSpPr>
        <p:spPr>
          <a:xfrm>
            <a:off x="7772400" y="4416552"/>
            <a:ext cx="3931920" cy="1383792"/>
          </a:xfrm>
          <a:prstGeom prst="roundRect">
            <a:avLst>
              <a:gd name="adj" fmla="val 6608"/>
            </a:avLst>
          </a:prstGeom>
          <a:solidFill>
            <a:srgbClr val="EFF6FF"/>
          </a:solidFill>
          <a:ln w="9525">
            <a:solidFill>
              <a:srgbClr val="EFF6FF"/>
            </a:solidFill>
            <a:prstDash val="solid"/>
          </a:ln>
        </p:spPr>
      </p:sp>
      <p:sp>
        <p:nvSpPr>
          <p:cNvPr id="11" name="Text 9"/>
          <p:cNvSpPr txBox="1"/>
          <p:nvPr/>
        </p:nvSpPr>
        <p:spPr>
          <a:xfrm>
            <a:off x="7973568" y="4544568"/>
            <a:ext cx="3529584" cy="112776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"Cannot read properties of undefined" hatası mobil uygulamaların en yaygın çökme nedenidir; strict mod bu hata sınıfını büyük ölçüde azaltır.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Narrowing: Tipi Daraltmak</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646274"/>
          </a:xfrm>
          <a:prstGeom prst="roundRect">
            <a:avLst>
              <a:gd name="adj" fmla="val 345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a:t>
            </a:r>
            <a:endParaRPr lang="en-US" sz="1100" dirty="0"/>
          </a:p>
        </p:txBody>
      </p:sp>
      <p:sp>
        <p:nvSpPr>
          <p:cNvPr id="6" name="Text 4"/>
          <p:cNvSpPr txBox="1"/>
          <p:nvPr/>
        </p:nvSpPr>
        <p:spPr>
          <a:xfrm>
            <a:off x="960120" y="2103120"/>
            <a:ext cx="6309360" cy="2097634"/>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function</a:t>
            </a:r>
            <a:r>
              <a:rPr lang="en-US" sz="1600" dirty="0">
                <a:solidFill>
                  <a:srgbClr val="111827"/>
                </a:solidFill>
                <a:latin typeface="Courier New" pitchFamily="34" charset="0"/>
                <a:ea typeface="Courier New" pitchFamily="34" charset="-122"/>
                <a:cs typeface="Courier New" pitchFamily="34" charset="-120"/>
              </a:rPr>
              <a:t> format(value: number | string): string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if</a:t>
            </a:r>
            <a:r>
              <a:rPr lang="en-US" sz="1600" dirty="0">
                <a:solidFill>
                  <a:srgbClr val="111827"/>
                </a:solidFill>
                <a:latin typeface="Courier New" pitchFamily="34" charset="0"/>
                <a:ea typeface="Courier New" pitchFamily="34" charset="-122"/>
                <a:cs typeface="Courier New" pitchFamily="34" charset="-120"/>
              </a:rPr>
              <a:t> (typeof value === </a:t>
            </a:r>
            <a:r>
              <a:rPr lang="en-US" sz="1600" dirty="0">
                <a:solidFill>
                  <a:srgbClr val="047857"/>
                </a:solidFill>
                <a:latin typeface="Courier New" pitchFamily="34" charset="0"/>
                <a:ea typeface="Courier New" pitchFamily="34" charset="-122"/>
                <a:cs typeface="Courier New" pitchFamily="34" charset="-120"/>
              </a:rPr>
              <a:t>"number"</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value.toFixed(</a:t>
            </a:r>
            <a:r>
              <a:rPr lang="en-US" sz="1600" dirty="0">
                <a:solidFill>
                  <a:srgbClr val="B45309"/>
                </a:solidFill>
                <a:latin typeface="Courier New" pitchFamily="34" charset="0"/>
                <a:ea typeface="Courier New" pitchFamily="34" charset="-122"/>
                <a:cs typeface="Courier New" pitchFamily="34" charset="-120"/>
              </a:rPr>
              <a:t>1</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value.trim();</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console.log(format(</a:t>
            </a:r>
            <a:r>
              <a:rPr lang="en-US" sz="1600" dirty="0">
                <a:solidFill>
                  <a:srgbClr val="B45309"/>
                </a:solidFill>
                <a:latin typeface="Courier New" pitchFamily="34" charset="0"/>
                <a:ea typeface="Courier New" pitchFamily="34" charset="-122"/>
                <a:cs typeface="Courier New" pitchFamily="34" charset="-120"/>
              </a:rPr>
              <a:t>3.14159</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console.log(format(</a:t>
            </a:r>
            <a:r>
              <a:rPr lang="en-US" sz="1600" dirty="0">
                <a:solidFill>
                  <a:srgbClr val="047857"/>
                </a:solidFill>
                <a:latin typeface="Courier New" pitchFamily="34" charset="0"/>
                <a:ea typeface="Courier New" pitchFamily="34" charset="-122"/>
                <a:cs typeface="Courier New" pitchFamily="34" charset="-120"/>
              </a:rPr>
              <a:t>"  merhaba "</a:t>
            </a: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4429354"/>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4557370"/>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Çıktı sırasıyla 3.1 ve merhaba olur.</a:t>
            </a:r>
            <a:endParaRPr lang="en-US" sz="1100" dirty="0"/>
          </a:p>
        </p:txBody>
      </p:sp>
      <p:sp>
        <p:nvSpPr>
          <p:cNvPr id="9" name="Text 7"/>
          <p:cNvSpPr txBox="1"/>
          <p:nvPr/>
        </p:nvSpPr>
        <p:spPr>
          <a:xfrm>
            <a:off x="7772400" y="1645920"/>
            <a:ext cx="3931920" cy="373075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union tipli değeri kontrol ederek güvenle kullanmaktır.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if içinde typeof kontrolü yapıldığında derleyici value'nun number olduğunu bilir ve toFixed'e izin verir. Blok dışında geriye yalnızca string kaldığı için trim güvenle çağrılır.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Seçim mantığı: </a:t>
            </a:r>
            <a:r>
              <a:rPr lang="en-US" sz="1800" dirty="0">
                <a:solidFill>
                  <a:srgbClr val="111827"/>
                </a:solidFill>
                <a:latin typeface="Arial" pitchFamily="34" charset="0"/>
                <a:ea typeface="Arial" pitchFamily="34" charset="-122"/>
                <a:cs typeface="Arial" pitchFamily="34" charset="-120"/>
              </a:rPr>
              <a:t>Temel tipler için typeof, nesneler için in veya ortak bir alan kontrolü, null için === null kullanılır; bu kontrollere tip koruyucu denir.</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Ayrık Birleşim: Durumu Modellemek</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3381451"/>
          </a:xfrm>
          <a:prstGeom prst="roundRect">
            <a:avLst>
              <a:gd name="adj" fmla="val 2704"/>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a:t>
            </a:r>
            <a:endParaRPr lang="en-US" sz="1100" dirty="0"/>
          </a:p>
        </p:txBody>
      </p:sp>
      <p:sp>
        <p:nvSpPr>
          <p:cNvPr id="6" name="Text 4"/>
          <p:cNvSpPr txBox="1"/>
          <p:nvPr/>
        </p:nvSpPr>
        <p:spPr>
          <a:xfrm>
            <a:off x="960120" y="2103120"/>
            <a:ext cx="6309360" cy="2832811"/>
          </a:xfrm>
          <a:prstGeom prst="rect">
            <a:avLst/>
          </a:prstGeom>
          <a:noFill/>
          <a:ln/>
        </p:spPr>
        <p:txBody>
          <a:bodyPr wrap="square" lIns="0" tIns="0" rIns="0" bIns="0" rtlCol="0" anchor="t"/>
          <a:lstStyle/>
          <a:p>
            <a:pPr marL="0" indent="0" algn="l">
              <a:buNone/>
            </a:pPr>
            <a:r>
              <a:rPr lang="en-US" sz="1600" dirty="0">
                <a:solidFill>
                  <a:srgbClr val="111827"/>
                </a:solidFill>
                <a:latin typeface="Courier New" pitchFamily="34" charset="0"/>
                <a:ea typeface="Courier New" pitchFamily="34" charset="-122"/>
                <a:cs typeface="Courier New" pitchFamily="34" charset="-120"/>
              </a:rPr>
              <a:t>type Result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 { status: </a:t>
            </a:r>
            <a:r>
              <a:rPr lang="en-US" sz="1600" dirty="0">
                <a:solidFill>
                  <a:srgbClr val="047857"/>
                </a:solidFill>
                <a:latin typeface="Courier New" pitchFamily="34" charset="0"/>
                <a:ea typeface="Courier New" pitchFamily="34" charset="-122"/>
                <a:cs typeface="Courier New" pitchFamily="34" charset="-120"/>
              </a:rPr>
              <a:t>"loading"</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 { status: </a:t>
            </a:r>
            <a:r>
              <a:rPr lang="en-US" sz="1600" dirty="0">
                <a:solidFill>
                  <a:srgbClr val="047857"/>
                </a:solidFill>
                <a:latin typeface="Courier New" pitchFamily="34" charset="0"/>
                <a:ea typeface="Courier New" pitchFamily="34" charset="-122"/>
                <a:cs typeface="Courier New" pitchFamily="34" charset="-120"/>
              </a:rPr>
              <a:t>"ok"</a:t>
            </a:r>
            <a:r>
              <a:rPr lang="en-US" sz="1600" dirty="0">
                <a:solidFill>
                  <a:srgbClr val="111827"/>
                </a:solidFill>
                <a:latin typeface="Courier New" pitchFamily="34" charset="0"/>
                <a:ea typeface="Courier New" pitchFamily="34" charset="-122"/>
                <a:cs typeface="Courier New" pitchFamily="34" charset="-120"/>
              </a:rPr>
              <a:t>; data: string[]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 { status: </a:t>
            </a:r>
            <a:r>
              <a:rPr lang="en-US" sz="1600" dirty="0">
                <a:solidFill>
                  <a:srgbClr val="047857"/>
                </a:solidFill>
                <a:latin typeface="Courier New" pitchFamily="34" charset="0"/>
                <a:ea typeface="Courier New" pitchFamily="34" charset="-122"/>
                <a:cs typeface="Courier New" pitchFamily="34" charset="-120"/>
              </a:rPr>
              <a:t>"error"</a:t>
            </a:r>
            <a:r>
              <a:rPr lang="en-US" sz="1600" dirty="0">
                <a:solidFill>
                  <a:srgbClr val="111827"/>
                </a:solidFill>
                <a:latin typeface="Courier New" pitchFamily="34" charset="0"/>
                <a:ea typeface="Courier New" pitchFamily="34" charset="-122"/>
                <a:cs typeface="Courier New" pitchFamily="34" charset="-120"/>
              </a:rPr>
              <a:t>; message: string };</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function</a:t>
            </a:r>
            <a:r>
              <a:rPr lang="en-US" sz="1600" dirty="0">
                <a:solidFill>
                  <a:srgbClr val="111827"/>
                </a:solidFill>
                <a:latin typeface="Courier New" pitchFamily="34" charset="0"/>
                <a:ea typeface="Courier New" pitchFamily="34" charset="-122"/>
                <a:cs typeface="Courier New" pitchFamily="34" charset="-120"/>
              </a:rPr>
              <a:t> show(r: Result): string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switch</a:t>
            </a:r>
            <a:r>
              <a:rPr lang="en-US" sz="1600" dirty="0">
                <a:solidFill>
                  <a:srgbClr val="111827"/>
                </a:solidFill>
                <a:latin typeface="Courier New" pitchFamily="34" charset="0"/>
                <a:ea typeface="Courier New" pitchFamily="34" charset="-122"/>
                <a:cs typeface="Courier New" pitchFamily="34" charset="-120"/>
              </a:rPr>
              <a:t> (r.status)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case</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"loading"</a:t>
            </a: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"Yükleniyor"</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case</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"ok"</a:t>
            </a: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r.data.join(</a:t>
            </a:r>
            <a:r>
              <a:rPr lang="en-US" sz="1600" dirty="0">
                <a:solidFill>
                  <a:srgbClr val="047857"/>
                </a:solidFill>
                <a:latin typeface="Courier New" pitchFamily="34" charset="0"/>
                <a:ea typeface="Courier New" pitchFamily="34" charset="-122"/>
                <a:cs typeface="Courier New" pitchFamily="34" charset="-120"/>
              </a:rPr>
              <a:t>", "</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case</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"error"</a:t>
            </a: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r.message;</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5164531"/>
            <a:ext cx="6766560" cy="987552"/>
          </a:xfrm>
          <a:prstGeom prst="roundRect">
            <a:avLst>
              <a:gd name="adj" fmla="val 9259"/>
            </a:avLst>
          </a:prstGeom>
          <a:solidFill>
            <a:srgbClr val="EFF6FF"/>
          </a:solidFill>
          <a:ln w="9525">
            <a:solidFill>
              <a:srgbClr val="EFF6FF"/>
            </a:solidFill>
            <a:prstDash val="solid"/>
          </a:ln>
        </p:spPr>
      </p:sp>
      <p:sp>
        <p:nvSpPr>
          <p:cNvPr id="8" name="Text 6"/>
          <p:cNvSpPr txBox="1"/>
          <p:nvPr/>
        </p:nvSpPr>
        <p:spPr>
          <a:xfrm>
            <a:off x="932688" y="5292547"/>
            <a:ext cx="6364224" cy="7315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Fonksiyon duruma göre "Yükleniyor", elemanlar ya da hata mesajı döndürür.</a:t>
            </a:r>
            <a:endParaRPr lang="en-US" sz="1100" dirty="0"/>
          </a:p>
        </p:txBody>
      </p:sp>
      <p:sp>
        <p:nvSpPr>
          <p:cNvPr id="9" name="Text 7"/>
          <p:cNvSpPr txBox="1"/>
          <p:nvPr/>
        </p:nvSpPr>
        <p:spPr>
          <a:xfrm>
            <a:off x="7772400" y="1645920"/>
            <a:ext cx="3931920" cy="263347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uygulamanın alabileceği durumları tek tipte, çelişkisiz biçimde modellemektir.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Her durumun ortak bir status alanı vardır; switch ile status kontrol edildiğinde derleyici hangi alanların var olduğunu bilir. "ok" durumunda data vardır, "error" durumunda message vardır.</a:t>
            </a:r>
            <a:endParaRPr lang="en-US" sz="1800" dirty="0"/>
          </a:p>
        </p:txBody>
      </p:sp>
      <p:sp>
        <p:nvSpPr>
          <p:cNvPr id="10" name="Shape 8"/>
          <p:cNvSpPr/>
          <p:nvPr/>
        </p:nvSpPr>
        <p:spPr>
          <a:xfrm>
            <a:off x="7772400" y="4416552"/>
            <a:ext cx="3931920" cy="1383792"/>
          </a:xfrm>
          <a:prstGeom prst="roundRect">
            <a:avLst>
              <a:gd name="adj" fmla="val 6608"/>
            </a:avLst>
          </a:prstGeom>
          <a:solidFill>
            <a:srgbClr val="EFF6FF"/>
          </a:solidFill>
          <a:ln w="9525">
            <a:solidFill>
              <a:srgbClr val="EFF6FF"/>
            </a:solidFill>
            <a:prstDash val="solid"/>
          </a:ln>
        </p:spPr>
      </p:sp>
      <p:sp>
        <p:nvSpPr>
          <p:cNvPr id="11" name="Text 9"/>
          <p:cNvSpPr txBox="1"/>
          <p:nvPr/>
        </p:nvSpPr>
        <p:spPr>
          <a:xfrm>
            <a:off x="7973568" y="4544568"/>
            <a:ext cx="3529584" cy="112776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Yeni bir durum eklendiğinde switch'te karşılığı yazılmazsa derleyici fonksiyonun değer döndürmeyebileceğini söyler; bu, unutulan durumları yakalar.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Fonksiyon Tipleri: Parametre ve Dönüş</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646274"/>
          </a:xfrm>
          <a:prstGeom prst="roundRect">
            <a:avLst>
              <a:gd name="adj" fmla="val 345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a:t>
            </a:r>
            <a:endParaRPr lang="en-US" sz="1100" dirty="0"/>
          </a:p>
        </p:txBody>
      </p:sp>
      <p:sp>
        <p:nvSpPr>
          <p:cNvPr id="6" name="Text 4"/>
          <p:cNvSpPr txBox="1"/>
          <p:nvPr/>
        </p:nvSpPr>
        <p:spPr>
          <a:xfrm>
            <a:off x="960120" y="2103120"/>
            <a:ext cx="6309360" cy="2097634"/>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function</a:t>
            </a:r>
            <a:r>
              <a:rPr lang="en-US" sz="1600" dirty="0">
                <a:solidFill>
                  <a:srgbClr val="111827"/>
                </a:solidFill>
                <a:latin typeface="Courier New" pitchFamily="34" charset="0"/>
                <a:ea typeface="Courier New" pitchFamily="34" charset="-122"/>
                <a:cs typeface="Courier New" pitchFamily="34" charset="-120"/>
              </a:rPr>
              <a:t> greet(n: string, role?: string): string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role ? </a:t>
            </a:r>
            <a:r>
              <a:rPr lang="en-US" sz="1600" dirty="0">
                <a:solidFill>
                  <a:srgbClr val="047857"/>
                </a:solidFill>
                <a:latin typeface="Courier New" pitchFamily="34" charset="0"/>
                <a:ea typeface="Courier New" pitchFamily="34" charset="-122"/>
                <a:cs typeface="Courier New" pitchFamily="34" charset="-120"/>
              </a:rPr>
              <a:t>`${role} ${n}`</a:t>
            </a:r>
            <a:r>
              <a:rPr lang="en-US" sz="1600" dirty="0">
                <a:solidFill>
                  <a:srgbClr val="111827"/>
                </a:solidFill>
                <a:latin typeface="Courier New" pitchFamily="34" charset="0"/>
                <a:ea typeface="Courier New" pitchFamily="34" charset="-122"/>
                <a:cs typeface="Courier New" pitchFamily="34" charset="-120"/>
              </a:rPr>
              <a:t> : n;</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area = (w: number, h = </a:t>
            </a:r>
            <a:r>
              <a:rPr lang="en-US" sz="1600" dirty="0">
                <a:solidFill>
                  <a:srgbClr val="B45309"/>
                </a:solidFill>
                <a:latin typeface="Courier New" pitchFamily="34" charset="0"/>
                <a:ea typeface="Courier New" pitchFamily="34" charset="-122"/>
                <a:cs typeface="Courier New" pitchFamily="34" charset="-120"/>
              </a:rPr>
              <a:t>1</a:t>
            </a:r>
            <a:r>
              <a:rPr lang="en-US" sz="1600" dirty="0">
                <a:solidFill>
                  <a:srgbClr val="111827"/>
                </a:solidFill>
                <a:latin typeface="Courier New" pitchFamily="34" charset="0"/>
                <a:ea typeface="Courier New" pitchFamily="34" charset="-122"/>
                <a:cs typeface="Courier New" pitchFamily="34" charset="-120"/>
              </a:rPr>
              <a:t>): number =&gt; w * h;</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function</a:t>
            </a:r>
            <a:r>
              <a:rPr lang="en-US" sz="1600" dirty="0">
                <a:solidFill>
                  <a:srgbClr val="111827"/>
                </a:solidFill>
                <a:latin typeface="Courier New" pitchFamily="34" charset="0"/>
                <a:ea typeface="Courier New" pitchFamily="34" charset="-122"/>
                <a:cs typeface="Courier New" pitchFamily="34" charset="-120"/>
              </a:rPr>
              <a:t> log(msg: string): void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console.log(msg);</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console.log(greet(</a:t>
            </a:r>
            <a:r>
              <a:rPr lang="en-US" sz="1600" dirty="0">
                <a:solidFill>
                  <a:srgbClr val="047857"/>
                </a:solidFill>
                <a:latin typeface="Courier New" pitchFamily="34" charset="0"/>
                <a:ea typeface="Courier New" pitchFamily="34" charset="-122"/>
                <a:cs typeface="Courier New" pitchFamily="34" charset="-120"/>
              </a:rPr>
              <a:t>"Ece"</a:t>
            </a:r>
            <a:r>
              <a:rPr lang="en-US" sz="1600" dirty="0">
                <a:solidFill>
                  <a:srgbClr val="111827"/>
                </a:solidFill>
                <a:latin typeface="Courier New" pitchFamily="34" charset="0"/>
                <a:ea typeface="Courier New" pitchFamily="34" charset="-122"/>
                <a:cs typeface="Courier New" pitchFamily="34" charset="-120"/>
              </a:rPr>
              <a:t>), area(</a:t>
            </a:r>
            <a:r>
              <a:rPr lang="en-US" sz="1600" dirty="0">
                <a:solidFill>
                  <a:srgbClr val="B45309"/>
                </a:solidFill>
                <a:latin typeface="Courier New" pitchFamily="34" charset="0"/>
                <a:ea typeface="Courier New" pitchFamily="34" charset="-122"/>
                <a:cs typeface="Courier New" pitchFamily="34" charset="-120"/>
              </a:rPr>
              <a:t>3</a:t>
            </a: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4429354"/>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4557370"/>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Çıktı "Ece 3" olur; greet'e sayı verirsek derleyici uyarı verir.</a:t>
            </a:r>
            <a:endParaRPr lang="en-US" sz="1100" dirty="0"/>
          </a:p>
        </p:txBody>
      </p:sp>
      <p:sp>
        <p:nvSpPr>
          <p:cNvPr id="9" name="Text 7"/>
          <p:cNvSpPr txBox="1"/>
          <p:nvPr/>
        </p:nvSpPr>
        <p:spPr>
          <a:xfrm>
            <a:off x="7772400" y="1645920"/>
            <a:ext cx="3931920" cy="290779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fonksiyonun ne alıp ne döndürdüğünü tip olarak sözleşmeye bağlamaktır.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Soru işareti parametreyi isteğe bağlı yapar; varsayılan değerli parametre de isteğe bağlıdır. void, fonksiyonun anlamlı bir değer döndürmediğini söyler. Fonksiyonun içinden değil dışından, imzasından okunabilir olmalıdır.</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Fonksiyon Tipini Parametre Olarak Almak</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646274"/>
          </a:xfrm>
          <a:prstGeom prst="roundRect">
            <a:avLst>
              <a:gd name="adj" fmla="val 345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a:t>
            </a:r>
            <a:endParaRPr lang="en-US" sz="1100" dirty="0"/>
          </a:p>
        </p:txBody>
      </p:sp>
      <p:sp>
        <p:nvSpPr>
          <p:cNvPr id="6" name="Text 4"/>
          <p:cNvSpPr txBox="1"/>
          <p:nvPr/>
        </p:nvSpPr>
        <p:spPr>
          <a:xfrm>
            <a:off x="960120" y="2103120"/>
            <a:ext cx="6309360" cy="2097634"/>
          </a:xfrm>
          <a:prstGeom prst="rect">
            <a:avLst/>
          </a:prstGeom>
          <a:noFill/>
          <a:ln/>
        </p:spPr>
        <p:txBody>
          <a:bodyPr wrap="square" lIns="0" tIns="0" rIns="0" bIns="0" rtlCol="0" anchor="t"/>
          <a:lstStyle/>
          <a:p>
            <a:pPr marL="0" indent="0" algn="l">
              <a:buNone/>
            </a:pPr>
            <a:r>
              <a:rPr lang="en-US" sz="1600" dirty="0">
                <a:solidFill>
                  <a:srgbClr val="111827"/>
                </a:solidFill>
                <a:latin typeface="Courier New" pitchFamily="34" charset="0"/>
                <a:ea typeface="Courier New" pitchFamily="34" charset="-122"/>
                <a:cs typeface="Courier New" pitchFamily="34" charset="-120"/>
              </a:rPr>
              <a:t>type Handler = (id: number) =&gt; void;</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function</a:t>
            </a:r>
            <a:r>
              <a:rPr lang="en-US" sz="1600" dirty="0">
                <a:solidFill>
                  <a:srgbClr val="111827"/>
                </a:solidFill>
                <a:latin typeface="Courier New" pitchFamily="34" charset="0"/>
                <a:ea typeface="Courier New" pitchFamily="34" charset="-122"/>
                <a:cs typeface="Courier New" pitchFamily="34" charset="-120"/>
              </a:rPr>
              <a:t> load(ids: number[], onEach: Handler)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ids.forEach(onEach);</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load([</a:t>
            </a:r>
            <a:r>
              <a:rPr lang="en-US" sz="1600" dirty="0">
                <a:solidFill>
                  <a:srgbClr val="B45309"/>
                </a:solidFill>
                <a:latin typeface="Courier New" pitchFamily="34" charset="0"/>
                <a:ea typeface="Courier New" pitchFamily="34" charset="-122"/>
                <a:cs typeface="Courier New" pitchFamily="34" charset="-120"/>
              </a:rPr>
              <a:t>1</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B45309"/>
                </a:solidFill>
                <a:latin typeface="Courier New" pitchFamily="34" charset="0"/>
                <a:ea typeface="Courier New" pitchFamily="34" charset="-122"/>
                <a:cs typeface="Courier New" pitchFamily="34" charset="-120"/>
              </a:rPr>
              <a:t>2</a:t>
            </a:r>
            <a:r>
              <a:rPr lang="en-US" sz="1600" dirty="0">
                <a:solidFill>
                  <a:srgbClr val="111827"/>
                </a:solidFill>
                <a:latin typeface="Courier New" pitchFamily="34" charset="0"/>
                <a:ea typeface="Courier New" pitchFamily="34" charset="-122"/>
                <a:cs typeface="Courier New" pitchFamily="34" charset="-120"/>
              </a:rPr>
              <a:t>], (id) =&gt; console.log(</a:t>
            </a:r>
            <a:r>
              <a:rPr lang="en-US" sz="1600" dirty="0">
                <a:solidFill>
                  <a:srgbClr val="047857"/>
                </a:solidFill>
                <a:latin typeface="Courier New" pitchFamily="34" charset="0"/>
                <a:ea typeface="Courier New" pitchFamily="34" charset="-122"/>
                <a:cs typeface="Courier New" pitchFamily="34" charset="-120"/>
              </a:rPr>
              <a:t>"Öğe"</a:t>
            </a:r>
            <a:r>
              <a:rPr lang="en-US" sz="1600" dirty="0">
                <a:solidFill>
                  <a:srgbClr val="111827"/>
                </a:solidFill>
                <a:latin typeface="Courier New" pitchFamily="34" charset="0"/>
                <a:ea typeface="Courier New" pitchFamily="34" charset="-122"/>
                <a:cs typeface="Courier New" pitchFamily="34" charset="-120"/>
              </a:rPr>
              <a:t>, id));</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compare: (a: number, b: number) =&gt; number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 b) =&gt; a - b;</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a:t>
            </a:r>
            <a:r>
              <a:rPr lang="en-US" sz="1600" dirty="0">
                <a:solidFill>
                  <a:srgbClr val="B45309"/>
                </a:solidFill>
                <a:latin typeface="Courier New" pitchFamily="34" charset="0"/>
                <a:ea typeface="Courier New" pitchFamily="34" charset="-122"/>
                <a:cs typeface="Courier New" pitchFamily="34" charset="-120"/>
              </a:rPr>
              <a:t>3</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B45309"/>
                </a:solidFill>
                <a:latin typeface="Courier New" pitchFamily="34" charset="0"/>
                <a:ea typeface="Courier New" pitchFamily="34" charset="-122"/>
                <a:cs typeface="Courier New" pitchFamily="34" charset="-120"/>
              </a:rPr>
              <a:t>1</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B45309"/>
                </a:solidFill>
                <a:latin typeface="Courier New" pitchFamily="34" charset="0"/>
                <a:ea typeface="Courier New" pitchFamily="34" charset="-122"/>
                <a:cs typeface="Courier New" pitchFamily="34" charset="-120"/>
              </a:rPr>
              <a:t>2</a:t>
            </a:r>
            <a:r>
              <a:rPr lang="en-US" sz="1600" dirty="0">
                <a:solidFill>
                  <a:srgbClr val="111827"/>
                </a:solidFill>
                <a:latin typeface="Courier New" pitchFamily="34" charset="0"/>
                <a:ea typeface="Courier New" pitchFamily="34" charset="-122"/>
                <a:cs typeface="Courier New" pitchFamily="34" charset="-120"/>
              </a:rPr>
              <a:t>].sort(compare));</a:t>
            </a:r>
            <a:endParaRPr lang="en-US" sz="1600" dirty="0"/>
          </a:p>
        </p:txBody>
      </p:sp>
      <p:sp>
        <p:nvSpPr>
          <p:cNvPr id="7" name="Shape 5"/>
          <p:cNvSpPr/>
          <p:nvPr/>
        </p:nvSpPr>
        <p:spPr>
          <a:xfrm>
            <a:off x="731520" y="4429354"/>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4557370"/>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Önce "Öğe 1" ve "Öğe 2" yazılır, sonra [ 1, 2, 3 ] yazılır.</a:t>
            </a:r>
            <a:endParaRPr lang="en-US" sz="1100" dirty="0"/>
          </a:p>
        </p:txBody>
      </p:sp>
      <p:sp>
        <p:nvSpPr>
          <p:cNvPr id="9" name="Text 7"/>
          <p:cNvSpPr txBox="1"/>
          <p:nvPr/>
        </p:nvSpPr>
        <p:spPr>
          <a:xfrm>
            <a:off x="7772400" y="1645920"/>
            <a:ext cx="3931920" cy="235915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callback'in şeklini tiple tanımlamaktır.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Handler tipi, bir sayı alan ve değer döndürmeyen fonksiyonu tanımlar. Çağrıda verilen ok fonksiyonunun id parametresinin tipi bu tanımdan çıkarılır; ayrıca yazmaya gerek yoktur.</a:t>
            </a:r>
            <a:endParaRPr lang="en-US" sz="1800" dirty="0"/>
          </a:p>
        </p:txBody>
      </p:sp>
      <p:sp>
        <p:nvSpPr>
          <p:cNvPr id="10" name="Shape 8"/>
          <p:cNvSpPr/>
          <p:nvPr/>
        </p:nvSpPr>
        <p:spPr>
          <a:xfrm>
            <a:off x="7772400" y="4142232"/>
            <a:ext cx="3931920" cy="1383792"/>
          </a:xfrm>
          <a:prstGeom prst="roundRect">
            <a:avLst>
              <a:gd name="adj" fmla="val 6608"/>
            </a:avLst>
          </a:prstGeom>
          <a:solidFill>
            <a:srgbClr val="EFF6FF"/>
          </a:solidFill>
          <a:ln w="9525">
            <a:solidFill>
              <a:srgbClr val="EFF6FF"/>
            </a:solidFill>
            <a:prstDash val="solid"/>
          </a:ln>
        </p:spPr>
      </p:sp>
      <p:sp>
        <p:nvSpPr>
          <p:cNvPr id="11" name="Text 9"/>
          <p:cNvSpPr txBox="1"/>
          <p:nvPr/>
        </p:nvSpPr>
        <p:spPr>
          <a:xfrm>
            <a:off x="7973568" y="4270248"/>
            <a:ext cx="3529584" cy="112776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React Native'de onPress gibi özellikler de bu biçimde tiplenmiştir; yanlış parametreli fonksiyon verirseniz derleyici hatayı gösterir.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822960" y="2194560"/>
            <a:ext cx="7315200" cy="365760"/>
          </a:xfrm>
          <a:prstGeom prst="rect">
            <a:avLst/>
          </a:prstGeom>
          <a:noFill/>
          <a:ln/>
        </p:spPr>
        <p:txBody>
          <a:bodyPr wrap="square" lIns="0" tIns="0" rIns="0" bIns="0" rtlCol="0" anchor="ctr"/>
          <a:lstStyle/>
          <a:p>
            <a:pPr marL="0" indent="0" algn="l">
              <a:buNone/>
            </a:pPr>
            <a:r>
              <a:rPr lang="en-US" sz="1600" b="1" kern="0" spc="400" dirty="0">
                <a:solidFill>
                  <a:srgbClr val="2563EB"/>
                </a:solidFill>
                <a:latin typeface="Arial" pitchFamily="34" charset="0"/>
                <a:ea typeface="Arial" pitchFamily="34" charset="-122"/>
                <a:cs typeface="Arial" pitchFamily="34" charset="-120"/>
              </a:rPr>
              <a:t>BÖLÜM 3</a:t>
            </a:r>
            <a:endParaRPr lang="en-US" sz="1600" dirty="0"/>
          </a:p>
        </p:txBody>
      </p:sp>
      <p:sp>
        <p:nvSpPr>
          <p:cNvPr id="3" name="Text 1"/>
          <p:cNvSpPr txBox="1"/>
          <p:nvPr/>
        </p:nvSpPr>
        <p:spPr>
          <a:xfrm>
            <a:off x="822960" y="2651760"/>
            <a:ext cx="10058400" cy="1371600"/>
          </a:xfrm>
          <a:prstGeom prst="rect">
            <a:avLst/>
          </a:prstGeom>
          <a:noFill/>
          <a:ln/>
        </p:spPr>
        <p:txBody>
          <a:bodyPr wrap="square" lIns="0" tIns="0" rIns="0" bIns="0" rtlCol="0" anchor="t"/>
          <a:lstStyle/>
          <a:p>
            <a:pPr marL="0" indent="0" algn="l">
              <a:buNone/>
            </a:pPr>
            <a:r>
              <a:rPr lang="en-US" sz="4400" b="1" dirty="0">
                <a:solidFill>
                  <a:srgbClr val="111827"/>
                </a:solidFill>
                <a:latin typeface="Arial" pitchFamily="34" charset="0"/>
                <a:ea typeface="Arial" pitchFamily="34" charset="-122"/>
                <a:cs typeface="Arial" pitchFamily="34" charset="-120"/>
              </a:rPr>
              <a:t>Nesne Tipleri</a:t>
            </a:r>
            <a:endParaRPr lang="en-US" sz="4400" dirty="0"/>
          </a:p>
        </p:txBody>
      </p:sp>
      <p:sp>
        <p:nvSpPr>
          <p:cNvPr id="4" name="Text 2"/>
          <p:cNvSpPr txBox="1"/>
          <p:nvPr/>
        </p:nvSpPr>
        <p:spPr>
          <a:xfrm>
            <a:off x="822960" y="4114800"/>
            <a:ext cx="9144000" cy="548640"/>
          </a:xfrm>
          <a:prstGeom prst="rect">
            <a:avLst/>
          </a:prstGeom>
          <a:noFill/>
          <a:ln/>
        </p:spPr>
        <p:txBody>
          <a:bodyPr wrap="square" lIns="0" tIns="0" rIns="0" bIns="0" rtlCol="0" anchor="ctr"/>
          <a:lstStyle/>
          <a:p>
            <a:pPr marL="0" indent="0" algn="l">
              <a:buNone/>
            </a:pPr>
            <a:r>
              <a:rPr lang="en-US" sz="2200" dirty="0">
                <a:solidFill>
                  <a:srgbClr val="6B7280"/>
                </a:solidFill>
                <a:latin typeface="Arial" pitchFamily="34" charset="0"/>
                <a:ea typeface="Arial" pitchFamily="34" charset="-122"/>
                <a:cs typeface="Arial" pitchFamily="34" charset="-120"/>
              </a:rPr>
              <a:t>interface, type, readonly</a:t>
            </a:r>
            <a:endParaRPr lang="en-US" sz="2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interface ile Nesne Şekli</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3136392"/>
          </a:xfrm>
          <a:prstGeom prst="roundRect">
            <a:avLst>
              <a:gd name="adj" fmla="val 291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a:t>
            </a:r>
            <a:endParaRPr lang="en-US" sz="1100" dirty="0"/>
          </a:p>
        </p:txBody>
      </p:sp>
      <p:sp>
        <p:nvSpPr>
          <p:cNvPr id="6" name="Text 4"/>
          <p:cNvSpPr txBox="1"/>
          <p:nvPr/>
        </p:nvSpPr>
        <p:spPr>
          <a:xfrm>
            <a:off x="960120" y="2103120"/>
            <a:ext cx="6309360" cy="2587752"/>
          </a:xfrm>
          <a:prstGeom prst="rect">
            <a:avLst/>
          </a:prstGeom>
          <a:noFill/>
          <a:ln/>
        </p:spPr>
        <p:txBody>
          <a:bodyPr wrap="square" lIns="0" tIns="0" rIns="0" bIns="0" rtlCol="0" anchor="t"/>
          <a:lstStyle/>
          <a:p>
            <a:pPr marL="0" indent="0" algn="l">
              <a:buNone/>
            </a:pPr>
            <a:r>
              <a:rPr lang="en-US" sz="1600" dirty="0">
                <a:solidFill>
                  <a:srgbClr val="111827"/>
                </a:solidFill>
                <a:latin typeface="Courier New" pitchFamily="34" charset="0"/>
                <a:ea typeface="Courier New" pitchFamily="34" charset="-122"/>
                <a:cs typeface="Courier New" pitchFamily="34" charset="-120"/>
              </a:rPr>
              <a:t>interface User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id: number;</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name: string;</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email?: string;</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ece: User = { id: </a:t>
            </a:r>
            <a:r>
              <a:rPr lang="en-US" sz="1600" dirty="0">
                <a:solidFill>
                  <a:srgbClr val="B45309"/>
                </a:solidFill>
                <a:latin typeface="Courier New" pitchFamily="34" charset="0"/>
                <a:ea typeface="Courier New" pitchFamily="34" charset="-122"/>
                <a:cs typeface="Courier New" pitchFamily="34" charset="-120"/>
              </a:rPr>
              <a:t>1</a:t>
            </a:r>
            <a:r>
              <a:rPr lang="en-US" sz="1600" dirty="0">
                <a:solidFill>
                  <a:srgbClr val="111827"/>
                </a:solidFill>
                <a:latin typeface="Courier New" pitchFamily="34" charset="0"/>
                <a:ea typeface="Courier New" pitchFamily="34" charset="-122"/>
                <a:cs typeface="Courier New" pitchFamily="34" charset="-120"/>
              </a:rPr>
              <a:t>, name: </a:t>
            </a:r>
            <a:r>
              <a:rPr lang="en-US" sz="1600" dirty="0">
                <a:solidFill>
                  <a:srgbClr val="047857"/>
                </a:solidFill>
                <a:latin typeface="Courier New" pitchFamily="34" charset="0"/>
                <a:ea typeface="Courier New" pitchFamily="34" charset="-122"/>
                <a:cs typeface="Courier New" pitchFamily="34" charset="-120"/>
              </a:rPr>
              <a:t>"Ece"</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function</a:t>
            </a:r>
            <a:r>
              <a:rPr lang="en-US" sz="1600" dirty="0">
                <a:solidFill>
                  <a:srgbClr val="111827"/>
                </a:solidFill>
                <a:latin typeface="Courier New" pitchFamily="34" charset="0"/>
                <a:ea typeface="Courier New" pitchFamily="34" charset="-122"/>
                <a:cs typeface="Courier New" pitchFamily="34" charset="-120"/>
              </a:rPr>
              <a:t> label(u: User): string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`${u.id}-${u.name}`</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console.log(label(ece));</a:t>
            </a:r>
            <a:endParaRPr lang="en-US" sz="1600" dirty="0"/>
          </a:p>
        </p:txBody>
      </p:sp>
      <p:sp>
        <p:nvSpPr>
          <p:cNvPr id="7" name="Shape 5"/>
          <p:cNvSpPr/>
          <p:nvPr/>
        </p:nvSpPr>
        <p:spPr>
          <a:xfrm>
            <a:off x="731520" y="4919472"/>
            <a:ext cx="6766560" cy="987552"/>
          </a:xfrm>
          <a:prstGeom prst="roundRect">
            <a:avLst>
              <a:gd name="adj" fmla="val 9259"/>
            </a:avLst>
          </a:prstGeom>
          <a:solidFill>
            <a:srgbClr val="EFF6FF"/>
          </a:solidFill>
          <a:ln w="9525">
            <a:solidFill>
              <a:srgbClr val="EFF6FF"/>
            </a:solidFill>
            <a:prstDash val="solid"/>
          </a:ln>
        </p:spPr>
      </p:sp>
      <p:sp>
        <p:nvSpPr>
          <p:cNvPr id="8" name="Text 6"/>
          <p:cNvSpPr txBox="1"/>
          <p:nvPr/>
        </p:nvSpPr>
        <p:spPr>
          <a:xfrm>
            <a:off x="932688" y="5047488"/>
            <a:ext cx="6364224" cy="7315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Çıktı "1-Ece" olur; nesneden name çıkarılırsa derleyici eksik alanı bildirir.</a:t>
            </a:r>
            <a:endParaRPr lang="en-US" sz="1100" dirty="0"/>
          </a:p>
        </p:txBody>
      </p:sp>
      <p:sp>
        <p:nvSpPr>
          <p:cNvPr id="9" name="Text 7"/>
          <p:cNvSpPr txBox="1"/>
          <p:nvPr/>
        </p:nvSpPr>
        <p:spPr>
          <a:xfrm>
            <a:off x="7772400" y="1645920"/>
            <a:ext cx="3931920" cy="290779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bir nesnenin hangi alanlara sahip olacağını adlandırılmış bir sözleşmeyle tanımlamaktır.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User, id ve name alanlarını zorunlu, email alanını isteğe bağlı tanımlar. Eksik zorunlu alan, fazla alan ya da yanlış tipli alan derleme hatası üretir. Arayüz adı büyük harfle başlar ve I öneki taşımaz.</a:t>
            </a:r>
            <a:endParaRPr lang="en-US" sz="1800" dirty="0"/>
          </a:p>
        </p:txBody>
      </p:sp>
      <p:sp>
        <p:nvSpPr>
          <p:cNvPr id="10" name="Shape 8"/>
          <p:cNvSpPr/>
          <p:nvPr/>
        </p:nvSpPr>
        <p:spPr>
          <a:xfrm>
            <a:off x="7772400" y="4690872"/>
            <a:ext cx="3931920" cy="1170432"/>
          </a:xfrm>
          <a:prstGeom prst="roundRect">
            <a:avLst>
              <a:gd name="adj" fmla="val 7813"/>
            </a:avLst>
          </a:prstGeom>
          <a:solidFill>
            <a:srgbClr val="EFF6FF"/>
          </a:solidFill>
          <a:ln w="9525">
            <a:solidFill>
              <a:srgbClr val="EFF6FF"/>
            </a:solidFill>
            <a:prstDash val="solid"/>
          </a:ln>
        </p:spPr>
      </p:sp>
      <p:sp>
        <p:nvSpPr>
          <p:cNvPr id="11" name="Text 9"/>
          <p:cNvSpPr txBox="1"/>
          <p:nvPr/>
        </p:nvSpPr>
        <p:spPr>
          <a:xfrm>
            <a:off x="7973568" y="4818888"/>
            <a:ext cx="3529584" cy="914400"/>
          </a:xfrm>
          <a:prstGeom prst="rect">
            <a:avLst/>
          </a:prstGeom>
          <a:noFill/>
          <a:ln/>
        </p:spPr>
        <p:txBody>
          <a:bodyPr wrap="square" lIns="0" tIns="0" rIns="0" bIns="0" rtlCol="0" anchor="t"/>
          <a:lstStyle/>
          <a:p>
            <a:pPr marL="0" indent="0" algn="l">
              <a:buNone/>
            </a:pPr>
            <a:r>
              <a:rPr lang="en-US" sz="1100" b="1" dirty="0">
                <a:solidFill>
                  <a:srgbClr val="B91C1C"/>
                </a:solidFill>
                <a:latin typeface="Arial" pitchFamily="34" charset="0"/>
                <a:ea typeface="Arial" pitchFamily="34" charset="-122"/>
                <a:cs typeface="Arial" pitchFamily="34" charset="-120"/>
              </a:rPr>
              <a:t>SIK YAPILAN HATA</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Arayüz adının başına I koymak (IUser); bu derste ve modern TypeScript topluluğunda tercih edilmez, doğrusu User'dır.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type ile Takma Ad</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401214"/>
          </a:xfrm>
          <a:prstGeom prst="roundRect">
            <a:avLst>
              <a:gd name="adj" fmla="val 3808"/>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a:t>
            </a:r>
            <a:endParaRPr lang="en-US" sz="1100" dirty="0"/>
          </a:p>
        </p:txBody>
      </p:sp>
      <p:sp>
        <p:nvSpPr>
          <p:cNvPr id="6" name="Text 4"/>
          <p:cNvSpPr txBox="1"/>
          <p:nvPr/>
        </p:nvSpPr>
        <p:spPr>
          <a:xfrm>
            <a:off x="960120" y="2103120"/>
            <a:ext cx="6309360" cy="1852574"/>
          </a:xfrm>
          <a:prstGeom prst="rect">
            <a:avLst/>
          </a:prstGeom>
          <a:noFill/>
          <a:ln/>
        </p:spPr>
        <p:txBody>
          <a:bodyPr wrap="square" lIns="0" tIns="0" rIns="0" bIns="0" rtlCol="0" anchor="t"/>
          <a:lstStyle/>
          <a:p>
            <a:pPr marL="0" indent="0" algn="l">
              <a:buNone/>
            </a:pPr>
            <a:r>
              <a:rPr lang="en-US" sz="1600" dirty="0">
                <a:solidFill>
                  <a:srgbClr val="111827"/>
                </a:solidFill>
                <a:latin typeface="Courier New" pitchFamily="34" charset="0"/>
                <a:ea typeface="Courier New" pitchFamily="34" charset="-122"/>
                <a:cs typeface="Courier New" pitchFamily="34" charset="-120"/>
              </a:rPr>
              <a:t>type Point = { x: number; y: number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type Coordinates = [number, number];</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type Status = </a:t>
            </a:r>
            <a:r>
              <a:rPr lang="en-US" sz="1600" dirty="0">
                <a:solidFill>
                  <a:srgbClr val="047857"/>
                </a:solidFill>
                <a:latin typeface="Courier New" pitchFamily="34" charset="0"/>
                <a:ea typeface="Courier New" pitchFamily="34" charset="-122"/>
                <a:cs typeface="Courier New" pitchFamily="34" charset="-120"/>
              </a:rPr>
              <a:t>"idle"</a:t>
            </a:r>
            <a:r>
              <a:rPr lang="en-US" sz="1600" dirty="0">
                <a:solidFill>
                  <a:srgbClr val="111827"/>
                </a:solidFill>
                <a:latin typeface="Courier New" pitchFamily="34" charset="0"/>
                <a:ea typeface="Courier New" pitchFamily="34" charset="-122"/>
                <a:cs typeface="Courier New" pitchFamily="34" charset="-120"/>
              </a:rPr>
              <a:t> | </a:t>
            </a:r>
            <a:r>
              <a:rPr lang="en-US" sz="1600" dirty="0">
                <a:solidFill>
                  <a:srgbClr val="047857"/>
                </a:solidFill>
                <a:latin typeface="Courier New" pitchFamily="34" charset="0"/>
                <a:ea typeface="Courier New" pitchFamily="34" charset="-122"/>
                <a:cs typeface="Courier New" pitchFamily="34" charset="-120"/>
              </a:rPr>
              <a:t>"busy"</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type Callback = (ok: boolean) =&gt; void;</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p: Point = { x: </a:t>
            </a:r>
            <a:r>
              <a:rPr lang="en-US" sz="1600" dirty="0">
                <a:solidFill>
                  <a:srgbClr val="B45309"/>
                </a:solidFill>
                <a:latin typeface="Courier New" pitchFamily="34" charset="0"/>
                <a:ea typeface="Courier New" pitchFamily="34" charset="-122"/>
                <a:cs typeface="Courier New" pitchFamily="34" charset="-120"/>
              </a:rPr>
              <a:t>1</a:t>
            </a:r>
            <a:r>
              <a:rPr lang="en-US" sz="1600" dirty="0">
                <a:solidFill>
                  <a:srgbClr val="111827"/>
                </a:solidFill>
                <a:latin typeface="Courier New" pitchFamily="34" charset="0"/>
                <a:ea typeface="Courier New" pitchFamily="34" charset="-122"/>
                <a:cs typeface="Courier New" pitchFamily="34" charset="-120"/>
              </a:rPr>
              <a:t>, y: </a:t>
            </a:r>
            <a:r>
              <a:rPr lang="en-US" sz="1600" dirty="0">
                <a:solidFill>
                  <a:srgbClr val="B45309"/>
                </a:solidFill>
                <a:latin typeface="Courier New" pitchFamily="34" charset="0"/>
                <a:ea typeface="Courier New" pitchFamily="34" charset="-122"/>
                <a:cs typeface="Courier New" pitchFamily="34" charset="-120"/>
              </a:rPr>
              <a:t>2</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s: Status = </a:t>
            </a:r>
            <a:r>
              <a:rPr lang="en-US" sz="1600" dirty="0">
                <a:solidFill>
                  <a:srgbClr val="047857"/>
                </a:solidFill>
                <a:latin typeface="Courier New" pitchFamily="34" charset="0"/>
                <a:ea typeface="Courier New" pitchFamily="34" charset="-122"/>
                <a:cs typeface="Courier New" pitchFamily="34" charset="-120"/>
              </a:rPr>
              <a:t>"idle"</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console.log(p, s);</a:t>
            </a:r>
            <a:endParaRPr lang="en-US" sz="1600" dirty="0"/>
          </a:p>
        </p:txBody>
      </p:sp>
      <p:sp>
        <p:nvSpPr>
          <p:cNvPr id="7" name="Shape 5"/>
          <p:cNvSpPr/>
          <p:nvPr/>
        </p:nvSpPr>
        <p:spPr>
          <a:xfrm>
            <a:off x="731520" y="4184294"/>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4312310"/>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Çıktı "{ x: 1, y: 2 } idle" olur.</a:t>
            </a:r>
            <a:endParaRPr lang="en-US" sz="1100" dirty="0"/>
          </a:p>
        </p:txBody>
      </p:sp>
      <p:sp>
        <p:nvSpPr>
          <p:cNvPr id="9" name="Text 7"/>
          <p:cNvSpPr txBox="1"/>
          <p:nvPr/>
        </p:nvSpPr>
        <p:spPr>
          <a:xfrm>
            <a:off x="7772400" y="1645920"/>
            <a:ext cx="3931920" cy="263347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nesne dışındaki karmaşık tiplere de ad vermektir.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type her tür tipe ad verebilir: nesne, tuple, union ve fonksiyon. Tekrar eden uzun tipi tek yerde tanımlamak hem okunabilirliği artırır hem de değişiklik gerektiğinde tek noktadan güncelleme sağlar.</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interface mi, type mı?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972800" cy="914400"/>
        </p:xfrm>
        <a:graphic>
          <a:graphicData uri="http://schemas.openxmlformats.org/drawingml/2006/table">
            <a:tbl>
              <a:tblPr/>
              <a:tblGrid>
                <a:gridCol w="4356618">
                  <a:extLst>
                    <a:ext uri="{9D8B030D-6E8A-4147-A177-3AD203B41FA5}">
                      <a16:colId xmlns:a16="http://schemas.microsoft.com/office/drawing/2014/main" val="20000"/>
                    </a:ext>
                  </a:extLst>
                </a:gridCol>
                <a:gridCol w="2786502">
                  <a:extLst>
                    <a:ext uri="{9D8B030D-6E8A-4147-A177-3AD203B41FA5}">
                      <a16:colId xmlns:a16="http://schemas.microsoft.com/office/drawing/2014/main" val="20001"/>
                    </a:ext>
                  </a:extLst>
                </a:gridCol>
                <a:gridCol w="3829681">
                  <a:extLst>
                    <a:ext uri="{9D8B030D-6E8A-4147-A177-3AD203B41FA5}">
                      <a16:colId xmlns:a16="http://schemas.microsoft.com/office/drawing/2014/main" val="20002"/>
                    </a:ext>
                  </a:extLst>
                </a:gridCol>
              </a:tblGrid>
              <a:tr h="402336">
                <a:tc>
                  <a:txBody>
                    <a:bodyPr/>
                    <a:lstStyle/>
                    <a:p>
                      <a:pPr marL="0" indent="0">
                        <a:buNone/>
                      </a:pPr>
                      <a:r>
                        <a:rPr lang="en-US" sz="1400" b="1" dirty="0">
                          <a:solidFill>
                            <a:srgbClr val="2563EB"/>
                          </a:solidFill>
                        </a:rPr>
                        <a:t>Durum</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interface</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type</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extLst>
                  <a:ext uri="{0D108BD9-81ED-4DB2-BD59-A6C34878D82A}">
                    <a16:rowId xmlns:a16="http://schemas.microsoft.com/office/drawing/2014/main" val="10000"/>
                  </a:ext>
                </a:extLst>
              </a:tr>
              <a:tr h="402336">
                <a:tc>
                  <a:txBody>
                    <a:bodyPr/>
                    <a:lstStyle/>
                    <a:p>
                      <a:pPr marL="0" indent="0">
                        <a:buNone/>
                      </a:pPr>
                      <a:r>
                        <a:rPr lang="en-US" sz="1800" b="1" dirty="0">
                          <a:solidFill>
                            <a:srgbClr val="111827"/>
                          </a:solidFill>
                        </a:rPr>
                        <a:t>Nesne şekli</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Evet</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Evet</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buNone/>
                      </a:pPr>
                      <a:r>
                        <a:rPr lang="en-US" sz="1800" b="1" dirty="0">
                          <a:solidFill>
                            <a:srgbClr val="111827"/>
                          </a:solidFill>
                        </a:rPr>
                        <a:t>Union / literal tip</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Hayır</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Evet</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buNone/>
                      </a:pPr>
                      <a:r>
                        <a:rPr lang="en-US" sz="1800" b="1" dirty="0">
                          <a:solidFill>
                            <a:srgbClr val="111827"/>
                          </a:solidFill>
                        </a:rPr>
                        <a:t>Tuple, fonksiyon tipi</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Dolaylı</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Evet</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buNone/>
                      </a:pPr>
                      <a:r>
                        <a:rPr lang="en-US" sz="1800" b="1" dirty="0">
                          <a:solidFill>
                            <a:srgbClr val="111827"/>
                          </a:solidFill>
                        </a:rPr>
                        <a:t>extends ile genişletme</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Doğal</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&amp; ile birleştirme</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402336">
                <a:tc>
                  <a:txBody>
                    <a:bodyPr/>
                    <a:lstStyle/>
                    <a:p>
                      <a:pPr marL="0" indent="0">
                        <a:buNone/>
                      </a:pPr>
                      <a:r>
                        <a:rPr lang="en-US" sz="1800" b="1" dirty="0">
                          <a:solidFill>
                            <a:srgbClr val="111827"/>
                          </a:solidFill>
                        </a:rPr>
                        <a:t>Aynı adla birleştirme</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Evet</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Hayır</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Shape 2"/>
          <p:cNvSpPr/>
          <p:nvPr/>
        </p:nvSpPr>
        <p:spPr>
          <a:xfrm>
            <a:off x="731520" y="4334256"/>
            <a:ext cx="10972800" cy="1261872"/>
          </a:xfrm>
          <a:prstGeom prst="roundRect">
            <a:avLst>
              <a:gd name="adj" fmla="val 7246"/>
            </a:avLst>
          </a:prstGeom>
          <a:solidFill>
            <a:srgbClr val="EFF6FF"/>
          </a:solidFill>
          <a:ln w="9525">
            <a:solidFill>
              <a:srgbClr val="EFF6FF"/>
            </a:solidFill>
            <a:prstDash val="solid"/>
          </a:ln>
        </p:spPr>
      </p:sp>
      <p:sp>
        <p:nvSpPr>
          <p:cNvPr id="6" name="Text 3"/>
          <p:cNvSpPr txBox="1"/>
          <p:nvPr/>
        </p:nvSpPr>
        <p:spPr>
          <a:xfrm>
            <a:off x="932688" y="4462272"/>
            <a:ext cx="10570464" cy="100584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SEÇIM MANTIĞI</a:t>
            </a:r>
            <a:endParaRPr lang="en-US" sz="1100" dirty="0"/>
          </a:p>
          <a:p>
            <a:pPr marL="0" indent="0" algn="l">
              <a:buNone/>
            </a:pPr>
            <a:r>
              <a:rPr lang="en-US" sz="1600" dirty="0">
                <a:solidFill>
                  <a:srgbClr val="111827"/>
                </a:solidFill>
                <a:latin typeface="Arial" pitchFamily="34" charset="0"/>
                <a:ea typeface="Arial" pitchFamily="34" charset="-122"/>
                <a:cs typeface="Arial" pitchFamily="34" charset="-120"/>
              </a:rPr>
              <a:t>Nesne şekillerini tanımlarken interface, union veya diğer tipleri adlandırırken type kullanın; ekipte tek kural benimsenmişse ona uyun. Bu derste props ve veri modelleri için interface, durumlar için type tercih edilir.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readonly ve İsteğe Bağlı Alanlar</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3136392"/>
          </a:xfrm>
          <a:prstGeom prst="roundRect">
            <a:avLst>
              <a:gd name="adj" fmla="val 291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a:t>
            </a:r>
            <a:endParaRPr lang="en-US" sz="1100" dirty="0"/>
          </a:p>
        </p:txBody>
      </p:sp>
      <p:sp>
        <p:nvSpPr>
          <p:cNvPr id="6" name="Text 4"/>
          <p:cNvSpPr txBox="1"/>
          <p:nvPr/>
        </p:nvSpPr>
        <p:spPr>
          <a:xfrm>
            <a:off x="960120" y="2103120"/>
            <a:ext cx="6309360" cy="2587752"/>
          </a:xfrm>
          <a:prstGeom prst="rect">
            <a:avLst/>
          </a:prstGeom>
          <a:noFill/>
          <a:ln/>
        </p:spPr>
        <p:txBody>
          <a:bodyPr wrap="square" lIns="0" tIns="0" rIns="0" bIns="0" rtlCol="0" anchor="t"/>
          <a:lstStyle/>
          <a:p>
            <a:pPr marL="0" indent="0" algn="l">
              <a:buNone/>
            </a:pPr>
            <a:r>
              <a:rPr lang="en-US" sz="1600" dirty="0">
                <a:solidFill>
                  <a:srgbClr val="111827"/>
                </a:solidFill>
                <a:latin typeface="Courier New" pitchFamily="34" charset="0"/>
                <a:ea typeface="Courier New" pitchFamily="34" charset="-122"/>
                <a:cs typeface="Courier New" pitchFamily="34" charset="-120"/>
              </a:rPr>
              <a:t>interface Config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readonly apiUrl: string;</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timeout?: number;</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cfg: Config =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apiUrl: </a:t>
            </a:r>
            <a:r>
              <a:rPr lang="en-US" sz="1600" dirty="0">
                <a:solidFill>
                  <a:srgbClr val="047857"/>
                </a:solidFill>
                <a:latin typeface="Courier New" pitchFamily="34" charset="0"/>
                <a:ea typeface="Courier New" pitchFamily="34" charset="-122"/>
                <a:cs typeface="Courier New" pitchFamily="34" charset="-120"/>
              </a:rPr>
              <a:t>"https://api.example.com"</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i="1" dirty="0">
                <a:solidFill>
                  <a:srgbClr val="6B7280"/>
                </a:solidFill>
                <a:latin typeface="Courier New" pitchFamily="34" charset="0"/>
                <a:ea typeface="Courier New" pitchFamily="34" charset="-122"/>
                <a:cs typeface="Courier New" pitchFamily="34" charset="-120"/>
              </a:rPr>
              <a:t>// cfg.apiUrl = "x";  // Hata: salt okunur</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t = cfg.timeout ?? </a:t>
            </a:r>
            <a:r>
              <a:rPr lang="en-US" sz="1600" dirty="0">
                <a:solidFill>
                  <a:srgbClr val="B45309"/>
                </a:solidFill>
                <a:latin typeface="Courier New" pitchFamily="34" charset="0"/>
                <a:ea typeface="Courier New" pitchFamily="34" charset="-122"/>
                <a:cs typeface="Courier New" pitchFamily="34" charset="-120"/>
              </a:rPr>
              <a:t>5000</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console.log(cfg.apiUrl, t);</a:t>
            </a:r>
            <a:endParaRPr lang="en-US" sz="1600" dirty="0"/>
          </a:p>
        </p:txBody>
      </p:sp>
      <p:sp>
        <p:nvSpPr>
          <p:cNvPr id="7" name="Shape 5"/>
          <p:cNvSpPr/>
          <p:nvPr/>
        </p:nvSpPr>
        <p:spPr>
          <a:xfrm>
            <a:off x="731520" y="4919472"/>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5047488"/>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Çıktı "https://api.example.com 5000" olur.</a:t>
            </a:r>
            <a:endParaRPr lang="en-US" sz="1100" dirty="0"/>
          </a:p>
        </p:txBody>
      </p:sp>
      <p:sp>
        <p:nvSpPr>
          <p:cNvPr id="9" name="Text 7"/>
          <p:cNvSpPr txBox="1"/>
          <p:nvPr/>
        </p:nvSpPr>
        <p:spPr>
          <a:xfrm>
            <a:off x="7772400" y="1645920"/>
            <a:ext cx="3931920" cy="400507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değişmemesi gereken alanı derleyiciyle korumaktır.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readonly alanın tanımdan sonra değiştirilmesini engeller. İsteğe bağlı alan undefined olabileceği için ?? ile varsayılan değer verilir. Bu iki özellik birlikte kullanıldığında yapılandırma gibi veriler güvenle okunur.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Seçim mantığı: </a:t>
            </a:r>
            <a:r>
              <a:rPr lang="en-US" sz="1800" dirty="0">
                <a:solidFill>
                  <a:srgbClr val="111827"/>
                </a:solidFill>
                <a:latin typeface="Arial" pitchFamily="34" charset="0"/>
                <a:ea typeface="Arial" pitchFamily="34" charset="-122"/>
                <a:cs typeface="Arial" pitchFamily="34" charset="-120"/>
              </a:rPr>
              <a:t>Kimlik, adres ve yapılandırma gibi oluşturulduktan sonra değişmemesi gereken alanlar readonly olmalıdır; sık değişen alanlar olmamalıdır.</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822960" y="2194560"/>
            <a:ext cx="7315200" cy="365760"/>
          </a:xfrm>
          <a:prstGeom prst="rect">
            <a:avLst/>
          </a:prstGeom>
          <a:noFill/>
          <a:ln/>
        </p:spPr>
        <p:txBody>
          <a:bodyPr wrap="square" lIns="0" tIns="0" rIns="0" bIns="0" rtlCol="0" anchor="ctr"/>
          <a:lstStyle/>
          <a:p>
            <a:pPr marL="0" indent="0" algn="l">
              <a:buNone/>
            </a:pPr>
            <a:r>
              <a:rPr lang="en-US" sz="1600" b="1" kern="0" spc="400" dirty="0">
                <a:solidFill>
                  <a:srgbClr val="2563EB"/>
                </a:solidFill>
                <a:latin typeface="Arial" pitchFamily="34" charset="0"/>
                <a:ea typeface="Arial" pitchFamily="34" charset="-122"/>
                <a:cs typeface="Arial" pitchFamily="34" charset="-120"/>
              </a:rPr>
              <a:t>BÖLÜM 4</a:t>
            </a:r>
            <a:endParaRPr lang="en-US" sz="1600" dirty="0"/>
          </a:p>
        </p:txBody>
      </p:sp>
      <p:sp>
        <p:nvSpPr>
          <p:cNvPr id="3" name="Text 1"/>
          <p:cNvSpPr txBox="1"/>
          <p:nvPr/>
        </p:nvSpPr>
        <p:spPr>
          <a:xfrm>
            <a:off x="822960" y="2651760"/>
            <a:ext cx="10058400" cy="1371600"/>
          </a:xfrm>
          <a:prstGeom prst="rect">
            <a:avLst/>
          </a:prstGeom>
          <a:noFill/>
          <a:ln/>
        </p:spPr>
        <p:txBody>
          <a:bodyPr wrap="square" lIns="0" tIns="0" rIns="0" bIns="0" rtlCol="0" anchor="t"/>
          <a:lstStyle/>
          <a:p>
            <a:pPr marL="0" indent="0" algn="l">
              <a:buNone/>
            </a:pPr>
            <a:r>
              <a:rPr lang="en-US" sz="4400" b="1" dirty="0">
                <a:solidFill>
                  <a:srgbClr val="111827"/>
                </a:solidFill>
                <a:latin typeface="Arial" pitchFamily="34" charset="0"/>
                <a:ea typeface="Arial" pitchFamily="34" charset="-122"/>
                <a:cs typeface="Arial" pitchFamily="34" charset="-120"/>
              </a:rPr>
              <a:t>Sınıflar ve Generic</a:t>
            </a:r>
            <a:endParaRPr lang="en-US" sz="4400" dirty="0"/>
          </a:p>
        </p:txBody>
      </p:sp>
      <p:sp>
        <p:nvSpPr>
          <p:cNvPr id="4" name="Text 2"/>
          <p:cNvSpPr txBox="1"/>
          <p:nvPr/>
        </p:nvSpPr>
        <p:spPr>
          <a:xfrm>
            <a:off x="822960" y="4114800"/>
            <a:ext cx="9144000" cy="548640"/>
          </a:xfrm>
          <a:prstGeom prst="rect">
            <a:avLst/>
          </a:prstGeom>
          <a:noFill/>
          <a:ln/>
        </p:spPr>
        <p:txBody>
          <a:bodyPr wrap="square" lIns="0" tIns="0" rIns="0" bIns="0" rtlCol="0" anchor="ctr"/>
          <a:lstStyle/>
          <a:p>
            <a:pPr marL="0" indent="0" algn="l">
              <a:buNone/>
            </a:pPr>
            <a:r>
              <a:rPr lang="en-US" sz="2200" dirty="0">
                <a:solidFill>
                  <a:srgbClr val="6B7280"/>
                </a:solidFill>
                <a:latin typeface="Arial" pitchFamily="34" charset="0"/>
                <a:ea typeface="Arial" pitchFamily="34" charset="-122"/>
                <a:cs typeface="Arial" pitchFamily="34" charset="-120"/>
              </a:rPr>
              <a:t>Nesne yönelimli fikirler ve tip parametresi</a:t>
            </a:r>
            <a:endParaRPr lang="en-US" sz="2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Nesne Yönelimli Programlamanın Üç Fikri</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Text 2"/>
          <p:cNvSpPr txBox="1"/>
          <p:nvPr/>
        </p:nvSpPr>
        <p:spPr>
          <a:xfrm>
            <a:off x="731520" y="1645920"/>
            <a:ext cx="6766560" cy="4663440"/>
          </a:xfrm>
          <a:prstGeom prst="rect">
            <a:avLst/>
          </a:prstGeom>
          <a:noFill/>
          <a:ln/>
        </p:spPr>
        <p:txBody>
          <a:bodyPr wrap="square" lIns="0" tIns="0" rIns="0" bIns="0" rtlCol="0" anchor="t"/>
          <a:lstStyle/>
          <a:p>
            <a:pPr marL="0" indent="0" algn="l">
              <a:spcAft>
                <a:spcPts val="800"/>
              </a:spcAft>
              <a:buNone/>
            </a:pPr>
            <a:r>
              <a:rPr lang="en-US" sz="2200" dirty="0">
                <a:solidFill>
                  <a:srgbClr val="111827"/>
                </a:solidFill>
                <a:latin typeface="Arial" pitchFamily="34" charset="0"/>
                <a:ea typeface="Arial" pitchFamily="34" charset="-122"/>
                <a:cs typeface="Arial" pitchFamily="34" charset="-120"/>
              </a:rPr>
              <a:t>Nesne yönelimli programlama, veriyi ve onu işleyen davranışı bir arada tutan nesnelerle düşünmektir. Kapsülleme, iç durumu dışarıdan gizleyip yalnızca kontrollü yöntemler sunmaktır. Kalıtım, ortak özellikleri bir üst sınıftan devralmaktır. Çok biçimlilik ise aynı çağrının farklı nesnelerde farklı davranmasıdır.</a:t>
            </a:r>
            <a:endParaRPr lang="en-US" sz="2200" dirty="0"/>
          </a:p>
        </p:txBody>
      </p:sp>
      <p:sp>
        <p:nvSpPr>
          <p:cNvPr id="5" name="Shape 3"/>
          <p:cNvSpPr/>
          <p:nvPr/>
        </p:nvSpPr>
        <p:spPr>
          <a:xfrm>
            <a:off x="7863840" y="1645920"/>
            <a:ext cx="3657600" cy="914400"/>
          </a:xfrm>
          <a:prstGeom prst="roundRect">
            <a:avLst>
              <a:gd name="adj" fmla="val 10000"/>
            </a:avLst>
          </a:prstGeom>
          <a:solidFill>
            <a:srgbClr val="EFF6FF"/>
          </a:solidFill>
          <a:ln w="9525">
            <a:solidFill>
              <a:srgbClr val="EFF6FF"/>
            </a:solidFill>
            <a:prstDash val="solid"/>
          </a:ln>
        </p:spPr>
      </p:sp>
      <p:sp>
        <p:nvSpPr>
          <p:cNvPr id="6" name="Text 4"/>
          <p:cNvSpPr txBox="1"/>
          <p:nvPr/>
        </p:nvSpPr>
        <p:spPr>
          <a:xfrm>
            <a:off x="8046720" y="1691640"/>
            <a:ext cx="3291840" cy="822960"/>
          </a:xfrm>
          <a:prstGeom prst="rect">
            <a:avLst/>
          </a:prstGeom>
          <a:noFill/>
          <a:ln/>
        </p:spPr>
        <p:txBody>
          <a:bodyPr wrap="square" lIns="0" tIns="0" rIns="0" bIns="0" rtlCol="0" anchor="ctr"/>
          <a:lstStyle/>
          <a:p>
            <a:pPr marL="0" indent="0" algn="l">
              <a:buNone/>
            </a:pPr>
            <a:r>
              <a:rPr lang="en-US" sz="1500" b="1" dirty="0">
                <a:solidFill>
                  <a:srgbClr val="2563EB"/>
                </a:solidFill>
                <a:latin typeface="Arial" pitchFamily="34" charset="0"/>
                <a:ea typeface="Arial" pitchFamily="34" charset="-122"/>
                <a:cs typeface="Arial" pitchFamily="34" charset="-120"/>
              </a:rPr>
              <a:t>Kapsülleme</a:t>
            </a:r>
            <a:endParaRPr lang="en-US" sz="1500" dirty="0"/>
          </a:p>
          <a:p>
            <a:pPr marL="0" indent="0" algn="l">
              <a:buNone/>
            </a:pPr>
            <a:r>
              <a:rPr lang="en-US" sz="1300" dirty="0">
                <a:solidFill>
                  <a:srgbClr val="111827"/>
                </a:solidFill>
                <a:latin typeface="Arial" pitchFamily="34" charset="0"/>
                <a:ea typeface="Arial" pitchFamily="34" charset="-122"/>
                <a:cs typeface="Arial" pitchFamily="34" charset="-120"/>
              </a:rPr>
              <a:t>Banka hesabı: bakiye gizli, yöntemle değişir</a:t>
            </a:r>
            <a:endParaRPr lang="en-US" sz="1500" dirty="0"/>
          </a:p>
        </p:txBody>
      </p:sp>
      <p:sp>
        <p:nvSpPr>
          <p:cNvPr id="7" name="Shape 5"/>
          <p:cNvSpPr/>
          <p:nvPr/>
        </p:nvSpPr>
        <p:spPr>
          <a:xfrm>
            <a:off x="7863840" y="2670048"/>
            <a:ext cx="3657600" cy="914400"/>
          </a:xfrm>
          <a:prstGeom prst="roundRect">
            <a:avLst>
              <a:gd name="adj" fmla="val 10000"/>
            </a:avLst>
          </a:prstGeom>
          <a:solidFill>
            <a:srgbClr val="EFF6FF"/>
          </a:solidFill>
          <a:ln w="9525">
            <a:solidFill>
              <a:srgbClr val="EFF6FF"/>
            </a:solidFill>
            <a:prstDash val="solid"/>
          </a:ln>
        </p:spPr>
      </p:sp>
      <p:sp>
        <p:nvSpPr>
          <p:cNvPr id="8" name="Text 6"/>
          <p:cNvSpPr txBox="1"/>
          <p:nvPr/>
        </p:nvSpPr>
        <p:spPr>
          <a:xfrm>
            <a:off x="8046720" y="2715768"/>
            <a:ext cx="3291840" cy="822960"/>
          </a:xfrm>
          <a:prstGeom prst="rect">
            <a:avLst/>
          </a:prstGeom>
          <a:noFill/>
          <a:ln/>
        </p:spPr>
        <p:txBody>
          <a:bodyPr wrap="square" lIns="0" tIns="0" rIns="0" bIns="0" rtlCol="0" anchor="ctr"/>
          <a:lstStyle/>
          <a:p>
            <a:pPr marL="0" indent="0" algn="l">
              <a:buNone/>
            </a:pPr>
            <a:r>
              <a:rPr lang="en-US" sz="1500" b="1" dirty="0">
                <a:solidFill>
                  <a:srgbClr val="2563EB"/>
                </a:solidFill>
                <a:latin typeface="Arial" pitchFamily="34" charset="0"/>
                <a:ea typeface="Arial" pitchFamily="34" charset="-122"/>
                <a:cs typeface="Arial" pitchFamily="34" charset="-120"/>
              </a:rPr>
              <a:t>Kalıtım</a:t>
            </a:r>
            <a:endParaRPr lang="en-US" sz="1500" dirty="0"/>
          </a:p>
          <a:p>
            <a:pPr marL="0" indent="0" algn="l">
              <a:buNone/>
            </a:pPr>
            <a:r>
              <a:rPr lang="en-US" sz="1300" dirty="0">
                <a:solidFill>
                  <a:srgbClr val="111827"/>
                </a:solidFill>
                <a:latin typeface="Arial" pitchFamily="34" charset="0"/>
                <a:ea typeface="Arial" pitchFamily="34" charset="-122"/>
                <a:cs typeface="Arial" pitchFamily="34" charset="-120"/>
              </a:rPr>
              <a:t>Hayvan → Köpek: ortak özellik devralınır</a:t>
            </a:r>
            <a:endParaRPr lang="en-US" sz="1500" dirty="0"/>
          </a:p>
        </p:txBody>
      </p:sp>
      <p:sp>
        <p:nvSpPr>
          <p:cNvPr id="9" name="Shape 7"/>
          <p:cNvSpPr/>
          <p:nvPr/>
        </p:nvSpPr>
        <p:spPr>
          <a:xfrm>
            <a:off x="7863840" y="3694176"/>
            <a:ext cx="3657600" cy="914400"/>
          </a:xfrm>
          <a:prstGeom prst="roundRect">
            <a:avLst>
              <a:gd name="adj" fmla="val 10000"/>
            </a:avLst>
          </a:prstGeom>
          <a:solidFill>
            <a:srgbClr val="EFF6FF"/>
          </a:solidFill>
          <a:ln w="9525">
            <a:solidFill>
              <a:srgbClr val="EFF6FF"/>
            </a:solidFill>
            <a:prstDash val="solid"/>
          </a:ln>
        </p:spPr>
      </p:sp>
      <p:sp>
        <p:nvSpPr>
          <p:cNvPr id="10" name="Text 8"/>
          <p:cNvSpPr txBox="1"/>
          <p:nvPr/>
        </p:nvSpPr>
        <p:spPr>
          <a:xfrm>
            <a:off x="8046720" y="3739896"/>
            <a:ext cx="3291840" cy="822960"/>
          </a:xfrm>
          <a:prstGeom prst="rect">
            <a:avLst/>
          </a:prstGeom>
          <a:noFill/>
          <a:ln/>
        </p:spPr>
        <p:txBody>
          <a:bodyPr wrap="square" lIns="0" tIns="0" rIns="0" bIns="0" rtlCol="0" anchor="ctr"/>
          <a:lstStyle/>
          <a:p>
            <a:pPr marL="0" indent="0" algn="l">
              <a:buNone/>
            </a:pPr>
            <a:r>
              <a:rPr lang="en-US" sz="1500" b="1" dirty="0">
                <a:solidFill>
                  <a:srgbClr val="2563EB"/>
                </a:solidFill>
                <a:latin typeface="Arial" pitchFamily="34" charset="0"/>
                <a:ea typeface="Arial" pitchFamily="34" charset="-122"/>
                <a:cs typeface="Arial" pitchFamily="34" charset="-120"/>
              </a:rPr>
              <a:t>Çok biçimlilik</a:t>
            </a:r>
            <a:endParaRPr lang="en-US" sz="1500" dirty="0"/>
          </a:p>
          <a:p>
            <a:pPr marL="0" indent="0" algn="l">
              <a:buNone/>
            </a:pPr>
            <a:r>
              <a:rPr lang="en-US" sz="1300" dirty="0">
                <a:solidFill>
                  <a:srgbClr val="111827"/>
                </a:solidFill>
                <a:latin typeface="Arial" pitchFamily="34" charset="0"/>
                <a:ea typeface="Arial" pitchFamily="34" charset="-122"/>
                <a:cs typeface="Arial" pitchFamily="34" charset="-120"/>
              </a:rPr>
              <a:t>Aynı speak() çağrısı, farklı davranış</a:t>
            </a:r>
            <a:endParaRPr lang="en-US" sz="1500" dirty="0"/>
          </a:p>
        </p:txBody>
      </p:sp>
      <p:sp>
        <p:nvSpPr>
          <p:cNvPr id="11" name="Shape 9"/>
          <p:cNvSpPr/>
          <p:nvPr/>
        </p:nvSpPr>
        <p:spPr>
          <a:xfrm>
            <a:off x="7863840" y="4718304"/>
            <a:ext cx="3657600" cy="1383792"/>
          </a:xfrm>
          <a:prstGeom prst="roundRect">
            <a:avLst>
              <a:gd name="adj" fmla="val 6608"/>
            </a:avLst>
          </a:prstGeom>
          <a:solidFill>
            <a:srgbClr val="EFF6FF"/>
          </a:solidFill>
          <a:ln w="9525">
            <a:solidFill>
              <a:srgbClr val="EFF6FF"/>
            </a:solidFill>
            <a:prstDash val="solid"/>
          </a:ln>
        </p:spPr>
      </p:sp>
      <p:sp>
        <p:nvSpPr>
          <p:cNvPr id="12" name="Text 10"/>
          <p:cNvSpPr txBox="1"/>
          <p:nvPr/>
        </p:nvSpPr>
        <p:spPr>
          <a:xfrm>
            <a:off x="8065008" y="4846320"/>
            <a:ext cx="3255264" cy="112776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React Native'de bileşenleri sınıf yerine fonksiyonlarla yazacağız; sınıfları yine de TypeScript'in temel yapısı olarak tanımamız gerekir.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Sınıf: Alan ve Constructor</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3136392"/>
          </a:xfrm>
          <a:prstGeom prst="roundRect">
            <a:avLst>
              <a:gd name="adj" fmla="val 291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a:t>
            </a:r>
            <a:endParaRPr lang="en-US" sz="1100" dirty="0"/>
          </a:p>
        </p:txBody>
      </p:sp>
      <p:sp>
        <p:nvSpPr>
          <p:cNvPr id="6" name="Text 4"/>
          <p:cNvSpPr txBox="1"/>
          <p:nvPr/>
        </p:nvSpPr>
        <p:spPr>
          <a:xfrm>
            <a:off x="960120" y="2103120"/>
            <a:ext cx="6309360" cy="2587752"/>
          </a:xfrm>
          <a:prstGeom prst="rect">
            <a:avLst/>
          </a:prstGeom>
          <a:noFill/>
          <a:ln/>
        </p:spPr>
        <p:txBody>
          <a:bodyPr wrap="square" lIns="0" tIns="0" rIns="0" bIns="0" rtlCol="0" anchor="t"/>
          <a:lstStyle/>
          <a:p>
            <a:pPr marL="0" indent="0" algn="l">
              <a:buNone/>
            </a:pPr>
            <a:r>
              <a:rPr lang="en-US" sz="1600" dirty="0">
                <a:solidFill>
                  <a:srgbClr val="111827"/>
                </a:solidFill>
                <a:latin typeface="Courier New" pitchFamily="34" charset="0"/>
                <a:ea typeface="Courier New" pitchFamily="34" charset="-122"/>
                <a:cs typeface="Courier New" pitchFamily="34" charset="-120"/>
              </a:rPr>
              <a:t>class Counter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count = </a:t>
            </a:r>
            <a:r>
              <a:rPr lang="en-US" sz="1600" dirty="0">
                <a:solidFill>
                  <a:srgbClr val="B45309"/>
                </a:solidFill>
                <a:latin typeface="Courier New" pitchFamily="34" charset="0"/>
                <a:ea typeface="Courier New" pitchFamily="34" charset="-122"/>
                <a:cs typeface="Courier New" pitchFamily="34" charset="-120"/>
              </a:rPr>
              <a:t>0</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constructor(public label: string)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increment(): void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this.count += </a:t>
            </a:r>
            <a:r>
              <a:rPr lang="en-US" sz="1600" dirty="0">
                <a:solidFill>
                  <a:srgbClr val="B45309"/>
                </a:solidFill>
                <a:latin typeface="Courier New" pitchFamily="34" charset="0"/>
                <a:ea typeface="Courier New" pitchFamily="34" charset="-122"/>
                <a:cs typeface="Courier New" pitchFamily="34" charset="-120"/>
              </a:rPr>
              <a:t>1</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c = </a:t>
            </a:r>
            <a:r>
              <a:rPr lang="en-US" sz="1600" b="1" dirty="0">
                <a:solidFill>
                  <a:srgbClr val="2563EB"/>
                </a:solidFill>
                <a:latin typeface="Courier New" pitchFamily="34" charset="0"/>
                <a:ea typeface="Courier New" pitchFamily="34" charset="-122"/>
                <a:cs typeface="Courier New" pitchFamily="34" charset="-120"/>
              </a:rPr>
              <a:t>new</a:t>
            </a:r>
            <a:r>
              <a:rPr lang="en-US" sz="1600" dirty="0">
                <a:solidFill>
                  <a:srgbClr val="111827"/>
                </a:solidFill>
                <a:latin typeface="Courier New" pitchFamily="34" charset="0"/>
                <a:ea typeface="Courier New" pitchFamily="34" charset="-122"/>
                <a:cs typeface="Courier New" pitchFamily="34" charset="-120"/>
              </a:rPr>
              <a:t> Counter(</a:t>
            </a:r>
            <a:r>
              <a:rPr lang="en-US" sz="1600" dirty="0">
                <a:solidFill>
                  <a:srgbClr val="047857"/>
                </a:solidFill>
                <a:latin typeface="Courier New" pitchFamily="34" charset="0"/>
                <a:ea typeface="Courier New" pitchFamily="34" charset="-122"/>
                <a:cs typeface="Courier New" pitchFamily="34" charset="-120"/>
              </a:rPr>
              <a:t>"Tıklama"</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c.increment();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console.log(c.label, c.count);</a:t>
            </a:r>
            <a:endParaRPr lang="en-US" sz="1600" dirty="0"/>
          </a:p>
        </p:txBody>
      </p:sp>
      <p:sp>
        <p:nvSpPr>
          <p:cNvPr id="7" name="Shape 5"/>
          <p:cNvSpPr/>
          <p:nvPr/>
        </p:nvSpPr>
        <p:spPr>
          <a:xfrm>
            <a:off x="731520" y="4919472"/>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5047488"/>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Çıktı "Tıklama 1" olur.</a:t>
            </a:r>
            <a:endParaRPr lang="en-US" sz="1100" dirty="0"/>
          </a:p>
        </p:txBody>
      </p:sp>
      <p:sp>
        <p:nvSpPr>
          <p:cNvPr id="9" name="Text 7"/>
          <p:cNvSpPr txBox="1"/>
          <p:nvPr/>
        </p:nvSpPr>
        <p:spPr>
          <a:xfrm>
            <a:off x="7772400" y="1645920"/>
            <a:ext cx="3931920" cy="235915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veri ve davranışı tek bir tipte toplamaktır.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Sınıf alanları ve metotları barındırır. Constructor parametresine public yazmak, aynı adlı alanı otomatik oluşturur. new ile sınıftan nesne üretilir ve this o nesneyi gösterir.</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Erişim Belirleyiciler</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3381451"/>
          </a:xfrm>
          <a:prstGeom prst="roundRect">
            <a:avLst>
              <a:gd name="adj" fmla="val 2704"/>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a:t>
            </a:r>
            <a:endParaRPr lang="en-US" sz="1100" dirty="0"/>
          </a:p>
        </p:txBody>
      </p:sp>
      <p:sp>
        <p:nvSpPr>
          <p:cNvPr id="6" name="Text 4"/>
          <p:cNvSpPr txBox="1"/>
          <p:nvPr/>
        </p:nvSpPr>
        <p:spPr>
          <a:xfrm>
            <a:off x="960120" y="2103120"/>
            <a:ext cx="6309360" cy="2832811"/>
          </a:xfrm>
          <a:prstGeom prst="rect">
            <a:avLst/>
          </a:prstGeom>
          <a:noFill/>
          <a:ln/>
        </p:spPr>
        <p:txBody>
          <a:bodyPr wrap="square" lIns="0" tIns="0" rIns="0" bIns="0" rtlCol="0" anchor="t"/>
          <a:lstStyle/>
          <a:p>
            <a:pPr marL="0" indent="0" algn="l">
              <a:buNone/>
            </a:pPr>
            <a:r>
              <a:rPr lang="en-US" sz="1600" dirty="0">
                <a:solidFill>
                  <a:srgbClr val="111827"/>
                </a:solidFill>
                <a:latin typeface="Courier New" pitchFamily="34" charset="0"/>
                <a:ea typeface="Courier New" pitchFamily="34" charset="-122"/>
                <a:cs typeface="Courier New" pitchFamily="34" charset="-120"/>
              </a:rPr>
              <a:t>class Account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private balance = </a:t>
            </a:r>
            <a:r>
              <a:rPr lang="en-US" sz="1600" dirty="0">
                <a:solidFill>
                  <a:srgbClr val="B45309"/>
                </a:solidFill>
                <a:latin typeface="Courier New" pitchFamily="34" charset="0"/>
                <a:ea typeface="Courier New" pitchFamily="34" charset="-122"/>
                <a:cs typeface="Courier New" pitchFamily="34" charset="-120"/>
              </a:rPr>
              <a:t>0</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deposit(n: number): void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if</a:t>
            </a:r>
            <a:r>
              <a:rPr lang="en-US" sz="1600" dirty="0">
                <a:solidFill>
                  <a:srgbClr val="111827"/>
                </a:solidFill>
                <a:latin typeface="Courier New" pitchFamily="34" charset="0"/>
                <a:ea typeface="Courier New" pitchFamily="34" charset="-122"/>
                <a:cs typeface="Courier New" pitchFamily="34" charset="-120"/>
              </a:rPr>
              <a:t> (n &gt; </a:t>
            </a:r>
            <a:r>
              <a:rPr lang="en-US" sz="1600" dirty="0">
                <a:solidFill>
                  <a:srgbClr val="B45309"/>
                </a:solidFill>
                <a:latin typeface="Courier New" pitchFamily="34" charset="0"/>
                <a:ea typeface="Courier New" pitchFamily="34" charset="-122"/>
                <a:cs typeface="Courier New" pitchFamily="34" charset="-120"/>
              </a:rPr>
              <a:t>0</a:t>
            </a:r>
            <a:r>
              <a:rPr lang="en-US" sz="1600" dirty="0">
                <a:solidFill>
                  <a:srgbClr val="111827"/>
                </a:solidFill>
                <a:latin typeface="Courier New" pitchFamily="34" charset="0"/>
                <a:ea typeface="Courier New" pitchFamily="34" charset="-122"/>
                <a:cs typeface="Courier New" pitchFamily="34" charset="-120"/>
              </a:rPr>
              <a:t>) this.balance += n;</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get total(): number {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this.balance;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acc = </a:t>
            </a:r>
            <a:r>
              <a:rPr lang="en-US" sz="1600" b="1" dirty="0">
                <a:solidFill>
                  <a:srgbClr val="2563EB"/>
                </a:solidFill>
                <a:latin typeface="Courier New" pitchFamily="34" charset="0"/>
                <a:ea typeface="Courier New" pitchFamily="34" charset="-122"/>
                <a:cs typeface="Courier New" pitchFamily="34" charset="-120"/>
              </a:rPr>
              <a:t>new</a:t>
            </a:r>
            <a:r>
              <a:rPr lang="en-US" sz="1600" dirty="0">
                <a:solidFill>
                  <a:srgbClr val="111827"/>
                </a:solidFill>
                <a:latin typeface="Courier New" pitchFamily="34" charset="0"/>
                <a:ea typeface="Courier New" pitchFamily="34" charset="-122"/>
                <a:cs typeface="Courier New" pitchFamily="34" charset="-120"/>
              </a:rPr>
              <a:t> Account();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acc.deposit(</a:t>
            </a:r>
            <a:r>
              <a:rPr lang="en-US" sz="1600" dirty="0">
                <a:solidFill>
                  <a:srgbClr val="B45309"/>
                </a:solidFill>
                <a:latin typeface="Courier New" pitchFamily="34" charset="0"/>
                <a:ea typeface="Courier New" pitchFamily="34" charset="-122"/>
                <a:cs typeface="Courier New" pitchFamily="34" charset="-120"/>
              </a:rPr>
              <a:t>50</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i="1" dirty="0">
                <a:solidFill>
                  <a:srgbClr val="6B7280"/>
                </a:solidFill>
                <a:latin typeface="Courier New" pitchFamily="34" charset="0"/>
                <a:ea typeface="Courier New" pitchFamily="34" charset="-122"/>
                <a:cs typeface="Courier New" pitchFamily="34" charset="-120"/>
              </a:rPr>
              <a:t>// acc.balance = 1;  // Hata: private</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console.log(acc.total);</a:t>
            </a:r>
            <a:endParaRPr lang="en-US" sz="1600" dirty="0"/>
          </a:p>
        </p:txBody>
      </p:sp>
      <p:sp>
        <p:nvSpPr>
          <p:cNvPr id="7" name="Shape 5"/>
          <p:cNvSpPr/>
          <p:nvPr/>
        </p:nvSpPr>
        <p:spPr>
          <a:xfrm>
            <a:off x="731520" y="5164531"/>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5292547"/>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Çıktı 50 olur.</a:t>
            </a:r>
            <a:endParaRPr lang="en-US" sz="1100" dirty="0"/>
          </a:p>
        </p:txBody>
      </p:sp>
      <p:sp>
        <p:nvSpPr>
          <p:cNvPr id="9" name="Text 7"/>
          <p:cNvSpPr txBox="1"/>
          <p:nvPr/>
        </p:nvSpPr>
        <p:spPr>
          <a:xfrm>
            <a:off x="7772400" y="1645920"/>
            <a:ext cx="3931920" cy="263347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nesnenin iç durumunu dışarıdan korumaktır.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private alana yalnızca sınıfın içinden erişilebilir; dışarıdan atama derleme hatası verir. Bakiye yalnızca deposit yöntemiyle ve kurallı biçimde değişir. get ile tanımlanan özellik, yöntem gibi çağrılmadan okunur.</a:t>
            </a:r>
            <a:endParaRPr lang="en-US" sz="1800" dirty="0"/>
          </a:p>
        </p:txBody>
      </p:sp>
      <p:sp>
        <p:nvSpPr>
          <p:cNvPr id="10" name="Shape 8"/>
          <p:cNvSpPr/>
          <p:nvPr/>
        </p:nvSpPr>
        <p:spPr>
          <a:xfrm>
            <a:off x="7772400" y="4416552"/>
            <a:ext cx="3931920" cy="1383792"/>
          </a:xfrm>
          <a:prstGeom prst="roundRect">
            <a:avLst>
              <a:gd name="adj" fmla="val 6608"/>
            </a:avLst>
          </a:prstGeom>
          <a:solidFill>
            <a:srgbClr val="EFF6FF"/>
          </a:solidFill>
          <a:ln w="9525">
            <a:solidFill>
              <a:srgbClr val="EFF6FF"/>
            </a:solidFill>
            <a:prstDash val="solid"/>
          </a:ln>
        </p:spPr>
      </p:sp>
      <p:sp>
        <p:nvSpPr>
          <p:cNvPr id="11" name="Text 9"/>
          <p:cNvSpPr txBox="1"/>
          <p:nvPr/>
        </p:nvSpPr>
        <p:spPr>
          <a:xfrm>
            <a:off x="7973568" y="4544568"/>
            <a:ext cx="3529584" cy="112776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private yalnızca derleme zamanında denetlenir; çalışma anında JavaScript'te engel yoktur. Gerçek gizlilik için JavaScript'in # alan söz dizimi vardır.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Kalıtım</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3626510"/>
          </a:xfrm>
          <a:prstGeom prst="roundRect">
            <a:avLst>
              <a:gd name="adj" fmla="val 2521"/>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a:t>
            </a:r>
            <a:endParaRPr lang="en-US" sz="1100" dirty="0"/>
          </a:p>
        </p:txBody>
      </p:sp>
      <p:sp>
        <p:nvSpPr>
          <p:cNvPr id="6" name="Text 4"/>
          <p:cNvSpPr txBox="1"/>
          <p:nvPr/>
        </p:nvSpPr>
        <p:spPr>
          <a:xfrm>
            <a:off x="960120" y="2103120"/>
            <a:ext cx="6309360" cy="3077870"/>
          </a:xfrm>
          <a:prstGeom prst="rect">
            <a:avLst/>
          </a:prstGeom>
          <a:noFill/>
          <a:ln/>
        </p:spPr>
        <p:txBody>
          <a:bodyPr wrap="square" lIns="0" tIns="0" rIns="0" bIns="0" rtlCol="0" anchor="t"/>
          <a:lstStyle/>
          <a:p>
            <a:pPr marL="0" indent="0" algn="l">
              <a:buNone/>
            </a:pPr>
            <a:r>
              <a:rPr lang="en-US" sz="1600" dirty="0">
                <a:solidFill>
                  <a:srgbClr val="111827"/>
                </a:solidFill>
                <a:latin typeface="Courier New" pitchFamily="34" charset="0"/>
                <a:ea typeface="Courier New" pitchFamily="34" charset="-122"/>
                <a:cs typeface="Courier New" pitchFamily="34" charset="-120"/>
              </a:rPr>
              <a:t>class Animal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constructor(public name: string)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speak(): string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`${this.name} ses çıkarır`</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class Dog extends Animal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speak(): string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`${this.name} havlar`</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a:t>
            </a:r>
            <a:r>
              <a:rPr lang="en-US" sz="1600" b="1" dirty="0">
                <a:solidFill>
                  <a:srgbClr val="2563EB"/>
                </a:solidFill>
                <a:latin typeface="Courier New" pitchFamily="34" charset="0"/>
                <a:ea typeface="Courier New" pitchFamily="34" charset="-122"/>
                <a:cs typeface="Courier New" pitchFamily="34" charset="-120"/>
              </a:rPr>
              <a:t>new</a:t>
            </a:r>
            <a:r>
              <a:rPr lang="en-US" sz="1600" dirty="0">
                <a:solidFill>
                  <a:srgbClr val="111827"/>
                </a:solidFill>
                <a:latin typeface="Courier New" pitchFamily="34" charset="0"/>
                <a:ea typeface="Courier New" pitchFamily="34" charset="-122"/>
                <a:cs typeface="Courier New" pitchFamily="34" charset="-120"/>
              </a:rPr>
              <a:t> Dog(</a:t>
            </a:r>
            <a:r>
              <a:rPr lang="en-US" sz="1600" dirty="0">
                <a:solidFill>
                  <a:srgbClr val="047857"/>
                </a:solidFill>
                <a:latin typeface="Courier New" pitchFamily="34" charset="0"/>
                <a:ea typeface="Courier New" pitchFamily="34" charset="-122"/>
                <a:cs typeface="Courier New" pitchFamily="34" charset="-120"/>
              </a:rPr>
              <a:t>"Karabaş"</a:t>
            </a:r>
            <a:r>
              <a:rPr lang="en-US" sz="1600" dirty="0">
                <a:solidFill>
                  <a:srgbClr val="111827"/>
                </a:solidFill>
                <a:latin typeface="Courier New" pitchFamily="34" charset="0"/>
                <a:ea typeface="Courier New" pitchFamily="34" charset="-122"/>
                <a:cs typeface="Courier New" pitchFamily="34" charset="-120"/>
              </a:rPr>
              <a:t>).speak());</a:t>
            </a:r>
            <a:endParaRPr lang="en-US" sz="1600" dirty="0"/>
          </a:p>
        </p:txBody>
      </p:sp>
      <p:sp>
        <p:nvSpPr>
          <p:cNvPr id="7" name="Shape 5"/>
          <p:cNvSpPr/>
          <p:nvPr/>
        </p:nvSpPr>
        <p:spPr>
          <a:xfrm>
            <a:off x="731520" y="5409590"/>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5537606"/>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Çıktı "Karabaş havlar" olur.</a:t>
            </a:r>
            <a:endParaRPr lang="en-US" sz="1100" dirty="0"/>
          </a:p>
        </p:txBody>
      </p:sp>
      <p:sp>
        <p:nvSpPr>
          <p:cNvPr id="9" name="Text 7"/>
          <p:cNvSpPr txBox="1"/>
          <p:nvPr/>
        </p:nvSpPr>
        <p:spPr>
          <a:xfrm>
            <a:off x="7772400" y="1645920"/>
            <a:ext cx="3931920" cy="400507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ortak davranışı üst sınıfta toplayıp alt sınıfta özelleştirmektir.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extends ile Dog, Animal'in alan ve metotlarını devralır. Dog, speak metodunu yeniden tanımlayarak davranışı özelleştirir. Dog'un kendi constructor'ı olmadığı için üst sınıfınki kullanılır.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Seçim mantığı: </a:t>
            </a:r>
            <a:r>
              <a:rPr lang="en-US" sz="1800" dirty="0">
                <a:solidFill>
                  <a:srgbClr val="111827"/>
                </a:solidFill>
                <a:latin typeface="Arial" pitchFamily="34" charset="0"/>
                <a:ea typeface="Arial" pitchFamily="34" charset="-122"/>
                <a:cs typeface="Arial" pitchFamily="34" charset="-120"/>
              </a:rPr>
              <a:t>Kalıtım "bir türüdür" ilişkisi için uygundur (köpek bir hayvandır); yalnızca kod paylaşmak için kullanmak karmaşık hiyerarşilere yol açar.</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interface ile Sözleşme: implements</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3136392"/>
          </a:xfrm>
          <a:prstGeom prst="roundRect">
            <a:avLst>
              <a:gd name="adj" fmla="val 291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a:t>
            </a:r>
            <a:endParaRPr lang="en-US" sz="1100" dirty="0"/>
          </a:p>
        </p:txBody>
      </p:sp>
      <p:sp>
        <p:nvSpPr>
          <p:cNvPr id="6" name="Text 4"/>
          <p:cNvSpPr txBox="1"/>
          <p:nvPr/>
        </p:nvSpPr>
        <p:spPr>
          <a:xfrm>
            <a:off x="960120" y="2103120"/>
            <a:ext cx="6309360" cy="2587752"/>
          </a:xfrm>
          <a:prstGeom prst="rect">
            <a:avLst/>
          </a:prstGeom>
          <a:noFill/>
          <a:ln/>
        </p:spPr>
        <p:txBody>
          <a:bodyPr wrap="square" lIns="0" tIns="0" rIns="0" bIns="0" rtlCol="0" anchor="t"/>
          <a:lstStyle/>
          <a:p>
            <a:pPr marL="0" indent="0" algn="l">
              <a:buNone/>
            </a:pPr>
            <a:r>
              <a:rPr lang="en-US" sz="1600" dirty="0">
                <a:solidFill>
                  <a:srgbClr val="111827"/>
                </a:solidFill>
                <a:latin typeface="Courier New" pitchFamily="34" charset="0"/>
                <a:ea typeface="Courier New" pitchFamily="34" charset="-122"/>
                <a:cs typeface="Courier New" pitchFamily="34" charset="-120"/>
              </a:rPr>
              <a:t>interface Logger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log(msg: string): void;</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class ConsoleLogger implements Logger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log(msg: string): void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console.log(</a:t>
            </a:r>
            <a:r>
              <a:rPr lang="en-US" sz="1600" dirty="0">
                <a:solidFill>
                  <a:srgbClr val="047857"/>
                </a:solidFill>
                <a:latin typeface="Courier New" pitchFamily="34" charset="0"/>
                <a:ea typeface="Courier New" pitchFamily="34" charset="-122"/>
                <a:cs typeface="Courier New" pitchFamily="34" charset="-120"/>
              </a:rPr>
              <a:t>"[LOG]"</a:t>
            </a:r>
            <a:r>
              <a:rPr lang="en-US" sz="1600" dirty="0">
                <a:solidFill>
                  <a:srgbClr val="111827"/>
                </a:solidFill>
                <a:latin typeface="Courier New" pitchFamily="34" charset="0"/>
                <a:ea typeface="Courier New" pitchFamily="34" charset="-122"/>
                <a:cs typeface="Courier New" pitchFamily="34" charset="-120"/>
              </a:rPr>
              <a:t>, msg);</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logger: Logger = </a:t>
            </a:r>
            <a:r>
              <a:rPr lang="en-US" sz="1600" b="1" dirty="0">
                <a:solidFill>
                  <a:srgbClr val="2563EB"/>
                </a:solidFill>
                <a:latin typeface="Courier New" pitchFamily="34" charset="0"/>
                <a:ea typeface="Courier New" pitchFamily="34" charset="-122"/>
                <a:cs typeface="Courier New" pitchFamily="34" charset="-120"/>
              </a:rPr>
              <a:t>new</a:t>
            </a:r>
            <a:r>
              <a:rPr lang="en-US" sz="1600" dirty="0">
                <a:solidFill>
                  <a:srgbClr val="111827"/>
                </a:solidFill>
                <a:latin typeface="Courier New" pitchFamily="34" charset="0"/>
                <a:ea typeface="Courier New" pitchFamily="34" charset="-122"/>
                <a:cs typeface="Courier New" pitchFamily="34" charset="-120"/>
              </a:rPr>
              <a:t> ConsoleLogger();</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logger.log(</a:t>
            </a:r>
            <a:r>
              <a:rPr lang="en-US" sz="1600" dirty="0">
                <a:solidFill>
                  <a:srgbClr val="047857"/>
                </a:solidFill>
                <a:latin typeface="Courier New" pitchFamily="34" charset="0"/>
                <a:ea typeface="Courier New" pitchFamily="34" charset="-122"/>
                <a:cs typeface="Courier New" pitchFamily="34" charset="-120"/>
              </a:rPr>
              <a:t>"Başladı"</a:t>
            </a: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4919472"/>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5047488"/>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Çıktı "[LOG] Başladı" olur.</a:t>
            </a:r>
            <a:endParaRPr lang="en-US" sz="1100" dirty="0"/>
          </a:p>
        </p:txBody>
      </p:sp>
      <p:sp>
        <p:nvSpPr>
          <p:cNvPr id="9" name="Text 7"/>
          <p:cNvSpPr txBox="1"/>
          <p:nvPr/>
        </p:nvSpPr>
        <p:spPr>
          <a:xfrm>
            <a:off x="7772400" y="1645920"/>
            <a:ext cx="3931920" cy="263347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bir sınıfın belirli bir davranışı sağlayacağını derleyiciye garanti ettirmektir.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Logger sözleşmesi bir log metodu şart koşar; implements, sınıfın bunu sağlamasını zorunlu kılar. Değişkeni Logger tipiyle tanımlamak, hangi uygulamanın kullanıldığını bilmeden çalışmamızı sağlar.</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Generic'e Giriş</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3136392"/>
          </a:xfrm>
          <a:prstGeom prst="roundRect">
            <a:avLst>
              <a:gd name="adj" fmla="val 291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a:t>
            </a:r>
            <a:endParaRPr lang="en-US" sz="1100" dirty="0"/>
          </a:p>
        </p:txBody>
      </p:sp>
      <p:sp>
        <p:nvSpPr>
          <p:cNvPr id="6" name="Text 4"/>
          <p:cNvSpPr txBox="1"/>
          <p:nvPr/>
        </p:nvSpPr>
        <p:spPr>
          <a:xfrm>
            <a:off x="960120" y="2103120"/>
            <a:ext cx="6309360" cy="2587752"/>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function</a:t>
            </a:r>
            <a:r>
              <a:rPr lang="en-US" sz="1600" dirty="0">
                <a:solidFill>
                  <a:srgbClr val="111827"/>
                </a:solidFill>
                <a:latin typeface="Courier New" pitchFamily="34" charset="0"/>
                <a:ea typeface="Courier New" pitchFamily="34" charset="-122"/>
                <a:cs typeface="Courier New" pitchFamily="34" charset="-120"/>
              </a:rPr>
              <a:t> first&lt;T&gt;(items: T[]): T | </a:t>
            </a:r>
            <a:r>
              <a:rPr lang="en-US" sz="1600" b="1" dirty="0">
                <a:solidFill>
                  <a:srgbClr val="2563EB"/>
                </a:solidFill>
                <a:latin typeface="Courier New" pitchFamily="34" charset="0"/>
                <a:ea typeface="Courier New" pitchFamily="34" charset="-122"/>
                <a:cs typeface="Courier New" pitchFamily="34" charset="-120"/>
              </a:rPr>
              <a:t>undefined</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items[</a:t>
            </a:r>
            <a:r>
              <a:rPr lang="en-US" sz="1600" dirty="0">
                <a:solidFill>
                  <a:srgbClr val="B45309"/>
                </a:solidFill>
                <a:latin typeface="Courier New" pitchFamily="34" charset="0"/>
                <a:ea typeface="Courier New" pitchFamily="34" charset="-122"/>
                <a:cs typeface="Courier New" pitchFamily="34" charset="-120"/>
              </a:rPr>
              <a:t>0</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n = first([</a:t>
            </a:r>
            <a:r>
              <a:rPr lang="en-US" sz="1600" dirty="0">
                <a:solidFill>
                  <a:srgbClr val="B45309"/>
                </a:solidFill>
                <a:latin typeface="Courier New" pitchFamily="34" charset="0"/>
                <a:ea typeface="Courier New" pitchFamily="34" charset="-122"/>
                <a:cs typeface="Courier New" pitchFamily="34" charset="-120"/>
              </a:rPr>
              <a:t>10</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B45309"/>
                </a:solidFill>
                <a:latin typeface="Courier New" pitchFamily="34" charset="0"/>
                <a:ea typeface="Courier New" pitchFamily="34" charset="-122"/>
                <a:cs typeface="Courier New" pitchFamily="34" charset="-120"/>
              </a:rPr>
              <a:t>20</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s = first([</a:t>
            </a:r>
            <a:r>
              <a:rPr lang="en-US" sz="1600" dirty="0">
                <a:solidFill>
                  <a:srgbClr val="047857"/>
                </a:solidFill>
                <a:latin typeface="Courier New" pitchFamily="34" charset="0"/>
                <a:ea typeface="Courier New" pitchFamily="34" charset="-122"/>
                <a:cs typeface="Courier New" pitchFamily="34" charset="-120"/>
              </a:rPr>
              <a:t>"a"</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"b"</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interface Box&lt;T&gt;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value: 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box: Box&lt;number&gt; = { value: </a:t>
            </a:r>
            <a:r>
              <a:rPr lang="en-US" sz="1600" dirty="0">
                <a:solidFill>
                  <a:srgbClr val="B45309"/>
                </a:solidFill>
                <a:latin typeface="Courier New" pitchFamily="34" charset="0"/>
                <a:ea typeface="Courier New" pitchFamily="34" charset="-122"/>
                <a:cs typeface="Courier New" pitchFamily="34" charset="-120"/>
              </a:rPr>
              <a:t>5</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console.log(n, s, box.value);</a:t>
            </a:r>
            <a:endParaRPr lang="en-US" sz="1600" dirty="0"/>
          </a:p>
        </p:txBody>
      </p:sp>
      <p:sp>
        <p:nvSpPr>
          <p:cNvPr id="7" name="Shape 5"/>
          <p:cNvSpPr/>
          <p:nvPr/>
        </p:nvSpPr>
        <p:spPr>
          <a:xfrm>
            <a:off x="731520" y="4919472"/>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5047488"/>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Çıktı "10 a 5" olur.</a:t>
            </a:r>
            <a:endParaRPr lang="en-US" sz="1100" dirty="0"/>
          </a:p>
        </p:txBody>
      </p:sp>
      <p:sp>
        <p:nvSpPr>
          <p:cNvPr id="9" name="Text 7"/>
          <p:cNvSpPr txBox="1"/>
          <p:nvPr/>
        </p:nvSpPr>
        <p:spPr>
          <a:xfrm>
            <a:off x="7772400" y="1645920"/>
            <a:ext cx="3931920" cy="373075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tipi parametre olarak alan yeniden kullanılabilir yapılar yazmaktır.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T bir tip yer tutucusudur; first fonksiyonu dizinin eleman tipini öğrenir ve aynı tipte sonuç döndürür. n number veya undefined, s ise string veya undefined olur. Box&lt;T&gt; aynı fikrin nesne hâlidir.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Seçim mantığı: </a:t>
            </a:r>
            <a:r>
              <a:rPr lang="en-US" sz="1800" dirty="0">
                <a:solidFill>
                  <a:srgbClr val="111827"/>
                </a:solidFill>
                <a:latin typeface="Arial" pitchFamily="34" charset="0"/>
                <a:ea typeface="Arial" pitchFamily="34" charset="-122"/>
                <a:cs typeface="Arial" pitchFamily="34" charset="-120"/>
              </a:rPr>
              <a:t>Aynı mantığı farklı tiplerle tekrar yazıyorsanız generic düşünün; tek bir tiple çalışıyorsa generic gerekmez.</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Generic'in React Native'deki Karşılıkları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156155"/>
          </a:xfrm>
          <a:prstGeom prst="roundRect">
            <a:avLst>
              <a:gd name="adj" fmla="val 4241"/>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a:t>
            </a:r>
            <a:endParaRPr lang="en-US" sz="1100" dirty="0"/>
          </a:p>
        </p:txBody>
      </p:sp>
      <p:sp>
        <p:nvSpPr>
          <p:cNvPr id="6" name="Text 4"/>
          <p:cNvSpPr txBox="1"/>
          <p:nvPr/>
        </p:nvSpPr>
        <p:spPr>
          <a:xfrm>
            <a:off x="960120" y="2103120"/>
            <a:ext cx="6309360" cy="1607515"/>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names: Array&lt;string&gt; = [];</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task: Promise&lt;number&gt; = Promise.resolve(</a:t>
            </a:r>
            <a:r>
              <a:rPr lang="en-US" sz="1600" dirty="0">
                <a:solidFill>
                  <a:srgbClr val="B45309"/>
                </a:solidFill>
                <a:latin typeface="Courier New" pitchFamily="34" charset="0"/>
                <a:ea typeface="Courier New" pitchFamily="34" charset="-122"/>
                <a:cs typeface="Courier New" pitchFamily="34" charset="-120"/>
              </a:rPr>
              <a:t>1</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type ApiResponse&lt;T&gt; = { data: T; error?: string };</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res: ApiResponse&lt;string[]&gt; = {data: [</a:t>
            </a:r>
            <a:r>
              <a:rPr lang="en-US" sz="1600" dirty="0">
                <a:solidFill>
                  <a:srgbClr val="047857"/>
                </a:solidFill>
                <a:latin typeface="Courier New" pitchFamily="34" charset="0"/>
                <a:ea typeface="Courier New" pitchFamily="34" charset="-122"/>
                <a:cs typeface="Courier New" pitchFamily="34" charset="-120"/>
              </a:rPr>
              <a:t>"a"</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console.log(names, res.data);</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task.then((n) =&gt; console.log(n));</a:t>
            </a:r>
            <a:endParaRPr lang="en-US" sz="1600" dirty="0"/>
          </a:p>
        </p:txBody>
      </p:sp>
      <p:sp>
        <p:nvSpPr>
          <p:cNvPr id="7" name="Shape 5"/>
          <p:cNvSpPr/>
          <p:nvPr/>
        </p:nvSpPr>
        <p:spPr>
          <a:xfrm>
            <a:off x="731520" y="3939235"/>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4067251"/>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Önce "[] [ 'a' ]" yazılır, ardından Promise çözüldüğünde 1 yazılır.</a:t>
            </a:r>
            <a:endParaRPr lang="en-US" sz="1100" dirty="0"/>
          </a:p>
        </p:txBody>
      </p:sp>
      <p:sp>
        <p:nvSpPr>
          <p:cNvPr id="9" name="Text 7"/>
          <p:cNvSpPr txBox="1"/>
          <p:nvPr/>
        </p:nvSpPr>
        <p:spPr>
          <a:xfrm>
            <a:off x="7772400" y="1645920"/>
            <a:ext cx="3931920" cy="235915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ileride karşılaşacağınız generic kullanımlarını tanımaktır.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Array&lt;string&gt; ve Promise&lt;number&gt; standart kütüphanedeki generic tiplerdir. ApiResponse&lt;T&gt; kendi yazdığımız bir sarmalayıcıdır; farklı veri tipleri için tekrar kullanılabilir.</a:t>
            </a:r>
            <a:endParaRPr lang="en-US" sz="1800" dirty="0"/>
          </a:p>
        </p:txBody>
      </p:sp>
      <p:sp>
        <p:nvSpPr>
          <p:cNvPr id="10" name="Shape 8"/>
          <p:cNvSpPr/>
          <p:nvPr/>
        </p:nvSpPr>
        <p:spPr>
          <a:xfrm>
            <a:off x="7772400" y="4142232"/>
            <a:ext cx="3931920" cy="1597152"/>
          </a:xfrm>
          <a:prstGeom prst="roundRect">
            <a:avLst>
              <a:gd name="adj" fmla="val 5725"/>
            </a:avLst>
          </a:prstGeom>
          <a:solidFill>
            <a:srgbClr val="EFF6FF"/>
          </a:solidFill>
          <a:ln w="9525">
            <a:solidFill>
              <a:srgbClr val="EFF6FF"/>
            </a:solidFill>
            <a:prstDash val="solid"/>
          </a:ln>
        </p:spPr>
      </p:sp>
      <p:sp>
        <p:nvSpPr>
          <p:cNvPr id="11" name="Text 9"/>
          <p:cNvSpPr txBox="1"/>
          <p:nvPr/>
        </p:nvSpPr>
        <p:spPr>
          <a:xfrm>
            <a:off x="7973568" y="4270248"/>
            <a:ext cx="3529584" cy="134112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İleride useState&lt;number&gt;(0) ve useRef&lt;TextInput&gt;(null) gibi çağrılarda köşeli parantez içindeki tip bir generic parametresidir; bu yazımı gördüğünüzde korkmayın.</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Sık Karşılaşılan TypeScript Hataları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972800" cy="3200400"/>
        </p:xfrm>
        <a:graphic>
          <a:graphicData uri="http://schemas.openxmlformats.org/drawingml/2006/table">
            <a:tbl>
              <a:tblPr/>
              <a:tblGrid>
                <a:gridCol w="4727883">
                  <a:extLst>
                    <a:ext uri="{9D8B030D-6E8A-4147-A177-3AD203B41FA5}">
                      <a16:colId xmlns:a16="http://schemas.microsoft.com/office/drawing/2014/main" val="20000"/>
                    </a:ext>
                  </a:extLst>
                </a:gridCol>
                <a:gridCol w="3187538">
                  <a:extLst>
                    <a:ext uri="{9D8B030D-6E8A-4147-A177-3AD203B41FA5}">
                      <a16:colId xmlns:a16="http://schemas.microsoft.com/office/drawing/2014/main" val="20001"/>
                    </a:ext>
                  </a:extLst>
                </a:gridCol>
                <a:gridCol w="3057379">
                  <a:extLst>
                    <a:ext uri="{9D8B030D-6E8A-4147-A177-3AD203B41FA5}">
                      <a16:colId xmlns:a16="http://schemas.microsoft.com/office/drawing/2014/main" val="20002"/>
                    </a:ext>
                  </a:extLst>
                </a:gridCol>
              </a:tblGrid>
              <a:tr h="475488">
                <a:tc>
                  <a:txBody>
                    <a:bodyPr/>
                    <a:lstStyle/>
                    <a:p>
                      <a:pPr marL="0" indent="0">
                        <a:buNone/>
                      </a:pPr>
                      <a:r>
                        <a:rPr lang="en-US" sz="1400" b="1" dirty="0">
                          <a:solidFill>
                            <a:srgbClr val="2563EB"/>
                          </a:solidFill>
                        </a:rPr>
                        <a:t>Kod ve mesaj</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Anlamı</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Çözüm</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extLst>
                  <a:ext uri="{0D108BD9-81ED-4DB2-BD59-A6C34878D82A}">
                    <a16:rowId xmlns:a16="http://schemas.microsoft.com/office/drawing/2014/main" val="10000"/>
                  </a:ext>
                </a:extLst>
              </a:tr>
              <a:tr h="749808">
                <a:tc>
                  <a:txBody>
                    <a:bodyPr/>
                    <a:lstStyle/>
                    <a:p>
                      <a:pPr marL="0" indent="0">
                        <a:buNone/>
                      </a:pPr>
                      <a:r>
                        <a:rPr lang="en-US" sz="1800" b="1" dirty="0">
                          <a:solidFill>
                            <a:srgbClr val="111827"/>
                          </a:solidFill>
                        </a:rPr>
                        <a:t>TS2322 Type 'string' is not assignable to type 'number'</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Yanlış tipte atama</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Değeri veya tipi düzelt</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749808">
                <a:tc>
                  <a:txBody>
                    <a:bodyPr/>
                    <a:lstStyle/>
                    <a:p>
                      <a:pPr marL="0" indent="0">
                        <a:buNone/>
                      </a:pPr>
                      <a:r>
                        <a:rPr lang="en-US" sz="1800" b="1" dirty="0">
                          <a:solidFill>
                            <a:srgbClr val="111827"/>
                          </a:solidFill>
                        </a:rPr>
                        <a:t>TS2345 Argument of type ... is not assignable</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Fonksiyona yanlış argüman</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Parametre tipine uy</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buNone/>
                      </a:pPr>
                      <a:r>
                        <a:rPr lang="en-US" sz="1800" b="1" dirty="0">
                          <a:solidFill>
                            <a:srgbClr val="111827"/>
                          </a:solidFill>
                        </a:rPr>
                        <a:t>TS18048 'x' is possibly 'undefined'</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Değer yok olabilir</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null kontrolü ekle</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749808">
                <a:tc>
                  <a:txBody>
                    <a:bodyPr/>
                    <a:lstStyle/>
                    <a:p>
                      <a:pPr marL="0" indent="0">
                        <a:buNone/>
                      </a:pPr>
                      <a:r>
                        <a:rPr lang="en-US" sz="1800" b="1" dirty="0">
                          <a:solidFill>
                            <a:srgbClr val="111827"/>
                          </a:solidFill>
                        </a:rPr>
                        <a:t>TS7006 Parameter implicitly has an 'any' type</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Parametre tipi eksik</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Tip yaz</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Shape 2"/>
          <p:cNvSpPr/>
          <p:nvPr/>
        </p:nvSpPr>
        <p:spPr>
          <a:xfrm>
            <a:off x="731520" y="5120640"/>
            <a:ext cx="10972800" cy="1018032"/>
          </a:xfrm>
          <a:prstGeom prst="roundRect">
            <a:avLst>
              <a:gd name="adj" fmla="val 8982"/>
            </a:avLst>
          </a:prstGeom>
          <a:solidFill>
            <a:srgbClr val="EFF6FF"/>
          </a:solidFill>
          <a:ln w="9525">
            <a:solidFill>
              <a:srgbClr val="EFF6FF"/>
            </a:solidFill>
            <a:prstDash val="solid"/>
          </a:ln>
        </p:spPr>
      </p:sp>
      <p:sp>
        <p:nvSpPr>
          <p:cNvPr id="6" name="Text 3"/>
          <p:cNvSpPr txBox="1"/>
          <p:nvPr/>
        </p:nvSpPr>
        <p:spPr>
          <a:xfrm>
            <a:off x="932688" y="5248656"/>
            <a:ext cx="10570464" cy="76200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SEÇIM MANTIĞI</a:t>
            </a:r>
            <a:endParaRPr lang="en-US" sz="1100" dirty="0"/>
          </a:p>
          <a:p>
            <a:pPr marL="0" indent="0" algn="l">
              <a:buNone/>
            </a:pPr>
            <a:r>
              <a:rPr lang="en-US" sz="1600" dirty="0">
                <a:solidFill>
                  <a:srgbClr val="111827"/>
                </a:solidFill>
                <a:latin typeface="Arial" pitchFamily="34" charset="0"/>
                <a:ea typeface="Arial" pitchFamily="34" charset="-122"/>
                <a:cs typeface="Arial" pitchFamily="34" charset="-120"/>
              </a:rPr>
              <a:t>Hata mesajını sondan başa okuyun: önce "neye atanamıyor" kısmına, sonra hangi değerin atandığına bakın. Kırmızı çizgiyi susturmak için any veya as yazmak yerine nedenini anlayın.</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Uygulama Saati: Görev Yöneticisinin Tip Modeli</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Text 2"/>
          <p:cNvSpPr txBox="1"/>
          <p:nvPr/>
        </p:nvSpPr>
        <p:spPr>
          <a:xfrm>
            <a:off x="731520" y="1645920"/>
            <a:ext cx="6766560" cy="4663440"/>
          </a:xfrm>
          <a:prstGeom prst="rect">
            <a:avLst/>
          </a:prstGeom>
          <a:noFill/>
          <a:ln/>
        </p:spPr>
        <p:txBody>
          <a:bodyPr wrap="square" lIns="0" tIns="0" rIns="0" bIns="0" rtlCol="0" anchor="t"/>
          <a:lstStyle/>
          <a:p>
            <a:pPr marL="279400" indent="-279400" algn="l">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Task arayüzünü tanımlayın: id, title, done ve isteğe bağlı dueDate alanları.</a:t>
            </a:r>
            <a:endParaRPr lang="en-US" sz="2200" dirty="0"/>
          </a:p>
          <a:p>
            <a:pPr marL="279400" indent="-279400" algn="l">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Priority için literal union ("low" | "medium" | "high") ve Task'a bu alanı ekleyin.</a:t>
            </a:r>
            <a:endParaRPr lang="en-US" sz="2200" dirty="0"/>
          </a:p>
          <a:p>
            <a:pPr marL="279400" indent="-279400" algn="l">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Görevleri önceliğe göre süzen filterByPriority fonksiyonunu tiplerle yazın.</a:t>
            </a:r>
            <a:endParaRPr lang="en-US" sz="2200" dirty="0"/>
          </a:p>
          <a:p>
            <a:pPr marL="279400" indent="-279400" algn="l">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TaskList sınıfında private bir görev dizisi, add ve complete yöntemlerini yazın; derleyici hatasız geçsin.</a:t>
            </a:r>
            <a:endParaRPr lang="en-US" sz="2200" dirty="0"/>
          </a:p>
        </p:txBody>
      </p:sp>
      <p:sp>
        <p:nvSpPr>
          <p:cNvPr id="5" name="Shape 3"/>
          <p:cNvSpPr/>
          <p:nvPr/>
        </p:nvSpPr>
        <p:spPr>
          <a:xfrm>
            <a:off x="7863840" y="1645920"/>
            <a:ext cx="3657600" cy="1234440"/>
          </a:xfrm>
          <a:prstGeom prst="roundRect">
            <a:avLst>
              <a:gd name="adj" fmla="val 7407"/>
            </a:avLst>
          </a:prstGeom>
          <a:solidFill>
            <a:srgbClr val="FFFFFF"/>
          </a:solidFill>
          <a:ln w="15875">
            <a:solidFill>
              <a:srgbClr val="CBD5E1"/>
            </a:solidFill>
            <a:prstDash val="solid"/>
          </a:ln>
        </p:spPr>
      </p:sp>
      <p:sp>
        <p:nvSpPr>
          <p:cNvPr id="6" name="Text 4"/>
          <p:cNvSpPr txBox="1"/>
          <p:nvPr/>
        </p:nvSpPr>
        <p:spPr>
          <a:xfrm>
            <a:off x="8001000" y="1691640"/>
            <a:ext cx="3383280" cy="320040"/>
          </a:xfrm>
          <a:prstGeom prst="rect">
            <a:avLst/>
          </a:prstGeom>
          <a:noFill/>
          <a:ln/>
        </p:spPr>
        <p:txBody>
          <a:bodyPr wrap="square" lIns="0" tIns="0" rIns="0" bIns="0" rtlCol="0" anchor="ctr"/>
          <a:lstStyle/>
          <a:p>
            <a:pPr marL="0" indent="0" algn="l">
              <a:buNone/>
            </a:pPr>
            <a:r>
              <a:rPr lang="en-US" sz="1400" b="1" dirty="0">
                <a:solidFill>
                  <a:srgbClr val="2563EB"/>
                </a:solidFill>
                <a:latin typeface="Arial" pitchFamily="34" charset="0"/>
                <a:ea typeface="Arial" pitchFamily="34" charset="-122"/>
                <a:cs typeface="Arial" pitchFamily="34" charset="-120"/>
              </a:rPr>
              <a:t>TaskList</a:t>
            </a:r>
            <a:endParaRPr lang="en-US" sz="1400" dirty="0"/>
          </a:p>
        </p:txBody>
      </p:sp>
      <p:sp>
        <p:nvSpPr>
          <p:cNvPr id="7" name="Text 5"/>
          <p:cNvSpPr txBox="1"/>
          <p:nvPr/>
        </p:nvSpPr>
        <p:spPr>
          <a:xfrm>
            <a:off x="8001000" y="2029968"/>
            <a:ext cx="3383280" cy="822960"/>
          </a:xfrm>
          <a:prstGeom prst="rect">
            <a:avLst/>
          </a:prstGeom>
          <a:noFill/>
          <a:ln/>
        </p:spPr>
        <p:txBody>
          <a:bodyPr wrap="square" lIns="0" tIns="0" rIns="0" bIns="0" rtlCol="0" anchor="t"/>
          <a:lstStyle/>
          <a:p>
            <a:pPr marL="0" indent="0" algn="l">
              <a:buNone/>
            </a:pPr>
            <a:r>
              <a:rPr lang="en-US" sz="1200" dirty="0">
                <a:solidFill>
                  <a:srgbClr val="111827"/>
                </a:solidFill>
                <a:latin typeface="Courier New" pitchFamily="34" charset="0"/>
                <a:ea typeface="Courier New" pitchFamily="34" charset="-122"/>
                <a:cs typeface="Courier New" pitchFamily="34" charset="-120"/>
              </a:rPr>
              <a:t>- tasks: Task[]</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add(task)</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complete(id)</a:t>
            </a:r>
            <a:endParaRPr lang="en-US" sz="1200" dirty="0"/>
          </a:p>
        </p:txBody>
      </p:sp>
      <p:sp>
        <p:nvSpPr>
          <p:cNvPr id="8" name="Text 6"/>
          <p:cNvSpPr txBox="1"/>
          <p:nvPr/>
        </p:nvSpPr>
        <p:spPr>
          <a:xfrm>
            <a:off x="7863840" y="2880360"/>
            <a:ext cx="3657600" cy="292608"/>
          </a:xfrm>
          <a:prstGeom prst="rect">
            <a:avLst/>
          </a:prstGeom>
          <a:noFill/>
          <a:ln/>
        </p:spPr>
        <p:txBody>
          <a:bodyPr wrap="square" lIns="0" tIns="0" rIns="0" bIns="0" rtlCol="0" anchor="ctr"/>
          <a:lstStyle/>
          <a:p>
            <a:pPr marL="0" indent="0" algn="ctr">
              <a:buNone/>
            </a:pPr>
            <a:r>
              <a:rPr lang="en-US" sz="1200" dirty="0">
                <a:solidFill>
                  <a:srgbClr val="6B7280"/>
                </a:solidFill>
                <a:latin typeface="Arial" pitchFamily="34" charset="0"/>
                <a:ea typeface="Arial" pitchFamily="34" charset="-122"/>
                <a:cs typeface="Arial" pitchFamily="34" charset="-120"/>
              </a:rPr>
              <a:t>▼ içerir</a:t>
            </a:r>
            <a:endParaRPr lang="en-US" sz="1200" dirty="0"/>
          </a:p>
        </p:txBody>
      </p:sp>
      <p:sp>
        <p:nvSpPr>
          <p:cNvPr id="9" name="Shape 7"/>
          <p:cNvSpPr/>
          <p:nvPr/>
        </p:nvSpPr>
        <p:spPr>
          <a:xfrm>
            <a:off x="7863840" y="3172968"/>
            <a:ext cx="3657600" cy="1600200"/>
          </a:xfrm>
          <a:prstGeom prst="roundRect">
            <a:avLst>
              <a:gd name="adj" fmla="val 5714"/>
            </a:avLst>
          </a:prstGeom>
          <a:solidFill>
            <a:srgbClr val="FFFFFF"/>
          </a:solidFill>
          <a:ln w="15875">
            <a:solidFill>
              <a:srgbClr val="CBD5E1"/>
            </a:solidFill>
            <a:prstDash val="solid"/>
          </a:ln>
        </p:spPr>
      </p:sp>
      <p:sp>
        <p:nvSpPr>
          <p:cNvPr id="10" name="Text 8"/>
          <p:cNvSpPr txBox="1"/>
          <p:nvPr/>
        </p:nvSpPr>
        <p:spPr>
          <a:xfrm>
            <a:off x="8001000" y="3218688"/>
            <a:ext cx="3383280" cy="320040"/>
          </a:xfrm>
          <a:prstGeom prst="rect">
            <a:avLst/>
          </a:prstGeom>
          <a:noFill/>
          <a:ln/>
        </p:spPr>
        <p:txBody>
          <a:bodyPr wrap="square" lIns="0" tIns="0" rIns="0" bIns="0" rtlCol="0" anchor="ctr"/>
          <a:lstStyle/>
          <a:p>
            <a:pPr marL="0" indent="0" algn="l">
              <a:buNone/>
            </a:pPr>
            <a:r>
              <a:rPr lang="en-US" sz="1400" b="1" dirty="0">
                <a:solidFill>
                  <a:srgbClr val="2563EB"/>
                </a:solidFill>
                <a:latin typeface="Arial" pitchFamily="34" charset="0"/>
                <a:ea typeface="Arial" pitchFamily="34" charset="-122"/>
                <a:cs typeface="Arial" pitchFamily="34" charset="-120"/>
              </a:rPr>
              <a:t>Task</a:t>
            </a:r>
            <a:endParaRPr lang="en-US" sz="1400" dirty="0"/>
          </a:p>
        </p:txBody>
      </p:sp>
      <p:sp>
        <p:nvSpPr>
          <p:cNvPr id="11" name="Text 9"/>
          <p:cNvSpPr txBox="1"/>
          <p:nvPr/>
        </p:nvSpPr>
        <p:spPr>
          <a:xfrm>
            <a:off x="8001000" y="3557016"/>
            <a:ext cx="3383280" cy="1188720"/>
          </a:xfrm>
          <a:prstGeom prst="rect">
            <a:avLst/>
          </a:prstGeom>
          <a:noFill/>
          <a:ln/>
        </p:spPr>
        <p:txBody>
          <a:bodyPr wrap="square" lIns="0" tIns="0" rIns="0" bIns="0" rtlCol="0" anchor="t"/>
          <a:lstStyle/>
          <a:p>
            <a:pPr marL="0" indent="0" algn="l">
              <a:buNone/>
            </a:pPr>
            <a:r>
              <a:rPr lang="en-US" sz="1200" dirty="0">
                <a:solidFill>
                  <a:srgbClr val="111827"/>
                </a:solidFill>
                <a:latin typeface="Courier New" pitchFamily="34" charset="0"/>
                <a:ea typeface="Courier New" pitchFamily="34" charset="-122"/>
                <a:cs typeface="Courier New" pitchFamily="34" charset="-120"/>
              </a:rPr>
              <a:t>id: number</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title: string</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done: boolean</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dueDate?: string</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priority: Priority</a:t>
            </a:r>
            <a:endParaRPr lang="en-US" sz="1200" dirty="0"/>
          </a:p>
        </p:txBody>
      </p:sp>
      <p:sp>
        <p:nvSpPr>
          <p:cNvPr id="12" name="Text 10"/>
          <p:cNvSpPr txBox="1"/>
          <p:nvPr/>
        </p:nvSpPr>
        <p:spPr>
          <a:xfrm>
            <a:off x="7863840" y="4773168"/>
            <a:ext cx="3657600" cy="292608"/>
          </a:xfrm>
          <a:prstGeom prst="rect">
            <a:avLst/>
          </a:prstGeom>
          <a:noFill/>
          <a:ln/>
        </p:spPr>
        <p:txBody>
          <a:bodyPr wrap="square" lIns="0" tIns="0" rIns="0" bIns="0" rtlCol="0" anchor="ctr"/>
          <a:lstStyle/>
          <a:p>
            <a:pPr marL="0" indent="0" algn="ctr">
              <a:buNone/>
            </a:pPr>
            <a:r>
              <a:rPr lang="en-US" sz="1200" dirty="0">
                <a:solidFill>
                  <a:srgbClr val="6B7280"/>
                </a:solidFill>
                <a:latin typeface="Arial" pitchFamily="34" charset="0"/>
                <a:ea typeface="Arial" pitchFamily="34" charset="-122"/>
                <a:cs typeface="Arial" pitchFamily="34" charset="-120"/>
              </a:rPr>
              <a:t>▼ kullanır</a:t>
            </a:r>
            <a:endParaRPr lang="en-US" sz="1200" dirty="0"/>
          </a:p>
        </p:txBody>
      </p:sp>
      <p:sp>
        <p:nvSpPr>
          <p:cNvPr id="13" name="Shape 11"/>
          <p:cNvSpPr/>
          <p:nvPr/>
        </p:nvSpPr>
        <p:spPr>
          <a:xfrm>
            <a:off x="7863840" y="5065776"/>
            <a:ext cx="3657600" cy="731520"/>
          </a:xfrm>
          <a:prstGeom prst="roundRect">
            <a:avLst>
              <a:gd name="adj" fmla="val 12500"/>
            </a:avLst>
          </a:prstGeom>
          <a:solidFill>
            <a:srgbClr val="FFFFFF"/>
          </a:solidFill>
          <a:ln w="15875">
            <a:solidFill>
              <a:srgbClr val="CBD5E1"/>
            </a:solidFill>
            <a:prstDash val="solid"/>
          </a:ln>
        </p:spPr>
      </p:sp>
      <p:sp>
        <p:nvSpPr>
          <p:cNvPr id="14" name="Text 12"/>
          <p:cNvSpPr txBox="1"/>
          <p:nvPr/>
        </p:nvSpPr>
        <p:spPr>
          <a:xfrm>
            <a:off x="8001000" y="5111496"/>
            <a:ext cx="3383280" cy="320040"/>
          </a:xfrm>
          <a:prstGeom prst="rect">
            <a:avLst/>
          </a:prstGeom>
          <a:noFill/>
          <a:ln/>
        </p:spPr>
        <p:txBody>
          <a:bodyPr wrap="square" lIns="0" tIns="0" rIns="0" bIns="0" rtlCol="0" anchor="ctr"/>
          <a:lstStyle/>
          <a:p>
            <a:pPr marL="0" indent="0" algn="l">
              <a:buNone/>
            </a:pPr>
            <a:r>
              <a:rPr lang="en-US" sz="1400" b="1" dirty="0">
                <a:solidFill>
                  <a:srgbClr val="2563EB"/>
                </a:solidFill>
                <a:latin typeface="Arial" pitchFamily="34" charset="0"/>
                <a:ea typeface="Arial" pitchFamily="34" charset="-122"/>
                <a:cs typeface="Arial" pitchFamily="34" charset="-120"/>
              </a:rPr>
              <a:t>Priority</a:t>
            </a:r>
            <a:endParaRPr lang="en-US" sz="1400" dirty="0"/>
          </a:p>
        </p:txBody>
      </p:sp>
      <p:sp>
        <p:nvSpPr>
          <p:cNvPr id="15" name="Text 13"/>
          <p:cNvSpPr txBox="1"/>
          <p:nvPr/>
        </p:nvSpPr>
        <p:spPr>
          <a:xfrm>
            <a:off x="8001000" y="5449824"/>
            <a:ext cx="3383280" cy="320040"/>
          </a:xfrm>
          <a:prstGeom prst="rect">
            <a:avLst/>
          </a:prstGeom>
          <a:noFill/>
          <a:ln/>
        </p:spPr>
        <p:txBody>
          <a:bodyPr wrap="square" lIns="0" tIns="0" rIns="0" bIns="0" rtlCol="0" anchor="t"/>
          <a:lstStyle/>
          <a:p>
            <a:pPr marL="0" indent="0" algn="l">
              <a:buNone/>
            </a:pPr>
            <a:r>
              <a:rPr lang="en-US" sz="1200" dirty="0">
                <a:solidFill>
                  <a:srgbClr val="111827"/>
                </a:solidFill>
                <a:latin typeface="Courier New" pitchFamily="34" charset="0"/>
                <a:ea typeface="Courier New" pitchFamily="34" charset="-122"/>
                <a:cs typeface="Courier New" pitchFamily="34" charset="-120"/>
              </a:rPr>
              <a:t>"low" | "medium" | "high"</a:t>
            </a:r>
            <a:endParaRPr lang="en-US" sz="12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Kontrol Soruları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Text 2"/>
          <p:cNvSpPr txBox="1"/>
          <p:nvPr/>
        </p:nvSpPr>
        <p:spPr>
          <a:xfrm>
            <a:off x="731520" y="1645920"/>
            <a:ext cx="6766560" cy="4663440"/>
          </a:xfrm>
          <a:prstGeom prst="rect">
            <a:avLst/>
          </a:prstGeom>
          <a:noFill/>
          <a:ln/>
        </p:spPr>
        <p:txBody>
          <a:bodyPr wrap="square" lIns="0" tIns="0" rIns="0" bIns="0" rtlCol="0" anchor="t"/>
          <a:lstStyle/>
          <a:p>
            <a:pPr marL="279400" indent="-279400" algn="l">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TypeScript'te tipler çalışma anında neden bulunmaz ve bunun sonucu nedir?</a:t>
            </a:r>
            <a:endParaRPr lang="en-US" sz="2200" dirty="0"/>
          </a:p>
          <a:p>
            <a:pPr marL="279400" indent="-279400" algn="l">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any ile unknown arasındaki fark nedir?</a:t>
            </a:r>
            <a:endParaRPr lang="en-US" sz="2200" dirty="0"/>
          </a:p>
          <a:p>
            <a:pPr marL="279400" indent="-279400" algn="l">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"ok" ve "error" durumlarını tek tipte modellemek için hangi yapı kullanılır?</a:t>
            </a:r>
            <a:endParaRPr lang="en-US" sz="2200" dirty="0"/>
          </a:p>
          <a:p>
            <a:pPr marL="279400" indent="-279400" algn="l">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Nesne şeklini tanımlarken interface ile type arasında nasıl seçim yaparsınız?</a:t>
            </a:r>
            <a:endParaRPr lang="en-US" sz="2200" dirty="0"/>
          </a:p>
        </p:txBody>
      </p:sp>
      <p:sp>
        <p:nvSpPr>
          <p:cNvPr id="5" name="Shape 3"/>
          <p:cNvSpPr/>
          <p:nvPr/>
        </p:nvSpPr>
        <p:spPr>
          <a:xfrm>
            <a:off x="7863840" y="1645920"/>
            <a:ext cx="3657600" cy="1170432"/>
          </a:xfrm>
          <a:prstGeom prst="roundRect">
            <a:avLst>
              <a:gd name="adj" fmla="val 7813"/>
            </a:avLst>
          </a:prstGeom>
          <a:solidFill>
            <a:srgbClr val="EFF6FF"/>
          </a:solidFill>
          <a:ln w="9525">
            <a:solidFill>
              <a:srgbClr val="EFF6FF"/>
            </a:solidFill>
            <a:prstDash val="solid"/>
          </a:ln>
        </p:spPr>
      </p:sp>
      <p:sp>
        <p:nvSpPr>
          <p:cNvPr id="6" name="Text 4"/>
          <p:cNvSpPr txBox="1"/>
          <p:nvPr/>
        </p:nvSpPr>
        <p:spPr>
          <a:xfrm>
            <a:off x="8065008" y="1773936"/>
            <a:ext cx="3255264" cy="91440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KONTROL SORUSU</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function f(x: string | null) { return x.length; } kodu neden derlenmez ve nasıl düzeltilir?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Özet ve Gelecek Hafta</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Text 2"/>
          <p:cNvSpPr txBox="1"/>
          <p:nvPr/>
        </p:nvSpPr>
        <p:spPr>
          <a:xfrm>
            <a:off x="731520" y="1645920"/>
            <a:ext cx="10972800" cy="4663440"/>
          </a:xfrm>
          <a:prstGeom prst="rect">
            <a:avLst/>
          </a:prstGeom>
          <a:noFill/>
          <a:ln/>
        </p:spPr>
        <p:txBody>
          <a:bodyPr wrap="square" lIns="0" tIns="0" rIns="0" bIns="0" rtlCol="0" anchor="t"/>
          <a:lstStyle/>
          <a:p>
            <a:pPr marL="0" indent="0" algn="l">
              <a:spcAft>
                <a:spcPts val="800"/>
              </a:spcAft>
              <a:buNone/>
            </a:pPr>
            <a:r>
              <a:rPr lang="en-US" sz="2200" dirty="0">
                <a:solidFill>
                  <a:srgbClr val="111827"/>
                </a:solidFill>
                <a:latin typeface="Arial" pitchFamily="34" charset="0"/>
                <a:ea typeface="Arial" pitchFamily="34" charset="-122"/>
                <a:cs typeface="Arial" pitchFamily="34" charset="-120"/>
              </a:rPr>
              <a:t>TypeScript, hataları çalışma anından derleme anına taşıyan bir güvenlik ağıdır. strict mod, union, narrowing ve null güvenliği bu ağın temel ilmekleridir. interface ve type nesne şekillerini, sınıflar davranışı, generic ise yeniden kullanılabilirliği sağlar. Gelecek hafta bu bilgileri ilk React Native projemizde kullanacağız.</a:t>
            </a:r>
            <a:endParaRPr lang="en-US" sz="22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38</a:t>
            </a:fld>
            <a:endParaRPr lang="en-US"/>
          </a:p>
        </p:txBody>
      </p:sp>
    </p:spTree>
  </p:cSld>
  <p:clrMapOvr>
    <a:masterClrMapping/>
  </p:clrMapOvr>
</p:sld>
</file>

<file path=ppt/theme/theme1.xml><?xml version="1.0" encoding="utf-8"?>
<a:theme xmlns:a="http://schemas.openxmlformats.org/drawingml/2006/main" name="Mobil Programlama A">
  <a:themeElements>
    <a:clrScheme name="Mobil Programlama A">
      <a:dk1>
        <a:srgbClr val="111827"/>
      </a:dk1>
      <a:lt1>
        <a:srgbClr val="FFFFFF"/>
      </a:lt1>
      <a:dk2>
        <a:srgbClr val="374151"/>
      </a:dk2>
      <a:lt2>
        <a:srgbClr val="F8FAFC"/>
      </a:lt2>
      <a:accent1>
        <a:srgbClr val="2563EB"/>
      </a:accent1>
      <a:accent2>
        <a:srgbClr val="B45309"/>
      </a:accent2>
      <a:accent3>
        <a:srgbClr val="B91C1C"/>
      </a:accent3>
      <a:accent4>
        <a:srgbClr val="0EA5E9"/>
      </a:accent4>
      <a:accent5>
        <a:srgbClr val="7C3AED"/>
      </a:accent5>
      <a:accent6>
        <a:srgbClr val="059669"/>
      </a:accent6>
      <a:hlink>
        <a:srgbClr val="2563EB"/>
      </a:hlink>
      <a:folHlink>
        <a:srgbClr val="7C3AED"/>
      </a:folHlink>
    </a:clrScheme>
    <a:fontScheme name="Mobil Programlama 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7839</Words>
  <Application>Microsoft Macintosh PowerPoint</Application>
  <PresentationFormat>Geniş ekran</PresentationFormat>
  <Paragraphs>636</Paragraphs>
  <Slides>38</Slides>
  <Notes>38</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38</vt:i4>
      </vt:variant>
    </vt:vector>
  </HeadingPairs>
  <TitlesOfParts>
    <vt:vector size="42" baseType="lpstr">
      <vt:lpstr>Arial</vt:lpstr>
      <vt:lpstr>Calibri</vt:lpstr>
      <vt:lpstr>Courier New</vt:lpstr>
      <vt:lpstr>Mobil Programlama A</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BGP 201 Mobil Programlama — Hafta 3</dc:title>
  <dc:subject>PptxGenJS Presentation</dc:subject>
  <dc:creator>BGP 201</dc:creator>
  <cp:lastModifiedBy>Microsoft Office User</cp:lastModifiedBy>
  <cp:revision>3</cp:revision>
  <dcterms:created xsi:type="dcterms:W3CDTF">2026-10-24T18:37:43Z</dcterms:created>
  <dcterms:modified xsi:type="dcterms:W3CDTF">2026-10-25T16:24:35Z</dcterms:modified>
</cp:coreProperties>
</file>