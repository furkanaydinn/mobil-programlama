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29406FAE-4B45-54C3-5B0C-C2D58ACB8B0C}">
          <p14:sldIdLst>
            <p14:sldId id="256"/>
            <p14:sldId id="257"/>
            <p14:sldId id="258"/>
          </p14:sldIdLst>
        </p14:section>
        <p14:section name="Bölüm 1: Değişkenler ve Veri Tipleri" id="{8E994AC8-134D-DF99-D66A-A071FE03FF43}">
          <p14:sldIdLst>
            <p14:sldId id="259"/>
            <p14:sldId id="260"/>
            <p14:sldId id="261"/>
            <p14:sldId id="262"/>
            <p14:sldId id="263"/>
            <p14:sldId id="264"/>
            <p14:sldId id="265"/>
            <p14:sldId id="266"/>
            <p14:sldId id="267"/>
          </p14:sldIdLst>
        </p14:section>
        <p14:section name="Bölüm 2: Kontrol Yapıları" id="{1CEADDF8-7FAB-4FF2-DD09-2AE1FAD824E3}">
          <p14:sldIdLst>
            <p14:sldId id="268"/>
            <p14:sldId id="269"/>
            <p14:sldId id="270"/>
            <p14:sldId id="271"/>
            <p14:sldId id="272"/>
            <p14:sldId id="273"/>
            <p14:sldId id="274"/>
            <p14:sldId id="275"/>
          </p14:sldIdLst>
        </p14:section>
        <p14:section name="Bölüm 3: Fonksiyonlar" id="{73060B4C-1F77-E551-753F-5F3A519CEA51}">
          <p14:sldIdLst>
            <p14:sldId id="276"/>
            <p14:sldId id="277"/>
            <p14:sldId id="278"/>
            <p14:sldId id="279"/>
            <p14:sldId id="280"/>
            <p14:sldId id="281"/>
          </p14:sldIdLst>
        </p14:section>
        <p14:section name="Bölüm 4: Modern Sözdizimi" id="{A887B9D3-EFBB-E13F-3F67-AC26844C127A}">
          <p14:sldIdLst>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109" d="100"/>
          <a:sy n="109" d="100"/>
        </p:scale>
        <p:origin x="6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5561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hafta React Native yazmıyoruz; React Native kodunun neredeyse tamamının üzerine kurulduğu JavaScript çekirdeğini öğreniyoruz. Kontrol yapıları ve fonksiyonlar bu haftanın konusudur; gelecek hafta aynı yapıları TypeScript tipleriyle yeniden ele alacağız, ancak anlatımı tekrar etmeyeceğiz. Anlatım önerisi: "Geçen hafta mobil dünyanın haritasına baktık. Bu hafta kod yazmaya başlıyoruz, ama henüz mobil uygulama yazmıyoruz. React Native kodunun neredeyse tamamı JavaScript'tir. O yüzden bugün JavaScript'in çekirdeğini, yani değişkenleri, karar yapılarını, döngüleri ve fonksiyonları öğreneceğiz. Bugünkü her yapıyı ileride bir mobil ekranda tekrar göreceksiniz." Dersin başında öğrencilerin bilgisayarlarında Node.js'in kurulu olup olmadığını sorun; kurulu olmayanları ilk bölümde birlikte kuracağınızı söyleyin.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Hedefleri okuduktan sonra öğrencilere "React Native kodunda gördüğünüz ilk JavaScript yapısı neydi?" diye sorun. Çoğu kişi ok fonksiyonu ya da süslü parantezli import satırını hatırlayacaktır. Bu hafta o satırların anlamını çözeceğimizi söyleyin ve hedeflere hafta sonunda geri dönün. Her hedefin karşılığında hafta sonunda bir mini sınama yapacağız. Öğrencilere hedefleri defterlerine yazdırın ve gün sonunda kendi cümleleriyle işaretlemelerini isteyin; bu, öz değerlendirme alışkanlığı kazandırır. Cevapları kısa notlarla panoya yazdırın ve gün sonunda tekrar inceleyin. Anlatım önerisi: "Bugünün üç hedefi var. Birincisi, veriyi doğru değişkenle ve doğru tiple saklamak. İkincisi, programın akışını koşullarla, döngülerle ve dizi metotlarıyla yönetmek. Üçüncüsü, fonksiyonları ve modern sözdizimini okuyup yazmak: ok fonksiyonu, destructuring, spread ve modüller. Bu üç hedef, bir ham verinin akıştan geçip fonksiyonla sonuca dönüşmesini anlatıyor." Hedefleri okuttuktan sonra hafta sonunda her birine geri döneceğinizi söyleyin.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Süre dağılımı: değişken ve tipler 30 dk, kontrol yapıları 35 dk, fonksiyonlar 30 dk, modern sözdizimi 25 dk, uygulama 60 dk. Öğrencilerden bilgisayarlarında Node kurulu olup olmadığını önceden kontrol etmelerini isteyin; kurulu olmayanlar için tarayıcı konsolu yedeğini hazır tutun. Aralarda öğrencilerin kendi kodlarını yazarak denemesi için kısa süre ayırın; yalnızca izleyen öğrenci kodu öğrenmiş sayılmaz. Mola zamanını ve uygulama saatinin başlangıcını da bu aşamada duyurun. Anlatım önerisi: "Her bölümde aynı yöntemi izleyeceğiz: küçük bir kodu çalıştıracağız, çıktıyı önce tahmin edeceksiniz, sonra neden öyle çıktığını konuşacağız. Her bölümün sonunda iki dakikalık bir kontrol noktası var. Son bir saatte kendi bilgisayarınızda Node ile alıştırmaları çözeceksiniz." Yalnızca izleyen öğrencinin kodu öğrenmiş sayılmayacağını açıkça söyleyin. Mola zamanını duyurun ve uygulama saatinin süresini koruyacağınızı belirtin.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"İlk bölümde veriyi nasıl saklayacağımızı öğreniyoruz. Bir uygulama ne yapıyorsa yapsın, önce veriyi bir yerde tutmak zorundadır: kullanıcının adı, sepetteki ürün sayısı, giriş yapıp yapmadığı. Bu veriyi doğru yerde ve doğru tiple tutmak, ileride çıkacak hataların çoğunu önler." Geçişi kısa tutun ve hemen Node.js kurulumuna geçin.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JavaScript'in 1995'te tarayıcı için doğduğunu, bugün sunucuda, masaüstünde ve mobilde çalıştığını söyleyin. Java ile adının benzerliğinin tarihsel bir pazarlama tercihi olduğunu belirtin. ECMAScript sürüm numaralarını ezberletmeyin; yalnızca "modern JavaScript" ifadesinin ES2015 sonrasını kastettiğini aktarın. JavaScript'in tek başına bir dil olmadığını, çalıştığı ortamlara göre farklı yetenekler kazandığını ekleyin: tarayıcıda sayfa ögelerine, Node'da dosya sistemine, React Native'de ise yerel bileşenlere erişir. Bu bağlam, dilin neden her yerde bulunduğunu açıklar. Anlatım önerisi: "Neden JavaScript? Çünkü React Native uygulamalarının mantığı JavaScript ile yazılır. TypeScript, JavaScript'in üzerine tip ekleyen bir dildir. Yani JavaScript'i bilmeden TypeScript'i öğrenemezsiniz. Sağdaki çizim bu ilişkiyi gösteriyor: en dışta JavaScript, içinde TypeScript, onun içinde React Native uygulamanız." Standardın adının ECMAScript olduğunu ve her yıl yeni özellik eklendiğini söyleyin. Sürüm numaralarını ezberletmeyin.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PowerShell'de echo ve tırnak davranışı farklı olabilir; sorun yaşayan öğrenciler için dosyayı bir editörde oluşturmayı önerin. Bu haftadaki bütün örnekleri bu yöntemle çalıştıracağız. Bu komutları ders sonuna kadar öğrencilerin kendi bilgisayarında yazarak denemesini sağlayın. Birinci haftanın hazırlık slaydında Node.js'i önceden kurmak isteğe bağlı bırakıldığı için, kurulu olmayan öğrencilerle bu slaytta kurulumu birlikte yapın. Anlatım önerisi: "Kodu çalıştırmak için tarayıcıya ihtiyacımız yok. Node.js, JavaScript'i doğrudan bilgisayarınızda çalıştırır. İlk komut sürümü gösterir. İkinci komut bir dosya oluşturur. Üçüncü komut onu çalıştırır. Ekrana Merhaba yazıldıysa ortamınız hazır." Kurulu olmayan öğrencilerle bu aşamada Node.js LTS kurulumunu birlikte yapın ve node --version komutuyla doğrulayın; sürüm numarası için resmî siteye bakın. Bu haftanın bütün örneklerinin bu yöntemle çalışacağını söyleyin.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const'un nesne içeriğini dondurmadığını, yalnızca değişkenin başka bir değere bağlanmasını engellediğini bir sonraki slaytlarda göstereceğiz. Öğrencilere her zaman önce const yazıp gerekirse let'e dönme alışkanlığı kazandırın; bu alışkanlık React kodunda hata sayısını belirgin biçimde azaltır. Anlatım önerisi: "Bir değişken, içine veri koyduğunuz etiketli bir kutu gibidir. const ile tanımlarsanız etiketin gösterdiği kutuyu değiştiremezsiniz. let ile tanımlarsanız değiştirebilirsiniz. Varsayılan tercihiniz her zaman const olsun, değeri değişecekse let kullanın." Yorum satırını açarak hatayı gösterin ve hata mesajını birlikte okuyun. Bu alışkanlığın React kodunda hata sayısını azalttığını söyleyin.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Eski öğretici ve forum yanıtlarında var sık geçer; öğrencilerin bu kodu okuyabilmesi gerekir ama yazmaması beklenir. Blok kavramını süslü parantez içi alan olarak tanımlayın ve if bloğu içinde var ile tanımlanan değişkenin dışarıdan görülebildiği kısa bir örneği tahtada gösterin. Bildirimden önce kullanım satırı için "geçici ölü bölge" terimini yalnızca bir kez anın. Tablodaki satırlar arasından yalnızca kapsam ve yeniden atama satırlarını derinlemesine anlatın, diğerlerini okunabilirlik için bırakın. Öğrencilerden hangi anahtar sözcüğü seçeceklerini üç farklı senaryo için söylemelerini isteyin: sabit bir ad, bir sayaç ve bir dizi. Anlatım önerisi: "Eski kaynaklarda var anahtar sözcüğünü çok göreceksiniz. var fonksiyon kapsamlıdır, let ve const ise blok kapsamlıdır. Blok, süslü parantezlerin içi demektir. var ile tanımlanan değişken if bloğunun dışından bile görülebilir; bu da beklenmedik hatalara yol açar. Bu yüzden modern kodda var kullanmıyoruz." Tablonun yalnızca kapsam ve yeniden atama satırlarına odaklanın. Üç farklı senaryo için hangi anahtar sözcüğü seçeceklerini sorun.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bigint ve symbol tiplerini bu dersin dışında bırakıp yalnızca adlarını anın. Tabloyu verirken her tip için kullanıcı profili ya da sipariş gibi mobil uygulamadan bir örnek seçin: yaş number, ad string, giriş yapıldı mı boolean, profil fotoğrafı henüz yok undefined. Böylece tipler soyut kalmaz. Anlatım önerisi: "JavaScript'te altı temel tip öğreneceğiz. Sayı, metin, mantıksal değer, null, undefined ve nesne. Tablodaki örnekleri bir kullanıcı profili üzerinden düşünün: yaş sayıdır, ad metindir, giriş yapıldı mı mantıksal değerdir, henüz seçilmemiş profil fotoğrafı undefined'dır." null ile undefined farkını vurgulayın: biri bilinçli boşluk, diğeri değer verilmemiş demektir. Bu ayrımın gelecek hafta TypeScript'te güvenlik için önem kazanacağını söyleyin.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her satırın çıktısını öğrencilere tahmin ettirin, sonra çalıştırın. Her zaman === kullanma kuralını koyun; == yalnızca eski kodlarda karşınıza çıkacaktır. Bu slayt, TypeScript'in neden icat edildiğinin en güçlü motivasyonudur ve gelecek haftaki derse doğrudan zemin hazırlar. Anlatım önerisi: "Şimdi tuzak zamanı. Her satırın çıktısını önce tahmin edin, sonra çalıştıracağım. typeof null object döner; bu dilin bilinen bir tuhaflığıdır. Artı operatörü bir taraf metinse birleştirir, eksi operatörü ise sayıya çevirir. İki eşittir tipleri dönüştürerek karşılaştırır, üç eşittir dönüştürmez." Her zaman üç eşittir kullanma kuralını koyun. Form alanından gelen sayının metin olarak geldiği durumu gerçek bir hata örneği olarak anlatın.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Öğrencilerden önce hangi değerlerin false olacağını listelemelerini isteyin. Boş dizinin true olması çoğu kişiyi şaşırtır; bunun üzerinde durun. Dizinin dolu olup olmadığını kontrol etmek için uzunluğa bakılması gerektiğini ekleyin. Anlatım önerisi: "Bir koşulun içine sayı ya da metin koyduğunuzda JavaScript onu doğru ya da yanlış olarak yorumlar. Yanlış sayılan değerler yalnızca beş tanedir: sıfır, boş metin, null, undefined ve NaN. Geri kalan her şey doğru sayılır; boş dizi ve boş nesne dahil." Önce öğrencilerin listelerini alın, sonra kodu çalıştırın. Boş dizinin doğru sayılmasının çoğu kişiyi şaşırttığını belirtin ve dolu olup olmadığını uzunluğa bakarak kontrol etmeleri gerektiğini söyleyin.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Şablon dizgilerini ileride arayüz metinlerinde, hata mesajlarında ve API adreslerinde kullanacağımızı söyleyin. Ters tırnak tuşunun Türkçe klavyede zor bulunduğunu; Alt Gr ile virgül tuşunun kullanıldığını gösterin. Bu küçük ayrıntı ilk derslerde öğrencilerin takılma noktalarından biridir. Anlatım önerisi: "Metin ile değişkeni birleştirmenin okunaklı bir yolu var: şablon dizgileri. Ters tırnak kullanır, değişkeni dolar işareti ve süslü parantezle içine yerleştirirsiniz. Süslü parantezin içine bir ifade de yazabilirsiniz, örneğin bir koşul." Türkçe klavyede ters tırnak karakterinin zor bulunduğunu, Alt Gr ve virgül tuşuyla yazıldığını gösterin. İleride arayüz metinlerinde, hata mesajlarında ve adreslerde bu yapıyı sürekli kullanacağımızı ekleyin.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"İkinci bölümde programın akışını yönetiyoruz. Bir uygulama her zaman aynı yoldan gitmez: kullanıcı giriş yaptıysa bir ekran, yapmadıysa başka bir ekran gösterir. Listeyi baştan sona dolaşır, tek tek işler. Bunların hepsi koşul ve döngü yapılarıdır." Geçişi kısa tutun ve ilk örneğe geçin.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Koşulların sırasını değiştirerek hatayı gösterin: 25 koşulunu başa alırsanız 31 derece de "Sıcak" çıkar ve "Çok sıcak" hiç görünmez. Bu, sıranın anlamını somutlaştırır. Süslü parantezleri tek satırlık if'te de yazmayı alışkanlık hâline getirmelerini isteyin. Anlatım önerisi: "if yapısı, koşula göre farklı bir yol seçmemizi sağlar. Koşullar yukarıdan aşağıya sırayla kontrol edilir ve doğru olan ilk blok çalışır. Bu yüzden daha özel koşulu önce, genel koşulu sonra yazmalıyız." Koşulların sırasını değiştirerek hatayı canlı gösterin. Tek satırlık if'te bile süslü parantez kullanmayı alışkanlık haline getirmelerini isteyin.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Sunucudan gelen kullanıcı nesnesinde adres alanının bulunmadığı bir durumu anlatın; adres.sehir yazılırsa uygulama çöker. 0 || 10 ile 0 ?? 10 farkını ürün adedi örneğiyle açıklayın: kullanıcı adedi 0 seçtiyse varsayılan 10'a dönmemelidir. TypeScript'te bu operatörlerin tip güvenliğiyle ilişkisini gelecek hafta işleyeceğiz. Anlatım önerisi: "Sunucudan gelen veri her zaman eksiksiz değildir. Bir kullanıcının adresi olmayabilir. O zaman adres noktası şehir yazarsanız uygulama çöker. Soru işareti nokta, ortada boşluk varsa hata vermek yerine undefined döndürür. İki soru işareti ise yalnızca null veya undefined olduğunda yedek değeri kullanır." Sıfır ile 10 örneğini ürün adedi ile açıklayın: kullanıcı sıfır adet seçtiyse varsayılan ona dönmemelidir.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unutulduğunda ne olacağını önce öğrencilere sorun, sonra break'i silerek çalıştırın. Mobil uygulamalarda switch'i özellikle ekran adlarına veya sunucudan gelen durum kodlarına göre davranış seçerken kullanacağız. Üçlü operatörü (koşul ? a : b) ayrıca anlatmıyoruz; şablon dizgisi örneğinde gördüğünüz biçimi okuyabilmeniz yeterli. Anlatım önerisi: "Tek bir değerin birçok olası sonucu olduğunda switch kullanırız. Değer her case ile karşılaştırılır. break unutulursa akış bir sonraki case'e düşer. Hiçbiri eşleşmezse default çalışır." break'i silip çalıştırarak sonucu gösterin. Mobil uygulamalarda ekran adlarına veya sunucudan gelen durum kodlarına göre davranış seçerken bu yapıyı kullanacağımızı söyleyin.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satırını silerek sonsuz döngüyü göstermeyin; terminalde Ctrl+C ile durdurma yöntemini öğretin. Döngü sayacı için i adının gelenek olduğunu, ancak anlamlı adların tercih edildiğini söyleyin. Mobil uygulamada listeyi çizmek için ileride döngü yerine liste bileşenlerini kullanacağımızı belirterek 11. haftaya küçük bir köprü kurun. Anlatım önerisi: "for döngüsünde başlangıç, koşul ve artırma tek satırdadır; kaç kez tekrar edeceği bellidir. while ise yalnızca koşula bakar. Koşulu yanlış yapacak bir şey yoksa sonsuza kadar döner." Sonsuz döngünün uygulamayı dondurduğunu, terminalde Ctrl+C ile durdurulacağını söyleyin. Mobilde listeleri döngüyle değil liste bileşenleriyle çizeceğimizi 11. hafta için ön bilgi olarak belirtin.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Hataya düşmek için for...in döngüsünü diziye uygulayıp çıktıyı gösterin: 0, 1, 2 gelir. Nesne anahtarlarını dolaşmanın daha modern yolu Object.keys ve Object.entries'tir; ileride gerek olduğunda tanıtacağız, bugün kapsam dışıdır. Öğrencilerden küçük bir telefon listesi yazıp ekrana yazdırmalarını isteyin. Anlatım önerisi: "Bir dizinin elemanlarını dolaşmak için for of kullanıyoruz. Bir nesnenin anahtarlarını dolaşmak için for in kullanıyoruz. İkisini karıştırmayın: diziye for in uygularsanız eleman yerine sıra numaralarını alırsınız." Hatalı kullanımı canlı gösterin. Öğrencilerden küçük bir telefon listesi yazıp ekrana yazdırmalarını isteyin.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 "const ise nasıl değişti?" diye soracaktır; bellek adresi benzetmesi yapın: const, kutunun etiketini sabitler, kutunun içini değil. Bu kavram, değişmezlik konusunu anlamak için kritik olduğundan sınıfta mutlaka beklenmeli ve soru sorulmasa bile örnekle gösterilmelidir. Anlatım önerisi: "Dizi sıralı bir listedir, nesne ise anahtar ve değer çiftleridir. const ile tanımlanmış bir dizinin içine eleman ekleyebilirsiniz, nesnenin bir alanını değiştirebilirsiniz. const yalnızca değişkenin başka bir dizi ya da nesneye bağlanmasını engeller." Bellek adresi benzetmesi yapın: const kutunun etiketini sabitler, içini değil. Bu bilginin 6. haftada state'i neden doğrudan değiştirmememiz gerektiğini açıklayacağını söyleyin.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Orijinal dizinin değişmediğini prices yazdırarak kanıtlayın; bu özellik React'te state güncellemeleri için kritik olacaktır. map ve filter, arayüzde listeleri üretirken en çok kullanacağımız iki araçtır. reduce çoğu öğrenci için zordur; toplam sepet tutarı örneğini ayrıca tahtada adım adım gösterin ve alıştırma olarak bir sepet toplamı hesaplatın. Anlatım önerisi: "Dört önemli dizi metodu var. map her elemanı dönüştürüp yeni dizi üretir. filter şartı sağlayanları seçer. find ilk eşleşeni verir. reduce tüm elemanları tek bir değere indirger. Hiçbiri orijinal diziyi değiştirmez." prices dizisini yazdırıp değişmediğini kanıtlayın. reduce için sepet toplamı örneğini tahtada adım adım yazın. map ve filter'in ileride liste çizerken en çok kullanacağımız iki araç olduğunu belirtin.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"Üçüncü bölümde fonksiyonlara geçiyoruz. Fonksiyon, bir işi paketleyip tekrar tekrar kullanmamızı sağlar. React Native'de bir ekranın kendisi bile bir fonksiyondur. Bu yüzden bu bölüm, ilerideki derslerin temelidir." Geçişi kısa tutun.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Fonksiyonun bir tarif gibi olduğunu, çağrıldığında çalıştığını vurgulayın. Parametre ile argüman ayrımını kısaca yapın: tanımdaki a ve b parametre, çağrıdaki 2 ve 3 argümandır. Return yazılmazsa fonksiyonun undefined döndürdüğünü gösterin. Fonksiyonların tip boyutu, yani parametre ve dönüş tipi, gelecek haftanın konusudur. Anlatım önerisi: "Fonksiyon bir tarif gibidir. Tarifi yazmak onu pişirmek değildir; çağırdığınızda çalışır. Tanımdaki a ve b parametredir. Çağırırken verdiğimiz 2 ve 3 argümandır. return yazmazsa fonksiyon undefined döndürür." Fonksiyon bildirimi ile ifadesinin iki farklı yazım olduğunu gösterin. Parametre ve dönüş tiplerinin gelecek haftanın konusu olduğunu söyleyin.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Native'de bileşenlerin ve olay işleyicilerinin neredeyse tamamı ok fonksiyonuyla yazılır; bu slaytı iyi pekiştirin. Nesne döndürmek isteyen ok fonksiyonlarında parantez gerektiğini bu aşamada anlatmayın; ihtiyaç doğduğunda göstereceğiz. Öğrencilere bir önceki slayttaki add fonksiyonunu ok fonksiyonuna çevirtin. Anlatım önerisi: "Ok fonksiyonu fonksiyonun kısa yazılışıdır. Gövde tek bir ifadeyse süslü parantez ve return yazmazsınız. Birden fazla satır varsa süslü parantez ve açık return gerekir. React Native'de bileşenlerin ve olay işleyicilerinin neredeyse tamamı bu biçimde yazılır." Süslü parantez açıp return unutmanın en sık yapılan hata olduğunu vurgulayın. Önceki slayttaki add fonksiyonunu ok fonksiyonuna çevirtin.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ile sonraki bölümde göreceğimiz spread'i karıştırmamaları için aynı üç noktanın yer değiştirdiğini söyleyin: tanımda toplar, kullanımda dağıtır. Varsayılan parametre değerinin null için çalışmadığını, yalnızca undefined için çalıştığını bir önceki ?? konusuyla bağlayarak belirtin. Anlatım önerisi: "Bir fonksiyona argüman vermeyi unutursanız parametre undefined olur. Varsayılan değer bu durumu karşılar. Rest parametresi ise üç nokta ile kaç argüman gelirse gelsin hepsini bir dizide toplar." Üç noktanın tanımda toplayıp kullanımda dağıttığını, bunun bir sonraki bölümde göreceğimiz spread ile karıştırılmaması gerektiğini söyleyin.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Düğmeye basma örneğiyle bağlantı kurun: düğme bileşeni basıldığında ne yapılacağını bilmez, bunu sizin verdiğiniz fonksiyon belirler. Bu fikir arayüz programlamanın temelidir. Yalnızca fonksiyonun adını yazmak ile çağırmak arasındaki farkı, action ile action(i) üzerinden açıkça ayırın. Anlatım önerisi: "JavaScript'te fonksiyonlar da değerdir. Bir fonksiyonu başka bir fonksiyona argüman olarak verebilirsiniz. repeat fonksiyonu ne yapılacağını bilmez; yapılacak işi dışarıdan alır. Bu verilen fonksiyona callback denir." Düğmeye basma örneğini kurun: düğme basıldığında ne yapacağını bilmez, sizin verdiğiniz fonksiyon belirler. Fonksiyonun adını yazmak ile çağırmak arasındaki farkı açıkça gösterin.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Kavramı kısa tutun; amacımız mühendislik tanımı değil, iç fonksiyonun dış değişkeni hatırladığı sezgisini kazandırmaktır. 6. haftada setCount ile eski değer sorununa gelince bu slayta döneceğiz. İsteyen öğrenciler için createCounter'a ikinci bir sayaç oluşturup bağımsız çalıştıklarını gösteren ek bir deneme önerin. Anlatım önerisi: "İç içe yazılmış bir fonksiyon, dışındaki değişkeni hatırlamaya devam eder. createCounter bittikten sonra bile count değişkeni bellekte kalır. Bu davranışa closure denir." Kavramı kısa tutun, tanımdan çok sezgiye odaklanın. Altıncı haftada state ile eski değer sorununu görünce bu slayta döneceğinizi söyleyin.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Anlatım önerisi: "Son bölümde modern JavaScript'in bize kazandırdığı üç kısayolu görüyoruz: destructuring, spread ve modüller. Bunlar React Native dosyalarını okurken sürekli karşınıza çıkacak. Amacımız bunları ezberlemek değil, gördüğünüzde tanımaktır." Geçişi kısa tutun.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Sözdizimi tersine okununca kafa karıştırır: eşitliğin sol tarafı şekli tanımlar. Öğrencilere const [count, setCount] = useState(0) satırını önceden gösterin; bu satırın diziyi destructuring ile açtığını söyleyin. Böylece 4. ve 6. haftalarda karşılaşacakları satır şimdiden tanıdık hâle gelir. Anlatım önerisi: "Destructuring, bir nesne ya da diziden değerleri tek satırda ayrı değişkenlere almaktır. Nesnede ad eşleşmesi önemlidir, dizide sıra önemlidir. Eşitliğin sol tarafı, değerin şeklini tanımlar." Önce const count, setCount eşittir useState sıfır satırını gösterin ve bunun bir dizi açma işlemi olduğunu söyleyin. İki nokta ile yeni ad verildiğini, eşittir ile varsayılan değer atandığını örnekten gösterin.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değişmezlik ilkesini tanıtmıyoruz; yalnızca ön izleme yapıyoruz. Bu yüzden "neden böyle yapıyoruz?" sorusuna "6. haftada göreceksiniz" demek yeterlidir. Spread'in yüzeysel kopya yaptığını, iç içe nesnelerde sınırlı kaldığını yalnızca ilgili öğrenci sorarsa anlatın. Aksi hâlde konuyu karmaşıklaştırmayın. Anlatım önerisi: "Üç nokta işleci diziyi ya da nesneyi açar. Böylece mevcut veriyi bozmadan yeni bir kopya üretebilirsiniz. Nesnede sonradan yazılan anahtar öncekinin üzerine yazar; yalnızca yaş değişir, diğer alanlar korunur." Orijinal verinin değişmediğini çıktıda gösterin. Neden böyle yaptığımızın cevabının 6. haftada olduğunu söyleyin; burada yalnızca sözdizimini öğreniyoruz.</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React Native dosyasının başında import satırları göreceğiz; bu slayt o satırların anlamını çözer. Node'da çalıştırma ayarı gerektiği için öğrencilerin canlı denemesini zorunlu tutmayın, kod üzerinde okutun. Kütüphane import'larının süslü parantezli ve parantezsiz biçimlerini bir sonraki hafta TypeScript dosyalarında yeniden göreceğiz. Anlatım önerisi: "Büyük kodu tek dosyada tutmayız. Parçalara böler, birbirine bağlarız. export ile dışarı açarız, import ile başka dosyada alırız. Adlandırılmış export'lar süslü parantezle, default export ise parantezsiz alınır." Her React Native dosyasının başında import satırları göreceklerini söyleyin. Node'da bu sözdizimi için ek ayar gerektiğinden kodu çalıştırmak yerine okuttuğunuzu belirtin.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Çıktı sırasını önce tahmin ettirin; çoğu öğrenci 1, 2, 3 diyecektir. Bu sürpriz, bekleme yapan işlemlerin neden özel yönetim gerektirdiğini hissettirir. Bu konuyu derinleştirmeyin; yalnızca sezgi kazandırın. Mobil uygulamanın ağ yanıtını beklerken ekranı dondurmamasının bu mekanizmaya dayandığını söyleyin. Anlatım önerisi: "Çıktının sırasını önce tahmin edin. Çoğunuz bir, iki, üç diyecek. Oysa sıra bir, üç, iki olacak. setTimeout bir işi sıraya koyar ve beklemeden devam eder. Ağ isteği, kamera ve dosya okuma gibi işlemler de aynı şekilde çalışır." Bu sürprizin, bekleyen işlemlerin neden özel yönetim gerektirdiğini hissettirdiğini söyleyin. Promise ve async await konusunun 10. hafta olduğunu belirtin.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Öğrencilerin ilk tepkisi hata mesajını okumadan kodu değiştirmek olur; mesajı sesli okuma alışkanlığı kazandırın. Her hata türü için kasıtlı bir bozuk örnek hazırlayıp öğrencilerin tanımasını sağlayın. Bu tablo 4. haftada kurulum hataları tablosuyla birlikte dönem boyunca başvuru kaynağı olacaktır. Çıktıyı ekran görüntüsü yerine metin olarak paylaşmayı da öğretin. Anlatım önerisi: "Hata mesajını görünce paniğe kapılmayın, okuyun. Önce satır numarasına, sonra hata türüne bakın. ReferenceError tanımsız bir ad olduğunu, TypeError yanlış tipte bir işlem olduğunu, SyntaxError yazım hatası olduğunu söyler." Her hata türü için bilerek bozuk bir örnek hazırlayıp öğrencilerin tanımasını isteyin. Hata mesajlarını ekran görüntüsü yerine metin olarak paylaşmayı öğretin.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uygulama, haftanın bütün yapılarını tek bir küçük programda birleştirir ve gelecek haftalarda sepet uygulamasının veri katmanı olarak kullanılabilir. Değerlendirme ölçütleri: const/let doğru seçimi, ok fonksiyonu kullanımı, orijinal dizinin değişmemesi ve okunabilir çıktı. Hızlı bitirenlere kuponlu indirim ekleme görevi verin. Tam föy ayrı bir Uygulama Rehberi olarak hazırlanabilir. Zaman kalırsa sepete indirim kuponu yüzdesi ekleme ve en pahalı ürünü bulma görevlerini isteğe bağlı olarak verin. Çözümler kod incelemesi ile sınıfta paylaşılabilir; böylece farklı yaklaşımlar karşılaştırılır. Anlatım önerisi: "Şimdi bir saatlik uygulama zamanı. Küçük bir sepet hesaplayıcı yazacaksınız. Önce üç ürünlük bir dizi tanımlayın. map ile her satırın toplamını bulun, reduce ile genel toplamı hesaplayın. KDV oranını varsayılan parametreli bir fonksiyon yapın. Sonunda destructuring ve şablon dizgisiyle çıktıyı yazdırın." Sağdaki örnek çıktıyı bir hedef olarak gösterin, ama veri değerlerinin öğrenciye ait olduğunu söyleyin. Hızlı bitirenlere kuponlu indirim görevini verin.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Soruları ara sınavda çıkabilecek türden seçtim. İkinci ve dördüncü soru en çok yanlış yapılan konulardır; yanıtlarken ilgili slayda dönün. Son soruda öğrencilerin map'in yeni dizi ürettiğini ve orijinalin [1, 2, 3] kaldığını söylemesi beklenir. Tahmini yanıtları önce yazdırın, sonra kodu çalıştırarak doğrulayın. Anlatım önerisi: "Dersi kontrol soruları ile kapatıyoruz. Birinci soru const ile tanımlanmış dizinin içine eleman eklenip eklenemeyeceği. İkinci soru artı ve eksi operatörlerinin farkı. Üçüncü soru map ile filter'in farkı. Dördüncü soru fonksiyonun adını yazmakla çağırmak arasındaki fark." Önce yazılı yanıt alın, sonra tartışın. Son soruda çıktının a için bir iki üç, b için iki dört altı olduğunu doğrulayın.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için öğrencilerden hafta boyunca en çok hata yaptıkları yapıyı söylemelerini isteyin; hatalar ders sonunda en iyi geri bildirimi verir. Gelecek hafta için TypeScript kurulum adımını hatırlatın ve alıştırma dosyalarının saklanmasını isteyin; çünkü aynı kodları tiplerle yeniden yazacağız. Boş kalan sürede kurulum sorunlarına yardım edin. Haftanın en önemli üç çıktısı olarak const tercihi, dizi metotları ve ok fonksiyonu vurgulanmalıdır; çünkü bu üçü her React Native dosyasında karşımıza çıkar. Gelecek hafta yeni bir yapı değil, aynı yapıların güvenli hâlini öğreneceğimizi söyleyin. Anlatım önerisi: "Bugün üç ana şey gördük. Değişkenleri doğru tanımlamayı, akışı yönetmeyi ve fonksiyonlarla çalışmayı. Bu yapıların hepsini React Native dosyalarında tekrar göreceksiniz. Gelecek hafta aynı yapılara TypeScript tiplerini ekleyeceğiz." Çıkış kartı olarak öğrencilerden bugün en çok zorlandıkları yapıyı yazmalarını isteyin. Alıştırma dosyalarını saklamalarını hatırlatın; gelecek hafta aynı kodları tiplerle yeniden yazacağız.</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rgbClr val="F8FAF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ERIK">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6400800"/>
            <a:ext cx="8229600" cy="274320"/>
          </a:xfrm>
          <a:prstGeom prst="rect">
            <a:avLst/>
          </a:prstGeom>
          <a:noFill/>
          <a:ln/>
        </p:spPr>
        <p:txBody>
          <a:bodyPr wrap="square" lIns="0" tIns="0" rIns="0" bIns="0" rtlCol="0" anchor="ctr"/>
          <a:lstStyle/>
          <a:p>
            <a:pPr marL="0" indent="0">
              <a:buNone/>
            </a:pPr>
            <a:r>
              <a:rPr lang="en-US" sz="1100" dirty="0">
                <a:solidFill>
                  <a:srgbClr val="6B7280"/>
                </a:solidFill>
                <a:latin typeface="Arial" pitchFamily="34" charset="0"/>
                <a:ea typeface="Arial" pitchFamily="34" charset="-122"/>
                <a:cs typeface="Arial" pitchFamily="34" charset="-120"/>
              </a:rPr>
              <a:t>BGP 201 Mobil Programlama · Hafta 2 · Modern JavaScript</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554480"/>
            <a:ext cx="7315200" cy="365760"/>
          </a:xfrm>
          <a:prstGeom prst="rect">
            <a:avLst/>
          </a:prstGeom>
          <a:noFill/>
          <a:ln/>
        </p:spPr>
        <p:txBody>
          <a:bodyPr wrap="square" lIns="0" tIns="0" rIns="0" bIns="0" rtlCol="0" anchor="ctr"/>
          <a:lstStyle/>
          <a:p>
            <a:pPr marL="0" indent="0" algn="l">
              <a:buNone/>
            </a:pPr>
            <a:r>
              <a:rPr lang="en-US" sz="1600" b="1" kern="0" spc="200" dirty="0">
                <a:solidFill>
                  <a:srgbClr val="2563EB"/>
                </a:solidFill>
                <a:latin typeface="Arial" pitchFamily="34" charset="0"/>
                <a:ea typeface="Arial" pitchFamily="34" charset="-122"/>
                <a:cs typeface="Arial" pitchFamily="34" charset="-120"/>
              </a:rPr>
              <a:t>BGP 201 Mobil Programlama · Hafta 2</a:t>
            </a:r>
            <a:endParaRPr lang="en-US" sz="1600" dirty="0"/>
          </a:p>
        </p:txBody>
      </p:sp>
      <p:sp>
        <p:nvSpPr>
          <p:cNvPr id="3" name="Text 1"/>
          <p:cNvSpPr txBox="1"/>
          <p:nvPr/>
        </p:nvSpPr>
        <p:spPr>
          <a:xfrm>
            <a:off x="822960" y="2011680"/>
            <a:ext cx="10332720" cy="18288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Modern JavaScript: Değişkenler, Kontrol Yapıları, Fonksiyonlar</a:t>
            </a:r>
            <a:endParaRPr lang="en-US" sz="4400" dirty="0"/>
          </a:p>
        </p:txBody>
      </p:sp>
      <p:sp>
        <p:nvSpPr>
          <p:cNvPr id="4" name="Text 2"/>
          <p:cNvSpPr txBox="1"/>
          <p:nvPr/>
        </p:nvSpPr>
        <p:spPr>
          <a:xfrm>
            <a:off x="822960" y="4023360"/>
            <a:ext cx="9601200" cy="64008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React Native kodunun dili: JavaScript çekirdeği</a:t>
            </a:r>
            <a:endParaRPr lang="en-US" sz="2200" dirty="0"/>
          </a:p>
        </p:txBody>
      </p:sp>
      <p:pic>
        <p:nvPicPr>
          <p:cNvPr id="5" name="Image 0" descr="/tmp/claude-0/-home-claude/bb2dbc6e-f574-5e99-8510-889b704da121/scratchpad/decks/logos/react.png"/>
          <p:cNvPicPr>
            <a:picLocks noChangeAspect="1"/>
          </p:cNvPicPr>
          <p:nvPr/>
        </p:nvPicPr>
        <p:blipFill>
          <a:blip r:embed="rId3"/>
          <a:stretch>
            <a:fillRect/>
          </a:stretch>
        </p:blipFill>
        <p:spPr>
          <a:xfrm>
            <a:off x="822960" y="5394960"/>
            <a:ext cx="548640" cy="548640"/>
          </a:xfrm>
          <a:prstGeom prst="rect">
            <a:avLst/>
          </a:prstGeom>
        </p:spPr>
      </p:pic>
      <p:pic>
        <p:nvPicPr>
          <p:cNvPr id="6" name="Image 1" descr="/tmp/claude-0/-home-claude/bb2dbc6e-f574-5e99-8510-889b704da121/scratchpad/decks/logos/android.png"/>
          <p:cNvPicPr>
            <a:picLocks noChangeAspect="1"/>
          </p:cNvPicPr>
          <p:nvPr/>
        </p:nvPicPr>
        <p:blipFill>
          <a:blip r:embed="rId4"/>
          <a:stretch>
            <a:fillRect/>
          </a:stretch>
        </p:blipFill>
        <p:spPr>
          <a:xfrm>
            <a:off x="1828800" y="5394960"/>
            <a:ext cx="548640" cy="548640"/>
          </a:xfrm>
          <a:prstGeom prst="rect">
            <a:avLst/>
          </a:prstGeom>
        </p:spPr>
      </p:pic>
      <p:pic>
        <p:nvPicPr>
          <p:cNvPr id="7" name="Image 2" descr="/tmp/claude-0/-home-claude/bb2dbc6e-f574-5e99-8510-889b704da121/scratchpad/decks/logos/ios.png"/>
          <p:cNvPicPr>
            <a:picLocks noChangeAspect="1"/>
          </p:cNvPicPr>
          <p:nvPr/>
        </p:nvPicPr>
        <p:blipFill>
          <a:blip r:embed="rId5"/>
          <a:stretch>
            <a:fillRect/>
          </a:stretch>
        </p:blipFill>
        <p:spPr>
          <a:xfrm>
            <a:off x="2834640" y="5394960"/>
            <a:ext cx="548640" cy="548640"/>
          </a:xfrm>
          <a:prstGeom prst="rect">
            <a:avLst/>
          </a:prstGeom>
        </p:spPr>
      </p:pic>
      <p:pic>
        <p:nvPicPr>
          <p:cNvPr id="8" name="Image 3" descr="/tmp/claude-0/-home-claude/bb2dbc6e-f574-5e99-8510-889b704da121/scratchpad/decks/logos/play.png"/>
          <p:cNvPicPr>
            <a:picLocks noChangeAspect="1"/>
          </p:cNvPicPr>
          <p:nvPr/>
        </p:nvPicPr>
        <p:blipFill>
          <a:blip r:embed="rId6"/>
          <a:stretch>
            <a:fillRect/>
          </a:stretch>
        </p:blipFill>
        <p:spPr>
          <a:xfrm>
            <a:off x="3840480" y="5394960"/>
            <a:ext cx="548640" cy="548640"/>
          </a:xfrm>
          <a:prstGeom prst="rect">
            <a:avLst/>
          </a:prstGeom>
        </p:spPr>
      </p:pic>
      <p:pic>
        <p:nvPicPr>
          <p:cNvPr id="9" name="Image 4" descr="/tmp/claude-0/-home-claude/bb2dbc6e-f574-5e99-8510-889b704da121/scratchpad/decks/logos/appstore.png"/>
          <p:cNvPicPr>
            <a:picLocks noChangeAspect="1"/>
          </p:cNvPicPr>
          <p:nvPr/>
        </p:nvPicPr>
        <p:blipFill>
          <a:blip r:embed="rId7"/>
          <a:stretch>
            <a:fillRect/>
          </a:stretch>
        </p:blipFill>
        <p:spPr>
          <a:xfrm>
            <a:off x="4846320" y="5394960"/>
            <a:ext cx="548640" cy="548640"/>
          </a:xfrm>
          <a:prstGeom prst="rect">
            <a:avLst/>
          </a:prstGeom>
        </p:spPr>
      </p:pic>
      <p:pic>
        <p:nvPicPr>
          <p:cNvPr id="10" name="Image 5" descr="/tmp/claude-0/-home-claude/bb2dbc6e-f574-5e99-8510-889b704da121/scratchpad/decks/logos/kotlin.png"/>
          <p:cNvPicPr>
            <a:picLocks noChangeAspect="1"/>
          </p:cNvPicPr>
          <p:nvPr/>
        </p:nvPicPr>
        <p:blipFill>
          <a:blip r:embed="rId8"/>
          <a:stretch>
            <a:fillRect/>
          </a:stretch>
        </p:blipFill>
        <p:spPr>
          <a:xfrm>
            <a:off x="5852160" y="5394960"/>
            <a:ext cx="548640" cy="548640"/>
          </a:xfrm>
          <a:prstGeom prst="rect">
            <a:avLst/>
          </a:prstGeom>
        </p:spPr>
      </p:pic>
      <p:pic>
        <p:nvPicPr>
          <p:cNvPr id="11" name="Image 6" descr="/tmp/claude-0/-home-claude/bb2dbc6e-f574-5e99-8510-889b704da121/scratchpad/decks/logos/flutter.png"/>
          <p:cNvPicPr>
            <a:picLocks noChangeAspect="1"/>
          </p:cNvPicPr>
          <p:nvPr/>
        </p:nvPicPr>
        <p:blipFill>
          <a:blip r:embed="rId9"/>
          <a:stretch>
            <a:fillRect/>
          </a:stretch>
        </p:blipFill>
        <p:spPr>
          <a:xfrm>
            <a:off x="6858000" y="5394960"/>
            <a:ext cx="548640" cy="548640"/>
          </a:xfrm>
          <a:prstGeom prst="rect">
            <a:avLst/>
          </a:prstGeom>
        </p:spPr>
      </p:pic>
      <p:pic>
        <p:nvPicPr>
          <p:cNvPr id="12" name="Image 7" descr="/tmp/claude-0/-home-claude/bb2dbc6e-f574-5e99-8510-889b704da121/scratchpad/decks/logos/swift.png"/>
          <p:cNvPicPr>
            <a:picLocks noChangeAspect="1"/>
          </p:cNvPicPr>
          <p:nvPr/>
        </p:nvPicPr>
        <p:blipFill>
          <a:blip r:embed="rId10"/>
          <a:stretch>
            <a:fillRect/>
          </a:stretch>
        </p:blipFill>
        <p:spPr>
          <a:xfrm>
            <a:off x="7863840" y="539496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Bu Hafta Neyi Öğreneceğiz?</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828800"/>
            <a:ext cx="3474720" cy="3474720"/>
          </a:xfrm>
          <a:prstGeom prst="roundRect">
            <a:avLst>
              <a:gd name="adj" fmla="val 2632"/>
            </a:avLst>
          </a:prstGeom>
          <a:solidFill>
            <a:srgbClr val="EFF6FF"/>
          </a:solidFill>
          <a:ln w="9525">
            <a:solidFill>
              <a:srgbClr val="EFF6FF"/>
            </a:solidFill>
            <a:prstDash val="solid"/>
          </a:ln>
        </p:spPr>
      </p:sp>
      <p:sp>
        <p:nvSpPr>
          <p:cNvPr id="5" name="Text 3"/>
          <p:cNvSpPr txBox="1"/>
          <p:nvPr/>
        </p:nvSpPr>
        <p:spPr>
          <a:xfrm>
            <a:off x="100584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1</a:t>
            </a:r>
            <a:endParaRPr lang="en-US" sz="4800" dirty="0"/>
          </a:p>
        </p:txBody>
      </p:sp>
      <p:sp>
        <p:nvSpPr>
          <p:cNvPr id="6" name="Text 4"/>
          <p:cNvSpPr txBox="1"/>
          <p:nvPr/>
        </p:nvSpPr>
        <p:spPr>
          <a:xfrm>
            <a:off x="100584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let, const ve temel veri tiplerini doğru seçerek değişken tanımlarsınız.</a:t>
            </a:r>
            <a:endParaRPr lang="en-US" sz="1900" dirty="0"/>
          </a:p>
        </p:txBody>
      </p:sp>
      <p:sp>
        <p:nvSpPr>
          <p:cNvPr id="7" name="Shape 5"/>
          <p:cNvSpPr/>
          <p:nvPr/>
        </p:nvSpPr>
        <p:spPr>
          <a:xfrm>
            <a:off x="4480560" y="1828800"/>
            <a:ext cx="3474720" cy="3474720"/>
          </a:xfrm>
          <a:prstGeom prst="roundRect">
            <a:avLst>
              <a:gd name="adj" fmla="val 2632"/>
            </a:avLst>
          </a:prstGeom>
          <a:solidFill>
            <a:srgbClr val="EFF6FF"/>
          </a:solidFill>
          <a:ln w="9525">
            <a:solidFill>
              <a:srgbClr val="EFF6FF"/>
            </a:solidFill>
            <a:prstDash val="solid"/>
          </a:ln>
        </p:spPr>
      </p:sp>
      <p:sp>
        <p:nvSpPr>
          <p:cNvPr id="8" name="Text 6"/>
          <p:cNvSpPr txBox="1"/>
          <p:nvPr/>
        </p:nvSpPr>
        <p:spPr>
          <a:xfrm>
            <a:off x="475488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2</a:t>
            </a:r>
            <a:endParaRPr lang="en-US" sz="4800" dirty="0"/>
          </a:p>
        </p:txBody>
      </p:sp>
      <p:sp>
        <p:nvSpPr>
          <p:cNvPr id="9" name="Text 7"/>
          <p:cNvSpPr txBox="1"/>
          <p:nvPr/>
        </p:nvSpPr>
        <p:spPr>
          <a:xfrm>
            <a:off x="475488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if, switch, döngüler ve dizi metotlarıyla programın akışını denetlersiniz.</a:t>
            </a:r>
            <a:endParaRPr lang="en-US" sz="1900" dirty="0"/>
          </a:p>
        </p:txBody>
      </p:sp>
      <p:sp>
        <p:nvSpPr>
          <p:cNvPr id="10" name="Shape 8"/>
          <p:cNvSpPr/>
          <p:nvPr/>
        </p:nvSpPr>
        <p:spPr>
          <a:xfrm>
            <a:off x="8229600" y="1828800"/>
            <a:ext cx="3474720" cy="3474720"/>
          </a:xfrm>
          <a:prstGeom prst="roundRect">
            <a:avLst>
              <a:gd name="adj" fmla="val 2632"/>
            </a:avLst>
          </a:prstGeom>
          <a:solidFill>
            <a:srgbClr val="EFF6FF"/>
          </a:solidFill>
          <a:ln w="9525">
            <a:solidFill>
              <a:srgbClr val="EFF6FF"/>
            </a:solidFill>
            <a:prstDash val="solid"/>
          </a:ln>
        </p:spPr>
      </p:sp>
      <p:sp>
        <p:nvSpPr>
          <p:cNvPr id="11" name="Text 9"/>
          <p:cNvSpPr txBox="1"/>
          <p:nvPr/>
        </p:nvSpPr>
        <p:spPr>
          <a:xfrm>
            <a:off x="8503920" y="2057400"/>
            <a:ext cx="914400" cy="822960"/>
          </a:xfrm>
          <a:prstGeom prst="rect">
            <a:avLst/>
          </a:prstGeom>
          <a:noFill/>
          <a:ln/>
        </p:spPr>
        <p:txBody>
          <a:bodyPr wrap="square" lIns="0" tIns="0" rIns="0" bIns="0" rtlCol="0" anchor="ctr"/>
          <a:lstStyle/>
          <a:p>
            <a:pPr marL="0" indent="0" algn="l">
              <a:buNone/>
            </a:pPr>
            <a:r>
              <a:rPr lang="en-US" sz="4800" b="1" dirty="0">
                <a:solidFill>
                  <a:srgbClr val="2563EB"/>
                </a:solidFill>
                <a:latin typeface="Arial" pitchFamily="34" charset="0"/>
                <a:ea typeface="Arial" pitchFamily="34" charset="-122"/>
                <a:cs typeface="Arial" pitchFamily="34" charset="-120"/>
              </a:rPr>
              <a:t>3</a:t>
            </a:r>
            <a:endParaRPr lang="en-US" sz="4800" dirty="0"/>
          </a:p>
        </p:txBody>
      </p:sp>
      <p:sp>
        <p:nvSpPr>
          <p:cNvPr id="12" name="Text 10"/>
          <p:cNvSpPr txBox="1"/>
          <p:nvPr/>
        </p:nvSpPr>
        <p:spPr>
          <a:xfrm>
            <a:off x="8503920" y="3017520"/>
            <a:ext cx="2926080" cy="2194560"/>
          </a:xfrm>
          <a:prstGeom prst="rect">
            <a:avLst/>
          </a:prstGeom>
          <a:noFill/>
          <a:ln/>
        </p:spPr>
        <p:txBody>
          <a:bodyPr wrap="square" lIns="0" tIns="0" rIns="0" bIns="0" rtlCol="0" anchor="t"/>
          <a:lstStyle/>
          <a:p>
            <a:pPr marL="0" indent="0" algn="l">
              <a:buNone/>
            </a:pPr>
            <a:r>
              <a:rPr lang="en-US" sz="1900" dirty="0">
                <a:solidFill>
                  <a:srgbClr val="111827"/>
                </a:solidFill>
                <a:latin typeface="Arial" pitchFamily="34" charset="0"/>
                <a:ea typeface="Arial" pitchFamily="34" charset="-122"/>
                <a:cs typeface="Arial" pitchFamily="34" charset="-120"/>
              </a:rPr>
              <a:t>Fonksiyon, ok fonksiyonu, destructuring, spread ve modülleri okuyup yazarsınız.</a:t>
            </a:r>
            <a:endParaRPr lang="en-US" sz="19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err="1">
                <a:solidFill>
                  <a:srgbClr val="111827"/>
                </a:solidFill>
                <a:latin typeface="Arial" pitchFamily="34" charset="0"/>
                <a:ea typeface="Arial" pitchFamily="34" charset="-122"/>
                <a:cs typeface="Arial" pitchFamily="34" charset="-120"/>
              </a:rPr>
              <a:t>Ders</a:t>
            </a:r>
            <a:r>
              <a:rPr lang="en-US" sz="3200" b="1" dirty="0">
                <a:solidFill>
                  <a:srgbClr val="111827"/>
                </a:solidFill>
                <a:latin typeface="Arial" pitchFamily="34" charset="0"/>
                <a:ea typeface="Arial" pitchFamily="34" charset="-122"/>
                <a:cs typeface="Arial" pitchFamily="34" charset="-120"/>
              </a:rPr>
              <a:t> Akışı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1989734" cy="1051560"/>
          </a:xfrm>
          <a:prstGeom prst="roundRect">
            <a:avLst>
              <a:gd name="adj" fmla="val 8696"/>
            </a:avLst>
          </a:prstGeom>
          <a:solidFill>
            <a:srgbClr val="EFF6FF"/>
          </a:solidFill>
          <a:ln w="9525">
            <a:solidFill>
              <a:srgbClr val="EFF6FF"/>
            </a:solidFill>
            <a:prstDash val="solid"/>
          </a:ln>
        </p:spPr>
      </p:sp>
      <p:sp>
        <p:nvSpPr>
          <p:cNvPr id="5" name="Text 3"/>
          <p:cNvSpPr txBox="1"/>
          <p:nvPr/>
        </p:nvSpPr>
        <p:spPr>
          <a:xfrm>
            <a:off x="868680"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1</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Değişken ve tipler</a:t>
            </a:r>
            <a:endParaRPr lang="en-US" sz="1200" dirty="0"/>
          </a:p>
        </p:txBody>
      </p:sp>
      <p:sp>
        <p:nvSpPr>
          <p:cNvPr id="6" name="Text 4"/>
          <p:cNvSpPr txBox="1"/>
          <p:nvPr/>
        </p:nvSpPr>
        <p:spPr>
          <a:xfrm>
            <a:off x="27212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2977286" y="1645920"/>
            <a:ext cx="1989734" cy="1051560"/>
          </a:xfrm>
          <a:prstGeom prst="roundRect">
            <a:avLst>
              <a:gd name="adj" fmla="val 8696"/>
            </a:avLst>
          </a:prstGeom>
          <a:solidFill>
            <a:srgbClr val="EFF6FF"/>
          </a:solidFill>
          <a:ln w="9525">
            <a:solidFill>
              <a:srgbClr val="EFF6FF"/>
            </a:solidFill>
            <a:prstDash val="solid"/>
          </a:ln>
        </p:spPr>
      </p:sp>
      <p:sp>
        <p:nvSpPr>
          <p:cNvPr id="8" name="Text 6"/>
          <p:cNvSpPr txBox="1"/>
          <p:nvPr/>
        </p:nvSpPr>
        <p:spPr>
          <a:xfrm>
            <a:off x="31144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2</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Kontrol yapıları</a:t>
            </a:r>
            <a:endParaRPr lang="en-US" sz="1200" dirty="0"/>
          </a:p>
        </p:txBody>
      </p:sp>
      <p:sp>
        <p:nvSpPr>
          <p:cNvPr id="9" name="Text 7"/>
          <p:cNvSpPr txBox="1"/>
          <p:nvPr/>
        </p:nvSpPr>
        <p:spPr>
          <a:xfrm>
            <a:off x="4967021"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5223053" y="1645920"/>
            <a:ext cx="1989734" cy="1051560"/>
          </a:xfrm>
          <a:prstGeom prst="roundRect">
            <a:avLst>
              <a:gd name="adj" fmla="val 8696"/>
            </a:avLst>
          </a:prstGeom>
          <a:solidFill>
            <a:srgbClr val="EFF6FF"/>
          </a:solidFill>
          <a:ln w="9525">
            <a:solidFill>
              <a:srgbClr val="EFF6FF"/>
            </a:solidFill>
            <a:prstDash val="solid"/>
          </a:ln>
        </p:spPr>
      </p:sp>
      <p:sp>
        <p:nvSpPr>
          <p:cNvPr id="11" name="Text 9"/>
          <p:cNvSpPr txBox="1"/>
          <p:nvPr/>
        </p:nvSpPr>
        <p:spPr>
          <a:xfrm>
            <a:off x="5360213"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3</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Fonksiyonlar</a:t>
            </a:r>
            <a:endParaRPr lang="en-US" sz="1200" dirty="0"/>
          </a:p>
        </p:txBody>
      </p:sp>
      <p:sp>
        <p:nvSpPr>
          <p:cNvPr id="12" name="Text 10"/>
          <p:cNvSpPr txBox="1"/>
          <p:nvPr/>
        </p:nvSpPr>
        <p:spPr>
          <a:xfrm>
            <a:off x="7212787"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7468819" y="1645920"/>
            <a:ext cx="1989734" cy="1051560"/>
          </a:xfrm>
          <a:prstGeom prst="roundRect">
            <a:avLst>
              <a:gd name="adj" fmla="val 8696"/>
            </a:avLst>
          </a:prstGeom>
          <a:solidFill>
            <a:srgbClr val="EFF6FF"/>
          </a:solidFill>
          <a:ln w="9525">
            <a:solidFill>
              <a:srgbClr val="EFF6FF"/>
            </a:solidFill>
            <a:prstDash val="solid"/>
          </a:ln>
        </p:spPr>
      </p:sp>
      <p:sp>
        <p:nvSpPr>
          <p:cNvPr id="14" name="Text 12"/>
          <p:cNvSpPr txBox="1"/>
          <p:nvPr/>
        </p:nvSpPr>
        <p:spPr>
          <a:xfrm>
            <a:off x="7605979"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2563EB"/>
                </a:solidFill>
                <a:latin typeface="Arial" pitchFamily="34" charset="0"/>
                <a:ea typeface="Arial" pitchFamily="34" charset="-122"/>
                <a:cs typeface="Arial" pitchFamily="34" charset="-120"/>
              </a:rPr>
              <a:t>4</a:t>
            </a:r>
            <a:endParaRPr lang="en-US" sz="1200" dirty="0"/>
          </a:p>
          <a:p>
            <a:pPr marL="0" indent="0" algn="l">
              <a:buNone/>
            </a:pPr>
            <a:r>
              <a:rPr lang="en-US" sz="1400" b="1" dirty="0">
                <a:solidFill>
                  <a:srgbClr val="111827"/>
                </a:solidFill>
                <a:latin typeface="Arial" pitchFamily="34" charset="0"/>
                <a:ea typeface="Arial" pitchFamily="34" charset="-122"/>
                <a:cs typeface="Arial" pitchFamily="34" charset="-120"/>
              </a:rPr>
              <a:t>Modern sözdizimi</a:t>
            </a:r>
            <a:endParaRPr lang="en-US" sz="1200" dirty="0"/>
          </a:p>
        </p:txBody>
      </p:sp>
      <p:sp>
        <p:nvSpPr>
          <p:cNvPr id="15" name="Text 13"/>
          <p:cNvSpPr txBox="1"/>
          <p:nvPr/>
        </p:nvSpPr>
        <p:spPr>
          <a:xfrm>
            <a:off x="9458554" y="1965960"/>
            <a:ext cx="256032" cy="411480"/>
          </a:xfrm>
          <a:prstGeom prst="rect">
            <a:avLst/>
          </a:prstGeom>
          <a:noFill/>
          <a:ln/>
        </p:spPr>
        <p:txBody>
          <a:bodyPr wrap="square" lIns="0" tIns="0" rIns="0" bIns="0" rtlCol="0" anchor="ctr"/>
          <a:lstStyle/>
          <a:p>
            <a:pPr marL="0" indent="0" algn="ctr">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9714586" y="1645920"/>
            <a:ext cx="1989734" cy="1051560"/>
          </a:xfrm>
          <a:prstGeom prst="roundRect">
            <a:avLst>
              <a:gd name="adj" fmla="val 8696"/>
            </a:avLst>
          </a:prstGeom>
          <a:solidFill>
            <a:srgbClr val="2563EB"/>
          </a:solidFill>
          <a:ln w="9525">
            <a:solidFill>
              <a:srgbClr val="2563EB"/>
            </a:solidFill>
            <a:prstDash val="solid"/>
          </a:ln>
        </p:spPr>
      </p:sp>
      <p:sp>
        <p:nvSpPr>
          <p:cNvPr id="17" name="Text 15"/>
          <p:cNvSpPr txBox="1"/>
          <p:nvPr/>
        </p:nvSpPr>
        <p:spPr>
          <a:xfrm>
            <a:off x="9851746" y="1737360"/>
            <a:ext cx="1715414" cy="868680"/>
          </a:xfrm>
          <a:prstGeom prst="rect">
            <a:avLst/>
          </a:prstGeom>
          <a:noFill/>
          <a:ln/>
        </p:spPr>
        <p:txBody>
          <a:bodyPr wrap="square" lIns="0" tIns="0" rIns="0" bIns="0" rtlCol="0" anchor="ctr">
            <a:normAutofit/>
          </a:bodyPr>
          <a:lstStyle/>
          <a:p>
            <a:pPr marL="0" indent="0" algn="l">
              <a:buNone/>
            </a:pPr>
            <a:r>
              <a:rPr lang="en-US" sz="1200" b="1" dirty="0">
                <a:solidFill>
                  <a:srgbClr val="FFFFFF"/>
                </a:solidFill>
                <a:latin typeface="Arial" pitchFamily="34" charset="0"/>
                <a:ea typeface="Arial" pitchFamily="34" charset="-122"/>
                <a:cs typeface="Arial" pitchFamily="34" charset="-120"/>
              </a:rPr>
              <a:t>5</a:t>
            </a:r>
            <a:endParaRPr lang="en-US" sz="1200" dirty="0"/>
          </a:p>
          <a:p>
            <a:pPr marL="0" indent="0" algn="l">
              <a:buNone/>
            </a:pPr>
            <a:r>
              <a:rPr lang="en-US" sz="1400" b="1" dirty="0">
                <a:solidFill>
                  <a:srgbClr val="FFFFFF"/>
                </a:solidFill>
                <a:latin typeface="Arial" pitchFamily="34" charset="0"/>
                <a:ea typeface="Arial" pitchFamily="34" charset="-122"/>
                <a:cs typeface="Arial" pitchFamily="34" charset="-120"/>
              </a:rPr>
              <a:t>Uygulama</a:t>
            </a:r>
            <a:endParaRPr lang="en-US" sz="1200" dirty="0"/>
          </a:p>
        </p:txBody>
      </p:sp>
      <p:sp>
        <p:nvSpPr>
          <p:cNvPr id="18" name="Text 16"/>
          <p:cNvSpPr txBox="1"/>
          <p:nvPr/>
        </p:nvSpPr>
        <p:spPr>
          <a:xfrm>
            <a:off x="731520" y="3017520"/>
            <a:ext cx="10972800" cy="32918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Her bölümde önce küçük bir kod parçasını çalıştırıp çıktısını tahmin edeceğiz, sonra yapının neden gerekli olduğunu konuşacağız. Her bölümün sonunda iki dakikalık bir kontrol noktası bulunur. Son bir saatte kendi bilgisayarınızda Node ile alıştırmaları çözeceksiniz.</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1</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Değişkenler ve Veri Tipleri</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let, const ve tipler</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JavaScript Neden Bu Derste Temel Dil?</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0" indent="0" algn="l">
              <a:spcAft>
                <a:spcPts val="800"/>
              </a:spcAft>
              <a:buNone/>
            </a:pPr>
            <a:r>
              <a:rPr lang="en-US" sz="2200" dirty="0">
                <a:solidFill>
                  <a:srgbClr val="111827"/>
                </a:solidFill>
                <a:latin typeface="Arial" pitchFamily="34" charset="0"/>
                <a:ea typeface="Arial" pitchFamily="34" charset="-122"/>
                <a:cs typeface="Arial" pitchFamily="34" charset="-120"/>
              </a:rPr>
              <a:t>React Native uygulamalarının mantığı JavaScript ile yazılır; TypeScript de JavaScript'in üzerine tip ekleyen bir dildir. Bu yüzden JavaScript'i bilmeden TypeScript </a:t>
            </a:r>
            <a:r>
              <a:rPr lang="en-US" sz="2200" dirty="0" err="1">
                <a:solidFill>
                  <a:srgbClr val="111827"/>
                </a:solidFill>
                <a:latin typeface="Arial" pitchFamily="34" charset="0"/>
                <a:ea typeface="Arial" pitchFamily="34" charset="-122"/>
                <a:cs typeface="Arial" pitchFamily="34" charset="-120"/>
              </a:rPr>
              <a:t>öğrenmek</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pek</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mantıklı</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bir</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yol</a:t>
            </a:r>
            <a:r>
              <a:rPr lang="en-US" sz="2200" dirty="0">
                <a:solidFill>
                  <a:srgbClr val="111827"/>
                </a:solidFill>
                <a:latin typeface="Arial" pitchFamily="34" charset="0"/>
                <a:ea typeface="Arial" pitchFamily="34" charset="-122"/>
                <a:cs typeface="Arial" pitchFamily="34" charset="-120"/>
              </a:rPr>
              <a:t> </a:t>
            </a:r>
            <a:r>
              <a:rPr lang="en-US" sz="2200" dirty="0" err="1">
                <a:solidFill>
                  <a:srgbClr val="111827"/>
                </a:solidFill>
                <a:latin typeface="Arial" pitchFamily="34" charset="0"/>
                <a:ea typeface="Arial" pitchFamily="34" charset="-122"/>
                <a:cs typeface="Arial" pitchFamily="34" charset="-120"/>
              </a:rPr>
              <a:t>değildir</a:t>
            </a:r>
            <a:r>
              <a:rPr lang="en-US" sz="2200" dirty="0">
                <a:solidFill>
                  <a:srgbClr val="111827"/>
                </a:solidFill>
                <a:latin typeface="Arial" pitchFamily="34" charset="0"/>
                <a:ea typeface="Arial" pitchFamily="34" charset="-122"/>
                <a:cs typeface="Arial" pitchFamily="34" charset="-120"/>
              </a:rPr>
              <a:t>. JavaScript'in standardına ECMAScript denir ve her yıl yeni özellikler eklenir; bu derste modern sürümlerin sade ve güvenli yapılarını kullanacağız.</a:t>
            </a:r>
            <a:endParaRPr lang="en-US" sz="2200" dirty="0"/>
          </a:p>
        </p:txBody>
      </p:sp>
      <p:sp>
        <p:nvSpPr>
          <p:cNvPr id="5" name="Shape 3"/>
          <p:cNvSpPr/>
          <p:nvPr/>
        </p:nvSpPr>
        <p:spPr>
          <a:xfrm>
            <a:off x="7955280" y="1645920"/>
            <a:ext cx="3474720" cy="3474720"/>
          </a:xfrm>
          <a:prstGeom prst="ellipse">
            <a:avLst/>
          </a:prstGeom>
          <a:solidFill>
            <a:srgbClr val="EFF6FF"/>
          </a:solidFill>
          <a:ln w="25400">
            <a:solidFill>
              <a:srgbClr val="2563EB"/>
            </a:solidFill>
            <a:prstDash val="solid"/>
          </a:ln>
        </p:spPr>
      </p:sp>
      <p:sp>
        <p:nvSpPr>
          <p:cNvPr id="6" name="Text 4"/>
          <p:cNvSpPr txBox="1"/>
          <p:nvPr/>
        </p:nvSpPr>
        <p:spPr>
          <a:xfrm>
            <a:off x="7955280" y="1828800"/>
            <a:ext cx="3474720" cy="365760"/>
          </a:xfrm>
          <a:prstGeom prst="rect">
            <a:avLst/>
          </a:prstGeom>
          <a:noFill/>
          <a:ln/>
        </p:spPr>
        <p:txBody>
          <a:bodyPr wrap="square" lIns="0" tIns="0" rIns="0" bIns="0" rtlCol="0" anchor="ctr"/>
          <a:lstStyle/>
          <a:p>
            <a:pPr marL="0" indent="0" algn="ctr">
              <a:buNone/>
            </a:pPr>
            <a:r>
              <a:rPr lang="en-US" sz="1500" b="1" dirty="0">
                <a:solidFill>
                  <a:srgbClr val="111827"/>
                </a:solidFill>
                <a:latin typeface="Arial" pitchFamily="34" charset="0"/>
                <a:ea typeface="Arial" pitchFamily="34" charset="-122"/>
                <a:cs typeface="Arial" pitchFamily="34" charset="-120"/>
              </a:rPr>
              <a:t>JavaScript</a:t>
            </a:r>
            <a:endParaRPr lang="en-US" sz="1500" dirty="0"/>
          </a:p>
        </p:txBody>
      </p:sp>
      <p:sp>
        <p:nvSpPr>
          <p:cNvPr id="7" name="Shape 5"/>
          <p:cNvSpPr/>
          <p:nvPr/>
        </p:nvSpPr>
        <p:spPr>
          <a:xfrm>
            <a:off x="8503920" y="2468880"/>
            <a:ext cx="2377440" cy="2377440"/>
          </a:xfrm>
          <a:prstGeom prst="ellipse">
            <a:avLst/>
          </a:prstGeom>
          <a:solidFill>
            <a:srgbClr val="DBEAFE"/>
          </a:solidFill>
          <a:ln w="19050">
            <a:solidFill>
              <a:srgbClr val="2563EB"/>
            </a:solidFill>
            <a:prstDash val="solid"/>
          </a:ln>
        </p:spPr>
      </p:sp>
      <p:sp>
        <p:nvSpPr>
          <p:cNvPr id="8" name="Text 6"/>
          <p:cNvSpPr txBox="1"/>
          <p:nvPr/>
        </p:nvSpPr>
        <p:spPr>
          <a:xfrm>
            <a:off x="8503920" y="2606040"/>
            <a:ext cx="2377440" cy="365760"/>
          </a:xfrm>
          <a:prstGeom prst="rect">
            <a:avLst/>
          </a:prstGeom>
          <a:noFill/>
          <a:ln/>
        </p:spPr>
        <p:txBody>
          <a:bodyPr wrap="square" lIns="0" tIns="0" rIns="0" bIns="0" rtlCol="0" anchor="ctr"/>
          <a:lstStyle/>
          <a:p>
            <a:pPr marL="0" indent="0" algn="ctr">
              <a:buNone/>
            </a:pPr>
            <a:r>
              <a:rPr lang="en-US" sz="1400" b="1" dirty="0">
                <a:solidFill>
                  <a:srgbClr val="111827"/>
                </a:solidFill>
                <a:latin typeface="Arial" pitchFamily="34" charset="0"/>
                <a:ea typeface="Arial" pitchFamily="34" charset="-122"/>
                <a:cs typeface="Arial" pitchFamily="34" charset="-120"/>
              </a:rPr>
              <a:t>TypeScript</a:t>
            </a:r>
            <a:endParaRPr lang="en-US" sz="1400" dirty="0"/>
          </a:p>
        </p:txBody>
      </p:sp>
      <p:sp>
        <p:nvSpPr>
          <p:cNvPr id="9" name="Shape 7"/>
          <p:cNvSpPr/>
          <p:nvPr/>
        </p:nvSpPr>
        <p:spPr>
          <a:xfrm>
            <a:off x="8961120" y="3108960"/>
            <a:ext cx="1463040" cy="1463040"/>
          </a:xfrm>
          <a:prstGeom prst="ellipse">
            <a:avLst/>
          </a:prstGeom>
          <a:solidFill>
            <a:srgbClr val="2563EB"/>
          </a:solidFill>
          <a:ln w="12700">
            <a:solidFill>
              <a:srgbClr val="2563EB"/>
            </a:solidFill>
            <a:prstDash val="solid"/>
          </a:ln>
        </p:spPr>
      </p:sp>
      <p:sp>
        <p:nvSpPr>
          <p:cNvPr id="10" name="Text 8"/>
          <p:cNvSpPr txBox="1"/>
          <p:nvPr/>
        </p:nvSpPr>
        <p:spPr>
          <a:xfrm>
            <a:off x="9052560" y="3246120"/>
            <a:ext cx="128016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React Native uygulaması</a:t>
            </a:r>
            <a:endParaRPr lang="en-US" sz="13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Kodu Çalıştırmak: Node.js ve Konsol</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420978"/>
          </a:xfrm>
          <a:prstGeom prst="roundRect">
            <a:avLst>
              <a:gd name="adj" fmla="val 643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BASH</a:t>
            </a:r>
            <a:endParaRPr lang="en-US" sz="1100" dirty="0"/>
          </a:p>
        </p:txBody>
      </p:sp>
      <p:sp>
        <p:nvSpPr>
          <p:cNvPr id="6" name="Text 4"/>
          <p:cNvSpPr txBox="1"/>
          <p:nvPr/>
        </p:nvSpPr>
        <p:spPr>
          <a:xfrm>
            <a:off x="960120" y="2103120"/>
            <a:ext cx="6309360" cy="872338"/>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node --version</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echo </a:t>
            </a:r>
            <a:r>
              <a:rPr lang="en-US" sz="1600" dirty="0">
                <a:solidFill>
                  <a:srgbClr val="047857"/>
                </a:solidFill>
                <a:latin typeface="Courier New" pitchFamily="34" charset="0"/>
                <a:ea typeface="Courier New" pitchFamily="34" charset="-122"/>
                <a:cs typeface="Courier New" pitchFamily="34" charset="-120"/>
              </a:rPr>
              <a:t>'console.log("Merhaba");'</a:t>
            </a:r>
            <a:r>
              <a:rPr lang="en-US" sz="1600" dirty="0">
                <a:solidFill>
                  <a:srgbClr val="111827"/>
                </a:solidFill>
                <a:latin typeface="Courier New" pitchFamily="34" charset="0"/>
                <a:ea typeface="Courier New" pitchFamily="34" charset="-122"/>
                <a:cs typeface="Courier New" pitchFamily="34" charset="-120"/>
              </a:rPr>
              <a:t> &gt; merhaba.js</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node merhaba.js</a:t>
            </a:r>
            <a:endParaRPr lang="en-US" sz="1600" dirty="0"/>
          </a:p>
        </p:txBody>
      </p:sp>
      <p:sp>
        <p:nvSpPr>
          <p:cNvPr id="7" name="Shape 5"/>
          <p:cNvSpPr/>
          <p:nvPr/>
        </p:nvSpPr>
        <p:spPr>
          <a:xfrm>
            <a:off x="731520" y="3204058"/>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3332074"/>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Terminalde önce sürüm numarası, sonra "Merhaba" yazısı görünür.</a:t>
            </a:r>
            <a:endParaRPr lang="en-US" sz="1100" dirty="0"/>
          </a:p>
        </p:txBody>
      </p:sp>
      <p:sp>
        <p:nvSpPr>
          <p:cNvPr id="9" name="Text 7"/>
          <p:cNvSpPr txBox="1"/>
          <p:nvPr/>
        </p:nvSpPr>
        <p:spPr>
          <a:xfrm>
            <a:off x="7772400" y="1645920"/>
            <a:ext cx="3931920" cy="208483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tarayıcı olmadan bir JavaScript dosyasını çalıştırmaktır.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İlk komut kurulu Node sürümünü gösterir. İkinci komut tek satırlık bir dosya oluşturur. Üçüncü komut dosyayı çalıştırır ve console.log çıktısını terminale yazar.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let ve const ile Değişken Tanımlama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911096"/>
          </a:xfrm>
          <a:prstGeom prst="roundRect">
            <a:avLst>
              <a:gd name="adj" fmla="val 478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362456"/>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courseName = </a:t>
            </a:r>
            <a:r>
              <a:rPr lang="en-US" sz="1600" dirty="0">
                <a:solidFill>
                  <a:srgbClr val="047857"/>
                </a:solidFill>
                <a:latin typeface="Courier New" pitchFamily="34" charset="0"/>
                <a:ea typeface="Courier New" pitchFamily="34" charset="-122"/>
                <a:cs typeface="Courier New" pitchFamily="34" charset="-120"/>
              </a:rPr>
              <a:t>"Mobil Programlama"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let</a:t>
            </a:r>
            <a:r>
              <a:rPr lang="en-US" sz="1600" dirty="0">
                <a:solidFill>
                  <a:srgbClr val="111827"/>
                </a:solidFill>
                <a:latin typeface="Courier New" pitchFamily="34" charset="0"/>
                <a:ea typeface="Courier New" pitchFamily="34" charset="-122"/>
                <a:cs typeface="Courier New" pitchFamily="34" charset="-120"/>
              </a:rPr>
              <a:t> week =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week = week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console.log(courseName, week);</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courseName = "Web";  // TypeError</a:t>
            </a:r>
            <a:endParaRPr lang="en-US" sz="1600" dirty="0"/>
          </a:p>
        </p:txBody>
      </p:sp>
      <p:sp>
        <p:nvSpPr>
          <p:cNvPr id="7" name="Shape 5"/>
          <p:cNvSpPr/>
          <p:nvPr/>
        </p:nvSpPr>
        <p:spPr>
          <a:xfrm>
            <a:off x="731520" y="3694176"/>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3822192"/>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 "Mobil Programlama 3" olur; yorum satırındaki atama açılırsa "Assignment to constant variable" hatası alınır.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değeri değişecek ve değişmeyecek veriyi ayırmaktır.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const ile tanımlanan değişkene yeniden değer atanamaz; let ile tanımlanan değişken sonradan değiştirilebilir. Varsayılan tercih const olmalı, yalnızca değişmesi gereken yerde let kullanılmalıdır.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var Neden Kullanılmaz?</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2286000"/>
        </p:xfrm>
        <a:graphic>
          <a:graphicData uri="http://schemas.openxmlformats.org/drawingml/2006/table">
            <a:tbl>
              <a:tblPr/>
              <a:tblGrid>
                <a:gridCol w="4450706">
                  <a:extLst>
                    <a:ext uri="{9D8B030D-6E8A-4147-A177-3AD203B41FA5}">
                      <a16:colId xmlns:a16="http://schemas.microsoft.com/office/drawing/2014/main" val="20000"/>
                    </a:ext>
                  </a:extLst>
                </a:gridCol>
                <a:gridCol w="2618566">
                  <a:extLst>
                    <a:ext uri="{9D8B030D-6E8A-4147-A177-3AD203B41FA5}">
                      <a16:colId xmlns:a16="http://schemas.microsoft.com/office/drawing/2014/main" val="20001"/>
                    </a:ext>
                  </a:extLst>
                </a:gridCol>
                <a:gridCol w="1951764">
                  <a:extLst>
                    <a:ext uri="{9D8B030D-6E8A-4147-A177-3AD203B41FA5}">
                      <a16:colId xmlns:a16="http://schemas.microsoft.com/office/drawing/2014/main" val="20002"/>
                    </a:ext>
                  </a:extLst>
                </a:gridCol>
                <a:gridCol w="1951764">
                  <a:extLst>
                    <a:ext uri="{9D8B030D-6E8A-4147-A177-3AD203B41FA5}">
                      <a16:colId xmlns:a16="http://schemas.microsoft.com/office/drawing/2014/main" val="20003"/>
                    </a:ext>
                  </a:extLst>
                </a:gridCol>
              </a:tblGrid>
              <a:tr h="457200">
                <a:tc>
                  <a:txBody>
                    <a:bodyPr/>
                    <a:lstStyle/>
                    <a:p>
                      <a:pPr marL="0" indent="0">
                        <a:buNone/>
                      </a:pPr>
                      <a:r>
                        <a:rPr lang="en-US" sz="1400" b="1" dirty="0">
                          <a:solidFill>
                            <a:srgbClr val="2563EB"/>
                          </a:solidFill>
                        </a:rPr>
                        <a:t>Özellik</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var</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let</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const</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indent="0">
                        <a:buNone/>
                      </a:pPr>
                      <a:r>
                        <a:rPr lang="en-US" sz="1600" b="1" dirty="0">
                          <a:solidFill>
                            <a:srgbClr val="111827"/>
                          </a:solidFill>
                        </a:rPr>
                        <a:t>Kapsam</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Fonksiyon</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Blok</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Blok</a:t>
                      </a:r>
                      <a:endParaRPr lang="en-US" sz="16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600" b="1" dirty="0">
                          <a:solidFill>
                            <a:srgbClr val="111827"/>
                          </a:solidFill>
                        </a:rPr>
                        <a:t>Yeniden atama</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Evet</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Evet</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Hayır</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600" b="1" dirty="0">
                          <a:solidFill>
                            <a:srgbClr val="111827"/>
                          </a:solidFill>
                        </a:rPr>
                        <a:t>Aynı adla yeniden bildirim</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Evet</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Hayır</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Hayır</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600" b="1" dirty="0">
                          <a:solidFill>
                            <a:srgbClr val="111827"/>
                          </a:solidFill>
                        </a:rPr>
                        <a:t>Bildirimden önce kullanım</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undefined</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Hata</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600" dirty="0">
                          <a:solidFill>
                            <a:srgbClr val="111827"/>
                          </a:solidFill>
                        </a:rPr>
                        <a:t>Hata</a:t>
                      </a:r>
                      <a:endParaRPr lang="en-US" sz="16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731520" y="4206240"/>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334256"/>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var, kapsam kurallarının beklenmedik sonuçlar doğurması nedeniyle modern kodda kullanılmaz; her zaman önce const, değişmesi gerekiyorsa let seçilir.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Temel Veri Tipleri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2709672"/>
        </p:xfrm>
        <a:graphic>
          <a:graphicData uri="http://schemas.openxmlformats.org/drawingml/2006/table">
            <a:tbl>
              <a:tblPr/>
              <a:tblGrid>
                <a:gridCol w="2593865">
                  <a:extLst>
                    <a:ext uri="{9D8B030D-6E8A-4147-A177-3AD203B41FA5}">
                      <a16:colId xmlns:a16="http://schemas.microsoft.com/office/drawing/2014/main" val="20000"/>
                    </a:ext>
                  </a:extLst>
                </a:gridCol>
                <a:gridCol w="3564926">
                  <a:extLst>
                    <a:ext uri="{9D8B030D-6E8A-4147-A177-3AD203B41FA5}">
                      <a16:colId xmlns:a16="http://schemas.microsoft.com/office/drawing/2014/main" val="20001"/>
                    </a:ext>
                  </a:extLst>
                </a:gridCol>
                <a:gridCol w="4814009">
                  <a:extLst>
                    <a:ext uri="{9D8B030D-6E8A-4147-A177-3AD203B41FA5}">
                      <a16:colId xmlns:a16="http://schemas.microsoft.com/office/drawing/2014/main" val="20002"/>
                    </a:ext>
                  </a:extLst>
                </a:gridCol>
              </a:tblGrid>
              <a:tr h="387096">
                <a:tc>
                  <a:txBody>
                    <a:bodyPr/>
                    <a:lstStyle/>
                    <a:p>
                      <a:pPr marL="0" indent="0">
                        <a:buNone/>
                      </a:pPr>
                      <a:r>
                        <a:rPr lang="en-US" sz="1400" b="1" dirty="0">
                          <a:solidFill>
                            <a:srgbClr val="2563EB"/>
                          </a:solidFill>
                        </a:rPr>
                        <a:t>Tip</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Örnek</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Not</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387096">
                <a:tc>
                  <a:txBody>
                    <a:bodyPr/>
                    <a:lstStyle/>
                    <a:p>
                      <a:pPr marL="0" indent="0">
                        <a:buNone/>
                      </a:pPr>
                      <a:r>
                        <a:rPr lang="en-US" sz="1700" b="1" dirty="0">
                          <a:solidFill>
                            <a:srgbClr val="111827"/>
                          </a:solidFill>
                        </a:rPr>
                        <a:t>number</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42, 3.14</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Tam ve ondalık sayı aynı tiptir</a:t>
                      </a:r>
                      <a:endParaRPr lang="en-US" sz="17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87096">
                <a:tc>
                  <a:txBody>
                    <a:bodyPr/>
                    <a:lstStyle/>
                    <a:p>
                      <a:pPr marL="0" indent="0">
                        <a:buNone/>
                      </a:pPr>
                      <a:r>
                        <a:rPr lang="en-US" sz="1700" b="1" dirty="0">
                          <a:solidFill>
                            <a:srgbClr val="111827"/>
                          </a:solidFill>
                        </a:rPr>
                        <a:t>string</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"Merhaba"</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Tek, çift veya ters tırnak</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87096">
                <a:tc>
                  <a:txBody>
                    <a:bodyPr/>
                    <a:lstStyle/>
                    <a:p>
                      <a:pPr marL="0" indent="0">
                        <a:buNone/>
                      </a:pPr>
                      <a:r>
                        <a:rPr lang="en-US" sz="1700" b="1" dirty="0">
                          <a:solidFill>
                            <a:srgbClr val="111827"/>
                          </a:solidFill>
                        </a:rPr>
                        <a:t>boolean</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true, false</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Koşullarda kullanılır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87096">
                <a:tc>
                  <a:txBody>
                    <a:bodyPr/>
                    <a:lstStyle/>
                    <a:p>
                      <a:pPr marL="0" indent="0">
                        <a:buNone/>
                      </a:pPr>
                      <a:r>
                        <a:rPr lang="en-US" sz="1700" b="1" dirty="0">
                          <a:solidFill>
                            <a:srgbClr val="111827"/>
                          </a:solidFill>
                        </a:rPr>
                        <a:t>null</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null</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Bilinçli boş değer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87096">
                <a:tc>
                  <a:txBody>
                    <a:bodyPr/>
                    <a:lstStyle/>
                    <a:p>
                      <a:pPr marL="0" indent="0">
                        <a:buNone/>
                      </a:pPr>
                      <a:r>
                        <a:rPr lang="en-US" sz="1700" b="1" dirty="0">
                          <a:solidFill>
                            <a:srgbClr val="111827"/>
                          </a:solidFill>
                        </a:rPr>
                        <a:t>undefined</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undefined</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Değer atanmamış</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387096">
                <a:tc>
                  <a:txBody>
                    <a:bodyPr/>
                    <a:lstStyle/>
                    <a:p>
                      <a:pPr marL="0" indent="0">
                        <a:buNone/>
                      </a:pPr>
                      <a:r>
                        <a:rPr lang="en-US" sz="1700" b="1" dirty="0">
                          <a:solidFill>
                            <a:srgbClr val="111827"/>
                          </a:solidFill>
                        </a:rPr>
                        <a:t>object</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 [], fonksiyon</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700" dirty="0">
                          <a:solidFill>
                            <a:srgbClr val="111827"/>
                          </a:solidFill>
                        </a:rPr>
                        <a:t>Dizi ve fonksiyon da nesnedir</a:t>
                      </a:r>
                      <a:endParaRPr lang="en-US" sz="17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2"/>
          <p:cNvSpPr/>
          <p:nvPr/>
        </p:nvSpPr>
        <p:spPr>
          <a:xfrm>
            <a:off x="731520" y="4629912"/>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4757928"/>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null "boş olduğunu biliyorum" anlamında bilinçli bir değerdir; undefined ise "henüz değer verilmemiş" demektir. TypeScript haftasında bu ayrım güvenlik için önem kazanacaktır.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typeof ve Tip Dönüşümü Tuzakları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156155"/>
          </a:xfrm>
          <a:prstGeom prst="roundRect">
            <a:avLst>
              <a:gd name="adj" fmla="val 424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607515"/>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console.log(typeof </a:t>
            </a:r>
            <a:r>
              <a:rPr lang="en-US" sz="1600" dirty="0">
                <a:solidFill>
                  <a:srgbClr val="B45309"/>
                </a:solidFill>
                <a:latin typeface="Courier New" pitchFamily="34" charset="0"/>
                <a:ea typeface="Courier New" pitchFamily="34" charset="-122"/>
                <a:cs typeface="Courier New" pitchFamily="34" charset="-120"/>
              </a:rPr>
              <a:t>42</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number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console.log(typeof </a:t>
            </a:r>
            <a:r>
              <a:rPr lang="en-US" sz="1600" b="1" dirty="0">
                <a:solidFill>
                  <a:srgbClr val="2563EB"/>
                </a:solidFill>
                <a:latin typeface="Courier New" pitchFamily="34" charset="0"/>
                <a:ea typeface="Courier New" pitchFamily="34" charset="-122"/>
                <a:cs typeface="Courier New" pitchFamily="34" charset="-120"/>
              </a:rPr>
              <a:t>null</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object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t>
            </a:r>
            <a:r>
              <a:rPr lang="en-US" sz="1600" dirty="0">
                <a:solidFill>
                  <a:srgbClr val="047857"/>
                </a:solidFill>
                <a:latin typeface="Courier New" pitchFamily="34" charset="0"/>
                <a:ea typeface="Courier New" pitchFamily="34" charset="-122"/>
                <a:cs typeface="Courier New" pitchFamily="34" charset="-120"/>
              </a:rPr>
              <a:t>"5"</a:t>
            </a:r>
            <a:r>
              <a:rPr lang="en-US" sz="1600" dirty="0">
                <a:solidFill>
                  <a:srgbClr val="111827"/>
                </a:solidFill>
                <a:latin typeface="Courier New" pitchFamily="34" charset="0"/>
                <a:ea typeface="Courier New" pitchFamily="34" charset="-122"/>
                <a:cs typeface="Courier New" pitchFamily="34" charset="-120"/>
              </a:rPr>
              <a:t> +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"52"</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t>
            </a:r>
            <a:r>
              <a:rPr lang="en-US" sz="1600" dirty="0">
                <a:solidFill>
                  <a:srgbClr val="047857"/>
                </a:solidFill>
                <a:latin typeface="Courier New" pitchFamily="34" charset="0"/>
                <a:ea typeface="Courier New" pitchFamily="34" charset="-122"/>
                <a:cs typeface="Courier New" pitchFamily="34" charset="-120"/>
              </a:rPr>
              <a:t>"5"</a:t>
            </a:r>
            <a:r>
              <a:rPr lang="en-US" sz="1600" dirty="0">
                <a:solidFill>
                  <a:srgbClr val="111827"/>
                </a:solidFill>
                <a:latin typeface="Courier New" pitchFamily="34" charset="0"/>
                <a:ea typeface="Courier New" pitchFamily="34" charset="-122"/>
                <a:cs typeface="Courier New" pitchFamily="34" charset="-120"/>
              </a:rPr>
              <a:t> -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3</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t>
            </a:r>
            <a:r>
              <a:rPr lang="en-US" sz="1600" dirty="0">
                <a:solidFill>
                  <a:srgbClr val="B45309"/>
                </a:solidFill>
                <a:latin typeface="Courier New" pitchFamily="34" charset="0"/>
                <a:ea typeface="Courier New" pitchFamily="34" charset="-122"/>
                <a:cs typeface="Courier New" pitchFamily="34" charset="-120"/>
              </a:rPr>
              <a:t>5</a:t>
            </a:r>
            <a:r>
              <a:rPr lang="en-US" sz="1600" dirty="0">
                <a:solidFill>
                  <a:srgbClr val="111827"/>
                </a:solidFill>
                <a:latin typeface="Courier New" pitchFamily="34" charset="0"/>
                <a:ea typeface="Courier New" pitchFamily="34" charset="-122"/>
                <a:cs typeface="Courier New" pitchFamily="34" charset="-120"/>
              </a:rPr>
              <a:t> == </a:t>
            </a:r>
            <a:r>
              <a:rPr lang="en-US" sz="1600" dirty="0">
                <a:solidFill>
                  <a:srgbClr val="047857"/>
                </a:solidFill>
                <a:latin typeface="Courier New" pitchFamily="34" charset="0"/>
                <a:ea typeface="Courier New" pitchFamily="34" charset="-122"/>
                <a:cs typeface="Courier New" pitchFamily="34" charset="-120"/>
              </a:rPr>
              <a:t>"5"</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true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t>
            </a:r>
            <a:r>
              <a:rPr lang="en-US" sz="1600" dirty="0">
                <a:solidFill>
                  <a:srgbClr val="B45309"/>
                </a:solidFill>
                <a:latin typeface="Courier New" pitchFamily="34" charset="0"/>
                <a:ea typeface="Courier New" pitchFamily="34" charset="-122"/>
                <a:cs typeface="Courier New" pitchFamily="34" charset="-120"/>
              </a:rPr>
              <a:t>5</a:t>
            </a:r>
            <a:r>
              <a:rPr lang="en-US" sz="1600" dirty="0">
                <a:solidFill>
                  <a:srgbClr val="111827"/>
                </a:solidFill>
                <a:latin typeface="Courier New" pitchFamily="34" charset="0"/>
                <a:ea typeface="Courier New" pitchFamily="34" charset="-122"/>
                <a:cs typeface="Courier New" pitchFamily="34" charset="-120"/>
              </a:rPr>
              <a:t> === </a:t>
            </a:r>
            <a:r>
              <a:rPr lang="en-US" sz="1600" dirty="0">
                <a:solidFill>
                  <a:srgbClr val="047857"/>
                </a:solidFill>
                <a:latin typeface="Courier New" pitchFamily="34" charset="0"/>
                <a:ea typeface="Courier New" pitchFamily="34" charset="-122"/>
                <a:cs typeface="Courier New" pitchFamily="34" charset="-120"/>
              </a:rPr>
              <a:t>"5"</a:t>
            </a:r>
            <a:r>
              <a:rPr lang="en-US" sz="1600" dirty="0">
                <a:solidFill>
                  <a:srgbClr val="111827"/>
                </a:solidFill>
                <a:latin typeface="Courier New" pitchFamily="34" charset="0"/>
                <a:ea typeface="Courier New" pitchFamily="34" charset="-122"/>
                <a:cs typeface="Courier New" pitchFamily="34" charset="-120"/>
              </a:rPr>
              <a:t>);      </a:t>
            </a:r>
            <a:r>
              <a:rPr lang="en-US" sz="1600" i="1" dirty="0">
                <a:solidFill>
                  <a:srgbClr val="6B7280"/>
                </a:solidFill>
                <a:latin typeface="Courier New" pitchFamily="34" charset="0"/>
                <a:ea typeface="Courier New" pitchFamily="34" charset="-122"/>
                <a:cs typeface="Courier New" pitchFamily="34" charset="-120"/>
              </a:rPr>
              <a:t>// false</a:t>
            </a:r>
            <a:endParaRPr lang="en-US" sz="1600" dirty="0"/>
          </a:p>
        </p:txBody>
      </p:sp>
      <p:sp>
        <p:nvSpPr>
          <p:cNvPr id="7" name="Shape 5"/>
          <p:cNvSpPr/>
          <p:nvPr/>
        </p:nvSpPr>
        <p:spPr>
          <a:xfrm>
            <a:off x="731520" y="3939235"/>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4067251"/>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Çıktılar sırasıyla number, object, 52, 3, true ve false olur; typeof null sonucu dilin bilinen bir tarihsel tuhaflığıdır.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JavaScript'in tipleri kendiliğinden dönüştürdüğünü ve bunun hata kaynağı olduğunu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 operatörü bir taraf string ise birleştirir, - operatörü ise sayıya çevirir. == tipleri dönüştürerek karşılaştırır, === dönüştürmez.</a:t>
            </a:r>
            <a:endParaRPr lang="en-US" sz="1800" dirty="0"/>
          </a:p>
        </p:txBody>
      </p:sp>
      <p:sp>
        <p:nvSpPr>
          <p:cNvPr id="10" name="Shape 8"/>
          <p:cNvSpPr/>
          <p:nvPr/>
        </p:nvSpPr>
        <p:spPr>
          <a:xfrm>
            <a:off x="7772400" y="4142232"/>
            <a:ext cx="3931920" cy="957072"/>
          </a:xfrm>
          <a:prstGeom prst="roundRect">
            <a:avLst>
              <a:gd name="adj" fmla="val 9554"/>
            </a:avLst>
          </a:prstGeom>
          <a:solidFill>
            <a:srgbClr val="EFF6FF"/>
          </a:solidFill>
          <a:ln w="9525">
            <a:solidFill>
              <a:srgbClr val="EFF6FF"/>
            </a:solidFill>
            <a:prstDash val="solid"/>
          </a:ln>
        </p:spPr>
      </p:sp>
      <p:sp>
        <p:nvSpPr>
          <p:cNvPr id="11" name="Text 9"/>
          <p:cNvSpPr txBox="1"/>
          <p:nvPr/>
        </p:nvSpPr>
        <p:spPr>
          <a:xfrm>
            <a:off x="7973568" y="4270248"/>
            <a:ext cx="3529584" cy="70104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Form alanından gelen "5" metnini sayı sanıp toplamak; sonuç 7 yerine "52" olur.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Truthy ve Falsy Değerler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911096"/>
          </a:xfrm>
          <a:prstGeom prst="roundRect">
            <a:avLst>
              <a:gd name="adj" fmla="val 478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362456"/>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values =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null</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undefined</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NaN, </a:t>
            </a:r>
            <a:r>
              <a:rPr lang="en-US" sz="1600" dirty="0">
                <a:solidFill>
                  <a:srgbClr val="047857"/>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 [],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for</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v </a:t>
            </a:r>
            <a:r>
              <a:rPr lang="en-US" sz="1600" b="1" dirty="0">
                <a:solidFill>
                  <a:srgbClr val="2563EB"/>
                </a:solidFill>
                <a:latin typeface="Courier New" pitchFamily="34" charset="0"/>
                <a:ea typeface="Courier New" pitchFamily="34" charset="-122"/>
                <a:cs typeface="Courier New" pitchFamily="34" charset="-120"/>
              </a:rPr>
              <a:t>of</a:t>
            </a:r>
            <a:r>
              <a:rPr lang="en-US" sz="1600" dirty="0">
                <a:solidFill>
                  <a:srgbClr val="111827"/>
                </a:solidFill>
                <a:latin typeface="Courier New" pitchFamily="34" charset="0"/>
                <a:ea typeface="Courier New" pitchFamily="34" charset="-122"/>
                <a:cs typeface="Courier New" pitchFamily="34" charset="-120"/>
              </a:rPr>
              <a:t> values)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console.log(v, Boolean(v));</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3694176"/>
            <a:ext cx="6766560" cy="1911096"/>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3822191"/>
            <a:ext cx="6364224" cy="1773937"/>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p>
          <a:p>
            <a:pPr marL="0" indent="0" algn="l">
              <a:buNone/>
            </a:pPr>
            <a:endParaRPr lang="en-US" sz="1100" b="1" dirty="0">
              <a:solidFill>
                <a:srgbClr val="2563EB"/>
              </a:solidFill>
              <a:latin typeface="Arial" pitchFamily="34" charset="0"/>
              <a:cs typeface="Arial" pitchFamily="34" charset="-120"/>
            </a:endParaRPr>
          </a:p>
          <a:p>
            <a:pPr marL="0" indent="0" algn="l">
              <a:buNone/>
            </a:pPr>
            <a:r>
              <a:rPr lang="en-US" sz="1100" dirty="0"/>
              <a:t>0 false</a:t>
            </a:r>
            <a:br>
              <a:rPr lang="en-US" sz="1100" dirty="0"/>
            </a:br>
            <a:r>
              <a:rPr lang="en-US" sz="1100" dirty="0"/>
              <a:t>   false</a:t>
            </a:r>
            <a:br>
              <a:rPr lang="en-US" sz="1100" dirty="0"/>
            </a:br>
            <a:r>
              <a:rPr lang="en-US" sz="1100" dirty="0"/>
              <a:t>null false</a:t>
            </a:r>
            <a:br>
              <a:rPr lang="en-US" sz="1100" dirty="0"/>
            </a:br>
            <a:r>
              <a:rPr lang="en-US" sz="1100" dirty="0"/>
              <a:t>undefined false</a:t>
            </a:r>
            <a:br>
              <a:rPr lang="en-US" sz="1100" dirty="0"/>
            </a:br>
            <a:r>
              <a:rPr lang="en-US" sz="1100" dirty="0" err="1"/>
              <a:t>NaN</a:t>
            </a:r>
            <a:r>
              <a:rPr lang="en-US" sz="1100" dirty="0"/>
              <a:t> false</a:t>
            </a:r>
            <a:br>
              <a:rPr lang="en-US" sz="1100" dirty="0"/>
            </a:br>
            <a:r>
              <a:rPr lang="en-US" sz="1100" dirty="0"/>
              <a:t>0 true</a:t>
            </a:r>
            <a:br>
              <a:rPr lang="en-US" sz="1100" dirty="0"/>
            </a:br>
            <a:r>
              <a:rPr lang="en-US" sz="1100" dirty="0"/>
              <a:t>[] true</a:t>
            </a:r>
            <a:br>
              <a:rPr lang="en-US" sz="1100" dirty="0"/>
            </a:br>
            <a:r>
              <a:rPr lang="en-US" sz="1100" dirty="0"/>
              <a:t>{} true</a:t>
            </a:r>
            <a:br>
              <a:rPr lang="en-US" sz="1100" dirty="0"/>
            </a:b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koşullarda hangi değerlerin "yanlış" sayıldığını görmektir.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Yalnızca 0, boş metin, null, undefined ve NaN false sayılır; "0" metni, boş dizi ve boş nesne true sayılır. Bu kural if koşullarında ve arayüzde koşullu gösterimde sürekli kullanılır.</a:t>
            </a:r>
            <a:endParaRPr lang="en-US" sz="1800" dirty="0"/>
          </a:p>
        </p:txBody>
      </p:sp>
      <p:sp>
        <p:nvSpPr>
          <p:cNvPr id="10" name="Shape 8"/>
          <p:cNvSpPr/>
          <p:nvPr/>
        </p:nvSpPr>
        <p:spPr>
          <a:xfrm>
            <a:off x="7772400" y="414223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27024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Sayaç 0 olduğunda count &amp;&amp; ... ifadesi ekrana "0" yazdırabilir; bunu React Native'de 6. haftada tekrar göreceğiz.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Şablon Dizgileri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401214"/>
          </a:xfrm>
          <a:prstGeom prst="roundRect">
            <a:avLst>
              <a:gd name="adj" fmla="val 380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85257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student = </a:t>
            </a:r>
            <a:r>
              <a:rPr lang="en-US" sz="1600" dirty="0">
                <a:solidFill>
                  <a:srgbClr val="047857"/>
                </a:solidFill>
                <a:latin typeface="Courier New" pitchFamily="34" charset="0"/>
                <a:ea typeface="Courier New" pitchFamily="34" charset="-122"/>
                <a:cs typeface="Courier New" pitchFamily="34" charset="-120"/>
              </a:rPr>
              <a:t>"Ayşe"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score = </a:t>
            </a:r>
            <a:r>
              <a:rPr lang="en-US" sz="1600" dirty="0">
                <a:solidFill>
                  <a:srgbClr val="B45309"/>
                </a:solidFill>
                <a:latin typeface="Courier New" pitchFamily="34" charset="0"/>
                <a:ea typeface="Courier New" pitchFamily="34" charset="-122"/>
                <a:cs typeface="Courier New" pitchFamily="34" charset="-120"/>
              </a:rPr>
              <a:t>85</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ok = score &gt;= </a:t>
            </a:r>
            <a:r>
              <a:rPr lang="en-US" sz="1600" dirty="0">
                <a:solidFill>
                  <a:srgbClr val="B45309"/>
                </a:solidFill>
                <a:latin typeface="Courier New" pitchFamily="34" charset="0"/>
                <a:ea typeface="Courier New" pitchFamily="34" charset="-122"/>
                <a:cs typeface="Courier New" pitchFamily="34" charset="-120"/>
              </a:rPr>
              <a:t>50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msg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`${student}: ${ok ? "Geçti" : "Kaldı"}`</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console.log(msg);</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t>
            </a:r>
            <a:r>
              <a:rPr lang="en-US" sz="1600" dirty="0">
                <a:solidFill>
                  <a:srgbClr val="047857"/>
                </a:solidFill>
                <a:latin typeface="Courier New" pitchFamily="34" charset="0"/>
                <a:ea typeface="Courier New" pitchFamily="34" charset="-122"/>
                <a:cs typeface="Courier New" pitchFamily="34" charset="-120"/>
              </a:rPr>
              <a:t>"Not: "</a:t>
            </a:r>
            <a:r>
              <a:rPr lang="en-US" sz="1600" dirty="0">
                <a:solidFill>
                  <a:srgbClr val="111827"/>
                </a:solidFill>
                <a:latin typeface="Courier New" pitchFamily="34" charset="0"/>
                <a:ea typeface="Courier New" pitchFamily="34" charset="-122"/>
                <a:cs typeface="Courier New" pitchFamily="34" charset="-120"/>
              </a:rPr>
              <a:t> + score + </a:t>
            </a:r>
            <a:r>
              <a:rPr lang="en-US" sz="1600" dirty="0">
                <a:solidFill>
                  <a:srgbClr val="047857"/>
                </a:solidFill>
                <a:latin typeface="Courier New" pitchFamily="34" charset="0"/>
                <a:ea typeface="Courier New" pitchFamily="34" charset="-122"/>
                <a:cs typeface="Courier New" pitchFamily="34" charset="-120"/>
              </a:rPr>
              <a:t>" puan"</a:t>
            </a: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18429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31231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Birinci satır "Ayşe: Geçti", ikinci satır "Not: 85 puan" yazar.</a:t>
            </a:r>
            <a:endParaRPr lang="en-US" sz="1100" dirty="0"/>
          </a:p>
        </p:txBody>
      </p:sp>
      <p:sp>
        <p:nvSpPr>
          <p:cNvPr id="9" name="Text 7"/>
          <p:cNvSpPr txBox="1"/>
          <p:nvPr/>
        </p:nvSpPr>
        <p:spPr>
          <a:xfrm>
            <a:off x="7772400" y="1645920"/>
            <a:ext cx="3931920" cy="208483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değişken ve ifadeleri okunaklı biçimde metne yerleştirmektir.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Ters tırnak içinde ${...} bloğu herhangi bir ifadeyi metne yerleştirir. Eski + ile birleştirme çalışır ama uzun cümlelerde okunması zordur.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2</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Kontrol Yapıları</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Koşullar, döngüler, dizi metotları</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if, else if, else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temp = </a:t>
            </a:r>
            <a:r>
              <a:rPr lang="en-US" sz="1600" dirty="0">
                <a:solidFill>
                  <a:srgbClr val="B45309"/>
                </a:solidFill>
                <a:latin typeface="Courier New" pitchFamily="34" charset="0"/>
                <a:ea typeface="Courier New" pitchFamily="34" charset="-122"/>
                <a:cs typeface="Courier New" pitchFamily="34" charset="-120"/>
              </a:rPr>
              <a:t>31</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if</a:t>
            </a:r>
            <a:r>
              <a:rPr lang="en-US" sz="1600" dirty="0">
                <a:solidFill>
                  <a:srgbClr val="111827"/>
                </a:solidFill>
                <a:latin typeface="Courier New" pitchFamily="34" charset="0"/>
                <a:ea typeface="Courier New" pitchFamily="34" charset="-122"/>
                <a:cs typeface="Courier New" pitchFamily="34" charset="-120"/>
              </a:rPr>
              <a:t> (temp &gt;= </a:t>
            </a:r>
            <a:r>
              <a:rPr lang="en-US" sz="1600" dirty="0">
                <a:solidFill>
                  <a:srgbClr val="B45309"/>
                </a:solidFill>
                <a:latin typeface="Courier New" pitchFamily="34" charset="0"/>
                <a:ea typeface="Courier New" pitchFamily="34" charset="-122"/>
                <a:cs typeface="Courier New" pitchFamily="34" charset="-120"/>
              </a:rPr>
              <a:t>35</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a:t>
            </a:r>
            <a:r>
              <a:rPr lang="en-US" sz="1600" dirty="0">
                <a:solidFill>
                  <a:srgbClr val="047857"/>
                </a:solidFill>
                <a:latin typeface="Courier New" pitchFamily="34" charset="0"/>
                <a:ea typeface="Courier New" pitchFamily="34" charset="-122"/>
                <a:cs typeface="Courier New" pitchFamily="34" charset="-120"/>
              </a:rPr>
              <a:t>"Çok sıcak"</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else</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if</a:t>
            </a:r>
            <a:r>
              <a:rPr lang="en-US" sz="1600" dirty="0">
                <a:solidFill>
                  <a:srgbClr val="111827"/>
                </a:solidFill>
                <a:latin typeface="Courier New" pitchFamily="34" charset="0"/>
                <a:ea typeface="Courier New" pitchFamily="34" charset="-122"/>
                <a:cs typeface="Courier New" pitchFamily="34" charset="-120"/>
              </a:rPr>
              <a:t> (temp &gt;= </a:t>
            </a:r>
            <a:r>
              <a:rPr lang="en-US" sz="1600" dirty="0">
                <a:solidFill>
                  <a:srgbClr val="B45309"/>
                </a:solidFill>
                <a:latin typeface="Courier New" pitchFamily="34" charset="0"/>
                <a:ea typeface="Courier New" pitchFamily="34" charset="-122"/>
                <a:cs typeface="Courier New" pitchFamily="34" charset="-120"/>
              </a:rPr>
              <a:t>25</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a:t>
            </a:r>
            <a:r>
              <a:rPr lang="en-US" sz="1600" dirty="0">
                <a:solidFill>
                  <a:srgbClr val="047857"/>
                </a:solidFill>
                <a:latin typeface="Courier New" pitchFamily="34" charset="0"/>
                <a:ea typeface="Courier New" pitchFamily="34" charset="-122"/>
                <a:cs typeface="Courier New" pitchFamily="34" charset="-120"/>
              </a:rPr>
              <a:t>"Sıcak"</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else</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a:t>
            </a:r>
            <a:r>
              <a:rPr lang="en-US" sz="1600" dirty="0">
                <a:solidFill>
                  <a:srgbClr val="047857"/>
                </a:solidFill>
                <a:latin typeface="Courier New" pitchFamily="34" charset="0"/>
                <a:ea typeface="Courier New" pitchFamily="34" charset="-122"/>
                <a:cs typeface="Courier New" pitchFamily="34" charset="-120"/>
              </a:rPr>
              <a:t>"Ilık veya serin"</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429354"/>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4557370"/>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temp 31 olduğundan ilk koşul yanlış, ikincisi doğrudur ve "Sıcak" yazılır.</a:t>
            </a:r>
            <a:endParaRPr lang="en-US" sz="1100" dirty="0"/>
          </a:p>
        </p:txBody>
      </p:sp>
      <p:sp>
        <p:nvSpPr>
          <p:cNvPr id="9" name="Text 7"/>
          <p:cNvSpPr txBox="1"/>
          <p:nvPr/>
        </p:nvSpPr>
        <p:spPr>
          <a:xfrm>
            <a:off x="7772400" y="1645920"/>
            <a:ext cx="3931920" cy="208483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koşula göre farklı kod yolunu seçmektir.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Koşullar yukarıdan aşağıya sırayla değerlendirilir ve ilk doğru olan blok çalışır. Bu yüzden daha özel koşul önce, genel koşul sonra yazılmalıdır.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Operatörler: ?., ?? ve ||</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911096"/>
          </a:xfrm>
          <a:prstGeom prst="roundRect">
            <a:avLst>
              <a:gd name="adj" fmla="val 478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362456"/>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user = { name: </a:t>
            </a:r>
            <a:r>
              <a:rPr lang="en-US" sz="1600" dirty="0">
                <a:solidFill>
                  <a:srgbClr val="047857"/>
                </a:solidFill>
                <a:latin typeface="Courier New" pitchFamily="34" charset="0"/>
                <a:ea typeface="Courier New" pitchFamily="34" charset="-122"/>
                <a:cs typeface="Courier New" pitchFamily="34" charset="-120"/>
              </a:rPr>
              <a:t>"Ali"</a:t>
            </a:r>
            <a:r>
              <a:rPr lang="en-US" sz="1600" dirty="0">
                <a:solidFill>
                  <a:srgbClr val="111827"/>
                </a:solidFill>
                <a:latin typeface="Courier New" pitchFamily="34" charset="0"/>
                <a:ea typeface="Courier New" pitchFamily="34" charset="-122"/>
                <a:cs typeface="Courier New" pitchFamily="34" charset="-120"/>
              </a:rPr>
              <a:t>, address: </a:t>
            </a:r>
            <a:r>
              <a:rPr lang="en-US" sz="1600" b="1" dirty="0">
                <a:solidFill>
                  <a:srgbClr val="2563EB"/>
                </a:solidFill>
                <a:latin typeface="Courier New" pitchFamily="34" charset="0"/>
                <a:ea typeface="Courier New" pitchFamily="34" charset="-122"/>
                <a:cs typeface="Courier New" pitchFamily="34" charset="-120"/>
              </a:rPr>
              <a:t>null</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console.log(user.address?.city);</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nick = user.nickname ?? </a:t>
            </a:r>
            <a:r>
              <a:rPr lang="en-US" sz="1600" dirty="0">
                <a:solidFill>
                  <a:srgbClr val="047857"/>
                </a:solidFill>
                <a:latin typeface="Courier New" pitchFamily="34" charset="0"/>
                <a:ea typeface="Courier New" pitchFamily="34" charset="-122"/>
                <a:cs typeface="Courier New" pitchFamily="34" charset="-120"/>
              </a:rPr>
              <a:t>"Misafir"</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console.log(nick);</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 || </a:t>
            </a:r>
            <a:r>
              <a:rPr lang="en-US" sz="1600" dirty="0">
                <a:solidFill>
                  <a:srgbClr val="B45309"/>
                </a:solidFill>
                <a:latin typeface="Courier New" pitchFamily="34" charset="0"/>
                <a:ea typeface="Courier New" pitchFamily="34" charset="-122"/>
                <a:cs typeface="Courier New" pitchFamily="34" charset="-120"/>
              </a:rPr>
              <a:t>10</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 ?? </a:t>
            </a:r>
            <a:r>
              <a:rPr lang="en-US" sz="1600" dirty="0">
                <a:solidFill>
                  <a:srgbClr val="B45309"/>
                </a:solidFill>
                <a:latin typeface="Courier New" pitchFamily="34" charset="0"/>
                <a:ea typeface="Courier New" pitchFamily="34" charset="-122"/>
                <a:cs typeface="Courier New" pitchFamily="34" charset="-120"/>
              </a:rPr>
              <a:t>10</a:t>
            </a: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3694176"/>
            <a:ext cx="6766560" cy="117043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3822192"/>
            <a:ext cx="6364224" cy="902208"/>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Undefined</a:t>
            </a:r>
          </a:p>
          <a:p>
            <a:pPr marL="0" indent="0" algn="l">
              <a:buNone/>
            </a:pPr>
            <a:r>
              <a:rPr lang="en-US" sz="1500" dirty="0" err="1">
                <a:solidFill>
                  <a:srgbClr val="111827"/>
                </a:solidFill>
                <a:latin typeface="Arial" pitchFamily="34" charset="0"/>
                <a:ea typeface="Arial" pitchFamily="34" charset="-122"/>
                <a:cs typeface="Arial" pitchFamily="34" charset="-120"/>
              </a:rPr>
              <a:t>Misafir</a:t>
            </a:r>
            <a:endParaRPr lang="en-US" sz="1500" dirty="0">
              <a:solidFill>
                <a:srgbClr val="111827"/>
              </a:solidFill>
              <a:latin typeface="Arial" pitchFamily="34" charset="0"/>
              <a:ea typeface="Arial" pitchFamily="34" charset="-122"/>
              <a:cs typeface="Arial" pitchFamily="34" charset="-120"/>
            </a:endParaRPr>
          </a:p>
          <a:p>
            <a:pPr marL="0" indent="0" algn="l">
              <a:buNone/>
            </a:pPr>
            <a:r>
              <a:rPr lang="en-US" sz="1500" dirty="0">
                <a:solidFill>
                  <a:srgbClr val="111827"/>
                </a:solidFill>
                <a:latin typeface="Arial" pitchFamily="34" charset="0"/>
                <a:ea typeface="Arial" pitchFamily="34" charset="-122"/>
                <a:cs typeface="Arial" pitchFamily="34" charset="-120"/>
              </a:rPr>
              <a:t>10 0</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olmayan veriyle güvenli çalışmaktır.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 zincirin ortasında null veya undefined varsa hata vermek yerine undefined döndürür. ?? yalnızca null veya undefined olduğunda yedek değeri kullanır; || ise 0 gibi false sayılan değerlerde de yedeğe geçer.</a:t>
            </a:r>
            <a:endParaRPr lang="en-US" sz="1800" dirty="0"/>
          </a:p>
        </p:txBody>
      </p:sp>
      <p:sp>
        <p:nvSpPr>
          <p:cNvPr id="10" name="Shape 8"/>
          <p:cNvSpPr/>
          <p:nvPr/>
        </p:nvSpPr>
        <p:spPr>
          <a:xfrm>
            <a:off x="7772400" y="441655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54456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Sunucudan gelen verinin eksik olma ihtimali yüksektir; ?. ve ?? bu durumda uygulamanın çökmesini önler.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switch ile Çoklu Seçim</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3381451"/>
          </a:xfrm>
          <a:prstGeom prst="roundRect">
            <a:avLst>
              <a:gd name="adj" fmla="val 2704"/>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2832811"/>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day = </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switch</a:t>
            </a:r>
            <a:r>
              <a:rPr lang="en-US" sz="1600" dirty="0">
                <a:solidFill>
                  <a:srgbClr val="111827"/>
                </a:solidFill>
                <a:latin typeface="Courier New" pitchFamily="34" charset="0"/>
                <a:ea typeface="Courier New" pitchFamily="34" charset="-122"/>
                <a:cs typeface="Courier New" pitchFamily="34" charset="-120"/>
              </a:rPr>
              <a:t> (day)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case</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a:t>
            </a:r>
            <a:r>
              <a:rPr lang="en-US" sz="1600" dirty="0">
                <a:solidFill>
                  <a:srgbClr val="047857"/>
                </a:solidFill>
                <a:latin typeface="Courier New" pitchFamily="34" charset="0"/>
                <a:ea typeface="Courier New" pitchFamily="34" charset="-122"/>
                <a:cs typeface="Courier New" pitchFamily="34" charset="-120"/>
              </a:rPr>
              <a:t>"Pazartesi"</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break</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case</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a:t>
            </a:r>
            <a:r>
              <a:rPr lang="en-US" sz="1600" dirty="0">
                <a:solidFill>
                  <a:srgbClr val="047857"/>
                </a:solidFill>
                <a:latin typeface="Courier New" pitchFamily="34" charset="0"/>
                <a:ea typeface="Courier New" pitchFamily="34" charset="-122"/>
                <a:cs typeface="Courier New" pitchFamily="34" charset="-120"/>
              </a:rPr>
              <a:t>"Çarşamba"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break</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default</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a:t>
            </a:r>
            <a:r>
              <a:rPr lang="en-US" sz="1600" dirty="0">
                <a:solidFill>
                  <a:srgbClr val="047857"/>
                </a:solidFill>
                <a:latin typeface="Courier New" pitchFamily="34" charset="0"/>
                <a:ea typeface="Courier New" pitchFamily="34" charset="-122"/>
                <a:cs typeface="Courier New" pitchFamily="34" charset="-120"/>
              </a:rPr>
              <a:t>"Başka gün"</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5164531"/>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5292547"/>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day 3 olduğundan "Çarşamba" yazılır.</a:t>
            </a:r>
            <a:endParaRPr lang="en-US" sz="1100" dirty="0"/>
          </a:p>
        </p:txBody>
      </p:sp>
      <p:sp>
        <p:nvSpPr>
          <p:cNvPr id="9" name="Text 7"/>
          <p:cNvSpPr txBox="1"/>
          <p:nvPr/>
        </p:nvSpPr>
        <p:spPr>
          <a:xfrm>
            <a:off x="7772400" y="1645920"/>
            <a:ext cx="3931920" cy="345643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tek bir değerin birçok olası sonucunu düzenli biçimde ayırmaktır.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switch değeri her case ile === mantığıyla karşılaştırır. break yazılmazsa akış bir sonraki case'e düşer. default hiçbir durum eşleşmediğinde çalışır.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Aralık veya bileşik koşul gerekiyorsa if, sabit bir değerin çok sayıda seçeneği varsa switch tercih edilir.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Döngüler: for ve while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for</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let</a:t>
            </a:r>
            <a:r>
              <a:rPr lang="en-US" sz="1600" dirty="0">
                <a:solidFill>
                  <a:srgbClr val="111827"/>
                </a:solidFill>
                <a:latin typeface="Courier New" pitchFamily="34" charset="0"/>
                <a:ea typeface="Courier New" pitchFamily="34" charset="-122"/>
                <a:cs typeface="Courier New" pitchFamily="34" charset="-120"/>
              </a:rPr>
              <a:t> i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i &lt;= </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 i++)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a:t>
            </a:r>
            <a:r>
              <a:rPr lang="en-US" sz="1600" dirty="0">
                <a:solidFill>
                  <a:srgbClr val="047857"/>
                </a:solidFill>
                <a:latin typeface="Courier New" pitchFamily="34" charset="0"/>
                <a:ea typeface="Courier New" pitchFamily="34" charset="-122"/>
                <a:cs typeface="Courier New" pitchFamily="34" charset="-120"/>
              </a:rPr>
              <a:t>"Tekrar"</a:t>
            </a:r>
            <a:r>
              <a:rPr lang="en-US" sz="1600" dirty="0">
                <a:solidFill>
                  <a:srgbClr val="111827"/>
                </a:solidFill>
                <a:latin typeface="Courier New" pitchFamily="34" charset="0"/>
                <a:ea typeface="Courier New" pitchFamily="34" charset="-122"/>
                <a:cs typeface="Courier New" pitchFamily="34" charset="-120"/>
              </a:rPr>
              <a:t>, i);</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let</a:t>
            </a:r>
            <a:r>
              <a:rPr lang="en-US" sz="1600" dirty="0">
                <a:solidFill>
                  <a:srgbClr val="111827"/>
                </a:solidFill>
                <a:latin typeface="Courier New" pitchFamily="34" charset="0"/>
                <a:ea typeface="Courier New" pitchFamily="34" charset="-122"/>
                <a:cs typeface="Courier New" pitchFamily="34" charset="-120"/>
              </a:rPr>
              <a:t> n = </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while</a:t>
            </a:r>
            <a:r>
              <a:rPr lang="en-US" sz="1600" dirty="0">
                <a:solidFill>
                  <a:srgbClr val="111827"/>
                </a:solidFill>
                <a:latin typeface="Courier New" pitchFamily="34" charset="0"/>
                <a:ea typeface="Courier New" pitchFamily="34" charset="-122"/>
                <a:cs typeface="Courier New" pitchFamily="34" charset="-120"/>
              </a:rPr>
              <a:t> (n &gt;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a:t>
            </a:r>
            <a:r>
              <a:rPr lang="en-US" sz="1600" dirty="0">
                <a:solidFill>
                  <a:srgbClr val="047857"/>
                </a:solidFill>
                <a:latin typeface="Courier New" pitchFamily="34" charset="0"/>
                <a:ea typeface="Courier New" pitchFamily="34" charset="-122"/>
                <a:cs typeface="Courier New" pitchFamily="34" charset="-120"/>
              </a:rPr>
              <a:t>"Geri sayım"</a:t>
            </a:r>
            <a:r>
              <a:rPr lang="en-US" sz="1600" dirty="0">
                <a:solidFill>
                  <a:srgbClr val="111827"/>
                </a:solidFill>
                <a:latin typeface="Courier New" pitchFamily="34" charset="0"/>
                <a:ea typeface="Courier New" pitchFamily="34" charset="-122"/>
                <a:cs typeface="Courier New" pitchFamily="34" charset="-120"/>
              </a:rPr>
              <a:t>, n);</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n--;</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42935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55737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err="1">
                <a:solidFill>
                  <a:srgbClr val="111827"/>
                </a:solidFill>
                <a:latin typeface="Arial" pitchFamily="34" charset="0"/>
                <a:ea typeface="Arial" pitchFamily="34" charset="-122"/>
                <a:cs typeface="Arial" pitchFamily="34" charset="-120"/>
              </a:rPr>
              <a:t>Önce</a:t>
            </a:r>
            <a:r>
              <a:rPr lang="en-US" sz="1500" dirty="0">
                <a:solidFill>
                  <a:srgbClr val="111827"/>
                </a:solidFill>
                <a:latin typeface="Arial" pitchFamily="34" charset="0"/>
                <a:ea typeface="Arial" pitchFamily="34" charset="-122"/>
                <a:cs typeface="Arial" pitchFamily="34" charset="-120"/>
              </a:rPr>
              <a:t> </a:t>
            </a:r>
            <a:r>
              <a:rPr lang="en-US" sz="1500" dirty="0" err="1">
                <a:solidFill>
                  <a:srgbClr val="111827"/>
                </a:solidFill>
                <a:latin typeface="Arial" pitchFamily="34" charset="0"/>
                <a:ea typeface="Arial" pitchFamily="34" charset="-122"/>
                <a:cs typeface="Arial" pitchFamily="34" charset="-120"/>
              </a:rPr>
              <a:t>Tekrar</a:t>
            </a:r>
            <a:r>
              <a:rPr lang="en-US" sz="1500" dirty="0">
                <a:solidFill>
                  <a:srgbClr val="111827"/>
                </a:solidFill>
                <a:latin typeface="Arial" pitchFamily="34" charset="0"/>
                <a:ea typeface="Arial" pitchFamily="34" charset="-122"/>
                <a:cs typeface="Arial" pitchFamily="34" charset="-120"/>
              </a:rPr>
              <a:t> 1, 2, 3 yazılır; sonra Geri sayım 3, 2, 1 yazılır.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aynı işi belirli sayıda veya koşul sağlandığı sürece tekrarlamaktır.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for döngüsünde başlangıç, koşul ve artırma tek satırda yazılır; tekrar sayısı bellidir. while ise yalnızca koşula bakar; koşulu yanlış yapacak bir değişiklik yapılmazsa sonsuz döngü oluşur.</a:t>
            </a:r>
            <a:endParaRPr lang="en-US" sz="1800" dirty="0"/>
          </a:p>
        </p:txBody>
      </p:sp>
      <p:sp>
        <p:nvSpPr>
          <p:cNvPr id="10" name="Shape 8"/>
          <p:cNvSpPr/>
          <p:nvPr/>
        </p:nvSpPr>
        <p:spPr>
          <a:xfrm>
            <a:off x="7772400" y="441655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54456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Sonsuz döngü uygulamayı dondurur; mobilde bu, kullanıcı arayüzünün tamamen yanıt vermemesi anlamına gelir.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for...of ve for...in</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apps = [</a:t>
            </a:r>
            <a:r>
              <a:rPr lang="en-US" sz="1600" dirty="0">
                <a:solidFill>
                  <a:srgbClr val="047857"/>
                </a:solidFill>
                <a:latin typeface="Courier New" pitchFamily="34" charset="0"/>
                <a:ea typeface="Courier New" pitchFamily="34" charset="-122"/>
                <a:cs typeface="Courier New" pitchFamily="34" charset="-120"/>
              </a:rPr>
              <a:t>"Mail"</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"Harita"</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"Kamera"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for</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app </a:t>
            </a:r>
            <a:r>
              <a:rPr lang="en-US" sz="1600" b="1" dirty="0">
                <a:solidFill>
                  <a:srgbClr val="2563EB"/>
                </a:solidFill>
                <a:latin typeface="Courier New" pitchFamily="34" charset="0"/>
                <a:ea typeface="Courier New" pitchFamily="34" charset="-122"/>
                <a:cs typeface="Courier New" pitchFamily="34" charset="-120"/>
              </a:rPr>
              <a:t>of</a:t>
            </a:r>
            <a:r>
              <a:rPr lang="en-US" sz="1600" dirty="0">
                <a:solidFill>
                  <a:srgbClr val="111827"/>
                </a:solidFill>
                <a:latin typeface="Courier New" pitchFamily="34" charset="0"/>
                <a:ea typeface="Courier New" pitchFamily="34" charset="-122"/>
                <a:cs typeface="Courier New" pitchFamily="34" charset="-120"/>
              </a:rPr>
              <a:t> apps)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console.log(app);</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phone = { os: </a:t>
            </a:r>
            <a:r>
              <a:rPr lang="en-US" sz="1600" dirty="0">
                <a:solidFill>
                  <a:srgbClr val="047857"/>
                </a:solidFill>
                <a:latin typeface="Courier New" pitchFamily="34" charset="0"/>
                <a:ea typeface="Courier New" pitchFamily="34" charset="-122"/>
                <a:cs typeface="Courier New" pitchFamily="34" charset="-120"/>
              </a:rPr>
              <a:t>"Android"</a:t>
            </a:r>
            <a:r>
              <a:rPr lang="en-US" sz="1600" dirty="0">
                <a:solidFill>
                  <a:srgbClr val="111827"/>
                </a:solidFill>
                <a:latin typeface="Courier New" pitchFamily="34" charset="0"/>
                <a:ea typeface="Courier New" pitchFamily="34" charset="-122"/>
                <a:cs typeface="Courier New" pitchFamily="34" charset="-120"/>
              </a:rPr>
              <a:t>, ram: </a:t>
            </a:r>
            <a:r>
              <a:rPr lang="en-US" sz="1600" dirty="0">
                <a:solidFill>
                  <a:srgbClr val="B45309"/>
                </a:solidFill>
                <a:latin typeface="Courier New" pitchFamily="34" charset="0"/>
                <a:ea typeface="Courier New" pitchFamily="34" charset="-122"/>
                <a:cs typeface="Courier New" pitchFamily="34" charset="-120"/>
              </a:rPr>
              <a:t>8</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for</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key </a:t>
            </a:r>
            <a:r>
              <a:rPr lang="en-US" sz="1600" b="1" dirty="0">
                <a:solidFill>
                  <a:srgbClr val="2563EB"/>
                </a:solidFill>
                <a:latin typeface="Courier New" pitchFamily="34" charset="0"/>
                <a:ea typeface="Courier New" pitchFamily="34" charset="-122"/>
                <a:cs typeface="Courier New" pitchFamily="34" charset="-120"/>
              </a:rPr>
              <a:t>in</a:t>
            </a:r>
            <a:r>
              <a:rPr lang="en-US" sz="1600" dirty="0">
                <a:solidFill>
                  <a:srgbClr val="111827"/>
                </a:solidFill>
                <a:latin typeface="Courier New" pitchFamily="34" charset="0"/>
                <a:ea typeface="Courier New" pitchFamily="34" charset="-122"/>
                <a:cs typeface="Courier New" pitchFamily="34" charset="-120"/>
              </a:rPr>
              <a:t> phone)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console.log(key, phone[key]);</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429354"/>
            <a:ext cx="6766560" cy="987552"/>
          </a:xfrm>
          <a:prstGeom prst="roundRect">
            <a:avLst>
              <a:gd name="adj" fmla="val 9259"/>
            </a:avLst>
          </a:prstGeom>
          <a:solidFill>
            <a:srgbClr val="EFF6FF"/>
          </a:solidFill>
          <a:ln w="9525">
            <a:solidFill>
              <a:srgbClr val="EFF6FF"/>
            </a:solidFill>
            <a:prstDash val="solid"/>
          </a:ln>
        </p:spPr>
      </p:sp>
      <p:sp>
        <p:nvSpPr>
          <p:cNvPr id="8" name="Text 6"/>
          <p:cNvSpPr txBox="1"/>
          <p:nvPr/>
        </p:nvSpPr>
        <p:spPr>
          <a:xfrm>
            <a:off x="932688" y="4557370"/>
            <a:ext cx="6364224" cy="7315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Önce Mail, Harita, Kamera alt alta yazılır; sonra "os Android" ve "ram 8" yazılır.</a:t>
            </a:r>
            <a:endParaRPr lang="en-US" sz="1100" dirty="0"/>
          </a:p>
        </p:txBody>
      </p:sp>
      <p:sp>
        <p:nvSpPr>
          <p:cNvPr id="9" name="Text 7"/>
          <p:cNvSpPr txBox="1"/>
          <p:nvPr/>
        </p:nvSpPr>
        <p:spPr>
          <a:xfrm>
            <a:off x="7772400" y="1645920"/>
            <a:ext cx="3931920" cy="208483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dizi elemanlarını ve nesne anahtarlarını dolaşmaktır.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for...of dizinin elemanlarını, for...in ise nesnenin anahtarlarını verir. Karıştırmamak için dizide for...of, nesnede for...in kullanılır.</a:t>
            </a:r>
            <a:endParaRPr lang="en-US" sz="1800" dirty="0"/>
          </a:p>
        </p:txBody>
      </p:sp>
      <p:sp>
        <p:nvSpPr>
          <p:cNvPr id="10" name="Shape 8"/>
          <p:cNvSpPr/>
          <p:nvPr/>
        </p:nvSpPr>
        <p:spPr>
          <a:xfrm>
            <a:off x="7772400" y="386791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3995928"/>
            <a:ext cx="3529584" cy="914400"/>
          </a:xfrm>
          <a:prstGeom prst="rect">
            <a:avLst/>
          </a:prstGeom>
          <a:noFill/>
          <a:ln/>
        </p:spPr>
        <p:txBody>
          <a:bodyPr wrap="square" lIns="0" tIns="0" rIns="0" bIns="0" rtlCol="0" anchor="t"/>
          <a:lstStyle/>
          <a:p>
            <a:pPr marL="0" indent="0" algn="l">
              <a:buNone/>
            </a:pPr>
            <a:r>
              <a:rPr lang="en-US" sz="1100" b="1" dirty="0">
                <a:solidFill>
                  <a:srgbClr val="B91C1C"/>
                </a:solidFill>
                <a:latin typeface="Arial" pitchFamily="34" charset="0"/>
                <a:ea typeface="Arial" pitchFamily="34" charset="-122"/>
                <a:cs typeface="Arial" pitchFamily="34" charset="-120"/>
              </a:rPr>
              <a:t>SIK YAPILAN HATA</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Dizide for...in kullanmak; sıra numaralarını metin olarak verir ve beklenmedik sonuçlar doğurabilir.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Dizi ve Nesne Temelleri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156155"/>
          </a:xfrm>
          <a:prstGeom prst="roundRect">
            <a:avLst>
              <a:gd name="adj" fmla="val 424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607515"/>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apps = [</a:t>
            </a:r>
            <a:r>
              <a:rPr lang="en-US" sz="1600" dirty="0">
                <a:solidFill>
                  <a:srgbClr val="047857"/>
                </a:solidFill>
                <a:latin typeface="Courier New" pitchFamily="34" charset="0"/>
                <a:ea typeface="Courier New" pitchFamily="34" charset="-122"/>
                <a:cs typeface="Courier New" pitchFamily="34" charset="-120"/>
              </a:rPr>
              <a:t>"Mail"</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"Harita"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apps.push(</a:t>
            </a:r>
            <a:r>
              <a:rPr lang="en-US" sz="1600" dirty="0">
                <a:solidFill>
                  <a:srgbClr val="047857"/>
                </a:solidFill>
                <a:latin typeface="Courier New" pitchFamily="34" charset="0"/>
                <a:ea typeface="Courier New" pitchFamily="34" charset="-122"/>
                <a:cs typeface="Courier New" pitchFamily="34" charset="-120"/>
              </a:rPr>
              <a:t>"Kamera"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console.log(apps.length);</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phone = { os: </a:t>
            </a:r>
            <a:r>
              <a:rPr lang="en-US" sz="1600" dirty="0">
                <a:solidFill>
                  <a:srgbClr val="047857"/>
                </a:solidFill>
                <a:latin typeface="Courier New" pitchFamily="34" charset="0"/>
                <a:ea typeface="Courier New" pitchFamily="34" charset="-122"/>
                <a:cs typeface="Courier New" pitchFamily="34" charset="-120"/>
              </a:rPr>
              <a:t>"Android"</a:t>
            </a:r>
            <a:r>
              <a:rPr lang="en-US" sz="1600" dirty="0">
                <a:solidFill>
                  <a:srgbClr val="111827"/>
                </a:solidFill>
                <a:latin typeface="Courier New" pitchFamily="34" charset="0"/>
                <a:ea typeface="Courier New" pitchFamily="34" charset="-122"/>
                <a:cs typeface="Courier New" pitchFamily="34" charset="-120"/>
              </a:rPr>
              <a:t>, ram: </a:t>
            </a:r>
            <a:r>
              <a:rPr lang="en-US" sz="1600" dirty="0">
                <a:solidFill>
                  <a:srgbClr val="B45309"/>
                </a:solidFill>
                <a:latin typeface="Courier New" pitchFamily="34" charset="0"/>
                <a:ea typeface="Courier New" pitchFamily="34" charset="-122"/>
                <a:cs typeface="Courier New" pitchFamily="34" charset="-120"/>
              </a:rPr>
              <a:t>8</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phone.ram = </a:t>
            </a:r>
            <a:r>
              <a:rPr lang="en-US" sz="1600" dirty="0">
                <a:solidFill>
                  <a:srgbClr val="B45309"/>
                </a:solidFill>
                <a:latin typeface="Courier New" pitchFamily="34" charset="0"/>
                <a:ea typeface="Courier New" pitchFamily="34" charset="-122"/>
                <a:cs typeface="Courier New" pitchFamily="34" charset="-120"/>
              </a:rPr>
              <a:t>12</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console.log(phone.os, phone[</a:t>
            </a:r>
            <a:r>
              <a:rPr lang="en-US" sz="1600" dirty="0">
                <a:solidFill>
                  <a:srgbClr val="047857"/>
                </a:solidFill>
                <a:latin typeface="Courier New" pitchFamily="34" charset="0"/>
                <a:ea typeface="Courier New" pitchFamily="34" charset="-122"/>
                <a:cs typeface="Courier New" pitchFamily="34" charset="-120"/>
              </a:rPr>
              <a:t>"ram"</a:t>
            </a: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3939235"/>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067251"/>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Dizi uzunluğu 3 yazılır, ardından "Android 12" görünür.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birden fazla değeri tek yapıda saklamaktır.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Dizi sıralı bir listedir, nesne ise anahtar-değer çiftleridir. const ile tanımlanmış dizi veya nesnenin içeriği değiştirilebilir; yalnızca değişkenin başka bir diziye bağlanması engellenir.</a:t>
            </a:r>
            <a:endParaRPr lang="en-US" sz="1800" dirty="0"/>
          </a:p>
        </p:txBody>
      </p:sp>
      <p:sp>
        <p:nvSpPr>
          <p:cNvPr id="10" name="Shape 8"/>
          <p:cNvSpPr/>
          <p:nvPr/>
        </p:nvSpPr>
        <p:spPr>
          <a:xfrm>
            <a:off x="7772400" y="414223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27024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const dizinin içeriğini dondurmaz. React'te state'i doğrudan değiştirmenin neden hata olduğunu 6. haftada bu bilgiyle açıklayacağız.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Dizi Metotları: map, filter, find, reduce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156155"/>
          </a:xfrm>
          <a:prstGeom prst="roundRect">
            <a:avLst>
              <a:gd name="adj" fmla="val 424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607515"/>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prices = [</a:t>
            </a:r>
            <a:r>
              <a:rPr lang="en-US" sz="1600" dirty="0">
                <a:solidFill>
                  <a:srgbClr val="B45309"/>
                </a:solidFill>
                <a:latin typeface="Courier New" pitchFamily="34" charset="0"/>
                <a:ea typeface="Courier New" pitchFamily="34" charset="-122"/>
                <a:cs typeface="Courier New" pitchFamily="34" charset="-120"/>
              </a:rPr>
              <a:t>120</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45</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300</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80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withTax = prices.map(p =&gt; p * </a:t>
            </a:r>
            <a:r>
              <a:rPr lang="en-US" sz="1600" dirty="0">
                <a:solidFill>
                  <a:srgbClr val="B45309"/>
                </a:solidFill>
                <a:latin typeface="Courier New" pitchFamily="34" charset="0"/>
                <a:ea typeface="Courier New" pitchFamily="34" charset="-122"/>
                <a:cs typeface="Courier New" pitchFamily="34" charset="-120"/>
              </a:rPr>
              <a:t>1.2</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cheap = prices.filter(p =&gt; p &lt; </a:t>
            </a:r>
            <a:r>
              <a:rPr lang="en-US" sz="1600" dirty="0">
                <a:solidFill>
                  <a:srgbClr val="B45309"/>
                </a:solidFill>
                <a:latin typeface="Courier New" pitchFamily="34" charset="0"/>
                <a:ea typeface="Courier New" pitchFamily="34" charset="-122"/>
                <a:cs typeface="Courier New" pitchFamily="34" charset="-120"/>
              </a:rPr>
              <a:t>100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first = prices.find(p =&gt; p &gt; </a:t>
            </a:r>
            <a:r>
              <a:rPr lang="en-US" sz="1600" dirty="0">
                <a:solidFill>
                  <a:srgbClr val="B45309"/>
                </a:solidFill>
                <a:latin typeface="Courier New" pitchFamily="34" charset="0"/>
                <a:ea typeface="Courier New" pitchFamily="34" charset="-122"/>
                <a:cs typeface="Courier New" pitchFamily="34" charset="-120"/>
              </a:rPr>
              <a:t>100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total = prices.reduce((s, p) =&gt; s + p,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console.log(cheap, first, total);</a:t>
            </a:r>
            <a:endParaRPr lang="en-US" sz="1600" dirty="0"/>
          </a:p>
        </p:txBody>
      </p:sp>
      <p:sp>
        <p:nvSpPr>
          <p:cNvPr id="7" name="Shape 5"/>
          <p:cNvSpPr/>
          <p:nvPr/>
        </p:nvSpPr>
        <p:spPr>
          <a:xfrm>
            <a:off x="731520" y="3939235"/>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067251"/>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Konsolda [ 45, 80 ] 120 545 yazılır.</a:t>
            </a:r>
            <a:endParaRPr lang="en-US" sz="1100" dirty="0"/>
          </a:p>
        </p:txBody>
      </p:sp>
      <p:sp>
        <p:nvSpPr>
          <p:cNvPr id="9" name="Text 7"/>
          <p:cNvSpPr txBox="1"/>
          <p:nvPr/>
        </p:nvSpPr>
        <p:spPr>
          <a:xfrm>
            <a:off x="7772400" y="1645920"/>
            <a:ext cx="3931920" cy="345643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döngü yazmadan veriyi dönüştürmek, süzmek ve toplamaktır.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map her elemanı dönüştürüp yeni dizi üretir, filter şartı sağlayanları seçer, find ilk eşleşeni döndürür, reduce tüm elemanları tek değere indirger. Hiçbiri orijinal diziyi değiştirmez.</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Dönüştürme için map, seçme için filter, tek eleman için find, toplama için reduce kullanılır.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3</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Fonksiyonlar</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Tanım, ok fonksiyonu, callback, kapsam</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Fonksiyon Bildirimi ve İfadesi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401214"/>
          </a:xfrm>
          <a:prstGeom prst="roundRect">
            <a:avLst>
              <a:gd name="adj" fmla="val 380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85257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add(a, b)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 + b;</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multiply = </a:t>
            </a: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(a, b)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 * b;</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console.log(add(</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 multiply(</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18429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31231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Konsola "5 6" yazılır.</a:t>
            </a:r>
            <a:endParaRPr lang="en-US" sz="1100" dirty="0"/>
          </a:p>
        </p:txBody>
      </p:sp>
      <p:sp>
        <p:nvSpPr>
          <p:cNvPr id="9" name="Text 7"/>
          <p:cNvSpPr txBox="1"/>
          <p:nvPr/>
        </p:nvSpPr>
        <p:spPr>
          <a:xfrm>
            <a:off x="7772400" y="1645920"/>
            <a:ext cx="3931920" cy="208483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tekrar kullanılabilir iş birimleri oluşturmaktır.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Fonksiyon bildirimi function anahtar sözcüğü ve adıyla tanımlanır; fonksiyon ifadesi ise bir değişkene atanır. İkisi de parametre alır, return ile sonuç döndürür.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Ok Fonksiyonları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401214"/>
          </a:xfrm>
          <a:prstGeom prst="roundRect">
            <a:avLst>
              <a:gd name="adj" fmla="val 380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85257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double = (x) =&gt; x *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greet = (name)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text = </a:t>
            </a:r>
            <a:r>
              <a:rPr lang="en-US" sz="1600" dirty="0">
                <a:solidFill>
                  <a:srgbClr val="047857"/>
                </a:solidFill>
                <a:latin typeface="Courier New" pitchFamily="34" charset="0"/>
                <a:ea typeface="Courier New" pitchFamily="34" charset="-122"/>
                <a:cs typeface="Courier New" pitchFamily="34" charset="-120"/>
              </a:rPr>
              <a:t>`Merhaba ${name}`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text;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sum3 = (a, b, c) =&gt; a + b + c;</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console.log(double(</a:t>
            </a:r>
            <a:r>
              <a:rPr lang="en-US" sz="1600" dirty="0">
                <a:solidFill>
                  <a:srgbClr val="B45309"/>
                </a:solidFill>
                <a:latin typeface="Courier New" pitchFamily="34" charset="0"/>
                <a:ea typeface="Courier New" pitchFamily="34" charset="-122"/>
                <a:cs typeface="Courier New" pitchFamily="34" charset="-120"/>
              </a:rPr>
              <a:t>4</a:t>
            </a:r>
            <a:r>
              <a:rPr lang="en-US" sz="1600" dirty="0">
                <a:solidFill>
                  <a:srgbClr val="111827"/>
                </a:solidFill>
                <a:latin typeface="Courier New" pitchFamily="34" charset="0"/>
                <a:ea typeface="Courier New" pitchFamily="34" charset="-122"/>
                <a:cs typeface="Courier New" pitchFamily="34" charset="-120"/>
              </a:rPr>
              <a:t>), greet(</a:t>
            </a:r>
            <a:r>
              <a:rPr lang="en-US" sz="1600" dirty="0">
                <a:solidFill>
                  <a:srgbClr val="047857"/>
                </a:solidFill>
                <a:latin typeface="Courier New" pitchFamily="34" charset="0"/>
                <a:ea typeface="Courier New" pitchFamily="34" charset="-122"/>
                <a:cs typeface="Courier New" pitchFamily="34" charset="-120"/>
              </a:rPr>
              <a:t>"Zeynep"</a:t>
            </a: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18429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31231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Konsola "8 Merhaba Zeynep" yazılır.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kısa fonksiyonları sade yazmak ve React Native kodundaki yaygın biçimi tanımaktır.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Gövde tek ifadeyse süslü parantez ve return yazılmaz; sonuç otomatik döner. Birden fazla satır varsa süslü parantez ve açık return gerekir.</a:t>
            </a:r>
            <a:endParaRPr lang="en-US" sz="1800" dirty="0"/>
          </a:p>
        </p:txBody>
      </p:sp>
      <p:sp>
        <p:nvSpPr>
          <p:cNvPr id="10" name="Shape 8"/>
          <p:cNvSpPr/>
          <p:nvPr/>
        </p:nvSpPr>
        <p:spPr>
          <a:xfrm>
            <a:off x="7772400" y="414223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27024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Süslü parantez açıp return yazmazsanız fonksiyon undefined döndürür; bu, ok fonksiyonlarında en sık yapılan hatadır.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Varsayılan Parametre ve Rest</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welcome(name = </a:t>
            </a:r>
            <a:r>
              <a:rPr lang="en-US" sz="1600" dirty="0">
                <a:solidFill>
                  <a:srgbClr val="047857"/>
                </a:solidFill>
                <a:latin typeface="Courier New" pitchFamily="34" charset="0"/>
                <a:ea typeface="Courier New" pitchFamily="34" charset="-122"/>
                <a:cs typeface="Courier New" pitchFamily="34" charset="-120"/>
              </a:rPr>
              <a:t>"Misafir"</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`Hoş geldin ${name}`</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sumAll(...numbers)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numbers.reduce((s, n) =&gt; s + n,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console.log(welcome());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console.log(sumAll(</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4</a:t>
            </a: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42935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55737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Önce "Hoş geldin Misafir", sonra 10 yazılır.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eksik argümanı güvenle karşılamak ve sınırsız sayıda argüman almaktır.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Varsayılan değer, argüman verilmediğinde (undefined geldiğinde) kullanılır. Rest parametresi ... ile gelen argümanları bir dizide toplar.</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Fonksiyonlar Değerdir: Callback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156155"/>
          </a:xfrm>
          <a:prstGeom prst="roundRect">
            <a:avLst>
              <a:gd name="adj" fmla="val 424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607515"/>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repeat(times, action)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for</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let</a:t>
            </a:r>
            <a:r>
              <a:rPr lang="en-US" sz="1600" dirty="0">
                <a:solidFill>
                  <a:srgbClr val="111827"/>
                </a:solidFill>
                <a:latin typeface="Courier New" pitchFamily="34" charset="0"/>
                <a:ea typeface="Courier New" pitchFamily="34" charset="-122"/>
                <a:cs typeface="Courier New" pitchFamily="34" charset="-120"/>
              </a:rPr>
              <a:t> i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i &lt;= times; i++)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action(i);</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repeat(</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 (n) =&gt; console.log(</a:t>
            </a:r>
            <a:r>
              <a:rPr lang="en-US" sz="1600" dirty="0">
                <a:solidFill>
                  <a:srgbClr val="047857"/>
                </a:solidFill>
                <a:latin typeface="Courier New" pitchFamily="34" charset="0"/>
                <a:ea typeface="Courier New" pitchFamily="34" charset="-122"/>
                <a:cs typeface="Courier New" pitchFamily="34" charset="-120"/>
              </a:rPr>
              <a:t>"Basış"</a:t>
            </a:r>
            <a:r>
              <a:rPr lang="en-US" sz="1600" dirty="0">
                <a:solidFill>
                  <a:srgbClr val="111827"/>
                </a:solidFill>
                <a:latin typeface="Courier New" pitchFamily="34" charset="0"/>
                <a:ea typeface="Courier New" pitchFamily="34" charset="-122"/>
                <a:cs typeface="Courier New" pitchFamily="34" charset="-120"/>
              </a:rPr>
              <a:t>, n));</a:t>
            </a:r>
            <a:endParaRPr lang="en-US" sz="1600" dirty="0"/>
          </a:p>
        </p:txBody>
      </p:sp>
      <p:sp>
        <p:nvSpPr>
          <p:cNvPr id="7" name="Shape 5"/>
          <p:cNvSpPr/>
          <p:nvPr/>
        </p:nvSpPr>
        <p:spPr>
          <a:xfrm>
            <a:off x="731520" y="3939235"/>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067251"/>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Konsola Basış 1, Basış 2 ve Basış 3 yazılır.</a:t>
            </a:r>
            <a:endParaRPr lang="en-US" sz="1100" dirty="0"/>
          </a:p>
        </p:txBody>
      </p:sp>
      <p:sp>
        <p:nvSpPr>
          <p:cNvPr id="9" name="Text 7"/>
          <p:cNvSpPr txBox="1"/>
          <p:nvPr/>
        </p:nvSpPr>
        <p:spPr>
          <a:xfrm>
            <a:off x="7772400" y="1645920"/>
            <a:ext cx="3931920" cy="345643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bir fonksiyonu başka bir fonksiyona argüman olarak vermektir.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repeat, ne yapılacağını bilmez; yapılacak işi action parametresiyle dışarıdan alır ve her turda çağırır. Bu şekilde verilen fonksiyona callback denir.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Davranışı çağıran taraf belirleyecekse fonksiyonu parametre olarak geçiririz; aynı yapı React Native'de düğmenin onPress özelliğinde karşımıza çıkacak.</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Kapsam ve Closure</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891333"/>
          </a:xfrm>
          <a:prstGeom prst="roundRect">
            <a:avLst>
              <a:gd name="adj" fmla="val 3163"/>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2342693"/>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createCounter()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let</a:t>
            </a:r>
            <a:r>
              <a:rPr lang="en-US" sz="1600" dirty="0">
                <a:solidFill>
                  <a:srgbClr val="111827"/>
                </a:solidFill>
                <a:latin typeface="Courier New" pitchFamily="34" charset="0"/>
                <a:ea typeface="Courier New" pitchFamily="34" charset="-122"/>
                <a:cs typeface="Courier New" pitchFamily="34" charset="-120"/>
              </a:rPr>
              <a:t> count = </a:t>
            </a:r>
            <a:r>
              <a:rPr lang="en-US" sz="1600" dirty="0">
                <a:solidFill>
                  <a:srgbClr val="B45309"/>
                </a:solidFill>
                <a:latin typeface="Courier New" pitchFamily="34" charset="0"/>
                <a:ea typeface="Courier New" pitchFamily="34" charset="-122"/>
                <a:cs typeface="Courier New" pitchFamily="34" charset="-120"/>
              </a:rPr>
              <a:t>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 =&gt;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count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count;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next = createCounter();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console.log(next(), next(), next());</a:t>
            </a:r>
            <a:endParaRPr lang="en-US" sz="1600" dirty="0"/>
          </a:p>
        </p:txBody>
      </p:sp>
      <p:sp>
        <p:nvSpPr>
          <p:cNvPr id="7" name="Shape 5"/>
          <p:cNvSpPr/>
          <p:nvPr/>
        </p:nvSpPr>
        <p:spPr>
          <a:xfrm>
            <a:off x="731520" y="4674413"/>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802429"/>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Konsola "1 2 3" yazılır.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bir fonksiyonun tanımlandığı yerdeki değişkenleri hatırlamasını anlamaktır.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İçerideki fonksiyon, dışındaki count değişkenine erişmeye devam eder; createCounter bittikten sonra bile değer bellekte tutulur. Bu davranışa closure denir.</a:t>
            </a:r>
            <a:endParaRPr lang="en-US" sz="1800" dirty="0"/>
          </a:p>
        </p:txBody>
      </p:sp>
      <p:sp>
        <p:nvSpPr>
          <p:cNvPr id="10" name="Shape 8"/>
          <p:cNvSpPr/>
          <p:nvPr/>
        </p:nvSpPr>
        <p:spPr>
          <a:xfrm>
            <a:off x="7772400" y="414223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27024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Closure React'te state ve olay işleyicilerinin neden eski değeri görebildiğini açıklayan kavramdır; bu hafta yalnızca tanıyoruz, derinleştirmiyoruz.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822960" y="2194560"/>
            <a:ext cx="7315200" cy="365760"/>
          </a:xfrm>
          <a:prstGeom prst="rect">
            <a:avLst/>
          </a:prstGeom>
          <a:noFill/>
          <a:ln/>
        </p:spPr>
        <p:txBody>
          <a:bodyPr wrap="square" lIns="0" tIns="0" rIns="0" bIns="0" rtlCol="0" anchor="ctr"/>
          <a:lstStyle/>
          <a:p>
            <a:pPr marL="0" indent="0" algn="l">
              <a:buNone/>
            </a:pPr>
            <a:r>
              <a:rPr lang="en-US" sz="1600" b="1" kern="0" spc="400" dirty="0">
                <a:solidFill>
                  <a:srgbClr val="2563EB"/>
                </a:solidFill>
                <a:latin typeface="Arial" pitchFamily="34" charset="0"/>
                <a:ea typeface="Arial" pitchFamily="34" charset="-122"/>
                <a:cs typeface="Arial" pitchFamily="34" charset="-120"/>
              </a:rPr>
              <a:t>BÖLÜM 4</a:t>
            </a:r>
            <a:endParaRPr lang="en-US" sz="1600" dirty="0"/>
          </a:p>
        </p:txBody>
      </p:sp>
      <p:sp>
        <p:nvSpPr>
          <p:cNvPr id="3" name="Text 1"/>
          <p:cNvSpPr txBox="1"/>
          <p:nvPr/>
        </p:nvSpPr>
        <p:spPr>
          <a:xfrm>
            <a:off x="822960" y="2651760"/>
            <a:ext cx="10058400" cy="1371600"/>
          </a:xfrm>
          <a:prstGeom prst="rect">
            <a:avLst/>
          </a:prstGeom>
          <a:noFill/>
          <a:ln/>
        </p:spPr>
        <p:txBody>
          <a:bodyPr wrap="square" lIns="0" tIns="0" rIns="0" bIns="0" rtlCol="0" anchor="t"/>
          <a:lstStyle/>
          <a:p>
            <a:pPr marL="0" indent="0" algn="l">
              <a:buNone/>
            </a:pPr>
            <a:r>
              <a:rPr lang="en-US" sz="4400" b="1" dirty="0">
                <a:solidFill>
                  <a:srgbClr val="111827"/>
                </a:solidFill>
                <a:latin typeface="Arial" pitchFamily="34" charset="0"/>
                <a:ea typeface="Arial" pitchFamily="34" charset="-122"/>
                <a:cs typeface="Arial" pitchFamily="34" charset="-120"/>
              </a:rPr>
              <a:t>Modern Sözdizimi</a:t>
            </a:r>
            <a:endParaRPr lang="en-US" sz="4400" dirty="0"/>
          </a:p>
        </p:txBody>
      </p:sp>
      <p:sp>
        <p:nvSpPr>
          <p:cNvPr id="4" name="Text 2"/>
          <p:cNvSpPr txBox="1"/>
          <p:nvPr/>
        </p:nvSpPr>
        <p:spPr>
          <a:xfrm>
            <a:off x="822960" y="4114800"/>
            <a:ext cx="9144000" cy="548640"/>
          </a:xfrm>
          <a:prstGeom prst="rect">
            <a:avLst/>
          </a:prstGeom>
          <a:noFill/>
          <a:ln/>
        </p:spPr>
        <p:txBody>
          <a:bodyPr wrap="square" lIns="0" tIns="0" rIns="0" bIns="0" rtlCol="0" anchor="ctr"/>
          <a:lstStyle/>
          <a:p>
            <a:pPr marL="0" indent="0" algn="l">
              <a:buNone/>
            </a:pPr>
            <a:r>
              <a:rPr lang="en-US" sz="2200" dirty="0">
                <a:solidFill>
                  <a:srgbClr val="6B7280"/>
                </a:solidFill>
                <a:latin typeface="Arial" pitchFamily="34" charset="0"/>
                <a:ea typeface="Arial" pitchFamily="34" charset="-122"/>
                <a:cs typeface="Arial" pitchFamily="34" charset="-120"/>
              </a:rPr>
              <a:t>Destructuring, spread, modüller</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Destructuring</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911096"/>
          </a:xfrm>
          <a:prstGeom prst="roundRect">
            <a:avLst>
              <a:gd name="adj" fmla="val 478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362456"/>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user = { name: </a:t>
            </a:r>
            <a:r>
              <a:rPr lang="en-US" sz="1600" dirty="0">
                <a:solidFill>
                  <a:srgbClr val="047857"/>
                </a:solidFill>
                <a:latin typeface="Courier New" pitchFamily="34" charset="0"/>
                <a:ea typeface="Courier New" pitchFamily="34" charset="-122"/>
                <a:cs typeface="Courier New" pitchFamily="34" charset="-120"/>
              </a:rPr>
              <a:t>"Ece"</a:t>
            </a:r>
            <a:r>
              <a:rPr lang="en-US" sz="1600" dirty="0">
                <a:solidFill>
                  <a:srgbClr val="111827"/>
                </a:solidFill>
                <a:latin typeface="Courier New" pitchFamily="34" charset="0"/>
                <a:ea typeface="Courier New" pitchFamily="34" charset="-122"/>
                <a:cs typeface="Courier New" pitchFamily="34" charset="-120"/>
              </a:rPr>
              <a:t>, city: </a:t>
            </a:r>
            <a:r>
              <a:rPr lang="en-US" sz="1600" dirty="0">
                <a:solidFill>
                  <a:srgbClr val="047857"/>
                </a:solidFill>
                <a:latin typeface="Courier New" pitchFamily="34" charset="0"/>
                <a:ea typeface="Courier New" pitchFamily="34" charset="-122"/>
                <a:cs typeface="Courier New" pitchFamily="34" charset="-120"/>
              </a:rPr>
              <a:t>"İzmir"</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 name, city } = user;</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[first] = [</a:t>
            </a:r>
            <a:r>
              <a:rPr lang="en-US" sz="1600" dirty="0">
                <a:solidFill>
                  <a:srgbClr val="047857"/>
                </a:solidFill>
                <a:latin typeface="Courier New" pitchFamily="34" charset="0"/>
                <a:ea typeface="Courier New" pitchFamily="34" charset="-122"/>
                <a:cs typeface="Courier New" pitchFamily="34" charset="-120"/>
              </a:rPr>
              <a:t>"Mail"</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"Harita"</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"Kamera"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 age: userAge = </a:t>
            </a:r>
            <a:r>
              <a:rPr lang="en-US" sz="1600" dirty="0">
                <a:solidFill>
                  <a:srgbClr val="B45309"/>
                </a:solidFill>
                <a:latin typeface="Courier New" pitchFamily="34" charset="0"/>
                <a:ea typeface="Courier New" pitchFamily="34" charset="-122"/>
                <a:cs typeface="Courier New" pitchFamily="34" charset="-120"/>
              </a:rPr>
              <a:t>18</a:t>
            </a:r>
            <a:r>
              <a:rPr lang="en-US" sz="1600" dirty="0">
                <a:solidFill>
                  <a:srgbClr val="111827"/>
                </a:solidFill>
                <a:latin typeface="Courier New" pitchFamily="34" charset="0"/>
                <a:ea typeface="Courier New" pitchFamily="34" charset="-122"/>
                <a:cs typeface="Courier New" pitchFamily="34" charset="-120"/>
              </a:rPr>
              <a:t> } = user;</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console.log(name, city, first, userAge);</a:t>
            </a:r>
            <a:endParaRPr lang="en-US" sz="1600" dirty="0"/>
          </a:p>
        </p:txBody>
      </p:sp>
      <p:sp>
        <p:nvSpPr>
          <p:cNvPr id="7" name="Shape 5"/>
          <p:cNvSpPr/>
          <p:nvPr/>
        </p:nvSpPr>
        <p:spPr>
          <a:xfrm>
            <a:off x="731520" y="3694176"/>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3822192"/>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Konsola "Ece İzmir Mail 18" yazılır.</a:t>
            </a:r>
            <a:endParaRPr lang="en-US" sz="1100" dirty="0"/>
          </a:p>
        </p:txBody>
      </p:sp>
      <p:sp>
        <p:nvSpPr>
          <p:cNvPr id="9" name="Text 7"/>
          <p:cNvSpPr txBox="1"/>
          <p:nvPr/>
        </p:nvSpPr>
        <p:spPr>
          <a:xfrm>
            <a:off x="7772400" y="1645920"/>
            <a:ext cx="3931920" cy="26334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nesne veya diziden değerleri tek satırda ayrı değişkenlere almaktır.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Nesnede süslü parantez, dizide köşeli parantez kullanılır. Nesnede ad eşleşmesi önemlidir; dizide sıra önemlidir. İki nokta ile yeni ad verilir, eşittir ile varsayılan değer atanır.</a:t>
            </a:r>
            <a:endParaRPr lang="en-US" sz="1800" dirty="0"/>
          </a:p>
        </p:txBody>
      </p:sp>
      <p:sp>
        <p:nvSpPr>
          <p:cNvPr id="10" name="Shape 8"/>
          <p:cNvSpPr/>
          <p:nvPr/>
        </p:nvSpPr>
        <p:spPr>
          <a:xfrm>
            <a:off x="7772400" y="4416552"/>
            <a:ext cx="3931920" cy="1170432"/>
          </a:xfrm>
          <a:prstGeom prst="roundRect">
            <a:avLst>
              <a:gd name="adj" fmla="val 7813"/>
            </a:avLst>
          </a:prstGeom>
          <a:solidFill>
            <a:srgbClr val="EFF6FF"/>
          </a:solidFill>
          <a:ln w="9525">
            <a:solidFill>
              <a:srgbClr val="EFF6FF"/>
            </a:solidFill>
            <a:prstDash val="solid"/>
          </a:ln>
        </p:spPr>
      </p:sp>
      <p:sp>
        <p:nvSpPr>
          <p:cNvPr id="11" name="Text 9"/>
          <p:cNvSpPr txBox="1"/>
          <p:nvPr/>
        </p:nvSpPr>
        <p:spPr>
          <a:xfrm>
            <a:off x="7973568" y="4544568"/>
            <a:ext cx="3529584" cy="91440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React Native'de bileşenin props değerlerini ve useState'in döndürdüğü diziyi bu sözdizimiyle alacağız.</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Spread: Kopyalayıp Güncellemek</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156155"/>
          </a:xfrm>
          <a:prstGeom prst="roundRect">
            <a:avLst>
              <a:gd name="adj" fmla="val 4241"/>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607515"/>
          </a:xfrm>
          <a:prstGeom prst="rect">
            <a:avLst/>
          </a:prstGeom>
          <a:noFill/>
          <a:ln/>
        </p:spPr>
        <p:txBody>
          <a:bodyPr wrap="square" lIns="0" tIns="0" rIns="0" bIns="0" rtlCol="0" anchor="t"/>
          <a:lstStyle/>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base = [</a:t>
            </a:r>
            <a:r>
              <a:rPr lang="en-US" sz="1600" dirty="0">
                <a:solidFill>
                  <a:srgbClr val="B45309"/>
                </a:solidFill>
                <a:latin typeface="Courier New" pitchFamily="34" charset="0"/>
                <a:ea typeface="Courier New" pitchFamily="34" charset="-122"/>
                <a:cs typeface="Courier New" pitchFamily="34" charset="-120"/>
              </a:rPr>
              <a:t>1</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more = [...base, </a:t>
            </a:r>
            <a:r>
              <a:rPr lang="en-US" sz="1600" dirty="0">
                <a:solidFill>
                  <a:srgbClr val="B45309"/>
                </a:solidFill>
                <a:latin typeface="Courier New" pitchFamily="34" charset="0"/>
                <a:ea typeface="Courier New" pitchFamily="34" charset="-122"/>
                <a:cs typeface="Courier New" pitchFamily="34" charset="-120"/>
              </a:rPr>
              <a:t>3</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user = { name: </a:t>
            </a:r>
            <a:r>
              <a:rPr lang="en-US" sz="1600" dirty="0">
                <a:solidFill>
                  <a:srgbClr val="047857"/>
                </a:solidFill>
                <a:latin typeface="Courier New" pitchFamily="34" charset="0"/>
                <a:ea typeface="Courier New" pitchFamily="34" charset="-122"/>
                <a:cs typeface="Courier New" pitchFamily="34" charset="-120"/>
              </a:rPr>
              <a:t>"Ece"</a:t>
            </a:r>
            <a:r>
              <a:rPr lang="en-US" sz="1600" dirty="0">
                <a:solidFill>
                  <a:srgbClr val="111827"/>
                </a:solidFill>
                <a:latin typeface="Courier New" pitchFamily="34" charset="0"/>
                <a:ea typeface="Courier New" pitchFamily="34" charset="-122"/>
                <a:cs typeface="Courier New" pitchFamily="34" charset="-120"/>
              </a:rPr>
              <a:t>, age: </a:t>
            </a:r>
            <a:r>
              <a:rPr lang="en-US" sz="1600" dirty="0">
                <a:solidFill>
                  <a:srgbClr val="B45309"/>
                </a:solidFill>
                <a:latin typeface="Courier New" pitchFamily="34" charset="0"/>
                <a:ea typeface="Courier New" pitchFamily="34" charset="-122"/>
                <a:cs typeface="Courier New" pitchFamily="34" charset="-120"/>
              </a:rPr>
              <a:t>20</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older = { ...user, age: </a:t>
            </a:r>
            <a:r>
              <a:rPr lang="en-US" sz="1600" dirty="0">
                <a:solidFill>
                  <a:srgbClr val="B45309"/>
                </a:solidFill>
                <a:latin typeface="Courier New" pitchFamily="34" charset="0"/>
                <a:ea typeface="Courier New" pitchFamily="34" charset="-122"/>
                <a:cs typeface="Courier New" pitchFamily="34" charset="-120"/>
              </a:rPr>
              <a:t>21</a:t>
            </a: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console.log(base, more);</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console.log(user.age, older.age);</a:t>
            </a:r>
            <a:endParaRPr lang="en-US" sz="1600" dirty="0"/>
          </a:p>
        </p:txBody>
      </p:sp>
      <p:sp>
        <p:nvSpPr>
          <p:cNvPr id="7" name="Shape 5"/>
          <p:cNvSpPr/>
          <p:nvPr/>
        </p:nvSpPr>
        <p:spPr>
          <a:xfrm>
            <a:off x="731520" y="3939235"/>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067251"/>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Önce "[ 1, 2 ] [ 1, 2, 3 ]", sonra "20 21" yazılır.</a:t>
            </a:r>
            <a:endParaRPr lang="en-US" sz="1100" dirty="0"/>
          </a:p>
        </p:txBody>
      </p:sp>
      <p:sp>
        <p:nvSpPr>
          <p:cNvPr id="9" name="Text 7"/>
          <p:cNvSpPr txBox="1"/>
          <p:nvPr/>
        </p:nvSpPr>
        <p:spPr>
          <a:xfrm>
            <a:off x="7772400" y="1645920"/>
            <a:ext cx="3931920" cy="400507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mevcut diziyi veya nesneyi değiştirmeden yenisini üretmektir.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 işleci diziyi veya nesneyi açar. Nesnede sonra yazılan anahtar öncekinin üzerine yazar; böylece yalnızca age değişirken diğer alanlar korunur. Orijinal veri değişmeden kalır.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Seçim mantığı: </a:t>
            </a:r>
            <a:r>
              <a:rPr lang="en-US" sz="1800" dirty="0">
                <a:solidFill>
                  <a:srgbClr val="111827"/>
                </a:solidFill>
                <a:latin typeface="Arial" pitchFamily="34" charset="0"/>
                <a:ea typeface="Arial" pitchFamily="34" charset="-122"/>
                <a:cs typeface="Arial" pitchFamily="34" charset="-120"/>
              </a:rPr>
              <a:t>Veriyi yerinde değiştirmek yerine kopyasını güncellemek, React'te yeniden çizimin doğru tetiklenmesini sağlar; konunun sahibi 6. haftadır, burada yalnızca sözdizimini öğreniyoruz.</a:t>
            </a:r>
            <a:endParaRPr lang="en-US" sz="18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Modüller: import ve export</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2646274"/>
          </a:xfrm>
          <a:prstGeom prst="roundRect">
            <a:avLst>
              <a:gd name="adj" fmla="val 3455"/>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2097634"/>
          </a:xfrm>
          <a:prstGeom prst="rect">
            <a:avLst/>
          </a:prstGeom>
          <a:noFill/>
          <a:ln/>
        </p:spPr>
        <p:txBody>
          <a:bodyPr wrap="square" lIns="0" tIns="0" rIns="0" bIns="0" rtlCol="0" anchor="t"/>
          <a:lstStyle/>
          <a:p>
            <a:pPr marL="0" indent="0" algn="l">
              <a:buNone/>
            </a:pPr>
            <a:r>
              <a:rPr lang="en-US" sz="1600" i="1" dirty="0">
                <a:solidFill>
                  <a:srgbClr val="6B7280"/>
                </a:solidFill>
                <a:latin typeface="Courier New" pitchFamily="34" charset="0"/>
                <a:ea typeface="Courier New" pitchFamily="34" charset="-122"/>
                <a:cs typeface="Courier New" pitchFamily="34" charset="-120"/>
              </a:rPr>
              <a:t>// mathUtils.js</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export</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const</a:t>
            </a:r>
            <a:r>
              <a:rPr lang="en-US" sz="1600" dirty="0">
                <a:solidFill>
                  <a:srgbClr val="111827"/>
                </a:solidFill>
                <a:latin typeface="Courier New" pitchFamily="34" charset="0"/>
                <a:ea typeface="Courier New" pitchFamily="34" charset="-122"/>
                <a:cs typeface="Courier New" pitchFamily="34" charset="-120"/>
              </a:rPr>
              <a:t> PI = </a:t>
            </a:r>
            <a:r>
              <a:rPr lang="en-US" sz="1600" dirty="0">
                <a:solidFill>
                  <a:srgbClr val="B45309"/>
                </a:solidFill>
                <a:latin typeface="Courier New" pitchFamily="34" charset="0"/>
                <a:ea typeface="Courier New" pitchFamily="34" charset="-122"/>
                <a:cs typeface="Courier New" pitchFamily="34" charset="-120"/>
              </a:rPr>
              <a:t>3.14</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export</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function</a:t>
            </a:r>
            <a:r>
              <a:rPr lang="en-US" sz="1600" dirty="0">
                <a:solidFill>
                  <a:srgbClr val="111827"/>
                </a:solidFill>
                <a:latin typeface="Courier New" pitchFamily="34" charset="0"/>
                <a:ea typeface="Courier New" pitchFamily="34" charset="-122"/>
                <a:cs typeface="Courier New" pitchFamily="34" charset="-120"/>
              </a:rPr>
              <a:t> area(r) { </a:t>
            </a:r>
            <a:r>
              <a:rPr lang="en-US" sz="1600" b="1" dirty="0">
                <a:solidFill>
                  <a:srgbClr val="2563EB"/>
                </a:solidFill>
                <a:latin typeface="Courier New" pitchFamily="34" charset="0"/>
                <a:ea typeface="Courier New" pitchFamily="34" charset="-122"/>
                <a:cs typeface="Courier New" pitchFamily="34" charset="-120"/>
              </a:rPr>
              <a:t>return</a:t>
            </a:r>
            <a:r>
              <a:rPr lang="en-US" sz="1600" dirty="0">
                <a:solidFill>
                  <a:srgbClr val="111827"/>
                </a:solidFill>
                <a:latin typeface="Courier New" pitchFamily="34" charset="0"/>
                <a:ea typeface="Courier New" pitchFamily="34" charset="-122"/>
                <a:cs typeface="Courier New" pitchFamily="34" charset="-120"/>
              </a:rPr>
              <a:t> PI * r * r; }</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export</a:t>
            </a:r>
            <a:r>
              <a:rPr lang="en-US" sz="1600" dirty="0">
                <a:solidFill>
                  <a:srgbClr val="111827"/>
                </a:solidFill>
                <a:latin typeface="Courier New" pitchFamily="34" charset="0"/>
                <a:ea typeface="Courier New" pitchFamily="34" charset="-122"/>
                <a:cs typeface="Courier New" pitchFamily="34" charset="-120"/>
              </a:rPr>
              <a:t> </a:t>
            </a:r>
            <a:r>
              <a:rPr lang="en-US" sz="1600" b="1" dirty="0">
                <a:solidFill>
                  <a:srgbClr val="2563EB"/>
                </a:solidFill>
                <a:latin typeface="Courier New" pitchFamily="34" charset="0"/>
                <a:ea typeface="Courier New" pitchFamily="34" charset="-122"/>
                <a:cs typeface="Courier New" pitchFamily="34" charset="-120"/>
              </a:rPr>
              <a:t>default</a:t>
            </a:r>
            <a:r>
              <a:rPr lang="en-US" sz="1600" dirty="0">
                <a:solidFill>
                  <a:srgbClr val="111827"/>
                </a:solidFill>
                <a:latin typeface="Courier New" pitchFamily="34" charset="0"/>
                <a:ea typeface="Courier New" pitchFamily="34" charset="-122"/>
                <a:cs typeface="Courier New" pitchFamily="34" charset="-120"/>
              </a:rPr>
              <a:t> () =&gt; </a:t>
            </a:r>
            <a:r>
              <a:rPr lang="en-US" sz="1600" dirty="0">
                <a:solidFill>
                  <a:srgbClr val="047857"/>
                </a:solidFill>
                <a:latin typeface="Courier New" pitchFamily="34" charset="0"/>
                <a:ea typeface="Courier New" pitchFamily="34" charset="-122"/>
                <a:cs typeface="Courier New" pitchFamily="34" charset="-120"/>
              </a:rPr>
              <a:t>"Merhaba"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a:t>
            </a:r>
            <a:endParaRPr lang="en-US" sz="1600" dirty="0"/>
          </a:p>
          <a:p>
            <a:pPr marL="0" indent="0" algn="l">
              <a:buNone/>
            </a:pPr>
            <a:r>
              <a:rPr lang="en-US" sz="1600" i="1" dirty="0">
                <a:solidFill>
                  <a:srgbClr val="6B7280"/>
                </a:solidFill>
                <a:latin typeface="Courier New" pitchFamily="34" charset="0"/>
                <a:ea typeface="Courier New" pitchFamily="34" charset="-122"/>
                <a:cs typeface="Courier New" pitchFamily="34" charset="-120"/>
              </a:rPr>
              <a:t>// app.js</a:t>
            </a:r>
            <a:endParaRPr lang="en-US" sz="1600" dirty="0"/>
          </a:p>
          <a:p>
            <a:pPr marL="0" indent="0" algn="l">
              <a:buNone/>
            </a:pPr>
            <a:r>
              <a:rPr lang="en-US" sz="1600" b="1" dirty="0">
                <a:solidFill>
                  <a:srgbClr val="2563EB"/>
                </a:solidFill>
                <a:latin typeface="Courier New" pitchFamily="34" charset="0"/>
                <a:ea typeface="Courier New" pitchFamily="34" charset="-122"/>
                <a:cs typeface="Courier New" pitchFamily="34" charset="-120"/>
              </a:rPr>
              <a:t>import</a:t>
            </a:r>
            <a:r>
              <a:rPr lang="en-US" sz="1600" dirty="0">
                <a:solidFill>
                  <a:srgbClr val="111827"/>
                </a:solidFill>
                <a:latin typeface="Courier New" pitchFamily="34" charset="0"/>
                <a:ea typeface="Courier New" pitchFamily="34" charset="-122"/>
                <a:cs typeface="Courier New" pitchFamily="34" charset="-120"/>
              </a:rPr>
              <a:t> hello, { PI, area } </a:t>
            </a:r>
            <a:r>
              <a:rPr lang="en-US" sz="1600" b="1" dirty="0">
                <a:solidFill>
                  <a:srgbClr val="2563EB"/>
                </a:solidFill>
                <a:latin typeface="Courier New" pitchFamily="34" charset="0"/>
                <a:ea typeface="Courier New" pitchFamily="34" charset="-122"/>
                <a:cs typeface="Courier New" pitchFamily="34" charset="-120"/>
              </a:rPr>
              <a:t>from</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047857"/>
                </a:solidFill>
                <a:latin typeface="Courier New" pitchFamily="34" charset="0"/>
                <a:ea typeface="Courier New" pitchFamily="34" charset="-122"/>
                <a:cs typeface="Courier New" pitchFamily="34" charset="-120"/>
              </a:rPr>
              <a:t>"./mathUtils.js"</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console.log(hello(), area(</a:t>
            </a:r>
            <a:r>
              <a:rPr lang="en-US" sz="1600" dirty="0">
                <a:solidFill>
                  <a:srgbClr val="B45309"/>
                </a:solidFill>
                <a:latin typeface="Courier New" pitchFamily="34" charset="0"/>
                <a:ea typeface="Courier New" pitchFamily="34" charset="-122"/>
                <a:cs typeface="Courier New" pitchFamily="34" charset="-120"/>
              </a:rPr>
              <a:t>2</a:t>
            </a: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4429354"/>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4557370"/>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Konsola "Merhaba 12.56" yazılır.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kodu dosyalara bölüp birbirine bağlamaktır.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export ile dışarıya açılan öğe başka dosyada import edilir. Adlandırılmış export'lar süslü parantezle, default export ise parantezsiz alınır; bir dosyada yalnızca bir default olabilir.</a:t>
            </a:r>
            <a:endParaRPr lang="en-US" sz="1800" dirty="0"/>
          </a:p>
        </p:txBody>
      </p:sp>
      <p:sp>
        <p:nvSpPr>
          <p:cNvPr id="10" name="Shape 8"/>
          <p:cNvSpPr/>
          <p:nvPr/>
        </p:nvSpPr>
        <p:spPr>
          <a:xfrm>
            <a:off x="7772400" y="414223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27024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Node'da bu sözdizimi için dosya uzantısı .mjs veya package.json'da "type": "module" gerekir; React Native'de bu ayar Metro tarafından otomatik yönetilir.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Asenkron Fikrin Ön İzlemesi</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Shape 2"/>
          <p:cNvSpPr/>
          <p:nvPr/>
        </p:nvSpPr>
        <p:spPr>
          <a:xfrm>
            <a:off x="731520" y="1645920"/>
            <a:ext cx="6766560" cy="1666037"/>
          </a:xfrm>
          <a:prstGeom prst="roundRect">
            <a:avLst>
              <a:gd name="adj" fmla="val 5488"/>
            </a:avLst>
          </a:prstGeom>
          <a:solidFill>
            <a:srgbClr val="F3F4F6"/>
          </a:solidFill>
          <a:ln w="9525">
            <a:solidFill>
              <a:srgbClr val="E5E7EB"/>
            </a:solidFill>
            <a:prstDash val="solid"/>
          </a:ln>
        </p:spPr>
      </p:sp>
      <p:sp>
        <p:nvSpPr>
          <p:cNvPr id="5" name="Text 3"/>
          <p:cNvSpPr txBox="1"/>
          <p:nvPr/>
        </p:nvSpPr>
        <p:spPr>
          <a:xfrm>
            <a:off x="6309360" y="1737360"/>
            <a:ext cx="1005840" cy="228600"/>
          </a:xfrm>
          <a:prstGeom prst="rect">
            <a:avLst/>
          </a:prstGeom>
          <a:noFill/>
          <a:ln/>
        </p:spPr>
        <p:txBody>
          <a:bodyPr wrap="square" lIns="0" tIns="0" rIns="0" bIns="0" rtlCol="0" anchor="ctr"/>
          <a:lstStyle/>
          <a:p>
            <a:pPr marL="0" indent="0" algn="r">
              <a:buNone/>
            </a:pPr>
            <a:r>
              <a:rPr lang="en-US" sz="1100" b="1" dirty="0">
                <a:solidFill>
                  <a:srgbClr val="6B7280"/>
                </a:solidFill>
                <a:latin typeface="Arial" pitchFamily="34" charset="0"/>
                <a:ea typeface="Arial" pitchFamily="34" charset="-122"/>
                <a:cs typeface="Arial" pitchFamily="34" charset="-120"/>
              </a:rPr>
              <a:t>JS</a:t>
            </a:r>
            <a:endParaRPr lang="en-US" sz="1100" dirty="0"/>
          </a:p>
        </p:txBody>
      </p:sp>
      <p:sp>
        <p:nvSpPr>
          <p:cNvPr id="6" name="Text 4"/>
          <p:cNvSpPr txBox="1"/>
          <p:nvPr/>
        </p:nvSpPr>
        <p:spPr>
          <a:xfrm>
            <a:off x="960120" y="2103120"/>
            <a:ext cx="6309360" cy="1117397"/>
          </a:xfrm>
          <a:prstGeom prst="rect">
            <a:avLst/>
          </a:prstGeom>
          <a:noFill/>
          <a:ln/>
        </p:spPr>
        <p:txBody>
          <a:bodyPr wrap="square" lIns="0" tIns="0" rIns="0" bIns="0" rtlCol="0" anchor="t"/>
          <a:lstStyle/>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t>
            </a:r>
            <a:r>
              <a:rPr lang="en-US" sz="1600" dirty="0">
                <a:solidFill>
                  <a:srgbClr val="047857"/>
                </a:solidFill>
                <a:latin typeface="Courier New" pitchFamily="34" charset="0"/>
                <a:ea typeface="Courier New" pitchFamily="34" charset="-122"/>
                <a:cs typeface="Courier New" pitchFamily="34" charset="-120"/>
              </a:rPr>
              <a:t>"1. Başla"</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setTimeout(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  () =&gt; console.log(</a:t>
            </a:r>
            <a:r>
              <a:rPr lang="en-US" sz="1600" dirty="0">
                <a:solidFill>
                  <a:srgbClr val="047857"/>
                </a:solidFill>
                <a:latin typeface="Courier New" pitchFamily="34" charset="0"/>
                <a:ea typeface="Courier New" pitchFamily="34" charset="-122"/>
                <a:cs typeface="Courier New" pitchFamily="34" charset="-120"/>
              </a:rPr>
              <a:t>"2. Gecikmeli"</a:t>
            </a:r>
            <a:r>
              <a:rPr lang="en-US" sz="1600" dirty="0">
                <a:solidFill>
                  <a:srgbClr val="111827"/>
                </a:solidFill>
                <a:latin typeface="Courier New" pitchFamily="34" charset="0"/>
                <a:ea typeface="Courier New" pitchFamily="34" charset="-122"/>
                <a:cs typeface="Courier New" pitchFamily="34" charset="-120"/>
              </a:rPr>
              <a:t>), </a:t>
            </a:r>
            <a:r>
              <a:rPr lang="en-US" sz="1600" dirty="0">
                <a:solidFill>
                  <a:srgbClr val="B45309"/>
                </a:solidFill>
                <a:latin typeface="Courier New" pitchFamily="34" charset="0"/>
                <a:ea typeface="Courier New" pitchFamily="34" charset="-122"/>
                <a:cs typeface="Courier New" pitchFamily="34" charset="-120"/>
              </a:rPr>
              <a:t>1000</a:t>
            </a:r>
            <a:r>
              <a:rPr lang="en-US" sz="1600" dirty="0">
                <a:solidFill>
                  <a:srgbClr val="111827"/>
                </a:solidFill>
                <a:latin typeface="Courier New" pitchFamily="34" charset="0"/>
                <a:ea typeface="Courier New" pitchFamily="34" charset="-122"/>
                <a:cs typeface="Courier New" pitchFamily="34" charset="-120"/>
              </a:rPr>
              <a:t>);</a:t>
            </a:r>
            <a:endParaRPr lang="en-US" sz="1600" dirty="0"/>
          </a:p>
          <a:p>
            <a:pPr marL="0" indent="0" algn="l">
              <a:buNone/>
            </a:pPr>
            <a:r>
              <a:rPr lang="en-US" sz="1600" dirty="0">
                <a:solidFill>
                  <a:srgbClr val="111827"/>
                </a:solidFill>
                <a:latin typeface="Courier New" pitchFamily="34" charset="0"/>
                <a:ea typeface="Courier New" pitchFamily="34" charset="-122"/>
                <a:cs typeface="Courier New" pitchFamily="34" charset="-120"/>
              </a:rPr>
              <a:t>console.log(</a:t>
            </a:r>
            <a:r>
              <a:rPr lang="en-US" sz="1600" dirty="0">
                <a:solidFill>
                  <a:srgbClr val="047857"/>
                </a:solidFill>
                <a:latin typeface="Courier New" pitchFamily="34" charset="0"/>
                <a:ea typeface="Courier New" pitchFamily="34" charset="-122"/>
                <a:cs typeface="Courier New" pitchFamily="34" charset="-120"/>
              </a:rPr>
              <a:t>"3. Bitti"</a:t>
            </a:r>
            <a:r>
              <a:rPr lang="en-US" sz="1600" dirty="0">
                <a:solidFill>
                  <a:srgbClr val="111827"/>
                </a:solidFill>
                <a:latin typeface="Courier New" pitchFamily="34" charset="0"/>
                <a:ea typeface="Courier New" pitchFamily="34" charset="-122"/>
                <a:cs typeface="Courier New" pitchFamily="34" charset="-120"/>
              </a:rPr>
              <a:t>);</a:t>
            </a:r>
            <a:endParaRPr lang="en-US" sz="1600" dirty="0"/>
          </a:p>
        </p:txBody>
      </p:sp>
      <p:sp>
        <p:nvSpPr>
          <p:cNvPr id="7" name="Shape 5"/>
          <p:cNvSpPr/>
          <p:nvPr/>
        </p:nvSpPr>
        <p:spPr>
          <a:xfrm>
            <a:off x="731520" y="3449117"/>
            <a:ext cx="6766560" cy="758952"/>
          </a:xfrm>
          <a:prstGeom prst="roundRect">
            <a:avLst>
              <a:gd name="adj" fmla="val 12048"/>
            </a:avLst>
          </a:prstGeom>
          <a:solidFill>
            <a:srgbClr val="EFF6FF"/>
          </a:solidFill>
          <a:ln w="9525">
            <a:solidFill>
              <a:srgbClr val="EFF6FF"/>
            </a:solidFill>
            <a:prstDash val="solid"/>
          </a:ln>
        </p:spPr>
      </p:sp>
      <p:sp>
        <p:nvSpPr>
          <p:cNvPr id="8" name="Text 6"/>
          <p:cNvSpPr txBox="1"/>
          <p:nvPr/>
        </p:nvSpPr>
        <p:spPr>
          <a:xfrm>
            <a:off x="932688" y="3577133"/>
            <a:ext cx="6364224" cy="50292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EKRANDA NE OLUR</a:t>
            </a:r>
            <a:endParaRPr lang="en-US" sz="1100" dirty="0"/>
          </a:p>
          <a:p>
            <a:pPr marL="0" indent="0" algn="l">
              <a:buNone/>
            </a:pPr>
            <a:r>
              <a:rPr lang="en-US" sz="1500" dirty="0">
                <a:solidFill>
                  <a:srgbClr val="111827"/>
                </a:solidFill>
                <a:latin typeface="Arial" pitchFamily="34" charset="0"/>
                <a:ea typeface="Arial" pitchFamily="34" charset="-122"/>
                <a:cs typeface="Arial" pitchFamily="34" charset="-120"/>
              </a:rPr>
              <a:t>Sıra 1, 3, 2 olur; ikinci mesaj yaklaşık bir saniye sonra görünür.</a:t>
            </a:r>
            <a:endParaRPr lang="en-US" sz="1100" dirty="0"/>
          </a:p>
        </p:txBody>
      </p:sp>
      <p:sp>
        <p:nvSpPr>
          <p:cNvPr id="9" name="Text 7"/>
          <p:cNvSpPr txBox="1"/>
          <p:nvPr/>
        </p:nvSpPr>
        <p:spPr>
          <a:xfrm>
            <a:off x="7772400" y="1645920"/>
            <a:ext cx="3931920" cy="2359152"/>
          </a:xfrm>
          <a:prstGeom prst="rect">
            <a:avLst/>
          </a:prstGeom>
          <a:noFill/>
          <a:ln/>
        </p:spPr>
        <p:txBody>
          <a:bodyPr wrap="square" lIns="0" tIns="0" rIns="0" bIns="0" rtlCol="0" anchor="t"/>
          <a:lstStyle/>
          <a:p>
            <a:pPr marL="0" indent="0" algn="l">
              <a:spcAft>
                <a:spcPts val="800"/>
              </a:spcAft>
              <a:buNone/>
            </a:pPr>
            <a:r>
              <a:rPr lang="en-US" sz="1800" dirty="0">
                <a:solidFill>
                  <a:srgbClr val="111827"/>
                </a:solidFill>
                <a:latin typeface="Arial" pitchFamily="34" charset="0"/>
                <a:ea typeface="Arial" pitchFamily="34" charset="-122"/>
                <a:cs typeface="Arial" pitchFamily="34" charset="-120"/>
              </a:rPr>
              <a:t>Amaç, JavaScript'in beklemeden devam ettiğini sezmektir.</a:t>
            </a:r>
            <a:endParaRPr lang="en-US" sz="1800" dirty="0"/>
          </a:p>
          <a:p>
            <a:pPr marL="0" indent="0" algn="l">
              <a:spcAft>
                <a:spcPts val="800"/>
              </a:spcAft>
              <a:buNone/>
            </a:pPr>
            <a:r>
              <a:rPr lang="en-US" sz="1800" b="1" dirty="0">
                <a:solidFill>
                  <a:srgbClr val="2563EB"/>
                </a:solidFill>
                <a:latin typeface="Arial" pitchFamily="34" charset="0"/>
                <a:ea typeface="Arial" pitchFamily="34" charset="-122"/>
                <a:cs typeface="Arial" pitchFamily="34" charset="-120"/>
              </a:rPr>
              <a:t>Kod mantığı: </a:t>
            </a:r>
            <a:r>
              <a:rPr lang="en-US" sz="1800" dirty="0">
                <a:solidFill>
                  <a:srgbClr val="111827"/>
                </a:solidFill>
                <a:latin typeface="Arial" pitchFamily="34" charset="0"/>
                <a:ea typeface="Arial" pitchFamily="34" charset="-122"/>
                <a:cs typeface="Arial" pitchFamily="34" charset="-120"/>
              </a:rPr>
              <a:t>setTimeout bir callback'i belirtilen süre sonra çalıştırılmak üzere sıraya koyar ve beklemeden bir sonraki satıra geçer. Bu nedenle çıktı sırası yazım sırasından farklıdır.</a:t>
            </a:r>
            <a:endParaRPr lang="en-US" sz="1800" dirty="0"/>
          </a:p>
        </p:txBody>
      </p:sp>
      <p:sp>
        <p:nvSpPr>
          <p:cNvPr id="10" name="Shape 8"/>
          <p:cNvSpPr/>
          <p:nvPr/>
        </p:nvSpPr>
        <p:spPr>
          <a:xfrm>
            <a:off x="7772400" y="4142232"/>
            <a:ext cx="3931920" cy="1383792"/>
          </a:xfrm>
          <a:prstGeom prst="roundRect">
            <a:avLst>
              <a:gd name="adj" fmla="val 6608"/>
            </a:avLst>
          </a:prstGeom>
          <a:solidFill>
            <a:srgbClr val="EFF6FF"/>
          </a:solidFill>
          <a:ln w="9525">
            <a:solidFill>
              <a:srgbClr val="EFF6FF"/>
            </a:solidFill>
            <a:prstDash val="solid"/>
          </a:ln>
        </p:spPr>
      </p:sp>
      <p:sp>
        <p:nvSpPr>
          <p:cNvPr id="11" name="Text 9"/>
          <p:cNvSpPr txBox="1"/>
          <p:nvPr/>
        </p:nvSpPr>
        <p:spPr>
          <a:xfrm>
            <a:off x="7973568" y="4270248"/>
            <a:ext cx="3529584" cy="1127760"/>
          </a:xfrm>
          <a:prstGeom prst="rect">
            <a:avLst/>
          </a:prstGeom>
          <a:noFill/>
          <a:ln/>
        </p:spPr>
        <p:txBody>
          <a:bodyPr wrap="square" lIns="0" tIns="0" rIns="0" bIns="0" rtlCol="0" anchor="t"/>
          <a:lstStyle/>
          <a:p>
            <a:pPr marL="0" indent="0" algn="l">
              <a:buNone/>
            </a:pPr>
            <a:r>
              <a:rPr lang="en-US" sz="1100" b="1" dirty="0">
                <a:solidFill>
                  <a:srgbClr val="B45309"/>
                </a:solidFill>
                <a:latin typeface="Arial" pitchFamily="34" charset="0"/>
                <a:ea typeface="Arial" pitchFamily="34" charset="-122"/>
                <a:cs typeface="Arial" pitchFamily="34" charset="-120"/>
              </a:rPr>
              <a:t>DIKKAT</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Ağ isteği, kamera veya dosya okuma gibi işlemler de bu şekilde çalışır; Promise ve async/await konusunun sahibi 10. haftadır.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Sık Karşılaşılan Hatalar</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972800" cy="3474720"/>
        </p:xfrm>
        <a:graphic>
          <a:graphicData uri="http://schemas.openxmlformats.org/drawingml/2006/table">
            <a:tbl>
              <a:tblPr/>
              <a:tblGrid>
                <a:gridCol w="3814511">
                  <a:extLst>
                    <a:ext uri="{9D8B030D-6E8A-4147-A177-3AD203B41FA5}">
                      <a16:colId xmlns:a16="http://schemas.microsoft.com/office/drawing/2014/main" val="20000"/>
                    </a:ext>
                  </a:extLst>
                </a:gridCol>
                <a:gridCol w="3557050">
                  <a:extLst>
                    <a:ext uri="{9D8B030D-6E8A-4147-A177-3AD203B41FA5}">
                      <a16:colId xmlns:a16="http://schemas.microsoft.com/office/drawing/2014/main" val="20001"/>
                    </a:ext>
                  </a:extLst>
                </a:gridCol>
                <a:gridCol w="3601239">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2563EB"/>
                          </a:solidFill>
                        </a:rPr>
                        <a:t>Hata mesajı</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Olası neden</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tc>
                  <a:txBody>
                    <a:bodyPr/>
                    <a:lstStyle/>
                    <a:p>
                      <a:pPr marL="0" indent="0">
                        <a:buNone/>
                      </a:pPr>
                      <a:r>
                        <a:rPr lang="en-US" sz="1400" b="1" dirty="0">
                          <a:solidFill>
                            <a:srgbClr val="2563EB"/>
                          </a:solidFill>
                        </a:rPr>
                        <a:t>Çözüm</a:t>
                      </a:r>
                      <a:endParaRPr lang="en-US" sz="1400" dirty="0"/>
                    </a:p>
                  </a:txBody>
                  <a:tcPr marL="73152" marR="73152" marT="36576" marB="36576" anchor="ctr">
                    <a:lnL w="0" cap="flat" cmpd="sng" algn="ctr">
                      <a:noFill/>
                    </a:lnL>
                    <a:lnR w="0" cap="flat" cmpd="sng" algn="ctr">
                      <a:noFill/>
                    </a:lnR>
                    <a:lnT w="0" cap="flat" cmpd="sng" algn="ctr">
                      <a:noFill/>
                    </a:lnT>
                    <a:lnB w="25400" cap="flat" cmpd="sng" algn="ctr">
                      <a:solidFill>
                        <a:srgbClr val="111827"/>
                      </a:solidFill>
                      <a:prstDash val="solid"/>
                      <a:round/>
                      <a:headEnd type="none" w="med" len="med"/>
                      <a:tailEnd type="none" w="med" len="med"/>
                    </a:lnB>
                  </a:tcPr>
                </a:tc>
                <a:extLst>
                  <a:ext uri="{0D108BD9-81ED-4DB2-BD59-A6C34878D82A}">
                    <a16:rowId xmlns:a16="http://schemas.microsoft.com/office/drawing/2014/main" val="10000"/>
                  </a:ext>
                </a:extLst>
              </a:tr>
              <a:tr h="749808">
                <a:tc>
                  <a:txBody>
                    <a:bodyPr/>
                    <a:lstStyle/>
                    <a:p>
                      <a:pPr marL="0" indent="0">
                        <a:buNone/>
                      </a:pPr>
                      <a:r>
                        <a:rPr lang="en-US" sz="1800" b="1" dirty="0">
                          <a:solidFill>
                            <a:srgbClr val="111827"/>
                          </a:solidFill>
                        </a:rPr>
                        <a:t>ReferenceError: x is not defined</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Değişken tanımlanmamış veya yazım hatası</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Adı ve kapsamı kontrol et</a:t>
                      </a:r>
                      <a:endParaRPr lang="en-US" sz="1800" dirty="0"/>
                    </a:p>
                  </a:txBody>
                  <a:tcPr marL="73152" marR="73152" marT="36576" marB="36576" anchor="ctr">
                    <a:lnL w="0" cap="flat" cmpd="sng" algn="ctr">
                      <a:noFill/>
                    </a:lnL>
                    <a:lnR w="0" cap="flat" cmpd="sng" algn="ctr">
                      <a:noFill/>
                    </a:lnR>
                    <a:lnT w="25400" cap="flat" cmpd="sng" algn="ctr">
                      <a:solidFill>
                        <a:srgbClr val="111827"/>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749808">
                <a:tc>
                  <a:txBody>
                    <a:bodyPr/>
                    <a:lstStyle/>
                    <a:p>
                      <a:pPr marL="0" indent="0">
                        <a:buNone/>
                      </a:pPr>
                      <a:r>
                        <a:rPr lang="en-US" sz="1800" b="1" dirty="0">
                          <a:solidFill>
                            <a:srgbClr val="111827"/>
                          </a:solidFill>
                        </a:rPr>
                        <a:t>TypeError: Assignment to constant variable</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const'a yeniden atama</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let kullan veya atamayı kaldır</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749808">
                <a:tc>
                  <a:txBody>
                    <a:bodyPr/>
                    <a:lstStyle/>
                    <a:p>
                      <a:pPr marL="0" indent="0">
                        <a:buNone/>
                      </a:pPr>
                      <a:r>
                        <a:rPr lang="en-US" sz="1800" b="1" dirty="0">
                          <a:solidFill>
                            <a:srgbClr val="111827"/>
                          </a:solidFill>
                        </a:rPr>
                        <a:t>TypeError: Cannot read properties of undefined</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undefined üzerinde özellik okuma</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Veriyi kontrol et, ?. kullan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749808">
                <a:tc>
                  <a:txBody>
                    <a:bodyPr/>
                    <a:lstStyle/>
                    <a:p>
                      <a:pPr marL="0" indent="0">
                        <a:buNone/>
                      </a:pPr>
                      <a:r>
                        <a:rPr lang="en-US" sz="1800" b="1" dirty="0">
                          <a:solidFill>
                            <a:srgbClr val="111827"/>
                          </a:solidFill>
                        </a:rPr>
                        <a:t>SyntaxError: Unexpected token</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Eksik veya fazla parantez, virgül</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marL="0" indent="0">
                        <a:buNone/>
                      </a:pPr>
                      <a:r>
                        <a:rPr lang="en-US" sz="1800" dirty="0">
                          <a:solidFill>
                            <a:srgbClr val="111827"/>
                          </a:solidFill>
                        </a:rPr>
                        <a:t>Hatanın bildirdiği satıra ve öncesine bak</a:t>
                      </a:r>
                      <a:endParaRPr lang="en-US" sz="1800" dirty="0"/>
                    </a:p>
                  </a:txBody>
                  <a:tcPr marL="73152" marR="73152" marT="36576" marB="36576" anchor="ctr">
                    <a:lnL w="0" cap="flat" cmpd="sng" algn="ctr">
                      <a:noFill/>
                    </a:lnL>
                    <a:lnR w="0" cap="flat" cmpd="sng" algn="ctr">
                      <a:noFill/>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731520" y="5394960"/>
            <a:ext cx="10972800" cy="1018032"/>
          </a:xfrm>
          <a:prstGeom prst="roundRect">
            <a:avLst>
              <a:gd name="adj" fmla="val 8982"/>
            </a:avLst>
          </a:prstGeom>
          <a:solidFill>
            <a:srgbClr val="EFF6FF"/>
          </a:solidFill>
          <a:ln w="9525">
            <a:solidFill>
              <a:srgbClr val="EFF6FF"/>
            </a:solidFill>
            <a:prstDash val="solid"/>
          </a:ln>
        </p:spPr>
      </p:sp>
      <p:sp>
        <p:nvSpPr>
          <p:cNvPr id="6" name="Text 3"/>
          <p:cNvSpPr txBox="1"/>
          <p:nvPr/>
        </p:nvSpPr>
        <p:spPr>
          <a:xfrm>
            <a:off x="932688" y="5522976"/>
            <a:ext cx="10570464" cy="7620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SEÇIM MANTIĞI</a:t>
            </a:r>
            <a:endParaRPr lang="en-US" sz="1100" dirty="0"/>
          </a:p>
          <a:p>
            <a:pPr marL="0" indent="0" algn="l">
              <a:buNone/>
            </a:pPr>
            <a:r>
              <a:rPr lang="en-US" sz="1600" dirty="0">
                <a:solidFill>
                  <a:srgbClr val="111827"/>
                </a:solidFill>
                <a:latin typeface="Arial" pitchFamily="34" charset="0"/>
                <a:ea typeface="Arial" pitchFamily="34" charset="-122"/>
                <a:cs typeface="Arial" pitchFamily="34" charset="-120"/>
              </a:rPr>
              <a:t>Hata mesajını önce satır numarasından, sonra türünden oku; ReferenceError ve TypeError çoğu zaman veri sorunudur, SyntaxError ise yazım sorunudur.</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Uygulama Saati: Mini Sepet Hesaplayıcı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Üç ürün içeren (ad, fiyat, adet) bir dizi tanımlayın.</a:t>
            </a:r>
            <a:endParaRPr lang="en-US" sz="2200" dirty="0"/>
          </a:p>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map ile her ürünün satır toplamını bulun, reduce ile genel toplamı hesaplayın.</a:t>
            </a:r>
            <a:endParaRPr lang="en-US" sz="2200" dirty="0"/>
          </a:p>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KDV oranını varsayılan parametreli bir fonksiyon yapın.</a:t>
            </a:r>
            <a:endParaRPr lang="en-US" sz="2200" dirty="0"/>
          </a:p>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Destructuring ve şablon dizgisiyle her satırı yazdırın, adedi 0 olanları filter ile eleyin.</a:t>
            </a:r>
            <a:endParaRPr lang="en-US" sz="2200" dirty="0"/>
          </a:p>
        </p:txBody>
      </p:sp>
      <p:sp>
        <p:nvSpPr>
          <p:cNvPr id="5" name="Shape 3"/>
          <p:cNvSpPr/>
          <p:nvPr/>
        </p:nvSpPr>
        <p:spPr>
          <a:xfrm>
            <a:off x="7863840" y="1645920"/>
            <a:ext cx="3657600" cy="2834640"/>
          </a:xfrm>
          <a:prstGeom prst="roundRect">
            <a:avLst>
              <a:gd name="adj" fmla="val 3226"/>
            </a:avLst>
          </a:prstGeom>
          <a:solidFill>
            <a:srgbClr val="F3F4F6"/>
          </a:solidFill>
          <a:ln w="9525">
            <a:solidFill>
              <a:srgbClr val="E5E7EB"/>
            </a:solidFill>
            <a:prstDash val="solid"/>
          </a:ln>
        </p:spPr>
      </p:sp>
      <p:sp>
        <p:nvSpPr>
          <p:cNvPr id="6" name="Text 4"/>
          <p:cNvSpPr txBox="1"/>
          <p:nvPr/>
        </p:nvSpPr>
        <p:spPr>
          <a:xfrm>
            <a:off x="8046720" y="1755648"/>
            <a:ext cx="3291840" cy="274320"/>
          </a:xfrm>
          <a:prstGeom prst="rect">
            <a:avLst/>
          </a:prstGeom>
          <a:noFill/>
          <a:ln/>
        </p:spPr>
        <p:txBody>
          <a:bodyPr wrap="square" lIns="0" tIns="0" rIns="0" bIns="0" rtlCol="0" anchor="ctr"/>
          <a:lstStyle/>
          <a:p>
            <a:pPr marL="0" indent="0" algn="l">
              <a:buNone/>
            </a:pPr>
            <a:r>
              <a:rPr lang="en-US" sz="1100" b="1" dirty="0">
                <a:solidFill>
                  <a:srgbClr val="6B7280"/>
                </a:solidFill>
                <a:latin typeface="Arial" pitchFamily="34" charset="0"/>
                <a:ea typeface="Arial" pitchFamily="34" charset="-122"/>
                <a:cs typeface="Arial" pitchFamily="34" charset="-120"/>
              </a:rPr>
              <a:t>ÖRNEK ÇIKTI</a:t>
            </a:r>
            <a:endParaRPr lang="en-US" sz="1100" dirty="0"/>
          </a:p>
        </p:txBody>
      </p:sp>
      <p:sp>
        <p:nvSpPr>
          <p:cNvPr id="7" name="Text 5"/>
          <p:cNvSpPr txBox="1"/>
          <p:nvPr/>
        </p:nvSpPr>
        <p:spPr>
          <a:xfrm>
            <a:off x="8046720" y="2103120"/>
            <a:ext cx="3291840" cy="2286000"/>
          </a:xfrm>
          <a:prstGeom prst="rect">
            <a:avLst/>
          </a:prstGeom>
          <a:noFill/>
          <a:ln/>
        </p:spPr>
        <p:txBody>
          <a:bodyPr wrap="square" lIns="0" tIns="0" rIns="0" bIns="0" rtlCol="0" anchor="t"/>
          <a:lstStyle/>
          <a:p>
            <a:pPr marL="0" indent="0" algn="l">
              <a:buNone/>
            </a:pPr>
            <a:r>
              <a:rPr lang="en-US" sz="1300" b="1" dirty="0">
                <a:solidFill>
                  <a:srgbClr val="2563EB"/>
                </a:solidFill>
                <a:latin typeface="Courier New" pitchFamily="34" charset="0"/>
                <a:ea typeface="Courier New" pitchFamily="34" charset="-122"/>
                <a:cs typeface="Courier New" pitchFamily="34" charset="-120"/>
              </a:rPr>
              <a:t>$ node sepet.js</a:t>
            </a:r>
            <a:endParaRPr lang="en-US" sz="1300" dirty="0"/>
          </a:p>
          <a:p>
            <a:pPr marL="0" indent="0" algn="l">
              <a:buNone/>
            </a:pPr>
            <a:r>
              <a:rPr lang="en-US" sz="1300" dirty="0">
                <a:solidFill>
                  <a:srgbClr val="111827"/>
                </a:solidFill>
                <a:latin typeface="Courier New" pitchFamily="34" charset="0"/>
                <a:ea typeface="Courier New" pitchFamily="34" charset="-122"/>
                <a:cs typeface="Courier New" pitchFamily="34" charset="-120"/>
              </a:rPr>
              <a:t>Klavye   2 x 450 = 900</a:t>
            </a:r>
            <a:endParaRPr lang="en-US" sz="1300" dirty="0"/>
          </a:p>
          <a:p>
            <a:pPr marL="0" indent="0" algn="l">
              <a:buNone/>
            </a:pPr>
            <a:r>
              <a:rPr lang="en-US" sz="1300" dirty="0">
                <a:solidFill>
                  <a:srgbClr val="111827"/>
                </a:solidFill>
                <a:latin typeface="Courier New" pitchFamily="34" charset="0"/>
                <a:ea typeface="Courier New" pitchFamily="34" charset="-122"/>
                <a:cs typeface="Courier New" pitchFamily="34" charset="-120"/>
              </a:rPr>
              <a:t>Fare     1 x 250 = 250</a:t>
            </a:r>
            <a:endParaRPr lang="en-US" sz="1300" dirty="0"/>
          </a:p>
          <a:p>
            <a:pPr marL="0" indent="0" algn="l">
              <a:buNone/>
            </a:pPr>
            <a:r>
              <a:rPr lang="en-US" sz="1300" dirty="0">
                <a:solidFill>
                  <a:srgbClr val="111827"/>
                </a:solidFill>
                <a:latin typeface="Courier New" pitchFamily="34" charset="0"/>
                <a:ea typeface="Courier New" pitchFamily="34" charset="-122"/>
                <a:cs typeface="Courier New" pitchFamily="34" charset="-120"/>
              </a:rPr>
              <a:t>Kulaklık 3 x 300 = 900</a:t>
            </a:r>
            <a:endParaRPr lang="en-US" sz="1300" dirty="0"/>
          </a:p>
          <a:p>
            <a:pPr marL="0" indent="0" algn="l">
              <a:buNone/>
            </a:pPr>
            <a:r>
              <a:rPr lang="en-US" sz="1300" dirty="0">
                <a:solidFill>
                  <a:srgbClr val="111827"/>
                </a:solidFill>
                <a:latin typeface="Courier New" pitchFamily="34" charset="0"/>
                <a:ea typeface="Courier New" pitchFamily="34" charset="-122"/>
                <a:cs typeface="Courier New" pitchFamily="34" charset="-120"/>
              </a:rPr>
              <a:t>Ara toplam: 2050</a:t>
            </a:r>
            <a:endParaRPr lang="en-US" sz="1300" dirty="0"/>
          </a:p>
          <a:p>
            <a:pPr marL="0" indent="0" algn="l">
              <a:buNone/>
            </a:pPr>
            <a:r>
              <a:rPr lang="en-US" sz="1300" dirty="0">
                <a:solidFill>
                  <a:srgbClr val="111827"/>
                </a:solidFill>
                <a:latin typeface="Courier New" pitchFamily="34" charset="0"/>
                <a:ea typeface="Courier New" pitchFamily="34" charset="-122"/>
                <a:cs typeface="Courier New" pitchFamily="34" charset="-120"/>
              </a:rPr>
              <a:t>KDV (%20):  410</a:t>
            </a:r>
            <a:endParaRPr lang="en-US" sz="1300" dirty="0"/>
          </a:p>
          <a:p>
            <a:pPr marL="0" indent="0" algn="l">
              <a:buNone/>
            </a:pPr>
            <a:r>
              <a:rPr lang="en-US" sz="1300" b="1" dirty="0">
                <a:solidFill>
                  <a:srgbClr val="111827"/>
                </a:solidFill>
                <a:latin typeface="Courier New" pitchFamily="34" charset="0"/>
                <a:ea typeface="Courier New" pitchFamily="34" charset="-122"/>
                <a:cs typeface="Courier New" pitchFamily="34" charset="-120"/>
              </a:rPr>
              <a:t>Genel toplam: 2460</a:t>
            </a:r>
            <a:endParaRPr lang="en-US" sz="1300" dirty="0"/>
          </a:p>
        </p:txBody>
      </p:sp>
      <p:sp>
        <p:nvSpPr>
          <p:cNvPr id="8" name="Text 6"/>
          <p:cNvSpPr txBox="1"/>
          <p:nvPr/>
        </p:nvSpPr>
        <p:spPr>
          <a:xfrm>
            <a:off x="7863840" y="4572000"/>
            <a:ext cx="3657600" cy="320040"/>
          </a:xfrm>
          <a:prstGeom prst="rect">
            <a:avLst/>
          </a:prstGeom>
          <a:noFill/>
          <a:ln/>
        </p:spPr>
        <p:txBody>
          <a:bodyPr wrap="square" lIns="0" tIns="0" rIns="0" bIns="0" rtlCol="0" anchor="ctr"/>
          <a:lstStyle/>
          <a:p>
            <a:pPr marL="0" indent="0" algn="l">
              <a:buNone/>
            </a:pPr>
            <a:r>
              <a:rPr lang="en-US" sz="1200" dirty="0">
                <a:solidFill>
                  <a:srgbClr val="6B7280"/>
                </a:solidFill>
                <a:latin typeface="Arial" pitchFamily="34" charset="0"/>
                <a:ea typeface="Arial" pitchFamily="34" charset="-122"/>
                <a:cs typeface="Arial" pitchFamily="34" charset="-120"/>
              </a:rPr>
              <a:t>Veriler örnektir; kendi ürünlerinizi seçin.</a:t>
            </a:r>
            <a:endParaRPr lang="en-US" sz="1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Kontrol Soruları</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6766560" cy="4663440"/>
          </a:xfrm>
          <a:prstGeom prst="rect">
            <a:avLst/>
          </a:prstGeom>
          <a:noFill/>
          <a:ln/>
        </p:spPr>
        <p:txBody>
          <a:bodyPr wrap="square" lIns="0" tIns="0" rIns="0" bIns="0" rtlCol="0" anchor="t"/>
          <a:lstStyle/>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const ile tanımlanan bir dizinin içine eleman eklenebilir mi? Neden?</a:t>
            </a:r>
            <a:endParaRPr lang="en-US" sz="2200" dirty="0"/>
          </a:p>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"5" + 2 ile "5" - 2 sonuçları neden farklıdır?</a:t>
            </a:r>
            <a:endParaRPr lang="en-US" sz="2200" dirty="0"/>
          </a:p>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map ve filter arasındaki fark nedir? İkisi orijinal diziyi değiştirir mi?</a:t>
            </a:r>
            <a:endParaRPr lang="en-US" sz="2200" dirty="0"/>
          </a:p>
          <a:p>
            <a:pPr marL="279400" indent="-279400" algn="just">
              <a:spcAft>
                <a:spcPts val="800"/>
              </a:spcAft>
              <a:buSzPct val="100000"/>
              <a:buFont typeface="+mj-lt"/>
              <a:buAutoNum type="arabicPeriod"/>
            </a:pPr>
            <a:r>
              <a:rPr lang="en-US" sz="2200" dirty="0">
                <a:solidFill>
                  <a:srgbClr val="111827"/>
                </a:solidFill>
                <a:latin typeface="Arial" pitchFamily="34" charset="0"/>
                <a:ea typeface="Arial" pitchFamily="34" charset="-122"/>
                <a:cs typeface="Arial" pitchFamily="34" charset="-120"/>
              </a:rPr>
              <a:t>onPress benzeri bir yapıda fonksiyonun adını yazmakla çağırmak arasındaki fark nedir?</a:t>
            </a:r>
            <a:endParaRPr lang="en-US" sz="2200" dirty="0"/>
          </a:p>
        </p:txBody>
      </p:sp>
      <p:sp>
        <p:nvSpPr>
          <p:cNvPr id="5" name="Shape 3"/>
          <p:cNvSpPr/>
          <p:nvPr/>
        </p:nvSpPr>
        <p:spPr>
          <a:xfrm>
            <a:off x="7863840" y="1645920"/>
            <a:ext cx="3657600" cy="1170432"/>
          </a:xfrm>
          <a:prstGeom prst="roundRect">
            <a:avLst>
              <a:gd name="adj" fmla="val 7813"/>
            </a:avLst>
          </a:prstGeom>
          <a:solidFill>
            <a:srgbClr val="EFF6FF"/>
          </a:solidFill>
          <a:ln w="9525">
            <a:solidFill>
              <a:srgbClr val="EFF6FF"/>
            </a:solidFill>
            <a:prstDash val="solid"/>
          </a:ln>
        </p:spPr>
      </p:sp>
      <p:sp>
        <p:nvSpPr>
          <p:cNvPr id="6" name="Text 4"/>
          <p:cNvSpPr txBox="1"/>
          <p:nvPr/>
        </p:nvSpPr>
        <p:spPr>
          <a:xfrm>
            <a:off x="8065008" y="1773936"/>
            <a:ext cx="3255264" cy="914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KONTROL SORUSU</a:t>
            </a:r>
            <a:endParaRPr lang="en-US" sz="1100" dirty="0"/>
          </a:p>
          <a:p>
            <a:pPr marL="0" indent="0" algn="l">
              <a:buNone/>
            </a:pPr>
            <a:r>
              <a:rPr lang="en-US" sz="1400" dirty="0">
                <a:solidFill>
                  <a:srgbClr val="111827"/>
                </a:solidFill>
                <a:latin typeface="Arial" pitchFamily="34" charset="0"/>
                <a:ea typeface="Arial" pitchFamily="34" charset="-122"/>
                <a:cs typeface="Arial" pitchFamily="34" charset="-120"/>
              </a:rPr>
              <a:t>Aşağıdaki kodun çıktısı nedir ve neden? const a = [1, 2, 3]; const b = a.map(x =&gt; x * 2); console.log(a, b);</a:t>
            </a:r>
            <a:endParaRPr lang="en-US" sz="11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731520" y="457200"/>
            <a:ext cx="10789920" cy="731520"/>
          </a:xfrm>
          <a:prstGeom prst="rect">
            <a:avLst/>
          </a:prstGeom>
          <a:noFill/>
          <a:ln/>
        </p:spPr>
        <p:txBody>
          <a:bodyPr wrap="square" lIns="0" tIns="0" rIns="0" bIns="0" rtlCol="0" anchor="ctr">
            <a:normAutofit/>
          </a:bodyPr>
          <a:lstStyle/>
          <a:p>
            <a:pPr marL="0" indent="0" algn="l">
              <a:buNone/>
            </a:pPr>
            <a:r>
              <a:rPr lang="en-US" sz="3200" b="1" dirty="0">
                <a:solidFill>
                  <a:srgbClr val="111827"/>
                </a:solidFill>
                <a:latin typeface="Arial" pitchFamily="34" charset="0"/>
                <a:ea typeface="Arial" pitchFamily="34" charset="-122"/>
                <a:cs typeface="Arial" pitchFamily="34" charset="-120"/>
              </a:rPr>
              <a:t>Özet ve Gelecek Hafta</a:t>
            </a:r>
            <a:endParaRPr lang="en-US" sz="3200" dirty="0"/>
          </a:p>
        </p:txBody>
      </p:sp>
      <p:sp>
        <p:nvSpPr>
          <p:cNvPr id="3" name="Shape 1"/>
          <p:cNvSpPr/>
          <p:nvPr/>
        </p:nvSpPr>
        <p:spPr>
          <a:xfrm>
            <a:off x="731520" y="1261872"/>
            <a:ext cx="822960" cy="54864"/>
          </a:xfrm>
          <a:prstGeom prst="rect">
            <a:avLst/>
          </a:prstGeom>
          <a:solidFill>
            <a:srgbClr val="2563EB"/>
          </a:solidFill>
          <a:ln w="12700">
            <a:solidFill>
              <a:srgbClr val="2563EB"/>
            </a:solidFill>
            <a:prstDash val="solid"/>
          </a:ln>
        </p:spPr>
      </p:sp>
      <p:sp>
        <p:nvSpPr>
          <p:cNvPr id="4" name="Text 2"/>
          <p:cNvSpPr txBox="1"/>
          <p:nvPr/>
        </p:nvSpPr>
        <p:spPr>
          <a:xfrm>
            <a:off x="731520" y="1645920"/>
            <a:ext cx="10972800" cy="4663440"/>
          </a:xfrm>
          <a:prstGeom prst="rect">
            <a:avLst/>
          </a:prstGeom>
          <a:noFill/>
          <a:ln/>
        </p:spPr>
        <p:txBody>
          <a:bodyPr wrap="square" lIns="0" tIns="0" rIns="0" bIns="0" rtlCol="0" anchor="t"/>
          <a:lstStyle/>
          <a:p>
            <a:pPr marL="0" indent="0" algn="just">
              <a:spcAft>
                <a:spcPts val="800"/>
              </a:spcAft>
              <a:buNone/>
            </a:pPr>
            <a:r>
              <a:rPr lang="en-US" sz="2200" dirty="0">
                <a:solidFill>
                  <a:srgbClr val="111827"/>
                </a:solidFill>
                <a:latin typeface="Arial" pitchFamily="34" charset="0"/>
                <a:ea typeface="Arial" pitchFamily="34" charset="-122"/>
                <a:cs typeface="Arial" pitchFamily="34" charset="-120"/>
              </a:rPr>
              <a:t>Bu hafta değişkenleri const ve let ile tanımlamayı, if, switch ve döngülerle akışı yönetmeyi, dizi metotlarıyla veriyi işlemeyi öğrendik. Fonksiyonları, ok fonksiyonlarını, callback ve closure fikrini gördük. Destructuring, spread ve modüller React Native kodunu okumanın anahtarıdır. Gelecek hafta bu yapılara TypeScript tiplerini ekleyeceğiz.</a:t>
            </a:r>
            <a:endParaRPr lang="en-US" sz="2200" dirty="0"/>
          </a:p>
        </p:txBody>
      </p:sp>
      <p:sp>
        <p:nvSpPr>
          <p:cNvPr id="25" name="Slide Number Placeholder 0"/>
          <p:cNvSpPr>
            <a:spLocks noGrp="1"/>
          </p:cNvSpPr>
          <p:nvPr>
            <p:ph type="sldNum" sz="quarter" idx="4294967295"/>
          </p:nvPr>
        </p:nvSpPr>
        <p:spPr>
          <a:xfrm>
            <a:off x="1088136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280"/>
                </a:solidFill>
                <a:latin typeface="Arial"/>
                <a:ea typeface="Arial"/>
                <a:cs typeface="Arial"/>
              </a:defRPr>
            </a:lvl1pPr>
          </a:lstStyle>
          <a:p>
            <a:pPr algn="r"/>
            <a:fld id="{F7021451-1387-4CA6-816F-3879F97B5CBC}" type="slidenum">
              <a:rPr lang="en-US" b="0"/>
              <a:t>35</a:t>
            </a:fld>
            <a:endParaRPr lang="en-US"/>
          </a:p>
        </p:txBody>
      </p:sp>
    </p:spTree>
  </p:cSld>
  <p:clrMapOvr>
    <a:masterClrMapping/>
  </p:clrMapOvr>
</p:sld>
</file>

<file path=ppt/theme/theme1.xml><?xml version="1.0" encoding="utf-8"?>
<a:theme xmlns:a="http://schemas.openxmlformats.org/drawingml/2006/main" name="Mobil Programlama A">
  <a:themeElements>
    <a:clrScheme name="Mobil Programlama A">
      <a:dk1>
        <a:srgbClr val="111827"/>
      </a:dk1>
      <a:lt1>
        <a:srgbClr val="FFFFFF"/>
      </a:lt1>
      <a:dk2>
        <a:srgbClr val="374151"/>
      </a:dk2>
      <a:lt2>
        <a:srgbClr val="F8FAFC"/>
      </a:lt2>
      <a:accent1>
        <a:srgbClr val="2563EB"/>
      </a:accent1>
      <a:accent2>
        <a:srgbClr val="B45309"/>
      </a:accent2>
      <a:accent3>
        <a:srgbClr val="B91C1C"/>
      </a:accent3>
      <a:accent4>
        <a:srgbClr val="0EA5E9"/>
      </a:accent4>
      <a:accent5>
        <a:srgbClr val="7C3AED"/>
      </a:accent5>
      <a:accent6>
        <a:srgbClr val="059669"/>
      </a:accent6>
      <a:hlink>
        <a:srgbClr val="2563EB"/>
      </a:hlink>
      <a:folHlink>
        <a:srgbClr val="7C3AED"/>
      </a:folHlink>
    </a:clrScheme>
    <a:fontScheme name="Mobil Programlama 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7414</Words>
  <Application>Microsoft Macintosh PowerPoint</Application>
  <PresentationFormat>Geniş ekran</PresentationFormat>
  <Paragraphs>524</Paragraphs>
  <Slides>35</Slides>
  <Notes>35</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35</vt:i4>
      </vt:variant>
    </vt:vector>
  </HeadingPairs>
  <TitlesOfParts>
    <vt:vector size="39" baseType="lpstr">
      <vt:lpstr>Arial</vt:lpstr>
      <vt:lpstr>Calibri</vt:lpstr>
      <vt:lpstr>Courier New</vt:lpstr>
      <vt:lpstr>Mobil Programlama A</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BGP 201 Mobil Programlama — Hafta 2</dc:title>
  <dc:subject>PptxGenJS Presentation</dc:subject>
  <dc:creator>BGP 201</dc:creator>
  <cp:lastModifiedBy>Microsoft Office User</cp:lastModifiedBy>
  <cp:revision>2</cp:revision>
  <dcterms:created xsi:type="dcterms:W3CDTF">2026-10-24T17:45:27Z</dcterms:created>
  <dcterms:modified xsi:type="dcterms:W3CDTF">2026-10-24T18:07:28Z</dcterms:modified>
</cp:coreProperties>
</file>